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27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Composition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BBB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14A-42D7-9EB4-8AD433EF35F9}"/>
              </c:ext>
            </c:extLst>
          </c:dPt>
          <c:dPt>
            <c:idx val="1"/>
            <c:bubble3D val="0"/>
            <c:spPr>
              <a:solidFill>
                <a:srgbClr val="667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14A-42D7-9EB4-8AD433EF35F9}"/>
              </c:ext>
            </c:extLst>
          </c:dPt>
          <c:dPt>
            <c:idx val="2"/>
            <c:bubble3D val="0"/>
            <c:spPr>
              <a:solidFill>
                <a:srgbClr val="E840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14A-42D7-9EB4-8AD433EF35F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14A-42D7-9EB4-8AD433EF35F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14A-42D7-9EB4-8AD433EF35F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14A-42D7-9EB4-8AD433EF35F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H (16)</c:v>
                </c:pt>
                <c:pt idx="1">
                  <c:v>C (10)</c:v>
                </c:pt>
                <c:pt idx="2">
                  <c:v>O (1)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</c:v>
                </c:pt>
                <c:pt idx="1">
                  <c:v>10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14A-42D7-9EB4-8AD433EF35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E8F0F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B2A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9151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-548640"/>
            <a:ext cx="4114800" cy="4114800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91440"/>
            <a:ext cx="2743200" cy="2743200"/>
          </a:xfrm>
          <a:prstGeom prst="ellipse">
            <a:avLst/>
          </a:prstGeom>
          <a:solidFill>
            <a:srgbClr val="00C2CB">
              <a:alpha val="20000"/>
            </a:srgbClr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822960"/>
            <a:ext cx="1828800" cy="182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0058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365760" y="17373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6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VISUALIZER PRO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365760" y="26517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3D Molecular Simulation &amp; Visualization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65760" y="3291840"/>
            <a:ext cx="219456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3291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VPython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0" y="3291840"/>
            <a:ext cx="219456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2743200" y="3291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PubChem API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120640" y="3291840"/>
            <a:ext cx="219456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5120640" y="3291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Simulation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Molecular Visualizer Pro?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Python-based interactive 3D application that fetches real molecular data from PubChem, renders it live in a WebGL canvas, and simulates atomic vibration — all in under 200 lines of code.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3017520"/>
            <a:ext cx="1371600" cy="100584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3017520"/>
            <a:ext cx="1371600" cy="54864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1089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3566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 (Camphor)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74520" y="3017520"/>
            <a:ext cx="1371600" cy="100584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74520" y="3017520"/>
            <a:ext cx="1371600" cy="54864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12" name="Text 10"/>
          <p:cNvSpPr/>
          <p:nvPr/>
        </p:nvSpPr>
        <p:spPr>
          <a:xfrm>
            <a:off x="1874520" y="31089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874520" y="3566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Bonds detected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0" y="3017520"/>
            <a:ext cx="1371600" cy="100584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0" y="3017520"/>
            <a:ext cx="1371600" cy="54864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31089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383280" y="3566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Elements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4160520"/>
            <a:ext cx="4297680" cy="548640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1605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Weight: 152.23 u  (Camphor — C₁₀H₁₆O)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37760" y="1005840"/>
            <a:ext cx="3931920" cy="338328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83480" y="1051560"/>
            <a:ext cx="3840480" cy="30175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937760" y="4114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 — 3D view of Camphor with O atom label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169164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743200" cy="45720"/>
          </a:xfrm>
          <a:prstGeom prst="rect">
            <a:avLst/>
          </a:prstGeom>
          <a:solidFill>
            <a:srgbClr val="00C2C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8872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1612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Ball &amp; Stick Rendering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84048" y="1600200"/>
            <a:ext cx="252374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 as spheres, bonds as cylinders — color-coded by element (O=red, C=grey, H=white)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1051560"/>
            <a:ext cx="2743200" cy="169164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1051560"/>
            <a:ext cx="2743200" cy="45720"/>
          </a:xfrm>
          <a:prstGeom prst="rect">
            <a:avLst/>
          </a:prstGeom>
          <a:solidFill>
            <a:srgbClr val="00C2C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8872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49040" y="11612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PubChem Search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310128" y="1600200"/>
            <a:ext cx="252374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any molecule name and fetch real XYZ coordinates instantly via REST API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1051560"/>
            <a:ext cx="2743200" cy="169164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1051560"/>
            <a:ext cx="2743200" cy="45720"/>
          </a:xfrm>
          <a:prstGeom prst="rect">
            <a:avLst/>
          </a:prstGeom>
          <a:solidFill>
            <a:srgbClr val="00C2C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118872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75120" y="11612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Simulation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236208" y="1600200"/>
            <a:ext cx="252374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Sinusoidal displacement along radial axis at 10 Hz, 0.05 Å amplitude, toggle on/off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2971800"/>
            <a:ext cx="2743200" cy="169164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74320" y="2971800"/>
            <a:ext cx="2743200" cy="45720"/>
          </a:xfrm>
          <a:prstGeom prst="rect">
            <a:avLst/>
          </a:prstGeom>
          <a:solidFill>
            <a:srgbClr val="00C2C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310896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30815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Labels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384048" y="3520440"/>
            <a:ext cx="252374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any atom to display its element symbol as an inline annotation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00400" y="2971800"/>
            <a:ext cx="2743200" cy="169164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00400" y="2971800"/>
            <a:ext cx="2743200" cy="45720"/>
          </a:xfrm>
          <a:prstGeom prst="rect">
            <a:avLst/>
          </a:prstGeom>
          <a:solidFill>
            <a:srgbClr val="00C2C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0128" y="3108960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49040" y="30815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Bond Detection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3310128" y="3520440"/>
            <a:ext cx="252374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distance threshold &lt; 1.6 Å auto-generates all bond cylinders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26480" y="2971800"/>
            <a:ext cx="2743200" cy="169164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26480" y="2971800"/>
            <a:ext cx="2743200" cy="45720"/>
          </a:xfrm>
          <a:prstGeom prst="rect">
            <a:avLst/>
          </a:prstGeom>
          <a:solidFill>
            <a:srgbClr val="00C2CB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6208" y="3108960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75120" y="30815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236208" y="3520440"/>
            <a:ext cx="252374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formula, MW, atom count, bonds, dominant element &amp; composition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RESULTS — CAMPHOR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212080" cy="123444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51560"/>
            <a:ext cx="5120640" cy="1051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28600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 — Auto-generated Molecule Dashboard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669280" y="1005840"/>
            <a:ext cx="3200400" cy="32004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0" y="10058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269480" y="10058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Camphor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0" y="1335024"/>
            <a:ext cx="3200400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8"/>
          <p:cNvSpPr/>
          <p:nvPr/>
        </p:nvSpPr>
        <p:spPr>
          <a:xfrm>
            <a:off x="5715000" y="133502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269480" y="133502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C₁₀H₁₆O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69280" y="1664208"/>
            <a:ext cx="3200400" cy="32004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0" y="16642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269480" y="16642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0" y="1993392"/>
            <a:ext cx="3200400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7" name="Text 14"/>
          <p:cNvSpPr/>
          <p:nvPr/>
        </p:nvSpPr>
        <p:spPr>
          <a:xfrm>
            <a:off x="5715000" y="19933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269480" y="19933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669280" y="2322576"/>
            <a:ext cx="3200400" cy="32004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0" name="Text 17"/>
          <p:cNvSpPr/>
          <p:nvPr/>
        </p:nvSpPr>
        <p:spPr>
          <a:xfrm>
            <a:off x="5715000" y="232257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Elements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269480" y="232257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669280" y="2651760"/>
            <a:ext cx="3200400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3" name="Text 20"/>
          <p:cNvSpPr/>
          <p:nvPr/>
        </p:nvSpPr>
        <p:spPr>
          <a:xfrm>
            <a:off x="5715000" y="2651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Mol. Weight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269480" y="2651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152.23 u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669280" y="2980944"/>
            <a:ext cx="3200400" cy="32004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6" name="Text 23"/>
          <p:cNvSpPr/>
          <p:nvPr/>
        </p:nvSpPr>
        <p:spPr>
          <a:xfrm>
            <a:off x="5715000" y="298094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Element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269480" y="298094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Hydrogen (H)</a:t>
            </a:r>
            <a:endParaRPr lang="en-US" sz="110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274320" y="2606040"/>
          <a:ext cx="32004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9" name="Text 25"/>
          <p:cNvSpPr/>
          <p:nvPr/>
        </p:nvSpPr>
        <p:spPr>
          <a:xfrm>
            <a:off x="274320" y="48463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Composition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3749040" y="2788920"/>
            <a:ext cx="411480" cy="411480"/>
          </a:xfrm>
          <a:prstGeom prst="ellipse">
            <a:avLst/>
          </a:prstGeom>
          <a:solidFill>
            <a:srgbClr val="667788"/>
          </a:solidFill>
          <a:ln/>
        </p:spPr>
      </p:sp>
      <p:sp>
        <p:nvSpPr>
          <p:cNvPr id="31" name="Text 27"/>
          <p:cNvSpPr/>
          <p:nvPr/>
        </p:nvSpPr>
        <p:spPr>
          <a:xfrm>
            <a:off x="374904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3657600" y="324612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4389120" y="2788920"/>
            <a:ext cx="411480" cy="411480"/>
          </a:xfrm>
          <a:prstGeom prst="ellipse">
            <a:avLst/>
          </a:prstGeom>
          <a:solidFill>
            <a:srgbClr val="E84040"/>
          </a:solidFill>
          <a:ln/>
        </p:spPr>
      </p:sp>
      <p:sp>
        <p:nvSpPr>
          <p:cNvPr id="34" name="Text 30"/>
          <p:cNvSpPr/>
          <p:nvPr/>
        </p:nvSpPr>
        <p:spPr>
          <a:xfrm>
            <a:off x="438912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4297680" y="324612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</a:t>
            </a:r>
            <a:endParaRPr lang="en-US" sz="800" dirty="0"/>
          </a:p>
        </p:txBody>
      </p:sp>
      <p:sp>
        <p:nvSpPr>
          <p:cNvPr id="36" name="Shape 32"/>
          <p:cNvSpPr/>
          <p:nvPr/>
        </p:nvSpPr>
        <p:spPr>
          <a:xfrm>
            <a:off x="5029200" y="2788920"/>
            <a:ext cx="411480" cy="411480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37" name="Text 33"/>
          <p:cNvSpPr/>
          <p:nvPr/>
        </p:nvSpPr>
        <p:spPr>
          <a:xfrm>
            <a:off x="502920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4937760" y="324612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Hydrogen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123444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011680" cy="54864"/>
          </a:xfrm>
          <a:prstGeom prst="rect">
            <a:avLst/>
          </a:prstGeom>
          <a:solidFill>
            <a:srgbClr val="00C2C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11556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15544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PubChem API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4320" y="1874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SDF 3D endpoint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286000" y="1618488"/>
            <a:ext cx="411480" cy="0"/>
          </a:xfrm>
          <a:prstGeom prst="line">
            <a:avLst/>
          </a:prstGeom>
          <a:noFill/>
          <a:ln w="25400">
            <a:solidFill>
              <a:srgbClr val="00C2C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51760" y="1554480"/>
            <a:ext cx="54864" cy="128016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11" name="Shape 8"/>
          <p:cNvSpPr/>
          <p:nvPr/>
        </p:nvSpPr>
        <p:spPr>
          <a:xfrm>
            <a:off x="2423160" y="1005840"/>
            <a:ext cx="2011680" cy="123444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23160" y="1005840"/>
            <a:ext cx="2011680" cy="54864"/>
          </a:xfrm>
          <a:prstGeom prst="rect">
            <a:avLst/>
          </a:prstGeom>
          <a:solidFill>
            <a:srgbClr val="00C2C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115568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23160" y="15544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XYZ Parser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423160" y="1874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extraction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434840" y="1618488"/>
            <a:ext cx="411480" cy="0"/>
          </a:xfrm>
          <a:prstGeom prst="line">
            <a:avLst/>
          </a:prstGeom>
          <a:noFill/>
          <a:ln w="25400">
            <a:solidFill>
              <a:srgbClr val="00C2C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00600" y="1554480"/>
            <a:ext cx="54864" cy="128016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18" name="Shape 14"/>
          <p:cNvSpPr/>
          <p:nvPr/>
        </p:nvSpPr>
        <p:spPr>
          <a:xfrm>
            <a:off x="4572000" y="1005840"/>
            <a:ext cx="2011680" cy="123444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0" y="1005840"/>
            <a:ext cx="2011680" cy="54864"/>
          </a:xfrm>
          <a:prstGeom prst="rect">
            <a:avLst/>
          </a:prstGeom>
          <a:solidFill>
            <a:srgbClr val="00C2CB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1115568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572000" y="15544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Atom/Bond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72000" y="1874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model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583680" y="1618488"/>
            <a:ext cx="411480" cy="0"/>
          </a:xfrm>
          <a:prstGeom prst="line">
            <a:avLst/>
          </a:prstGeom>
          <a:noFill/>
          <a:ln w="25400">
            <a:solidFill>
              <a:srgbClr val="00C2C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949440" y="1554480"/>
            <a:ext cx="54864" cy="128016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25" name="Shape 20"/>
          <p:cNvSpPr/>
          <p:nvPr/>
        </p:nvSpPr>
        <p:spPr>
          <a:xfrm>
            <a:off x="6720840" y="1005840"/>
            <a:ext cx="2011680" cy="123444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720840" y="1005840"/>
            <a:ext cx="2011680" cy="54864"/>
          </a:xfrm>
          <a:prstGeom prst="rect">
            <a:avLst/>
          </a:prstGeom>
          <a:solidFill>
            <a:srgbClr val="00C2CB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115568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720840" y="15544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VPython 3D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720840" y="1874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WebGL canvas render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274320" y="2468880"/>
            <a:ext cx="4206240" cy="713232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1" name="Shape 25"/>
          <p:cNvSpPr/>
          <p:nvPr/>
        </p:nvSpPr>
        <p:spPr>
          <a:xfrm>
            <a:off x="274320" y="2468880"/>
            <a:ext cx="54864" cy="71323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2" name="Text 26"/>
          <p:cNvSpPr/>
          <p:nvPr/>
        </p:nvSpPr>
        <p:spPr>
          <a:xfrm>
            <a:off x="411480" y="250545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Engine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411480" y="277977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VPython (Visual Python) — browser-native WebGL 3D canvas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4709160" y="2468880"/>
            <a:ext cx="4206240" cy="713232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5" name="Shape 29"/>
          <p:cNvSpPr/>
          <p:nvPr/>
        </p:nvSpPr>
        <p:spPr>
          <a:xfrm>
            <a:off x="4709160" y="2468880"/>
            <a:ext cx="54864" cy="71323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6" name="Text 30"/>
          <p:cNvSpPr/>
          <p:nvPr/>
        </p:nvSpPr>
        <p:spPr>
          <a:xfrm>
            <a:off x="4846320" y="250545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Detection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4846320" y="277977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distance &lt; 1.6 Å between any pair of atoms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274320" y="3291840"/>
            <a:ext cx="4206240" cy="713232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9" name="Shape 33"/>
          <p:cNvSpPr/>
          <p:nvPr/>
        </p:nvSpPr>
        <p:spPr>
          <a:xfrm>
            <a:off x="274320" y="3291840"/>
            <a:ext cx="54864" cy="71323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0" name="Text 34"/>
          <p:cNvSpPr/>
          <p:nvPr/>
        </p:nvSpPr>
        <p:spPr>
          <a:xfrm>
            <a:off x="411480" y="332841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Model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411480" y="360273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Radial sinusoidal: pos = base + dir × sin(t × 10) × 0.05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4709160" y="3291840"/>
            <a:ext cx="4206240" cy="713232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43" name="Shape 37"/>
          <p:cNvSpPr/>
          <p:nvPr/>
        </p:nvSpPr>
        <p:spPr>
          <a:xfrm>
            <a:off x="4709160" y="3291840"/>
            <a:ext cx="54864" cy="71323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4" name="Text 38"/>
          <p:cNvSpPr/>
          <p:nvPr/>
        </p:nvSpPr>
        <p:spPr>
          <a:xfrm>
            <a:off x="4846320" y="332841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Handling</a:t>
            </a: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4846320" y="360273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scene.bind('click') — double-click threshold 0.3s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274320" y="4114800"/>
            <a:ext cx="4206240" cy="713232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47" name="Shape 41"/>
          <p:cNvSpPr/>
          <p:nvPr/>
        </p:nvSpPr>
        <p:spPr>
          <a:xfrm>
            <a:off x="274320" y="4114800"/>
            <a:ext cx="54864" cy="71323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8" name="Text 42"/>
          <p:cNvSpPr/>
          <p:nvPr/>
        </p:nvSpPr>
        <p:spPr>
          <a:xfrm>
            <a:off x="411480" y="415137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Controls</a:t>
            </a:r>
            <a:endParaRPr lang="en-US" sz="1100" dirty="0"/>
          </a:p>
        </p:txBody>
      </p:sp>
      <p:sp>
        <p:nvSpPr>
          <p:cNvPr id="49" name="Text 43"/>
          <p:cNvSpPr/>
          <p:nvPr/>
        </p:nvSpPr>
        <p:spPr>
          <a:xfrm>
            <a:off x="411480" y="442569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winput (search), wtext (dashboard), button (toggle)</a:t>
            </a:r>
            <a:endParaRPr lang="en-US" sz="1000" dirty="0"/>
          </a:p>
        </p:txBody>
      </p:sp>
      <p:sp>
        <p:nvSpPr>
          <p:cNvPr id="50" name="Shape 44"/>
          <p:cNvSpPr/>
          <p:nvPr/>
        </p:nvSpPr>
        <p:spPr>
          <a:xfrm>
            <a:off x="4709160" y="4114800"/>
            <a:ext cx="4206240" cy="713232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51" name="Shape 45"/>
          <p:cNvSpPr/>
          <p:nvPr/>
        </p:nvSpPr>
        <p:spPr>
          <a:xfrm>
            <a:off x="4709160" y="4114800"/>
            <a:ext cx="54864" cy="71323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52" name="Text 46"/>
          <p:cNvSpPr/>
          <p:nvPr/>
        </p:nvSpPr>
        <p:spPr>
          <a:xfrm>
            <a:off x="4846320" y="415137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Format</a:t>
            </a:r>
            <a:endParaRPr lang="en-US" sz="1100" dirty="0"/>
          </a:p>
        </p:txBody>
      </p:sp>
      <p:sp>
        <p:nvSpPr>
          <p:cNvPr id="53" name="Text 47"/>
          <p:cNvSpPr/>
          <p:nvPr/>
        </p:nvSpPr>
        <p:spPr>
          <a:xfrm>
            <a:off x="4846320" y="442569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PubChem SDF → XYZ coordinate parsing → Atom objects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169164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0" cy="54864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170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51560" y="12070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Fetch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737360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molecule name → urllib fetches 3D SDF from PubChem REST API at /compound/name/{name}/SDF?record_type=3d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169164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4114800" cy="54864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1170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532120" y="12070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XYZ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64608" y="1737360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SDF lines are split to extract atom symbol + x,y,z coordinates. Atom objects store base_pos and drive sphere meshes.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4114800" cy="169164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017520"/>
            <a:ext cx="4114800" cy="54864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30906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051560" y="31272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Bonds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" y="3657600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atom pairs compared with np.linalg.norm(). Pairs &lt; 1.6 Å apart get a Bond object (VPython cylinder) between them.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4114800" cy="1691640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017520"/>
            <a:ext cx="4114800" cy="54864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21" name="Text 19"/>
          <p:cNvSpPr/>
          <p:nvPr/>
        </p:nvSpPr>
        <p:spPr>
          <a:xfrm>
            <a:off x="4864608" y="30906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5532120" y="31272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64608" y="3657600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frame: displacement = direction × sin(time×10) × 0.05. Atoms and bonds update at 60 fps via rate(60) loop.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Visualizer Pro — A complete chemistry learning tool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2011680"/>
            <a:ext cx="182880" cy="182880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8424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real 3D molecular data from PubChem for any compound by name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487168"/>
            <a:ext cx="182880" cy="182880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5973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interactive ball-and-stick models using VPython / WebGL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962656"/>
            <a:ext cx="182880" cy="182880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3522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bonds via distance threshold — no manual input needed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438144"/>
            <a:ext cx="182880" cy="182880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1071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atomic vibration with physically-inspired sinusoidal motion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913632"/>
            <a:ext cx="182880" cy="182880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862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 live dashboard: formula, MW, composition, dominant element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4389120"/>
            <a:ext cx="182880" cy="182880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6168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200 lines of Python — highly readable and extensible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555</Words>
  <Application>Microsoft Office PowerPoint</Application>
  <PresentationFormat>On-screen Show (16:9)</PresentationFormat>
  <Paragraphs>105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Molecular Visualizer Pro</dc:title>
  <dc:subject>PptxGenJS Presentation</dc:subject>
  <dc:creator>PptxGenJS</dc:creator>
  <cp:lastModifiedBy>Arya Surkar</cp:lastModifiedBy>
  <cp:revision>2</cp:revision>
  <dcterms:created xsi:type="dcterms:W3CDTF">2026-04-02T03:15:36Z</dcterms:created>
  <dcterms:modified xsi:type="dcterms:W3CDTF">2026-04-02T03:18:30Z</dcterms:modified>
</cp:coreProperties>
</file>