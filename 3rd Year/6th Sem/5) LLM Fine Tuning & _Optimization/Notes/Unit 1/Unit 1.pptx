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83" r:id="rId7"/>
    <p:sldId id="260" r:id="rId8"/>
    <p:sldId id="261" r:id="rId9"/>
    <p:sldId id="262" r:id="rId10"/>
    <p:sldId id="284" r:id="rId11"/>
    <p:sldId id="263" r:id="rId12"/>
    <p:sldId id="285" r:id="rId13"/>
    <p:sldId id="286" r:id="rId14"/>
    <p:sldId id="265" r:id="rId15"/>
    <p:sldId id="287" r:id="rId16"/>
    <p:sldId id="288" r:id="rId17"/>
    <p:sldId id="289" r:id="rId18"/>
    <p:sldId id="267" r:id="rId19"/>
    <p:sldId id="268" r:id="rId20"/>
    <p:sldId id="290" r:id="rId21"/>
    <p:sldId id="291" r:id="rId22"/>
    <p:sldId id="292" r:id="rId23"/>
    <p:sldId id="269" r:id="rId24"/>
    <p:sldId id="293" r:id="rId25"/>
    <p:sldId id="302" r:id="rId26"/>
    <p:sldId id="294" r:id="rId27"/>
    <p:sldId id="295" r:id="rId28"/>
    <p:sldId id="270" r:id="rId29"/>
    <p:sldId id="271" r:id="rId30"/>
    <p:sldId id="296" r:id="rId31"/>
    <p:sldId id="297" r:id="rId32"/>
    <p:sldId id="298" r:id="rId33"/>
    <p:sldId id="299" r:id="rId34"/>
    <p:sldId id="300" r:id="rId35"/>
    <p:sldId id="272" r:id="rId36"/>
    <p:sldId id="274" r:id="rId37"/>
    <p:sldId id="279" r:id="rId38"/>
    <p:sldId id="280" r:id="rId39"/>
    <p:sldId id="281" r:id="rId40"/>
    <p:sldId id="282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eb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Introduction to Large Language Models (LLMs)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94" y="1417638"/>
            <a:ext cx="8345606" cy="528341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What are Large Language Models?</a:t>
            </a:r>
          </a:p>
          <a:p>
            <a:pPr lvl="1"/>
            <a:r>
              <a:rPr lang="en-US" dirty="0"/>
              <a:t>Large Language Models (LLMs) are </a:t>
            </a:r>
            <a:r>
              <a:rPr lang="en-US" b="1" dirty="0"/>
              <a:t>advanced artificial intelligence models</a:t>
            </a:r>
            <a:r>
              <a:rPr lang="en-US" dirty="0"/>
              <a:t> designed to understand, process, and generate </a:t>
            </a:r>
            <a:r>
              <a:rPr lang="en-US" b="1" dirty="0"/>
              <a:t>human-like natural language</a:t>
            </a:r>
            <a:r>
              <a:rPr lang="en-US" dirty="0"/>
              <a:t>. They are trained on </a:t>
            </a:r>
            <a:r>
              <a:rPr lang="en-US" b="1" dirty="0"/>
              <a:t>very large text datasets</a:t>
            </a:r>
            <a:r>
              <a:rPr lang="en-US" dirty="0"/>
              <a:t> using </a:t>
            </a:r>
            <a:r>
              <a:rPr lang="en-US" b="1" dirty="0"/>
              <a:t>deep neural networks</a:t>
            </a:r>
            <a:r>
              <a:rPr lang="en-US" dirty="0"/>
              <a:t>, mainly based on the </a:t>
            </a:r>
            <a:r>
              <a:rPr lang="en-US" b="1" dirty="0"/>
              <a:t>Transformer architecture</a:t>
            </a:r>
            <a:r>
              <a:rPr lang="en-US" dirty="0"/>
              <a:t>.</a:t>
            </a:r>
          </a:p>
          <a:p>
            <a:r>
              <a:rPr lang="en-US" dirty="0"/>
              <a:t>LLMs learn:</a:t>
            </a:r>
          </a:p>
          <a:p>
            <a:pPr lvl="1"/>
            <a:r>
              <a:rPr lang="en-US" dirty="0"/>
              <a:t>Grammar and sentence structure</a:t>
            </a:r>
          </a:p>
          <a:p>
            <a:pPr lvl="1"/>
            <a:r>
              <a:rPr lang="en-US" dirty="0"/>
              <a:t>Meaning and context of words</a:t>
            </a:r>
          </a:p>
          <a:p>
            <a:pPr lvl="1"/>
            <a:r>
              <a:rPr lang="en-US" dirty="0"/>
              <a:t>Relationships between concepts</a:t>
            </a:r>
          </a:p>
          <a:p>
            <a:pPr lvl="1"/>
            <a:r>
              <a:rPr lang="en-US" dirty="0"/>
              <a:t>Reasoning patterns in text</a:t>
            </a:r>
          </a:p>
          <a:p>
            <a:pPr marL="0" indent="0">
              <a:buNone/>
            </a:pPr>
            <a:r>
              <a:rPr lang="en-US" dirty="0"/>
              <a:t>Because of this, LLMs can perform many language tasks without being explicitly programmed for each task.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726743"/>
            <a:ext cx="8229600" cy="5633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Examples of LLMs</a:t>
            </a:r>
          </a:p>
          <a:p>
            <a:r>
              <a:rPr lang="en-US" b="1" dirty="0"/>
              <a:t>GPT series (GPT-3, GPT-4)</a:t>
            </a:r>
            <a:r>
              <a:rPr lang="en-US" dirty="0"/>
              <a:t> – text generation and </a:t>
            </a:r>
            <a:r>
              <a:rPr lang="en-US" dirty="0" smtClean="0"/>
              <a:t>conversation</a:t>
            </a:r>
          </a:p>
          <a:p>
            <a:pPr marL="0" indent="0">
              <a:buNone/>
            </a:pPr>
            <a:r>
              <a:rPr lang="en-US" sz="2400" dirty="0" smtClean="0"/>
              <a:t>(Generative </a:t>
            </a:r>
            <a:r>
              <a:rPr lang="en-US" sz="2400" dirty="0"/>
              <a:t>Pre-trained </a:t>
            </a:r>
            <a:r>
              <a:rPr lang="en-US" sz="2400" dirty="0" smtClean="0"/>
              <a:t>Transformer)</a:t>
            </a:r>
            <a:endParaRPr lang="en-US" sz="2400" dirty="0"/>
          </a:p>
          <a:p>
            <a:r>
              <a:rPr lang="en-US" b="1" dirty="0"/>
              <a:t>BERT</a:t>
            </a:r>
            <a:r>
              <a:rPr lang="en-US" dirty="0"/>
              <a:t> – text </a:t>
            </a:r>
            <a:r>
              <a:rPr lang="en-US" dirty="0" smtClean="0"/>
              <a:t>understanding</a:t>
            </a:r>
          </a:p>
          <a:p>
            <a:pPr marL="0" indent="0">
              <a:buNone/>
            </a:pPr>
            <a:r>
              <a:rPr lang="en-US" sz="2400" b="1" dirty="0" smtClean="0"/>
              <a:t>(B</a:t>
            </a:r>
            <a:r>
              <a:rPr lang="en-US" sz="2400" dirty="0" smtClean="0"/>
              <a:t>idirectional </a:t>
            </a:r>
            <a:r>
              <a:rPr lang="en-US" sz="2400" b="1" dirty="0" smtClean="0"/>
              <a:t>E</a:t>
            </a:r>
            <a:r>
              <a:rPr lang="en-US" sz="2400" dirty="0" smtClean="0"/>
              <a:t>ncoder </a:t>
            </a:r>
            <a:r>
              <a:rPr lang="en-US" sz="2400" b="1" dirty="0" smtClean="0"/>
              <a:t>R</a:t>
            </a:r>
            <a:r>
              <a:rPr lang="en-US" sz="2400" dirty="0" smtClean="0"/>
              <a:t>epresentations from </a:t>
            </a:r>
            <a:r>
              <a:rPr lang="en-US" sz="2400" b="1" dirty="0" smtClean="0"/>
              <a:t>T</a:t>
            </a:r>
            <a:r>
              <a:rPr lang="en-US" sz="2400" dirty="0" smtClean="0"/>
              <a:t>ransformers)</a:t>
            </a:r>
            <a:endParaRPr lang="en-US" sz="2400" b="1" dirty="0"/>
          </a:p>
          <a:p>
            <a:r>
              <a:rPr lang="en-US" b="1" dirty="0"/>
              <a:t>T5</a:t>
            </a:r>
            <a:r>
              <a:rPr lang="en-US" dirty="0"/>
              <a:t> – text-to-text </a:t>
            </a:r>
            <a:r>
              <a:rPr lang="en-US" dirty="0" smtClean="0"/>
              <a:t>tasks </a:t>
            </a:r>
          </a:p>
          <a:p>
            <a:pPr marL="0" indent="0">
              <a:buNone/>
            </a:pPr>
            <a:r>
              <a:rPr lang="en-US" sz="2400" dirty="0"/>
              <a:t>(Text-To-Text Transfer Transformer)</a:t>
            </a:r>
          </a:p>
          <a:p>
            <a:r>
              <a:rPr lang="en-US" b="1" dirty="0" err="1"/>
              <a:t>LLaMA</a:t>
            </a:r>
            <a:r>
              <a:rPr lang="en-US" dirty="0"/>
              <a:t> – open-source foundation </a:t>
            </a:r>
            <a:r>
              <a:rPr lang="en-US" dirty="0" smtClean="0"/>
              <a:t>model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sz="2400" dirty="0" smtClean="0"/>
              <a:t>(</a:t>
            </a:r>
            <a:r>
              <a:rPr lang="en-US" sz="2400" b="1" dirty="0" smtClean="0"/>
              <a:t>L</a:t>
            </a:r>
            <a:r>
              <a:rPr lang="en-US" sz="2400" dirty="0" smtClean="0"/>
              <a:t>arge </a:t>
            </a:r>
            <a:r>
              <a:rPr lang="en-US" sz="2400" b="1" dirty="0" smtClean="0"/>
              <a:t>La</a:t>
            </a:r>
            <a:r>
              <a:rPr lang="en-US" sz="2400" dirty="0" smtClean="0"/>
              <a:t>nguage </a:t>
            </a:r>
            <a:r>
              <a:rPr lang="en-US" sz="2400" b="1" dirty="0" smtClean="0"/>
              <a:t>M</a:t>
            </a:r>
            <a:r>
              <a:rPr lang="en-US" sz="2400" dirty="0" smtClean="0"/>
              <a:t>odel </a:t>
            </a:r>
            <a:r>
              <a:rPr lang="en-US" sz="2400" b="1" dirty="0" smtClean="0"/>
              <a:t>A</a:t>
            </a:r>
            <a:r>
              <a:rPr lang="en-US" sz="2400" dirty="0" smtClean="0"/>
              <a:t>ssistant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75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800" dirty="0" smtClean="0"/>
              <a:t>Generative </a:t>
            </a:r>
            <a:r>
              <a:rPr lang="en-US" sz="2800" dirty="0"/>
              <a:t>AI refers to AI systems that can </a:t>
            </a:r>
            <a:r>
              <a:rPr lang="en-US" sz="2800" b="1" dirty="0"/>
              <a:t>generate new content</a:t>
            </a:r>
            <a:r>
              <a:rPr lang="en-US" sz="2800" dirty="0"/>
              <a:t> such as text, images, audio, video, or code instead of only analyzing or classifying existing data.</a:t>
            </a:r>
          </a:p>
          <a:p>
            <a:pPr marL="0" indent="0">
              <a:buNone/>
            </a:pPr>
            <a:r>
              <a:rPr lang="en-US" b="1" dirty="0"/>
              <a:t>Key Characteristics</a:t>
            </a:r>
          </a:p>
          <a:p>
            <a:pPr lvl="1"/>
            <a:r>
              <a:rPr lang="en-US" dirty="0"/>
              <a:t>Produces original outputs</a:t>
            </a:r>
          </a:p>
          <a:p>
            <a:pPr lvl="1"/>
            <a:r>
              <a:rPr lang="en-US" dirty="0"/>
              <a:t>Learns patterns from large datasets</a:t>
            </a:r>
          </a:p>
          <a:p>
            <a:pPr lvl="1"/>
            <a:r>
              <a:rPr lang="en-US" dirty="0"/>
              <a:t>Can adapt to different creative and technical tasks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Generative AI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ChatGPT</a:t>
            </a:r>
            <a:r>
              <a:rPr lang="en-US" dirty="0" smtClean="0"/>
              <a:t> </a:t>
            </a:r>
            <a:r>
              <a:rPr lang="en-US" dirty="0"/>
              <a:t>generating essays</a:t>
            </a:r>
          </a:p>
          <a:p>
            <a:r>
              <a:rPr lang="en-US" dirty="0"/>
              <a:t>DALL·E generating images from text</a:t>
            </a:r>
          </a:p>
          <a:p>
            <a:r>
              <a:rPr lang="en-US" dirty="0"/>
              <a:t>Music generation tools</a:t>
            </a:r>
          </a:p>
          <a:p>
            <a:r>
              <a:rPr lang="en-US" dirty="0"/>
              <a:t>Code generation tools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Difference Between Traditional AI and Generative AI</a:t>
            </a:r>
            <a:endParaRPr sz="3600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4997690"/>
              </p:ext>
            </p:extLst>
          </p:nvPr>
        </p:nvGraphicFramePr>
        <p:xfrm>
          <a:off x="457200" y="1624080"/>
          <a:ext cx="7922331" cy="4840648"/>
        </p:xfrm>
        <a:graphic>
          <a:graphicData uri="http://schemas.openxmlformats.org/drawingml/2006/table">
            <a:tbl>
              <a:tblPr/>
              <a:tblGrid>
                <a:gridCol w="2640777"/>
                <a:gridCol w="2640777"/>
                <a:gridCol w="2640777"/>
              </a:tblGrid>
              <a:tr h="345551">
                <a:tc>
                  <a:txBody>
                    <a:bodyPr/>
                    <a:lstStyle/>
                    <a:p>
                      <a:r>
                        <a:rPr lang="en-US" sz="1600" b="1" dirty="0"/>
                        <a:t>Aspect</a:t>
                      </a:r>
                      <a:endParaRPr lang="en-US" sz="1600" dirty="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Traditional AI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Generative AI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4611">
                <a:tc>
                  <a:txBody>
                    <a:bodyPr/>
                    <a:lstStyle/>
                    <a:p>
                      <a:r>
                        <a:rPr lang="en-US" sz="1600" b="1"/>
                        <a:t>Definition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Analyzes data and makes predictions based on rules or learned patterns.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Generates new content such as text, images, audio, or code.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551">
                <a:tc>
                  <a:txBody>
                    <a:bodyPr/>
                    <a:lstStyle/>
                    <a:p>
                      <a:r>
                        <a:rPr lang="en-US" sz="1600" b="1"/>
                        <a:t>Purpose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Analyze &amp; Predict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Create &amp; Generate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081">
                <a:tc>
                  <a:txBody>
                    <a:bodyPr/>
                    <a:lstStyle/>
                    <a:p>
                      <a:r>
                        <a:rPr lang="en-US" sz="1600" b="1"/>
                        <a:t>Output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Decisions, classifications, recommendations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Text, images, music, code, videos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5081">
                <a:tc>
                  <a:txBody>
                    <a:bodyPr/>
                    <a:lstStyle/>
                    <a:p>
                      <a:r>
                        <a:rPr lang="en-US" sz="1600" b="1"/>
                        <a:t>Learning Type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Supervised or rule-based learning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Unsupervised or self-supervised learning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4611">
                <a:tc>
                  <a:txBody>
                    <a:bodyPr/>
                    <a:lstStyle/>
                    <a:p>
                      <a:r>
                        <a:rPr lang="en-US" sz="1600" b="1"/>
                        <a:t>Examples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Fraud detection, loan approval, face recognition, stock prediction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ChatGPT, DALL·E, AI music composition, code generation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64611">
                <a:tc>
                  <a:txBody>
                    <a:bodyPr/>
                    <a:lstStyle/>
                    <a:p>
                      <a:r>
                        <a:rPr lang="en-US" sz="1600" b="1"/>
                        <a:t>Applications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Medical diagnosis, autonomous systems, recommendation engines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Content creation, chatbots, creative design, text/image generation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5551">
                <a:tc>
                  <a:txBody>
                    <a:bodyPr/>
                    <a:lstStyle/>
                    <a:p>
                      <a:r>
                        <a:rPr lang="en-US" sz="1600" b="1"/>
                        <a:t>Creativity</a:t>
                      </a:r>
                      <a:endParaRPr lang="en-US" sz="1600"/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Low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High</a:t>
                      </a:r>
                    </a:p>
                  </a:txBody>
                  <a:tcPr marL="80821" marR="80821" marT="40410" marB="404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9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 Models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Foundation </a:t>
            </a:r>
            <a:r>
              <a:rPr lang="en-US" sz="2000" dirty="0"/>
              <a:t>models are large pre-trained models trained on </a:t>
            </a:r>
            <a:r>
              <a:rPr lang="en-US" sz="2000" b="1" dirty="0"/>
              <a:t>diverse massive datasets</a:t>
            </a:r>
            <a:r>
              <a:rPr lang="en-US" sz="2000" dirty="0"/>
              <a:t> and adaptable to multiple tasks through fine-tuning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Foundation models are </a:t>
            </a:r>
            <a:r>
              <a:rPr lang="en-US" sz="2000" b="1" dirty="0"/>
              <a:t>very large AI models</a:t>
            </a:r>
            <a:r>
              <a:rPr lang="en-US" sz="2000" dirty="0"/>
              <a:t> that act as a </a:t>
            </a:r>
            <a:r>
              <a:rPr lang="en-US" sz="2000" b="1" dirty="0"/>
              <a:t>base (foundation)</a:t>
            </a:r>
            <a:r>
              <a:rPr lang="en-US" sz="2000" dirty="0"/>
              <a:t> for many applications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They are not built for just one task; instead, they are </a:t>
            </a:r>
            <a:r>
              <a:rPr lang="en-US" sz="2000" b="1" dirty="0"/>
              <a:t>general-purpose models</a:t>
            </a:r>
            <a:r>
              <a:rPr lang="en-US" sz="2000" dirty="0" smtClean="0"/>
              <a:t>.</a:t>
            </a:r>
          </a:p>
          <a:p>
            <a:r>
              <a:rPr lang="en-US" sz="2000" b="1" dirty="0"/>
              <a:t>Trained on diverse massive datasets</a:t>
            </a:r>
          </a:p>
          <a:p>
            <a:r>
              <a:rPr lang="en-US" sz="2000" dirty="0"/>
              <a:t>The training data comes from </a:t>
            </a:r>
            <a:r>
              <a:rPr lang="en-US" sz="2000" b="1" dirty="0"/>
              <a:t>many different sources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Books</a:t>
            </a:r>
          </a:p>
          <a:p>
            <a:pPr lvl="1"/>
            <a:r>
              <a:rPr lang="en-US" sz="2000" dirty="0"/>
              <a:t>Websites</a:t>
            </a:r>
          </a:p>
          <a:p>
            <a:pPr lvl="1"/>
            <a:r>
              <a:rPr lang="en-US" sz="2000" dirty="0"/>
              <a:t>Articles</a:t>
            </a:r>
          </a:p>
          <a:p>
            <a:pPr lvl="1"/>
            <a:r>
              <a:rPr lang="en-US" sz="2000" dirty="0"/>
              <a:t>Code repositories</a:t>
            </a:r>
          </a:p>
          <a:p>
            <a:r>
              <a:rPr lang="en-US" sz="2000" dirty="0"/>
              <a:t>Because the data is </a:t>
            </a:r>
            <a:r>
              <a:rPr lang="en-US" sz="2000" b="1" dirty="0"/>
              <a:t>diverse</a:t>
            </a:r>
            <a:r>
              <a:rPr lang="en-US" sz="2000" dirty="0"/>
              <a:t>, the model gains </a:t>
            </a:r>
            <a:r>
              <a:rPr lang="en-US" sz="2000" b="1" dirty="0"/>
              <a:t>broad knowledge across many topics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0642"/>
            <a:ext cx="8229600" cy="537380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b="1" dirty="0"/>
              <a:t>Why Are They Called “Foundation” Models?</a:t>
            </a:r>
          </a:p>
          <a:p>
            <a:pPr marL="0" indent="0">
              <a:buNone/>
            </a:pPr>
            <a:r>
              <a:rPr lang="en-US" sz="3600" dirty="0"/>
              <a:t>	</a:t>
            </a:r>
            <a:r>
              <a:rPr lang="en-US" dirty="0"/>
              <a:t>They act as a </a:t>
            </a:r>
            <a:r>
              <a:rPr lang="en-US" b="1" dirty="0"/>
              <a:t>base or foundation</a:t>
            </a:r>
            <a:r>
              <a:rPr lang="en-US" dirty="0"/>
              <a:t> upon which many task-specific models can be built using fine-tuning</a:t>
            </a:r>
            <a:r>
              <a:rPr lang="en-US" dirty="0" smtClean="0"/>
              <a:t>.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Key </a:t>
            </a:r>
            <a:r>
              <a:rPr lang="en-US" b="1" dirty="0"/>
              <a:t>Features</a:t>
            </a:r>
          </a:p>
          <a:p>
            <a:pPr lvl="1"/>
            <a:r>
              <a:rPr lang="en-US" dirty="0"/>
              <a:t>Trained once, reused many times</a:t>
            </a:r>
          </a:p>
          <a:p>
            <a:pPr lvl="1"/>
            <a:r>
              <a:rPr lang="en-US" dirty="0"/>
              <a:t>Multi-task capability</a:t>
            </a:r>
          </a:p>
          <a:p>
            <a:pPr lvl="1"/>
            <a:r>
              <a:rPr lang="en-US" dirty="0"/>
              <a:t>Transfer learning enabled</a:t>
            </a:r>
          </a:p>
          <a:p>
            <a:pPr marL="0" indent="0">
              <a:buNone/>
            </a:pPr>
            <a:r>
              <a:rPr lang="en-US" b="1" dirty="0" smtClean="0"/>
              <a:t>Example</a:t>
            </a:r>
          </a:p>
          <a:p>
            <a:pPr marL="0" indent="0">
              <a:buNone/>
            </a:pPr>
            <a:r>
              <a:rPr lang="en-US" sz="2600" dirty="0" smtClean="0"/>
              <a:t>A </a:t>
            </a:r>
            <a:r>
              <a:rPr lang="en-US" sz="2600" dirty="0"/>
              <a:t>single BERT model can be fine-tuned for:</a:t>
            </a:r>
            <a:endParaRPr lang="en-US" sz="2400" dirty="0"/>
          </a:p>
          <a:p>
            <a:pPr lvl="1"/>
            <a:r>
              <a:rPr lang="en-US" sz="2600" dirty="0"/>
              <a:t>Sentiment analysis</a:t>
            </a:r>
          </a:p>
          <a:p>
            <a:pPr lvl="1"/>
            <a:r>
              <a:rPr lang="en-US" sz="2600" dirty="0"/>
              <a:t>Named entity recognition</a:t>
            </a:r>
          </a:p>
          <a:p>
            <a:pPr lvl="1"/>
            <a:r>
              <a:rPr lang="en-US" sz="2600" dirty="0"/>
              <a:t>Question answering</a:t>
            </a:r>
          </a:p>
          <a:p>
            <a:pPr lvl="1"/>
            <a:r>
              <a:rPr lang="en-US" sz="2600" dirty="0"/>
              <a:t>Spam detection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of Large Language Models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144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800" dirty="0" smtClean="0"/>
              <a:t>LLMs </a:t>
            </a:r>
            <a:r>
              <a:rPr lang="en-US" sz="2800" dirty="0"/>
              <a:t>are based on the </a:t>
            </a:r>
            <a:r>
              <a:rPr lang="en-US" sz="2800" b="1" dirty="0"/>
              <a:t>Transformer architecture</a:t>
            </a:r>
            <a:r>
              <a:rPr lang="en-US" sz="2800" dirty="0"/>
              <a:t>, which relies on </a:t>
            </a:r>
            <a:r>
              <a:rPr lang="en-US" sz="2800" b="1" dirty="0"/>
              <a:t>attention mechanisms</a:t>
            </a:r>
            <a:r>
              <a:rPr lang="en-US" sz="2800" dirty="0"/>
              <a:t> instead of recurrence or convolution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r>
              <a:rPr lang="en-US" sz="2800" b="1" dirty="0"/>
              <a:t>Attention Mechanisms</a:t>
            </a:r>
          </a:p>
          <a:p>
            <a:r>
              <a:rPr lang="en-US" sz="2800" b="1" dirty="0"/>
              <a:t>Attention</a:t>
            </a:r>
            <a:r>
              <a:rPr lang="en-US" sz="2800" dirty="0"/>
              <a:t> is the key feature of Transformers.</a:t>
            </a:r>
          </a:p>
          <a:p>
            <a:r>
              <a:rPr lang="en-US" sz="2800" dirty="0"/>
              <a:t>It allows the model to </a:t>
            </a:r>
            <a:r>
              <a:rPr lang="en-US" sz="2800" b="1" dirty="0"/>
              <a:t>focus on important words in a sentence</a:t>
            </a:r>
            <a:r>
              <a:rPr lang="en-US" sz="2800" dirty="0"/>
              <a:t> when generating or understanding text.</a:t>
            </a:r>
          </a:p>
          <a:p>
            <a:r>
              <a:rPr lang="en-US" sz="2800" dirty="0"/>
              <a:t>Example: In the sentence</a:t>
            </a:r>
            <a:br>
              <a:rPr lang="en-US" sz="2800" dirty="0"/>
            </a:br>
            <a:r>
              <a:rPr lang="en-US" sz="2800" i="1" dirty="0"/>
              <a:t>“The cat that chased the mouse was hungry.”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When predicting “was hungry,” the model </a:t>
            </a:r>
            <a:r>
              <a:rPr lang="en-US" sz="2800" b="1" dirty="0"/>
              <a:t>pays more attention to “cat”</a:t>
            </a:r>
            <a:r>
              <a:rPr lang="en-US" sz="2800" dirty="0"/>
              <a:t> than to “mouse” because “cat” is the subject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of Large Language </a:t>
            </a:r>
            <a:r>
              <a:rPr lang="en-US" dirty="0" smtClean="0"/>
              <a:t>Models Continued…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030" y="2241644"/>
            <a:ext cx="8229600" cy="511449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Encoder Architecture</a:t>
            </a:r>
          </a:p>
          <a:p>
            <a:r>
              <a:rPr lang="en-US" sz="2800" dirty="0"/>
              <a:t>Decoder </a:t>
            </a:r>
            <a:r>
              <a:rPr lang="en-US" sz="2800" dirty="0" smtClean="0"/>
              <a:t>Architecture</a:t>
            </a:r>
          </a:p>
          <a:p>
            <a:r>
              <a:rPr lang="en-US" sz="2800" dirty="0"/>
              <a:t>Encoder–Decoder Architecture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750408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Purpose of Encoder Models</a:t>
            </a:r>
          </a:p>
          <a:p>
            <a:pPr lvl="1"/>
            <a:r>
              <a:rPr lang="en-US" sz="2400" b="1" dirty="0"/>
              <a:t>Encoder models</a:t>
            </a:r>
            <a:r>
              <a:rPr lang="en-US" sz="2400" dirty="0"/>
              <a:t> are designed to </a:t>
            </a:r>
            <a:r>
              <a:rPr lang="en-US" sz="2400" b="1" dirty="0"/>
              <a:t>understand the meaning of text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They focus on </a:t>
            </a:r>
            <a:r>
              <a:rPr lang="en-US" sz="2400" b="1" dirty="0"/>
              <a:t>comprehending context</a:t>
            </a:r>
            <a:r>
              <a:rPr lang="en-US" sz="2400" dirty="0"/>
              <a:t>, not generating new text.</a:t>
            </a:r>
          </a:p>
          <a:p>
            <a:pPr lvl="1"/>
            <a:r>
              <a:rPr lang="en-US" sz="2400" dirty="0"/>
              <a:t>Example: BERT is an encoder model. It can answer questions or classify text because it deeply understands the input.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an Encoder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1. Input </a:t>
            </a:r>
            <a:r>
              <a:rPr lang="en-US" b="1" dirty="0"/>
              <a:t>text is converted into tokens</a:t>
            </a:r>
            <a:endParaRPr lang="en-US" dirty="0"/>
          </a:p>
          <a:p>
            <a:pPr lvl="1"/>
            <a:r>
              <a:rPr lang="en-US" dirty="0"/>
              <a:t>Text is split into </a:t>
            </a:r>
            <a:r>
              <a:rPr lang="en-US" b="1" dirty="0"/>
              <a:t>smaller units</a:t>
            </a:r>
            <a:r>
              <a:rPr lang="en-US" dirty="0"/>
              <a:t> (words, </a:t>
            </a:r>
            <a:r>
              <a:rPr lang="en-US" dirty="0" err="1"/>
              <a:t>subwords</a:t>
            </a:r>
            <a:r>
              <a:rPr lang="en-US" dirty="0"/>
              <a:t>, or characters).</a:t>
            </a:r>
          </a:p>
          <a:p>
            <a:pPr lvl="1"/>
            <a:r>
              <a:rPr lang="en-US" dirty="0"/>
              <a:t>Example: "The cat sleeps“ </a:t>
            </a:r>
            <a:r>
              <a:rPr lang="en-US" dirty="0" smtClean="0"/>
              <a:t>-&gt; ["</a:t>
            </a:r>
            <a:r>
              <a:rPr lang="en-US" dirty="0"/>
              <a:t>The", "cat", </a:t>
            </a:r>
            <a:r>
              <a:rPr lang="en-US" dirty="0" smtClean="0"/>
              <a:t>"sleep</a:t>
            </a:r>
            <a:r>
              <a:rPr lang="en-US" dirty="0"/>
              <a:t>", "s</a:t>
            </a:r>
            <a:r>
              <a:rPr lang="en-US" dirty="0" smtClean="0"/>
              <a:t>"]</a:t>
            </a:r>
          </a:p>
          <a:p>
            <a:pPr marL="0" indent="0">
              <a:buNone/>
            </a:pPr>
            <a:r>
              <a:rPr lang="en-US" dirty="0" smtClean="0"/>
              <a:t>2.</a:t>
            </a:r>
            <a:r>
              <a:rPr lang="en-US" b="1" dirty="0"/>
              <a:t> Tokens are embedded into vectors</a:t>
            </a:r>
            <a:endParaRPr lang="en-US" dirty="0"/>
          </a:p>
          <a:p>
            <a:pPr lvl="1"/>
            <a:r>
              <a:rPr lang="en-US" dirty="0"/>
              <a:t>Each token is represented as a </a:t>
            </a:r>
            <a:r>
              <a:rPr lang="en-US" b="1" dirty="0"/>
              <a:t>numeric vector</a:t>
            </a:r>
            <a:r>
              <a:rPr lang="en-US" dirty="0"/>
              <a:t> that the model can process.</a:t>
            </a:r>
          </a:p>
          <a:p>
            <a:pPr lvl="1"/>
            <a:r>
              <a:rPr lang="en-US" dirty="0"/>
              <a:t>These vectors capture </a:t>
            </a:r>
            <a:r>
              <a:rPr lang="en-US" b="1" dirty="0"/>
              <a:t>semantic meaning</a:t>
            </a:r>
            <a:r>
              <a:rPr lang="en-US" dirty="0"/>
              <a:t>, e.g., “cat” and “dog” vectors are closer than “cat” and “car”.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9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an Encoder </a:t>
            </a:r>
            <a:r>
              <a:rPr lang="en-US" dirty="0" smtClean="0"/>
              <a:t>Works Continued…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b="1" dirty="0" smtClean="0"/>
              <a:t>Self-attention </a:t>
            </a:r>
            <a:r>
              <a:rPr lang="en-US" b="1" dirty="0"/>
              <a:t>captures relationships between all </a:t>
            </a:r>
            <a:r>
              <a:rPr lang="en-US" b="1" dirty="0" smtClean="0"/>
              <a:t>	words.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attention mechanism</a:t>
            </a:r>
            <a:r>
              <a:rPr lang="en-US" dirty="0"/>
              <a:t> lets the model see </a:t>
            </a:r>
            <a:r>
              <a:rPr lang="en-US" b="1" dirty="0"/>
              <a:t>how every word relates to every other word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Example: In "The cat chased the </a:t>
            </a:r>
            <a:r>
              <a:rPr lang="en-US" dirty="0" smtClean="0"/>
              <a:t>mouse”,  </a:t>
            </a:r>
            <a:r>
              <a:rPr lang="en-US" dirty="0"/>
              <a:t>the model knows that "</a:t>
            </a:r>
            <a:r>
              <a:rPr lang="en-US" dirty="0" smtClean="0"/>
              <a:t>cat” is </a:t>
            </a:r>
            <a:r>
              <a:rPr lang="en-US" dirty="0"/>
              <a:t>the one doing the action, not "</a:t>
            </a:r>
            <a:r>
              <a:rPr lang="en-US" dirty="0" smtClean="0"/>
              <a:t>mouse“.</a:t>
            </a:r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b="1" dirty="0"/>
              <a:t>Output is a contextual representation</a:t>
            </a:r>
          </a:p>
          <a:p>
            <a:pPr lvl="1"/>
            <a:r>
              <a:rPr lang="en-US" dirty="0"/>
              <a:t>After processing, each token now has a </a:t>
            </a:r>
            <a:r>
              <a:rPr lang="en-US" b="1" dirty="0"/>
              <a:t>context-aware vector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These vectors contain information about </a:t>
            </a:r>
            <a:r>
              <a:rPr lang="en-US" b="1" dirty="0"/>
              <a:t>meaning and relationships</a:t>
            </a:r>
            <a:r>
              <a:rPr lang="en-US" dirty="0"/>
              <a:t> in the sentence.</a:t>
            </a:r>
          </a:p>
          <a:p>
            <a:pPr lvl="1"/>
            <a:r>
              <a:rPr lang="en-US" dirty="0"/>
              <a:t>They can be used for tasks like </a:t>
            </a:r>
            <a:r>
              <a:rPr lang="en-US" b="1" dirty="0"/>
              <a:t>text classification, sentiment analysis, or question answering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3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382" y="1905546"/>
            <a:ext cx="8229600" cy="5005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Purpose of Decoder Models</a:t>
            </a:r>
            <a:endParaRPr lang="en-US" sz="2800" b="1" dirty="0" smtClean="0"/>
          </a:p>
          <a:p>
            <a:pPr lvl="1"/>
            <a:r>
              <a:rPr lang="en-US" sz="2400" b="1" dirty="0" smtClean="0"/>
              <a:t>Decoder </a:t>
            </a:r>
            <a:r>
              <a:rPr lang="en-US" sz="2400" b="1" dirty="0"/>
              <a:t>models</a:t>
            </a:r>
            <a:r>
              <a:rPr lang="en-US" sz="2400" dirty="0"/>
              <a:t> are mainly used for </a:t>
            </a:r>
            <a:r>
              <a:rPr lang="en-US" sz="2400" b="1" dirty="0"/>
              <a:t>text generation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/>
              <a:t>Their goal is to </a:t>
            </a:r>
            <a:r>
              <a:rPr lang="en-US" sz="2400" b="1" dirty="0"/>
              <a:t>produce new text one word at a time</a:t>
            </a:r>
            <a:r>
              <a:rPr lang="en-US" sz="2400" dirty="0"/>
              <a:t>, </a:t>
            </a:r>
            <a:r>
              <a:rPr lang="en-US" sz="2400" dirty="0" smtClean="0"/>
              <a:t>bas</a:t>
            </a:r>
          </a:p>
          <a:p>
            <a:pPr lvl="1"/>
            <a:r>
              <a:rPr lang="en-US" sz="2400" dirty="0"/>
              <a:t>Examples: </a:t>
            </a:r>
            <a:r>
              <a:rPr lang="en-US" sz="2400" b="1" dirty="0"/>
              <a:t>GPT series (GPT-2, GPT-3, GPT-4)</a:t>
            </a:r>
            <a:r>
              <a:rPr lang="en-US" sz="2400" dirty="0"/>
              <a:t>.</a:t>
            </a:r>
            <a:r>
              <a:rPr lang="en-US" sz="2400" dirty="0" err="1"/>
              <a:t>ed</a:t>
            </a:r>
            <a:r>
              <a:rPr lang="en-US" sz="2400" dirty="0"/>
              <a:t> on what has already been generated.</a:t>
            </a:r>
            <a:r>
              <a:rPr lang="en-US" sz="2400" dirty="0" smtClean="0"/>
              <a:t>	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Decoder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Takes previously generated words as input</a:t>
            </a:r>
          </a:p>
          <a:p>
            <a:pPr lvl="1"/>
            <a:r>
              <a:rPr lang="en-US" dirty="0"/>
              <a:t>The decoder starts with a </a:t>
            </a:r>
            <a:r>
              <a:rPr lang="en-US" b="1" dirty="0"/>
              <a:t>prompt or starting words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new word it generates is </a:t>
            </a:r>
            <a:r>
              <a:rPr lang="en-US" b="1" dirty="0"/>
              <a:t>fed back as input</a:t>
            </a:r>
            <a:r>
              <a:rPr lang="en-US" dirty="0"/>
              <a:t> for the next prediction.</a:t>
            </a:r>
          </a:p>
          <a:p>
            <a:pPr lvl="1"/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dirty="0"/>
              <a:t>Input: </a:t>
            </a:r>
            <a:r>
              <a:rPr lang="en-US" i="1" dirty="0"/>
              <a:t>“Artificial intelligence</a:t>
            </a:r>
            <a:r>
              <a:rPr lang="en-US" i="1" dirty="0" smtClean="0"/>
              <a:t>” </a:t>
            </a:r>
          </a:p>
          <a:p>
            <a:pPr marL="457200" lvl="1" indent="0">
              <a:buNone/>
            </a:pPr>
            <a:r>
              <a:rPr lang="en-US" dirty="0"/>
              <a:t>Model predicts → </a:t>
            </a:r>
            <a:r>
              <a:rPr lang="en-US" i="1" dirty="0"/>
              <a:t>“is”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Next input: </a:t>
            </a:r>
            <a:r>
              <a:rPr lang="en-US" i="1" dirty="0"/>
              <a:t>“Artificial intelligence is”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06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 Decoder </a:t>
            </a:r>
            <a:r>
              <a:rPr lang="en-US" dirty="0" smtClean="0"/>
              <a:t>Works Continued..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2</a:t>
            </a:r>
            <a:r>
              <a:rPr lang="en-US" b="1" dirty="0"/>
              <a:t>. Uses masked self-attention so future words </a:t>
            </a:r>
            <a:r>
              <a:rPr lang="en-US" b="1" dirty="0" smtClean="0"/>
              <a:t>	are </a:t>
            </a:r>
            <a:r>
              <a:rPr lang="en-US" b="1" dirty="0"/>
              <a:t>hidden</a:t>
            </a:r>
          </a:p>
          <a:p>
            <a:pPr lvl="1"/>
            <a:r>
              <a:rPr lang="en-US" dirty="0"/>
              <a:t>The decoder uses a special type of attention called </a:t>
            </a:r>
            <a:r>
              <a:rPr lang="en-US" b="1" dirty="0"/>
              <a:t>masked self-attention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mask </a:t>
            </a:r>
            <a:r>
              <a:rPr lang="en-US" b="1" dirty="0"/>
              <a:t>prevents the model from seeing future words</a:t>
            </a:r>
            <a:r>
              <a:rPr lang="en-US" dirty="0"/>
              <a:t> while predicting the current word.</a:t>
            </a:r>
          </a:p>
          <a:p>
            <a:pPr lvl="1"/>
            <a:r>
              <a:rPr lang="en-US" dirty="0"/>
              <a:t>This keeps the generation process </a:t>
            </a:r>
            <a:r>
              <a:rPr lang="en-US" b="1" dirty="0"/>
              <a:t>realistic and sequential</a:t>
            </a:r>
            <a:r>
              <a:rPr lang="en-US" dirty="0"/>
              <a:t>, just like humans write.</a:t>
            </a:r>
          </a:p>
          <a:p>
            <a:pPr marL="85725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9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Predicts the next word step-by-step</a:t>
            </a:r>
          </a:p>
          <a:p>
            <a:pPr lvl="1"/>
            <a:r>
              <a:rPr lang="en-US" dirty="0"/>
              <a:t>The model predicts </a:t>
            </a:r>
            <a:r>
              <a:rPr lang="en-US" b="1" dirty="0"/>
              <a:t>one token at a time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After predicting a word, it moves to the next step and predicts again.</a:t>
            </a:r>
          </a:p>
          <a:p>
            <a:pPr lvl="1"/>
            <a:r>
              <a:rPr lang="en-US" dirty="0"/>
              <a:t>This continues until the sentence or paragraph is complete.</a:t>
            </a:r>
          </a:p>
          <a:p>
            <a:pPr marL="857250" lvl="2" indent="0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29056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How a Decoder Works Continued..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49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Encoder–Decoder Architecture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Purpose of Encoder–Decoder Models</a:t>
            </a:r>
          </a:p>
          <a:p>
            <a:r>
              <a:rPr lang="en-US" sz="2600" b="1" dirty="0" smtClean="0"/>
              <a:t>Encoder–Decoder models</a:t>
            </a:r>
            <a:r>
              <a:rPr lang="en-US" sz="2600" dirty="0" smtClean="0"/>
              <a:t> are used for </a:t>
            </a:r>
            <a:r>
              <a:rPr lang="en-US" sz="2600" b="1" dirty="0" smtClean="0"/>
              <a:t>sequence-to-sequence (Seq2Seq) tasks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In these tasks, </a:t>
            </a:r>
            <a:r>
              <a:rPr lang="en-US" sz="2600" b="1" dirty="0" smtClean="0"/>
              <a:t>both input and output are text</a:t>
            </a:r>
            <a:r>
              <a:rPr lang="en-US" sz="2600" dirty="0" smtClean="0"/>
              <a:t>, but they may be different in length or language.</a:t>
            </a:r>
          </a:p>
          <a:p>
            <a:r>
              <a:rPr lang="en-US" sz="2600" dirty="0" smtClean="0"/>
              <a:t>Common applications:</a:t>
            </a:r>
          </a:p>
          <a:p>
            <a:pPr lvl="1"/>
            <a:r>
              <a:rPr lang="en-US" sz="2400" b="1" dirty="0" smtClean="0"/>
              <a:t>Machine Translation</a:t>
            </a:r>
            <a:r>
              <a:rPr lang="en-US" sz="2400" dirty="0" smtClean="0"/>
              <a:t> (English → Hindi)</a:t>
            </a:r>
          </a:p>
          <a:p>
            <a:pPr lvl="1"/>
            <a:r>
              <a:rPr lang="en-US" sz="2400" b="1" dirty="0" smtClean="0"/>
              <a:t>Text Summarization</a:t>
            </a:r>
            <a:endParaRPr lang="en-US" sz="2400" dirty="0" smtClean="0"/>
          </a:p>
          <a:p>
            <a:pPr lvl="1"/>
            <a:r>
              <a:rPr lang="en-US" sz="2400" b="1" dirty="0" smtClean="0"/>
              <a:t>Question Answering</a:t>
            </a:r>
            <a:endParaRPr lang="en-US" sz="2400" dirty="0" smtClean="0"/>
          </a:p>
          <a:p>
            <a:pPr lvl="1"/>
            <a:r>
              <a:rPr lang="en-US" sz="2400" b="1" dirty="0" smtClean="0"/>
              <a:t>Text Paraphrasing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4039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Example</a:t>
            </a:r>
          </a:p>
          <a:p>
            <a:pPr lvl="1"/>
            <a:r>
              <a:rPr lang="en-US" dirty="0"/>
              <a:t>Input: “How are you</a:t>
            </a:r>
            <a:r>
              <a:rPr lang="en-US" dirty="0" smtClean="0"/>
              <a:t>?”</a:t>
            </a:r>
          </a:p>
          <a:p>
            <a:pPr lvl="1"/>
            <a:r>
              <a:rPr lang="en-US" dirty="0"/>
              <a:t>Output</a:t>
            </a:r>
            <a:r>
              <a:rPr lang="en-US" dirty="0" smtClean="0"/>
              <a:t>:  </a:t>
            </a:r>
            <a:r>
              <a:rPr lang="hi-IN" dirty="0"/>
              <a:t>“आप कैसे हैं</a:t>
            </a:r>
            <a:r>
              <a:rPr lang="hi-IN" dirty="0" smtClean="0"/>
              <a:t>?”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Models Using Encoder–Decoder Architecture</a:t>
            </a:r>
          </a:p>
          <a:p>
            <a:pPr lvl="1"/>
            <a:r>
              <a:rPr lang="en-US" dirty="0"/>
              <a:t>T5</a:t>
            </a:r>
          </a:p>
          <a:p>
            <a:pPr lvl="1"/>
            <a:r>
              <a:rPr lang="en-US" dirty="0"/>
              <a:t>BART</a:t>
            </a:r>
          </a:p>
          <a:p>
            <a:pPr lvl="1"/>
            <a:r>
              <a:rPr lang="en-US" dirty="0"/>
              <a:t>Transformer (original)</a:t>
            </a:r>
          </a:p>
          <a:p>
            <a:pPr marL="0" indent="0">
              <a:buNone/>
            </a:pPr>
            <a:r>
              <a:rPr lang="en-US" b="1" dirty="0"/>
              <a:t>Applications</a:t>
            </a:r>
          </a:p>
          <a:p>
            <a:pPr lvl="1"/>
            <a:r>
              <a:rPr lang="en-US" dirty="0"/>
              <a:t>Machine translation</a:t>
            </a:r>
          </a:p>
          <a:p>
            <a:pPr lvl="1"/>
            <a:r>
              <a:rPr lang="en-US" dirty="0"/>
              <a:t>Text summarization</a:t>
            </a:r>
          </a:p>
          <a:p>
            <a:pPr lvl="1"/>
            <a:r>
              <a:rPr lang="en-US" dirty="0"/>
              <a:t>Question answering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Encoder–Decoder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Encoder processes input sentence</a:t>
            </a:r>
          </a:p>
          <a:p>
            <a:pPr lvl="1"/>
            <a:r>
              <a:rPr lang="en-US" dirty="0"/>
              <a:t>The encoder </a:t>
            </a:r>
            <a:r>
              <a:rPr lang="en-US" b="1" dirty="0"/>
              <a:t>reads and understands</a:t>
            </a:r>
            <a:r>
              <a:rPr lang="en-US" dirty="0"/>
              <a:t> the entire input sentence.</a:t>
            </a:r>
          </a:p>
          <a:p>
            <a:pPr lvl="1"/>
            <a:r>
              <a:rPr lang="en-US" dirty="0"/>
              <a:t>It converts the input text into </a:t>
            </a:r>
            <a:r>
              <a:rPr lang="en-US" b="1" dirty="0"/>
              <a:t>contextual representations</a:t>
            </a:r>
            <a:r>
              <a:rPr lang="en-US" dirty="0"/>
              <a:t> using </a:t>
            </a:r>
            <a:r>
              <a:rPr lang="en-US" dirty="0" err="1"/>
              <a:t>embeddings</a:t>
            </a:r>
            <a:r>
              <a:rPr lang="en-US" dirty="0"/>
              <a:t> and self-attention.</a:t>
            </a:r>
          </a:p>
          <a:p>
            <a:pPr lvl="1"/>
            <a:r>
              <a:rPr lang="en-US" dirty="0"/>
              <a:t>Output: a set of </a:t>
            </a:r>
            <a:r>
              <a:rPr lang="en-US" b="1" dirty="0"/>
              <a:t>context-rich vectors</a:t>
            </a:r>
            <a:r>
              <a:rPr lang="en-US" dirty="0"/>
              <a:t> that capture the meaning of the input.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2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Encoder–Decoder </a:t>
            </a:r>
            <a:r>
              <a:rPr lang="en-US" dirty="0" smtClean="0"/>
              <a:t>Works Continued..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Decoder generates output sentence using encoder context</a:t>
            </a:r>
          </a:p>
          <a:p>
            <a:pPr lvl="1"/>
            <a:r>
              <a:rPr lang="en-US" dirty="0"/>
              <a:t>The decoder starts generating the output </a:t>
            </a:r>
            <a:r>
              <a:rPr lang="en-US" b="1" dirty="0"/>
              <a:t>word by word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uses:</a:t>
            </a:r>
          </a:p>
          <a:p>
            <a:pPr lvl="2"/>
            <a:r>
              <a:rPr lang="en-US" dirty="0"/>
              <a:t>Previously generated words</a:t>
            </a:r>
          </a:p>
          <a:p>
            <a:pPr lvl="2"/>
            <a:r>
              <a:rPr lang="en-US" dirty="0"/>
              <a:t>Information received from the encoder</a:t>
            </a:r>
          </a:p>
          <a:p>
            <a:pPr lvl="1"/>
            <a:r>
              <a:rPr lang="en-US" dirty="0"/>
              <a:t>This allows the decoder to produce text that is </a:t>
            </a:r>
            <a:r>
              <a:rPr lang="en-US" b="1" dirty="0"/>
              <a:t>relevant to the input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81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Encoder–Decoder </a:t>
            </a:r>
            <a:r>
              <a:rPr lang="en-US" dirty="0" smtClean="0"/>
              <a:t>Works Continued..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3. Cross-attention connects encoder and decoder</a:t>
            </a:r>
          </a:p>
          <a:p>
            <a:pPr lvl="1"/>
            <a:r>
              <a:rPr lang="en-US" b="1" dirty="0"/>
              <a:t>Cross-attention</a:t>
            </a:r>
            <a:r>
              <a:rPr lang="en-US" dirty="0"/>
              <a:t> allows the decoder to </a:t>
            </a:r>
            <a:r>
              <a:rPr lang="en-US" b="1" dirty="0"/>
              <a:t>focus on important parts of the input sentence</a:t>
            </a:r>
            <a:r>
              <a:rPr lang="en-US" dirty="0"/>
              <a:t> while generating each output word.</a:t>
            </a:r>
          </a:p>
          <a:p>
            <a:pPr lvl="1"/>
            <a:r>
              <a:rPr lang="en-US" dirty="0"/>
              <a:t>Example (Translation):</a:t>
            </a:r>
            <a:br>
              <a:rPr lang="en-US" dirty="0"/>
            </a:br>
            <a:r>
              <a:rPr lang="en-US" dirty="0"/>
              <a:t>Input: </a:t>
            </a:r>
            <a:r>
              <a:rPr lang="en-US" i="1" dirty="0"/>
              <a:t>“I am learning AI”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Output: </a:t>
            </a:r>
            <a:r>
              <a:rPr lang="en-US" i="1" dirty="0"/>
              <a:t>“</a:t>
            </a:r>
            <a:r>
              <a:rPr lang="hi-IN" i="1" dirty="0"/>
              <a:t>मैं </a:t>
            </a:r>
            <a:r>
              <a:rPr lang="en-US" i="1" dirty="0"/>
              <a:t>AI </a:t>
            </a:r>
            <a:r>
              <a:rPr lang="hi-IN" i="1" dirty="0"/>
              <a:t>सीख रहा हूँ”</a:t>
            </a:r>
            <a:r>
              <a:rPr lang="hi-IN" dirty="0"/>
              <a:t/>
            </a:r>
            <a:br>
              <a:rPr lang="hi-IN" dirty="0"/>
            </a:br>
            <a:r>
              <a:rPr lang="en-US" dirty="0"/>
              <a:t>While generating “</a:t>
            </a:r>
            <a:r>
              <a:rPr lang="hi-IN" dirty="0"/>
              <a:t>सीख”, </a:t>
            </a:r>
            <a:r>
              <a:rPr lang="en-US" dirty="0"/>
              <a:t>the decoder attends strongly to “learning”.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41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Pre-Training Concept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b="1" dirty="0"/>
              <a:t>Pre-training</a:t>
            </a:r>
            <a:r>
              <a:rPr lang="en-US" dirty="0"/>
              <a:t> is the </a:t>
            </a:r>
            <a:r>
              <a:rPr lang="en-US" b="1" dirty="0"/>
              <a:t>first and most important training stage</a:t>
            </a:r>
            <a:r>
              <a:rPr lang="en-US" dirty="0"/>
              <a:t> of a large language model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	In </a:t>
            </a:r>
            <a:r>
              <a:rPr lang="en-US" dirty="0"/>
              <a:t>this phase, the model learns </a:t>
            </a:r>
            <a:r>
              <a:rPr lang="en-US" b="1" dirty="0"/>
              <a:t>general language </a:t>
            </a:r>
            <a:r>
              <a:rPr lang="en-US" b="1" dirty="0" smtClean="0"/>
              <a:t>knowledge</a:t>
            </a:r>
            <a:r>
              <a:rPr lang="en-US" dirty="0" smtClean="0"/>
              <a:t> </a:t>
            </a:r>
            <a:r>
              <a:rPr lang="en-US" dirty="0"/>
              <a:t>such as:</a:t>
            </a:r>
          </a:p>
          <a:p>
            <a:pPr lvl="1"/>
            <a:r>
              <a:rPr lang="en-US" dirty="0"/>
              <a:t>Grammar</a:t>
            </a:r>
          </a:p>
          <a:p>
            <a:pPr lvl="1"/>
            <a:r>
              <a:rPr lang="en-US" dirty="0"/>
              <a:t>Vocabulary</a:t>
            </a:r>
          </a:p>
          <a:p>
            <a:pPr lvl="1"/>
            <a:r>
              <a:rPr lang="en-US" dirty="0"/>
              <a:t>Sentence structure</a:t>
            </a:r>
          </a:p>
          <a:p>
            <a:pPr lvl="1"/>
            <a:r>
              <a:rPr lang="en-US" dirty="0"/>
              <a:t>Common facts and </a:t>
            </a:r>
            <a:r>
              <a:rPr lang="en-US" dirty="0" smtClean="0"/>
              <a:t>patterns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Nature of Pre-Training</a:t>
            </a:r>
          </a:p>
          <a:p>
            <a:r>
              <a:rPr lang="en-US" dirty="0"/>
              <a:t>Self-supervised learning</a:t>
            </a:r>
          </a:p>
          <a:p>
            <a:r>
              <a:rPr lang="en-US" dirty="0"/>
              <a:t>No human labeling required</a:t>
            </a:r>
          </a:p>
          <a:p>
            <a:r>
              <a:rPr lang="en-US" dirty="0"/>
              <a:t>Uses objectives like next-word prediction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Self-supervised learning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7635922" cy="5172501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model </a:t>
            </a:r>
            <a:r>
              <a:rPr lang="en-US" b="1" dirty="0"/>
              <a:t>creates its own training labels</a:t>
            </a:r>
            <a:r>
              <a:rPr lang="en-US" dirty="0"/>
              <a:t> from raw text.</a:t>
            </a:r>
          </a:p>
          <a:p>
            <a:r>
              <a:rPr lang="en-US" dirty="0"/>
              <a:t>No manual annotation is needed.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Input: </a:t>
            </a:r>
            <a:r>
              <a:rPr lang="en-US" i="1" dirty="0"/>
              <a:t>“Deep learning is a branch of ___”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Target word: </a:t>
            </a:r>
            <a:r>
              <a:rPr lang="en-US" i="1" dirty="0"/>
              <a:t>“Artificial Intelligence”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336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49" y="740927"/>
            <a:ext cx="7170769" cy="481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7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2. </a:t>
            </a:r>
            <a:r>
              <a:rPr lang="en-US" b="1" dirty="0"/>
              <a:t>No human labeling required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Since </a:t>
            </a:r>
            <a:r>
              <a:rPr lang="en-US" dirty="0"/>
              <a:t>labels are automatically generated from the text itself, </a:t>
            </a:r>
            <a:r>
              <a:rPr lang="en-US" b="1" dirty="0"/>
              <a:t>humans do not need to tag or label data</a:t>
            </a:r>
            <a:endParaRPr lang="en-US" dirty="0"/>
          </a:p>
          <a:p>
            <a:r>
              <a:rPr lang="en-US" dirty="0"/>
              <a:t>This allows training on </a:t>
            </a:r>
            <a:r>
              <a:rPr lang="en-US" b="1" dirty="0"/>
              <a:t>massive datasets with billions of words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848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b="1" dirty="0"/>
              <a:t>Uses objectives like next-word prediction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common objective is </a:t>
            </a:r>
            <a:r>
              <a:rPr lang="en-US" b="1" dirty="0"/>
              <a:t>next-token (next-word) prediction</a:t>
            </a:r>
            <a:r>
              <a:rPr lang="en-US" dirty="0" smtClean="0"/>
              <a:t>.</a:t>
            </a:r>
          </a:p>
          <a:p>
            <a:r>
              <a:rPr lang="en-US" dirty="0"/>
              <a:t>The model learns by predicting the </a:t>
            </a:r>
            <a:r>
              <a:rPr lang="en-US" b="1" dirty="0"/>
              <a:t>next word based on previous words</a:t>
            </a:r>
            <a:r>
              <a:rPr lang="en-US" dirty="0" smtClean="0"/>
              <a:t>.</a:t>
            </a:r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Input: </a:t>
            </a:r>
            <a:r>
              <a:rPr lang="en-US" i="1" dirty="0"/>
              <a:t>“Transformers are very”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Model predicts: </a:t>
            </a:r>
            <a:r>
              <a:rPr lang="en-US" i="1" dirty="0"/>
              <a:t>“powerful”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50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Example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GPT </a:t>
            </a:r>
            <a:r>
              <a:rPr lang="en-US" dirty="0"/>
              <a:t>learns to predict the next word in a sentence</a:t>
            </a:r>
            <a:r>
              <a:rPr lang="en-US" dirty="0" smtClean="0"/>
              <a:t>: </a:t>
            </a:r>
          </a:p>
          <a:p>
            <a:r>
              <a:rPr lang="en-US" dirty="0"/>
              <a:t>“</a:t>
            </a:r>
            <a:r>
              <a:rPr lang="en-US" dirty="0" smtClean="0"/>
              <a:t>Machine </a:t>
            </a:r>
            <a:r>
              <a:rPr lang="en-US" dirty="0"/>
              <a:t>learning is a branch of </a:t>
            </a:r>
            <a:r>
              <a:rPr lang="en-US" dirty="0" smtClean="0"/>
              <a:t>___”</a:t>
            </a:r>
          </a:p>
          <a:p>
            <a:r>
              <a:rPr lang="en-US" b="1" dirty="0"/>
              <a:t>Advantages</a:t>
            </a:r>
          </a:p>
          <a:p>
            <a:r>
              <a:rPr lang="en-US" dirty="0"/>
              <a:t>Learns grammar and context</a:t>
            </a:r>
          </a:p>
          <a:p>
            <a:r>
              <a:rPr lang="en-US" dirty="0"/>
              <a:t>Captures world knowledge</a:t>
            </a:r>
          </a:p>
          <a:p>
            <a:r>
              <a:rPr lang="en-US" dirty="0"/>
              <a:t>Reduces need for large labeled data later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Concept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Fine-tuning is the process of </a:t>
            </a:r>
            <a:r>
              <a:rPr lang="en-US" b="1" dirty="0"/>
              <a:t>adapting a pre-trained model</a:t>
            </a:r>
            <a:r>
              <a:rPr lang="en-US" dirty="0"/>
              <a:t> to a specific task or domain using a smaller dataset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Example</a:t>
            </a:r>
          </a:p>
          <a:p>
            <a:r>
              <a:rPr lang="en-US" dirty="0"/>
              <a:t>Pre-trained GPT → Fine-tuned for legal document analysis</a:t>
            </a:r>
          </a:p>
          <a:p>
            <a:r>
              <a:rPr lang="en-US" dirty="0"/>
              <a:t>Pre-trained BERT → Fine-tuned for exam answer evaluation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771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Pre-trained GPT → Fine-tuned for legal document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it means</a:t>
            </a:r>
          </a:p>
          <a:p>
            <a:r>
              <a:rPr lang="en-US" b="1" dirty="0"/>
              <a:t>GPT</a:t>
            </a:r>
            <a:r>
              <a:rPr lang="en-US" dirty="0"/>
              <a:t> is originally pre-trained on </a:t>
            </a:r>
            <a:r>
              <a:rPr lang="en-US" b="1" dirty="0"/>
              <a:t>general text</a:t>
            </a:r>
            <a:r>
              <a:rPr lang="en-US" dirty="0"/>
              <a:t> (books, articles, websites).</a:t>
            </a:r>
          </a:p>
          <a:p>
            <a:r>
              <a:rPr lang="en-US" dirty="0"/>
              <a:t>It knows grammar, sentence structure, and general reasoning.</a:t>
            </a:r>
          </a:p>
          <a:p>
            <a:r>
              <a:rPr lang="en-US" dirty="0"/>
              <a:t>Through </a:t>
            </a:r>
            <a:r>
              <a:rPr lang="en-US" b="1" dirty="0"/>
              <a:t>fine-tuning</a:t>
            </a:r>
            <a:r>
              <a:rPr lang="en-US" dirty="0"/>
              <a:t>, GPT is adapted to understand </a:t>
            </a:r>
            <a:r>
              <a:rPr lang="en-US" b="1" dirty="0"/>
              <a:t>legal language and tasks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71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happens during fine-tuning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</a:t>
            </a:r>
            <a:r>
              <a:rPr lang="en-US" dirty="0"/>
              <a:t>model is trained on:</a:t>
            </a:r>
          </a:p>
          <a:p>
            <a:pPr lvl="1"/>
            <a:r>
              <a:rPr lang="en-US" dirty="0"/>
              <a:t>Legal contracts</a:t>
            </a:r>
          </a:p>
          <a:p>
            <a:pPr lvl="1"/>
            <a:r>
              <a:rPr lang="en-US" dirty="0"/>
              <a:t>Court judgments</a:t>
            </a:r>
          </a:p>
          <a:p>
            <a:pPr lvl="1"/>
            <a:r>
              <a:rPr lang="en-US" dirty="0"/>
              <a:t>Case summaries</a:t>
            </a:r>
          </a:p>
          <a:p>
            <a:pPr lvl="1"/>
            <a:r>
              <a:rPr lang="en-US" dirty="0"/>
              <a:t>Legal Q&amp;A datasets</a:t>
            </a:r>
          </a:p>
          <a:p>
            <a:r>
              <a:rPr lang="en-US" dirty="0"/>
              <a:t>It learns:</a:t>
            </a:r>
          </a:p>
          <a:p>
            <a:pPr lvl="1"/>
            <a:r>
              <a:rPr lang="en-US" dirty="0"/>
              <a:t>Legal terminology (e.g., </a:t>
            </a:r>
            <a:r>
              <a:rPr lang="en-US" i="1" dirty="0"/>
              <a:t>plaintiff, affidavit, jurisdiction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Formal legal writing style</a:t>
            </a:r>
          </a:p>
          <a:p>
            <a:pPr lvl="1"/>
            <a:r>
              <a:rPr lang="en-US" dirty="0"/>
              <a:t>How to analyze clauses and obligations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22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Result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GPT </a:t>
            </a:r>
            <a:r>
              <a:rPr lang="en-US" dirty="0"/>
              <a:t>can now:</a:t>
            </a:r>
          </a:p>
          <a:p>
            <a:pPr lvl="1"/>
            <a:r>
              <a:rPr lang="en-US" dirty="0"/>
              <a:t>Summarize legal documents</a:t>
            </a:r>
          </a:p>
          <a:p>
            <a:pPr lvl="1"/>
            <a:r>
              <a:rPr lang="en-US" dirty="0"/>
              <a:t>Extract key clauses</a:t>
            </a:r>
          </a:p>
          <a:p>
            <a:pPr lvl="1"/>
            <a:r>
              <a:rPr lang="en-US" dirty="0"/>
              <a:t>Answer legal questions</a:t>
            </a:r>
          </a:p>
          <a:p>
            <a:pPr lvl="1"/>
            <a:r>
              <a:rPr lang="en-US" dirty="0"/>
              <a:t>Assist lawyers in document 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484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Pre-trained BERT → Fine-tuned for Exam Answer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it means</a:t>
            </a:r>
          </a:p>
          <a:p>
            <a:r>
              <a:rPr lang="en-US" b="1" dirty="0"/>
              <a:t>BERT</a:t>
            </a:r>
            <a:r>
              <a:rPr lang="en-US" dirty="0"/>
              <a:t> is an encoder-based model trained to </a:t>
            </a:r>
            <a:r>
              <a:rPr lang="en-US" b="1" dirty="0"/>
              <a:t>understand text meaning</a:t>
            </a:r>
            <a:r>
              <a:rPr lang="en-US" dirty="0"/>
              <a:t>.</a:t>
            </a:r>
          </a:p>
          <a:p>
            <a:r>
              <a:rPr lang="en-US" dirty="0"/>
              <a:t>It does not generate long text but is excellent at </a:t>
            </a:r>
            <a:r>
              <a:rPr lang="en-US" b="1" dirty="0"/>
              <a:t>comparison and analysis</a:t>
            </a:r>
            <a:r>
              <a:rPr lang="en-US" dirty="0"/>
              <a:t>.</a:t>
            </a:r>
          </a:p>
          <a:p>
            <a:r>
              <a:rPr lang="en-US" dirty="0"/>
              <a:t>Fine-tuning adapts BERT to </a:t>
            </a:r>
            <a:r>
              <a:rPr lang="en-US" b="1" dirty="0"/>
              <a:t>evaluate student answers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2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What happens during fine-tuning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model is trained on:</a:t>
            </a:r>
          </a:p>
          <a:p>
            <a:pPr lvl="1"/>
            <a:r>
              <a:rPr lang="en-US" dirty="0"/>
              <a:t>Question–answer pairs</a:t>
            </a:r>
          </a:p>
          <a:p>
            <a:pPr lvl="1"/>
            <a:r>
              <a:rPr lang="en-US" dirty="0"/>
              <a:t>Model answers</a:t>
            </a:r>
          </a:p>
          <a:p>
            <a:pPr lvl="1"/>
            <a:r>
              <a:rPr lang="en-US" dirty="0"/>
              <a:t>Student responses with marks or labels</a:t>
            </a:r>
          </a:p>
          <a:p>
            <a:r>
              <a:rPr lang="en-US" dirty="0"/>
              <a:t>It learns:</a:t>
            </a:r>
          </a:p>
          <a:p>
            <a:pPr lvl="1"/>
            <a:r>
              <a:rPr lang="en-US" dirty="0"/>
              <a:t>Semantic similarity between answers</a:t>
            </a:r>
          </a:p>
          <a:p>
            <a:pPr lvl="1"/>
            <a:r>
              <a:rPr lang="en-US" dirty="0"/>
              <a:t>Key concept matching</a:t>
            </a:r>
          </a:p>
          <a:p>
            <a:pPr lvl="1"/>
            <a:r>
              <a:rPr lang="en-US" dirty="0"/>
              <a:t>Partial correctness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58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Benefits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Higher </a:t>
            </a:r>
            <a:r>
              <a:rPr lang="en-US" dirty="0"/>
              <a:t>task accuracy</a:t>
            </a:r>
          </a:p>
          <a:p>
            <a:r>
              <a:rPr lang="en-US" dirty="0"/>
              <a:t>Less data required</a:t>
            </a:r>
          </a:p>
          <a:p>
            <a:r>
              <a:rPr lang="en-US" dirty="0"/>
              <a:t>Faster training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in LLM Training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dirty="0"/>
              <a:t>Data </a:t>
            </a:r>
            <a:r>
              <a:rPr lang="en-US" dirty="0" smtClean="0"/>
              <a:t>Challenges</a:t>
            </a:r>
          </a:p>
          <a:p>
            <a:pPr lvl="1"/>
            <a:r>
              <a:rPr lang="en-US" b="1" dirty="0"/>
              <a:t>Issues</a:t>
            </a:r>
          </a:p>
          <a:p>
            <a:pPr lvl="2"/>
            <a:r>
              <a:rPr lang="en-US" dirty="0"/>
              <a:t>Poor data quality</a:t>
            </a:r>
          </a:p>
          <a:p>
            <a:pPr lvl="2"/>
            <a:r>
              <a:rPr lang="en-US" dirty="0"/>
              <a:t>Duplicate content</a:t>
            </a:r>
          </a:p>
          <a:p>
            <a:pPr lvl="2"/>
            <a:r>
              <a:rPr lang="en-US" dirty="0"/>
              <a:t>Lack of domain data</a:t>
            </a:r>
          </a:p>
          <a:p>
            <a:pPr lvl="2"/>
            <a:r>
              <a:rPr lang="en-US" dirty="0"/>
              <a:t>Biased data</a:t>
            </a:r>
          </a:p>
          <a:p>
            <a:pPr lvl="1"/>
            <a:r>
              <a:rPr lang="en-US" b="1" dirty="0"/>
              <a:t>Impact</a:t>
            </a:r>
          </a:p>
          <a:p>
            <a:pPr lvl="2"/>
            <a:r>
              <a:rPr lang="en-US" dirty="0"/>
              <a:t>Incorrect outputs</a:t>
            </a:r>
          </a:p>
          <a:p>
            <a:pPr lvl="2"/>
            <a:r>
              <a:rPr lang="en-US" dirty="0"/>
              <a:t>Hallucinations</a:t>
            </a:r>
          </a:p>
          <a:p>
            <a:pPr lvl="2"/>
            <a:r>
              <a:rPr lang="en-US" dirty="0"/>
              <a:t>Ethical concerns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15425"/>
            <a:ext cx="39102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 Compute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b="1" dirty="0"/>
              <a:t>Issues</a:t>
            </a:r>
          </a:p>
          <a:p>
            <a:pPr lvl="2"/>
            <a:r>
              <a:rPr lang="en-US" dirty="0"/>
              <a:t>Requires high-end GPUs/TPUs</a:t>
            </a:r>
          </a:p>
          <a:p>
            <a:pPr lvl="2"/>
            <a:r>
              <a:rPr lang="en-US" dirty="0"/>
              <a:t>Long training time</a:t>
            </a:r>
          </a:p>
          <a:p>
            <a:pPr lvl="2"/>
            <a:r>
              <a:rPr lang="en-US" dirty="0"/>
              <a:t>High electricity consumption</a:t>
            </a:r>
          </a:p>
          <a:p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400" dirty="0" smtClean="0"/>
              <a:t>Training </a:t>
            </a:r>
            <a:r>
              <a:rPr lang="en-US" sz="2400" dirty="0"/>
              <a:t>large models may cost millions of dollars.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36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/>
              <a:t>Sources of Bias</a:t>
            </a:r>
          </a:p>
          <a:p>
            <a:pPr lvl="2"/>
            <a:r>
              <a:rPr lang="en-US" dirty="0"/>
              <a:t>Social bias in training data</a:t>
            </a:r>
          </a:p>
          <a:p>
            <a:pPr lvl="2"/>
            <a:r>
              <a:rPr lang="en-US" dirty="0"/>
              <a:t>Cultural imbalance</a:t>
            </a:r>
          </a:p>
          <a:p>
            <a:pPr lvl="2"/>
            <a:r>
              <a:rPr lang="en-US" dirty="0"/>
              <a:t>Gender stereotypes</a:t>
            </a:r>
          </a:p>
          <a:p>
            <a:pPr lvl="1"/>
            <a:r>
              <a:rPr lang="en-US" b="1" dirty="0"/>
              <a:t>Risks</a:t>
            </a:r>
          </a:p>
          <a:p>
            <a:pPr lvl="2"/>
            <a:r>
              <a:rPr lang="en-US" dirty="0"/>
              <a:t>Discriminatory outputs</a:t>
            </a:r>
          </a:p>
          <a:p>
            <a:pPr lvl="2"/>
            <a:r>
              <a:rPr lang="en-US" dirty="0"/>
              <a:t>Misinformation</a:t>
            </a:r>
          </a:p>
          <a:p>
            <a:pPr lvl="2"/>
            <a:r>
              <a:rPr lang="en-US" dirty="0"/>
              <a:t>Loss of trust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09684" y="801455"/>
            <a:ext cx="49724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3 Bias and Ethical Challenges</a:t>
            </a:r>
          </a:p>
        </p:txBody>
      </p:sp>
    </p:spTree>
    <p:extLst>
      <p:ext uri="{BB962C8B-B14F-4D97-AF65-F5344CB8AC3E}">
        <p14:creationId xmlns:p14="http://schemas.microsoft.com/office/powerpoint/2010/main" val="69428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93677" y="4572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/>
              <a:t>4 Efficiency Challenges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/>
              <a:t>Problems</a:t>
            </a:r>
          </a:p>
          <a:p>
            <a:pPr lvl="2"/>
            <a:r>
              <a:rPr lang="en-US" dirty="0"/>
              <a:t>Large model size</a:t>
            </a:r>
          </a:p>
          <a:p>
            <a:pPr lvl="2"/>
            <a:r>
              <a:rPr lang="en-US" dirty="0"/>
              <a:t>Slow inference</a:t>
            </a:r>
          </a:p>
          <a:p>
            <a:pPr lvl="2"/>
            <a:r>
              <a:rPr lang="en-US" dirty="0"/>
              <a:t>High memory usage</a:t>
            </a:r>
          </a:p>
          <a:p>
            <a:pPr lvl="1"/>
            <a:r>
              <a:rPr lang="en-US" b="1" dirty="0"/>
              <a:t>Solutions</a:t>
            </a:r>
          </a:p>
          <a:p>
            <a:pPr lvl="2"/>
            <a:r>
              <a:rPr lang="en-US" dirty="0"/>
              <a:t>Model compression</a:t>
            </a:r>
          </a:p>
          <a:p>
            <a:pPr lvl="2"/>
            <a:r>
              <a:rPr lang="en-US" dirty="0"/>
              <a:t>Quantization</a:t>
            </a:r>
          </a:p>
          <a:p>
            <a:pPr lvl="2"/>
            <a:r>
              <a:rPr lang="en-US" dirty="0"/>
              <a:t>Knowledge distillation</a:t>
            </a:r>
          </a:p>
        </p:txBody>
      </p:sp>
    </p:spTree>
    <p:extLst>
      <p:ext uri="{BB962C8B-B14F-4D97-AF65-F5344CB8AC3E}">
        <p14:creationId xmlns:p14="http://schemas.microsoft.com/office/powerpoint/2010/main" val="392733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Large </a:t>
            </a:r>
            <a:r>
              <a:rPr lang="en-US" dirty="0"/>
              <a:t>Language Models are the backbone of modern </a:t>
            </a:r>
            <a:r>
              <a:rPr lang="en-US" b="1" dirty="0"/>
              <a:t>Generative AI systems</a:t>
            </a:r>
            <a:r>
              <a:rPr lang="en-US" dirty="0"/>
              <a:t>. Understanding their architecture, training methods, and challenges is essential for building </a:t>
            </a:r>
            <a:r>
              <a:rPr lang="en-US" b="1" dirty="0"/>
              <a:t>responsible, efficient, and accurate AI systems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938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1415</Words>
  <Application>Microsoft Office PowerPoint</Application>
  <PresentationFormat>On-screen Show (4:3)</PresentationFormat>
  <Paragraphs>282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Mangal</vt:lpstr>
      <vt:lpstr>Office Theme</vt:lpstr>
      <vt:lpstr>Introduction to Large Language Models (LLMs)</vt:lpstr>
      <vt:lpstr>PowerPoint Presentation</vt:lpstr>
      <vt:lpstr>Generative AI</vt:lpstr>
      <vt:lpstr>Examples of Generative AI</vt:lpstr>
      <vt:lpstr>Difference Between Traditional AI and Generative AI</vt:lpstr>
      <vt:lpstr>PowerPoint Presentation</vt:lpstr>
      <vt:lpstr>Foundation Models</vt:lpstr>
      <vt:lpstr>PowerPoint Presentation</vt:lpstr>
      <vt:lpstr>Architecture of Large Language Models</vt:lpstr>
      <vt:lpstr>Architecture of Large Language Models Continued…</vt:lpstr>
      <vt:lpstr>Encoder Architecture</vt:lpstr>
      <vt:lpstr>How an Encoder Works</vt:lpstr>
      <vt:lpstr>How an Encoder Works Continued…</vt:lpstr>
      <vt:lpstr>Decoder Architecture</vt:lpstr>
      <vt:lpstr>How a Decoder Works</vt:lpstr>
      <vt:lpstr>How a Decoder Works Continued..</vt:lpstr>
      <vt:lpstr>PowerPoint Presentation</vt:lpstr>
      <vt:lpstr>Encoder–Decoder Architecture</vt:lpstr>
      <vt:lpstr>PowerPoint Presentation</vt:lpstr>
      <vt:lpstr>How Encoder–Decoder Works</vt:lpstr>
      <vt:lpstr>How Encoder–Decoder Works Continued..</vt:lpstr>
      <vt:lpstr>How Encoder–Decoder Works Continued..</vt:lpstr>
      <vt:lpstr>Pre-Training Concept</vt:lpstr>
      <vt:lpstr>1. Self-supervised learning </vt:lpstr>
      <vt:lpstr>PowerPoint Presentation</vt:lpstr>
      <vt:lpstr>2. No human labeling required</vt:lpstr>
      <vt:lpstr>3. Uses objectives like next-word prediction</vt:lpstr>
      <vt:lpstr>Example </vt:lpstr>
      <vt:lpstr>Fine-Tuning Concept</vt:lpstr>
      <vt:lpstr>Pre-trained GPT → Fine-tuned for legal document analysis </vt:lpstr>
      <vt:lpstr>What happens during fine-tuning </vt:lpstr>
      <vt:lpstr>Result </vt:lpstr>
      <vt:lpstr>Pre-trained BERT → Fine-tuned for Exam Answer Evaluation</vt:lpstr>
      <vt:lpstr>What happens during fine-tuning </vt:lpstr>
      <vt:lpstr>Benefits </vt:lpstr>
      <vt:lpstr>Challenges in LLM Training</vt:lpstr>
      <vt:lpstr>PowerPoint Presentation</vt:lpstr>
      <vt:lpstr>PowerPoint Presentation</vt:lpstr>
      <vt:lpstr>4 Efficiency Challenges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LLM Fine-Tuning</dc:title>
  <dc:subject/>
  <dc:creator>MICRO-SOFT</dc:creator>
  <cp:keywords/>
  <dc:description>generated using python-pptx</dc:description>
  <cp:lastModifiedBy>Microsoft account</cp:lastModifiedBy>
  <cp:revision>25</cp:revision>
  <dcterms:created xsi:type="dcterms:W3CDTF">2013-01-27T09:14:16Z</dcterms:created>
  <dcterms:modified xsi:type="dcterms:W3CDTF">2025-12-22T08:51:37Z</dcterms:modified>
  <cp:category/>
</cp:coreProperties>
</file>