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11" r:id="rId3"/>
    <p:sldId id="258" r:id="rId4"/>
    <p:sldId id="312" r:id="rId5"/>
    <p:sldId id="297" r:id="rId6"/>
    <p:sldId id="315" r:id="rId7"/>
    <p:sldId id="269" r:id="rId8"/>
    <p:sldId id="266" r:id="rId9"/>
    <p:sldId id="313" r:id="rId10"/>
    <p:sldId id="274" r:id="rId11"/>
    <p:sldId id="277" r:id="rId12"/>
    <p:sldId id="280" r:id="rId13"/>
    <p:sldId id="281" r:id="rId14"/>
    <p:sldId id="282" r:id="rId15"/>
    <p:sldId id="287" r:id="rId16"/>
    <p:sldId id="283" r:id="rId17"/>
    <p:sldId id="284" r:id="rId18"/>
    <p:sldId id="30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8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0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70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49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52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13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289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24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34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42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8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63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A20E7-7269-4798-8A73-2573764082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4AABB-9338-439D-BA9F-FD4FDCBC3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6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3291" y="2701636"/>
            <a:ext cx="11333018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Mini Project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Title: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---------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Under the Guidance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Prof. --------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Assistant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Professor, JDCOEM, Nagpur</a:t>
            </a:r>
          </a:p>
          <a:p>
            <a:pPr algn="ctr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Presented by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1)                                         3)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2)                                         4)</a:t>
            </a:r>
          </a:p>
          <a:p>
            <a:pPr algn="ctr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April-2025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2" t="22014" r="14734" b="57910"/>
          <a:stretch/>
        </p:blipFill>
        <p:spPr bwMode="auto">
          <a:xfrm>
            <a:off x="238540" y="-905"/>
            <a:ext cx="11595652" cy="2412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42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8C9F27-FDF6-409D-A7E4-D7DB7783DDCD}"/>
              </a:ext>
            </a:extLst>
          </p:cNvPr>
          <p:cNvSpPr txBox="1"/>
          <p:nvPr/>
        </p:nvSpPr>
        <p:spPr>
          <a:xfrm>
            <a:off x="1340135" y="168652"/>
            <a:ext cx="7669161" cy="666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INDEX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definition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Literature 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Review</a:t>
            </a: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Objectives of the study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Limitations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Scope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Flow Chart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Implementation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Tools &amp;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Techniques</a:t>
            </a: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Conclusions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(expected 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Publication if any    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Patents/Copyright if any       </a:t>
            </a:r>
            <a:endParaRPr lang="en-US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354762"/>
            <a:ext cx="2743200" cy="365125"/>
          </a:xfrm>
        </p:spPr>
        <p:txBody>
          <a:bodyPr/>
          <a:lstStyle/>
          <a:p>
            <a:fld id="{49226A11-6F23-4D6D-B222-3E464BD03675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2</a:t>
            </a:fld>
            <a:endParaRPr lang="en-US"/>
          </a:p>
        </p:txBody>
      </p:sp>
      <p:pic>
        <p:nvPicPr>
          <p:cNvPr id="8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8545" y="168652"/>
            <a:ext cx="902681" cy="953566"/>
          </a:xfrm>
          <a:prstGeom prst="rect">
            <a:avLst/>
          </a:prstGeom>
          <a:ln/>
        </p:spPr>
      </p:pic>
      <p:pic>
        <p:nvPicPr>
          <p:cNvPr id="9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083637" y="0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2850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613132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354762"/>
            <a:ext cx="2743200" cy="365125"/>
          </a:xfrm>
        </p:spPr>
        <p:txBody>
          <a:bodyPr/>
          <a:lstStyle/>
          <a:p>
            <a:fld id="{49226A11-6F23-4D6D-B222-3E464BD03675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Subtitle 8"/>
          <p:cNvSpPr>
            <a:spLocks noGrp="1"/>
          </p:cNvSpPr>
          <p:nvPr>
            <p:ph type="subTitle" idx="1"/>
          </p:nvPr>
        </p:nvSpPr>
        <p:spPr>
          <a:xfrm>
            <a:off x="597946" y="1002029"/>
            <a:ext cx="10996109" cy="532130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136349"/>
            <a:ext cx="902681" cy="865680"/>
          </a:xfrm>
          <a:prstGeom prst="rect">
            <a:avLst/>
          </a:prstGeom>
          <a:ln/>
        </p:spPr>
      </p:pic>
      <p:pic>
        <p:nvPicPr>
          <p:cNvPr id="11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083637" y="0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631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613132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Problem D</a:t>
            </a: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efinition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354762"/>
            <a:ext cx="2743200" cy="365125"/>
          </a:xfrm>
        </p:spPr>
        <p:txBody>
          <a:bodyPr/>
          <a:lstStyle/>
          <a:p>
            <a:fld id="{49226A11-6F23-4D6D-B222-3E464BD03675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Subtitle 8"/>
          <p:cNvSpPr>
            <a:spLocks noGrp="1"/>
          </p:cNvSpPr>
          <p:nvPr>
            <p:ph type="subTitle" idx="1"/>
          </p:nvPr>
        </p:nvSpPr>
        <p:spPr>
          <a:xfrm>
            <a:off x="597946" y="1002029"/>
            <a:ext cx="10996109" cy="532130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136349"/>
            <a:ext cx="902681" cy="865680"/>
          </a:xfrm>
          <a:prstGeom prst="rect">
            <a:avLst/>
          </a:prstGeom>
          <a:ln/>
        </p:spPr>
      </p:pic>
      <p:pic>
        <p:nvPicPr>
          <p:cNvPr id="11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083637" y="0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9034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76138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Literature </a:t>
            </a: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Review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26A11-6F23-4D6D-B222-3E464BD03675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942329"/>
              </p:ext>
            </p:extLst>
          </p:nvPr>
        </p:nvGraphicFramePr>
        <p:xfrm>
          <a:off x="597944" y="1143002"/>
          <a:ext cx="11167335" cy="43738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7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Sr. No.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Paper Title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Publication &amp; Year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Key Points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328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6571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162573"/>
                  </a:ext>
                </a:extLst>
              </a:tr>
            </a:tbl>
          </a:graphicData>
        </a:graphic>
      </p:graphicFrame>
      <p:pic>
        <p:nvPicPr>
          <p:cNvPr id="9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0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257201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76138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Literature </a:t>
            </a: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Review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26A11-6F23-4D6D-B222-3E464BD03675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290396"/>
              </p:ext>
            </p:extLst>
          </p:nvPr>
        </p:nvGraphicFramePr>
        <p:xfrm>
          <a:off x="597944" y="1143002"/>
          <a:ext cx="11167335" cy="43738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7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Sr. No.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Paper Title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Publication &amp; Year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Key Points</a:t>
                      </a:r>
                      <a:endParaRPr lang="en-IN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328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6571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IN" sz="16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162573"/>
                  </a:ext>
                </a:extLst>
              </a:tr>
            </a:tbl>
          </a:graphicData>
        </a:graphic>
      </p:graphicFrame>
      <p:pic>
        <p:nvPicPr>
          <p:cNvPr id="9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0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53786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76138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Objectives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26A11-6F23-4D6D-B222-3E464BD03675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7</a:t>
            </a:fld>
            <a:endParaRPr lang="en-US"/>
          </a:p>
        </p:txBody>
      </p:sp>
      <p:sp>
        <p:nvSpPr>
          <p:cNvPr id="11" name="Subtitle 8"/>
          <p:cNvSpPr>
            <a:spLocks noGrp="1"/>
          </p:cNvSpPr>
          <p:nvPr>
            <p:ph type="subTitle" idx="1"/>
          </p:nvPr>
        </p:nvSpPr>
        <p:spPr>
          <a:xfrm>
            <a:off x="597945" y="1142999"/>
            <a:ext cx="10996109" cy="532130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0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815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6430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Limitations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1142999"/>
            <a:ext cx="10996109" cy="532130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8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89681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9478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Scope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26A11-6F23-4D6D-B222-3E464BD03675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9</a:t>
            </a:fld>
            <a:endParaRPr lang="en-US"/>
          </a:p>
        </p:txBody>
      </p:sp>
      <p:pic>
        <p:nvPicPr>
          <p:cNvPr id="9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1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  <p:sp>
        <p:nvSpPr>
          <p:cNvPr id="13" name="Subtitle 8"/>
          <p:cNvSpPr txBox="1">
            <a:spLocks/>
          </p:cNvSpPr>
          <p:nvPr/>
        </p:nvSpPr>
        <p:spPr>
          <a:xfrm>
            <a:off x="597946" y="1249679"/>
            <a:ext cx="10996109" cy="50736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 smtClean="0"/>
              <a:t/>
            </a:r>
            <a:br>
              <a:rPr lang="en-IN" sz="2800" dirty="0" smtClean="0"/>
            </a:b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78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6430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1142999"/>
            <a:ext cx="10996109" cy="507365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10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0427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6430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Flow Chart</a:t>
            </a:r>
            <a:br>
              <a:rPr lang="en-IN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1142999"/>
            <a:ext cx="10996109" cy="538226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11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679608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6430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Implementation</a:t>
            </a:r>
            <a:br>
              <a:rPr lang="en-IN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1142999"/>
            <a:ext cx="10996109" cy="538226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12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72526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6430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Tools &amp; Techniques</a:t>
            </a:r>
            <a:br>
              <a:rPr lang="en-IN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960436"/>
            <a:ext cx="10996109" cy="538226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13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576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87910" y="1675122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Conclusions (expected )</a:t>
            </a:r>
            <a:br>
              <a:rPr lang="en-IN" sz="4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960436"/>
            <a:ext cx="10996109" cy="538226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endParaRPr lang="en-IN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14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090397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6430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1281111"/>
            <a:ext cx="10996109" cy="550386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Fazli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Subhan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Alina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Mirza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 “AI-Enabled Wearable Medical Internet of Things in Healthcare System: A Survey”, MDPI, open access scientific journals Artificial Intelligence and Robotics in Healthcare, 2023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[2]</a:t>
            </a:r>
            <a:r>
              <a:rPr lang="en-IN" sz="2000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Rajeswari</a:t>
            </a:r>
            <a:r>
              <a:rPr lang="en-IN" sz="2000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ChengodenNancy</a:t>
            </a:r>
            <a:r>
              <a:rPr lang="en-IN" sz="2000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Victor,  </a:t>
            </a:r>
            <a:r>
              <a:rPr lang="en-IN" sz="2000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Thien</a:t>
            </a:r>
            <a:r>
              <a:rPr lang="en-IN" sz="2000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Huynh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 “</a:t>
            </a:r>
            <a:r>
              <a:rPr lang="en-IN" sz="2000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Metaverse</a:t>
            </a:r>
            <a:r>
              <a:rPr lang="en-IN" sz="2000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for Healthcare: A Survey on Potential Applications, Challenges and Future Directions” , IEEE Access, 2023.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[3]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Joel J. P. C. Rodrigues, “Smart and Wearable Sensors Technologies for Digital Healthcare”, Journal of Sensors, 2022.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[4]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Mazin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Alshamrani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and artificial intelligence implementations for remote healthcare monitoring systems: A survey”, Journal of King Saud University-Computer &amp; Information Science, 2022.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[5]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Wang, H., Li, D., Li, L., &amp; Cheng, L.,  “Wearable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device for monitoring human vital signs during surgery”, IEEE Internet of Things Journal, 8(9), 7519-7530, 2021.</a:t>
            </a:r>
          </a:p>
          <a:p>
            <a:pPr algn="just">
              <a:spcBef>
                <a:spcPts val="600"/>
              </a:spcBef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[6]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Feng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Y., Wei, H., Cao, Y., &amp; Cao, J., “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-based surgical navigation system using sensors and cameras” , IEEE Transactions on Industrial Informatics, 17(5), 3525-3535, 2021.</a:t>
            </a:r>
          </a:p>
          <a:p>
            <a:pPr algn="just">
              <a:spcBef>
                <a:spcPts val="600"/>
              </a:spcBef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[7]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Jaber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S., Singh, S., &amp; Lee, U. , “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-based system for real-time surgical feedback”, IEEE Transactions on Biomedical Engineering, 68(2), 541-551, 2021.</a:t>
            </a:r>
          </a:p>
          <a:p>
            <a:pPr algn="just"/>
            <a:endParaRPr lang="en-IN" sz="2000" dirty="0" smtClean="0"/>
          </a:p>
          <a:p>
            <a:pPr algn="just"/>
            <a:endParaRPr lang="en-IN" sz="2000" dirty="0" smtClean="0"/>
          </a:p>
          <a:p>
            <a:pPr algn="just"/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15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00755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87910" y="363158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Hackathon Certificate</a:t>
            </a: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960436"/>
            <a:ext cx="10996109" cy="5503864"/>
          </a:xfrm>
        </p:spPr>
        <p:txBody>
          <a:bodyPr>
            <a:noAutofit/>
          </a:bodyPr>
          <a:lstStyle/>
          <a:p>
            <a:pPr algn="just"/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16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15005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1" y="1264305"/>
            <a:ext cx="9144000" cy="824845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L &amp; T Certificate       </a:t>
            </a:r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960436"/>
            <a:ext cx="10996109" cy="5503864"/>
          </a:xfrm>
        </p:spPr>
        <p:txBody>
          <a:bodyPr>
            <a:noAutofit/>
          </a:bodyPr>
          <a:lstStyle/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800" dirty="0">
                <a:latin typeface="Times New Roman" pitchFamily="18" charset="0"/>
                <a:cs typeface="Times New Roman" pitchFamily="18" charset="0"/>
              </a:rPr>
            </a:br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17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77897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0" y="1996441"/>
            <a:ext cx="9144000" cy="147955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Thank You!!!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7945" y="960436"/>
            <a:ext cx="10996109" cy="5503864"/>
          </a:xfrm>
        </p:spPr>
        <p:txBody>
          <a:bodyPr>
            <a:noAutofit/>
          </a:bodyPr>
          <a:lstStyle/>
          <a:p>
            <a:pPr algn="just"/>
            <a:endParaRPr lang="en-IN" sz="2000" dirty="0"/>
          </a:p>
          <a:p>
            <a:pPr algn="just"/>
            <a:endParaRPr lang="en-IN" sz="2000" dirty="0" smtClean="0"/>
          </a:p>
          <a:p>
            <a:pPr algn="just"/>
            <a:endParaRPr lang="en-IN" sz="2000" dirty="0" smtClean="0"/>
          </a:p>
          <a:p>
            <a:pPr algn="just"/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6C941-CD31-45F3-8502-E2862B1F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25767-2D71-488A-A9FF-A89038D451DC}" type="slidenum">
              <a:rPr lang="en-US" smtClean="0"/>
              <a:t>18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DFF4CF1-6127-41F0-8467-F66C5A66C25A}"/>
              </a:ext>
            </a:extLst>
          </p:cNvPr>
          <p:cNvSpPr txBox="1">
            <a:spLocks/>
          </p:cNvSpPr>
          <p:nvPr/>
        </p:nvSpPr>
        <p:spPr>
          <a:xfrm>
            <a:off x="216310" y="6160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226A11-6F23-4D6D-B222-3E464BD03675}" type="datetime1">
              <a:rPr lang="en-US" smtClean="0"/>
              <a:pPr/>
              <a:t>4/3/2026</a:t>
            </a:fld>
            <a:endParaRPr lang="en-US" dirty="0"/>
          </a:p>
        </p:txBody>
      </p:sp>
      <p:pic>
        <p:nvPicPr>
          <p:cNvPr id="12" name="image1.jp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6605" y="0"/>
            <a:ext cx="975613" cy="1002029"/>
          </a:xfrm>
          <a:prstGeom prst="rect">
            <a:avLst/>
          </a:prstGeom>
          <a:ln/>
        </p:spPr>
      </p:pic>
      <p:pic>
        <p:nvPicPr>
          <p:cNvPr id="13" name="image2.png" descr="Log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142716" y="-1372"/>
            <a:ext cx="947593" cy="9535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75398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181</Words>
  <Application>Microsoft Office PowerPoint</Application>
  <PresentationFormat>Widescreen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Introduction </vt:lpstr>
      <vt:lpstr>Problem Definition </vt:lpstr>
      <vt:lpstr>Literature Review </vt:lpstr>
      <vt:lpstr>Literature Review </vt:lpstr>
      <vt:lpstr>Objectives  </vt:lpstr>
      <vt:lpstr>Limitations  </vt:lpstr>
      <vt:lpstr>Scope  </vt:lpstr>
      <vt:lpstr> Methodology  </vt:lpstr>
      <vt:lpstr>Flow Chart  </vt:lpstr>
      <vt:lpstr>Implementation  </vt:lpstr>
      <vt:lpstr>Tools &amp; Techniques  </vt:lpstr>
      <vt:lpstr>Conclusions (expected )   </vt:lpstr>
      <vt:lpstr>References  </vt:lpstr>
      <vt:lpstr>Hackathon Certificate</vt:lpstr>
      <vt:lpstr>L &amp; T Certificate         </vt:lpstr>
      <vt:lpstr>Thank You!!!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Dr.Sachin Karale</dc:creator>
  <cp:lastModifiedBy>Asus</cp:lastModifiedBy>
  <cp:revision>56</cp:revision>
  <dcterms:created xsi:type="dcterms:W3CDTF">2021-09-29T11:32:40Z</dcterms:created>
  <dcterms:modified xsi:type="dcterms:W3CDTF">2026-04-03T11:11:40Z</dcterms:modified>
</cp:coreProperties>
</file>