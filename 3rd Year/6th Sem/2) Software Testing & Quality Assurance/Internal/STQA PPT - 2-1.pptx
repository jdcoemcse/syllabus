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aleway Bold" charset="1" panose="00000000000000000000"/>
      <p:regular r:id="rId14"/>
    </p:embeddedFont>
    <p:embeddedFont>
      <p:font typeface="Raleway" charset="1" panose="00000000000000000000"/>
      <p:regular r:id="rId15"/>
    </p:embeddedFont>
    <p:embeddedFont>
      <p:font typeface="Raleway Italics" charset="1" panose="00000000000000000000"/>
      <p:regular r:id="rId16"/>
    </p:embeddedFont>
    <p:embeddedFont>
      <p:font typeface="Canva Sans" charset="1" panose="020B0503030501040103"/>
      <p:regular r:id="rId17"/>
    </p:embeddedFont>
    <p:embeddedFont>
      <p:font typeface="Canva Sans Bold" charset="1" panose="020B08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992767" y="4581047"/>
            <a:ext cx="8734653" cy="8996365"/>
          </a:xfrm>
          <a:custGeom>
            <a:avLst/>
            <a:gdLst/>
            <a:ahLst/>
            <a:cxnLst/>
            <a:rect r="r" b="b" t="t" l="l"/>
            <a:pathLst>
              <a:path h="8996365" w="8734653">
                <a:moveTo>
                  <a:pt x="0" y="0"/>
                </a:moveTo>
                <a:lnTo>
                  <a:pt x="8734652" y="0"/>
                </a:lnTo>
                <a:lnTo>
                  <a:pt x="8734652" y="8996366"/>
                </a:lnTo>
                <a:lnTo>
                  <a:pt x="0" y="89963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048094" y="-3079276"/>
            <a:ext cx="9419036" cy="9701254"/>
          </a:xfrm>
          <a:custGeom>
            <a:avLst/>
            <a:gdLst/>
            <a:ahLst/>
            <a:cxnLst/>
            <a:rect r="r" b="b" t="t" l="l"/>
            <a:pathLst>
              <a:path h="9701254" w="9419036">
                <a:moveTo>
                  <a:pt x="0" y="0"/>
                </a:moveTo>
                <a:lnTo>
                  <a:pt x="9419035" y="0"/>
                </a:lnTo>
                <a:lnTo>
                  <a:pt x="9419035" y="9701254"/>
                </a:lnTo>
                <a:lnTo>
                  <a:pt x="0" y="9701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0"/>
            <a:ext cx="18288000" cy="1084928"/>
          </a:xfrm>
          <a:custGeom>
            <a:avLst/>
            <a:gdLst/>
            <a:ahLst/>
            <a:cxnLst/>
            <a:rect r="r" b="b" t="t" l="l"/>
            <a:pathLst>
              <a:path h="1084928" w="18288000">
                <a:moveTo>
                  <a:pt x="0" y="0"/>
                </a:moveTo>
                <a:lnTo>
                  <a:pt x="18288000" y="0"/>
                </a:lnTo>
                <a:lnTo>
                  <a:pt x="18288000" y="1084928"/>
                </a:lnTo>
                <a:lnTo>
                  <a:pt x="0" y="1084928"/>
                </a:lnTo>
                <a:lnTo>
                  <a:pt x="0" y="0"/>
                </a:lnTo>
                <a:close/>
              </a:path>
            </a:pathLst>
          </a:custGeom>
          <a:blipFill>
            <a:blip r:embed="rId5"/>
            <a:stretch>
              <a:fillRect l="0" t="-16227" r="0" b="-8603"/>
            </a:stretch>
          </a:blipFill>
        </p:spPr>
      </p:sp>
      <p:sp>
        <p:nvSpPr>
          <p:cNvPr name="TextBox 6" id="6"/>
          <p:cNvSpPr txBox="true"/>
          <p:nvPr/>
        </p:nvSpPr>
        <p:spPr>
          <a:xfrm rot="0">
            <a:off x="1028700" y="1450930"/>
            <a:ext cx="16230600" cy="1645422"/>
          </a:xfrm>
          <a:prstGeom prst="rect">
            <a:avLst/>
          </a:prstGeom>
        </p:spPr>
        <p:txBody>
          <a:bodyPr anchor="t" rtlCol="false" tIns="0" lIns="0" bIns="0" rIns="0">
            <a:spAutoFit/>
          </a:bodyPr>
          <a:lstStyle/>
          <a:p>
            <a:pPr algn="ctr">
              <a:lnSpc>
                <a:spcPts val="6391"/>
              </a:lnSpc>
            </a:pPr>
            <a:r>
              <a:rPr lang="en-US" b="true" sz="5810">
                <a:solidFill>
                  <a:srgbClr val="000000"/>
                </a:solidFill>
                <a:latin typeface="Raleway Bold"/>
                <a:ea typeface="Raleway Bold"/>
                <a:cs typeface="Raleway Bold"/>
                <a:sym typeface="Raleway Bold"/>
              </a:rPr>
              <a:t>Software Testing &amp; Quality Assurance Activity (Technology Exploration)</a:t>
            </a:r>
          </a:p>
        </p:txBody>
      </p:sp>
      <p:sp>
        <p:nvSpPr>
          <p:cNvPr name="TextBox 7" id="7"/>
          <p:cNvSpPr txBox="true"/>
          <p:nvPr/>
        </p:nvSpPr>
        <p:spPr>
          <a:xfrm rot="0">
            <a:off x="6239906" y="4917404"/>
            <a:ext cx="5808187" cy="1083747"/>
          </a:xfrm>
          <a:prstGeom prst="rect">
            <a:avLst/>
          </a:prstGeom>
        </p:spPr>
        <p:txBody>
          <a:bodyPr anchor="t" rtlCol="false" tIns="0" lIns="0" bIns="0" rIns="0">
            <a:spAutoFit/>
          </a:bodyPr>
          <a:lstStyle/>
          <a:p>
            <a:pPr algn="ctr">
              <a:lnSpc>
                <a:spcPts val="4315"/>
              </a:lnSpc>
            </a:pPr>
            <a:r>
              <a:rPr lang="en-US" sz="3082" b="true">
                <a:solidFill>
                  <a:srgbClr val="000000"/>
                </a:solidFill>
                <a:latin typeface="Raleway Bold"/>
                <a:ea typeface="Raleway Bold"/>
                <a:cs typeface="Raleway Bold"/>
                <a:sym typeface="Raleway Bold"/>
              </a:rPr>
              <a:t>Guided By:</a:t>
            </a:r>
          </a:p>
          <a:p>
            <a:pPr algn="ctr">
              <a:lnSpc>
                <a:spcPts val="4315"/>
              </a:lnSpc>
            </a:pPr>
            <a:r>
              <a:rPr lang="en-US" sz="3082">
                <a:solidFill>
                  <a:srgbClr val="000000"/>
                </a:solidFill>
                <a:latin typeface="Raleway"/>
                <a:ea typeface="Raleway"/>
                <a:cs typeface="Raleway"/>
                <a:sym typeface="Raleway"/>
              </a:rPr>
              <a:t>Dr. Amit Welekar</a:t>
            </a:r>
          </a:p>
        </p:txBody>
      </p:sp>
      <p:sp>
        <p:nvSpPr>
          <p:cNvPr name="TextBox 8" id="8"/>
          <p:cNvSpPr txBox="true"/>
          <p:nvPr/>
        </p:nvSpPr>
        <p:spPr>
          <a:xfrm rot="0">
            <a:off x="4916984" y="3417102"/>
            <a:ext cx="8454031" cy="793750"/>
          </a:xfrm>
          <a:prstGeom prst="rect">
            <a:avLst/>
          </a:prstGeom>
        </p:spPr>
        <p:txBody>
          <a:bodyPr anchor="t" rtlCol="false" tIns="0" lIns="0" bIns="0" rIns="0">
            <a:spAutoFit/>
          </a:bodyPr>
          <a:lstStyle/>
          <a:p>
            <a:pPr algn="ctr">
              <a:lnSpc>
                <a:spcPts val="6050"/>
              </a:lnSpc>
            </a:pPr>
            <a:r>
              <a:rPr lang="en-US" b="true" sz="5500">
                <a:solidFill>
                  <a:srgbClr val="000000"/>
                </a:solidFill>
                <a:latin typeface="Raleway Bold"/>
                <a:ea typeface="Raleway Bold"/>
                <a:cs typeface="Raleway Bold"/>
                <a:sym typeface="Raleway Bold"/>
              </a:rPr>
              <a:t>Topic:</a:t>
            </a:r>
            <a:r>
              <a:rPr lang="en-US" sz="5500">
                <a:solidFill>
                  <a:srgbClr val="000000"/>
                </a:solidFill>
                <a:latin typeface="Raleway"/>
                <a:ea typeface="Raleway"/>
                <a:cs typeface="Raleway"/>
                <a:sym typeface="Raleway"/>
              </a:rPr>
              <a:t> GPT-5</a:t>
            </a:r>
          </a:p>
        </p:txBody>
      </p:sp>
      <p:sp>
        <p:nvSpPr>
          <p:cNvPr name="TextBox 9" id="9"/>
          <p:cNvSpPr txBox="true"/>
          <p:nvPr/>
        </p:nvSpPr>
        <p:spPr>
          <a:xfrm rot="0">
            <a:off x="5947954" y="6707703"/>
            <a:ext cx="6392091" cy="2712522"/>
          </a:xfrm>
          <a:prstGeom prst="rect">
            <a:avLst/>
          </a:prstGeom>
        </p:spPr>
        <p:txBody>
          <a:bodyPr anchor="t" rtlCol="false" tIns="0" lIns="0" bIns="0" rIns="0">
            <a:spAutoFit/>
          </a:bodyPr>
          <a:lstStyle/>
          <a:p>
            <a:pPr algn="ctr">
              <a:lnSpc>
                <a:spcPts val="4315"/>
              </a:lnSpc>
            </a:pPr>
            <a:r>
              <a:rPr lang="en-US" sz="3082" b="true">
                <a:solidFill>
                  <a:srgbClr val="000000"/>
                </a:solidFill>
                <a:latin typeface="Raleway Bold"/>
                <a:ea typeface="Raleway Bold"/>
                <a:cs typeface="Raleway Bold"/>
                <a:sym typeface="Raleway Bold"/>
              </a:rPr>
              <a:t>Made By:</a:t>
            </a:r>
          </a:p>
          <a:p>
            <a:pPr algn="ctr">
              <a:lnSpc>
                <a:spcPts val="4315"/>
              </a:lnSpc>
            </a:pPr>
            <a:r>
              <a:rPr lang="en-US" sz="3082">
                <a:solidFill>
                  <a:srgbClr val="000000"/>
                </a:solidFill>
                <a:latin typeface="Raleway"/>
                <a:ea typeface="Raleway"/>
                <a:cs typeface="Raleway"/>
                <a:sym typeface="Raleway"/>
              </a:rPr>
              <a:t>Arya Thool (BT230019CS)</a:t>
            </a:r>
          </a:p>
          <a:p>
            <a:pPr algn="ctr">
              <a:lnSpc>
                <a:spcPts val="4315"/>
              </a:lnSpc>
            </a:pPr>
            <a:r>
              <a:rPr lang="en-US" sz="3082">
                <a:solidFill>
                  <a:srgbClr val="000000"/>
                </a:solidFill>
                <a:latin typeface="Raleway"/>
                <a:ea typeface="Raleway"/>
                <a:cs typeface="Raleway"/>
                <a:sym typeface="Raleway"/>
              </a:rPr>
              <a:t>Kajal Khandekar (BT230048CS)</a:t>
            </a:r>
          </a:p>
          <a:p>
            <a:pPr algn="ctr">
              <a:lnSpc>
                <a:spcPts val="4315"/>
              </a:lnSpc>
            </a:pPr>
            <a:r>
              <a:rPr lang="en-US" sz="3082">
                <a:solidFill>
                  <a:srgbClr val="000000"/>
                </a:solidFill>
                <a:latin typeface="Raleway"/>
                <a:ea typeface="Raleway"/>
                <a:cs typeface="Raleway"/>
                <a:sym typeface="Raleway"/>
              </a:rPr>
              <a:t>Arya Surkar (BT230020CS)</a:t>
            </a:r>
          </a:p>
          <a:p>
            <a:pPr algn="ctr">
              <a:lnSpc>
                <a:spcPts val="4315"/>
              </a:lnSpc>
            </a:pPr>
            <a:r>
              <a:rPr lang="en-US" sz="3082">
                <a:solidFill>
                  <a:srgbClr val="000000"/>
                </a:solidFill>
                <a:latin typeface="Raleway"/>
                <a:ea typeface="Raleway"/>
                <a:cs typeface="Raleway"/>
                <a:sym typeface="Raleway"/>
              </a:rPr>
              <a:t>Abhishek Gupta (BT230004CS)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300990">
            <a:off x="12460840" y="6193686"/>
            <a:ext cx="10630757" cy="10949282"/>
          </a:xfrm>
          <a:custGeom>
            <a:avLst/>
            <a:gdLst/>
            <a:ahLst/>
            <a:cxnLst/>
            <a:rect r="r" b="b" t="t" l="l"/>
            <a:pathLst>
              <a:path h="10949282" w="10630757">
                <a:moveTo>
                  <a:pt x="0" y="0"/>
                </a:moveTo>
                <a:lnTo>
                  <a:pt x="10630758" y="0"/>
                </a:lnTo>
                <a:lnTo>
                  <a:pt x="10630758" y="10949282"/>
                </a:lnTo>
                <a:lnTo>
                  <a:pt x="0" y="109492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7778372">
            <a:off x="-1867013" y="-1582364"/>
            <a:ext cx="6233310" cy="6420076"/>
          </a:xfrm>
          <a:custGeom>
            <a:avLst/>
            <a:gdLst/>
            <a:ahLst/>
            <a:cxnLst/>
            <a:rect r="r" b="b" t="t" l="l"/>
            <a:pathLst>
              <a:path h="6420076" w="6233310">
                <a:moveTo>
                  <a:pt x="0" y="0"/>
                </a:moveTo>
                <a:lnTo>
                  <a:pt x="6233310" y="0"/>
                </a:lnTo>
                <a:lnTo>
                  <a:pt x="6233310" y="6420076"/>
                </a:lnTo>
                <a:lnTo>
                  <a:pt x="0" y="64200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0" y="234813"/>
            <a:ext cx="18288000" cy="793887"/>
          </a:xfrm>
          <a:prstGeom prst="rect">
            <a:avLst/>
          </a:prstGeom>
        </p:spPr>
        <p:txBody>
          <a:bodyPr anchor="t" rtlCol="false" tIns="0" lIns="0" bIns="0" rIns="0">
            <a:spAutoFit/>
          </a:bodyPr>
          <a:lstStyle/>
          <a:p>
            <a:pPr algn="ctr">
              <a:lnSpc>
                <a:spcPts val="6061"/>
              </a:lnSpc>
            </a:pPr>
            <a:r>
              <a:rPr lang="en-US" b="true" sz="5510">
                <a:solidFill>
                  <a:srgbClr val="000000"/>
                </a:solidFill>
                <a:latin typeface="Raleway Bold"/>
                <a:ea typeface="Raleway Bold"/>
                <a:cs typeface="Raleway Bold"/>
                <a:sym typeface="Raleway Bold"/>
              </a:rPr>
              <a:t>Earlier Systems and Their Limitations</a:t>
            </a:r>
          </a:p>
        </p:txBody>
      </p:sp>
      <p:sp>
        <p:nvSpPr>
          <p:cNvPr name="TextBox 6" id="6"/>
          <p:cNvSpPr txBox="true"/>
          <p:nvPr/>
        </p:nvSpPr>
        <p:spPr>
          <a:xfrm rot="0">
            <a:off x="1028700" y="1274375"/>
            <a:ext cx="16230600" cy="8497352"/>
          </a:xfrm>
          <a:prstGeom prst="rect">
            <a:avLst/>
          </a:prstGeom>
        </p:spPr>
        <p:txBody>
          <a:bodyPr anchor="t" rtlCol="false" tIns="0" lIns="0" bIns="0" rIns="0">
            <a:spAutoFit/>
          </a:bodyPr>
          <a:lstStyle/>
          <a:p>
            <a:pPr algn="just">
              <a:lnSpc>
                <a:spcPts val="4315"/>
              </a:lnSpc>
            </a:pPr>
            <a:r>
              <a:rPr lang="en-US" sz="3082">
                <a:solidFill>
                  <a:srgbClr val="000000"/>
                </a:solidFill>
                <a:latin typeface="Raleway"/>
                <a:ea typeface="Raleway"/>
                <a:cs typeface="Raleway"/>
                <a:sym typeface="Raleway"/>
              </a:rPr>
              <a:t>Earlier models such as </a:t>
            </a:r>
            <a:r>
              <a:rPr lang="en-US" sz="3082" b="true">
                <a:solidFill>
                  <a:srgbClr val="000000"/>
                </a:solidFill>
                <a:latin typeface="Raleway Bold"/>
                <a:ea typeface="Raleway Bold"/>
                <a:cs typeface="Raleway Bold"/>
                <a:sym typeface="Raleway Bold"/>
              </a:rPr>
              <a:t>GPT-3</a:t>
            </a:r>
            <a:r>
              <a:rPr lang="en-US" sz="3082">
                <a:solidFill>
                  <a:srgbClr val="000000"/>
                </a:solidFill>
                <a:latin typeface="Raleway"/>
                <a:ea typeface="Raleway"/>
                <a:cs typeface="Raleway"/>
                <a:sym typeface="Raleway"/>
              </a:rPr>
              <a:t> and </a:t>
            </a:r>
            <a:r>
              <a:rPr lang="en-US" sz="3082" b="true">
                <a:solidFill>
                  <a:srgbClr val="000000"/>
                </a:solidFill>
                <a:latin typeface="Raleway Bold"/>
                <a:ea typeface="Raleway Bold"/>
                <a:cs typeface="Raleway Bold"/>
                <a:sym typeface="Raleway Bold"/>
              </a:rPr>
              <a:t>GPT-4</a:t>
            </a:r>
            <a:r>
              <a:rPr lang="en-US" sz="3082">
                <a:solidFill>
                  <a:srgbClr val="000000"/>
                </a:solidFill>
                <a:latin typeface="Raleway"/>
                <a:ea typeface="Raleway"/>
                <a:cs typeface="Raleway"/>
                <a:sym typeface="Raleway"/>
              </a:rPr>
              <a:t> had already demonstrated significant progress in AI:</a:t>
            </a:r>
          </a:p>
          <a:p>
            <a:pPr algn="just">
              <a:lnSpc>
                <a:spcPts val="1399"/>
              </a:lnSpc>
            </a:pPr>
          </a:p>
          <a:p>
            <a:pPr algn="just">
              <a:lnSpc>
                <a:spcPts val="4315"/>
              </a:lnSpc>
            </a:pPr>
            <a:r>
              <a:rPr lang="en-US" sz="3082" b="true">
                <a:solidFill>
                  <a:srgbClr val="000000"/>
                </a:solidFill>
                <a:latin typeface="Raleway Bold"/>
                <a:ea typeface="Raleway Bold"/>
                <a:cs typeface="Raleway Bold"/>
                <a:sym typeface="Raleway Bold"/>
              </a:rPr>
              <a:t>GPT-3 </a:t>
            </a:r>
            <a:r>
              <a:rPr lang="en-US" sz="3082">
                <a:solidFill>
                  <a:srgbClr val="000000"/>
                </a:solidFill>
                <a:latin typeface="Raleway"/>
                <a:ea typeface="Raleway"/>
                <a:cs typeface="Raleway"/>
                <a:sym typeface="Raleway"/>
              </a:rPr>
              <a:t>primarily focused on </a:t>
            </a:r>
            <a:r>
              <a:rPr lang="en-US" sz="3082" i="true">
                <a:solidFill>
                  <a:srgbClr val="000000"/>
                </a:solidFill>
                <a:latin typeface="Raleway Italics"/>
                <a:ea typeface="Raleway Italics"/>
                <a:cs typeface="Raleway Italics"/>
                <a:sym typeface="Raleway Italics"/>
              </a:rPr>
              <a:t>advanced text generation</a:t>
            </a:r>
            <a:r>
              <a:rPr lang="en-US" sz="3082">
                <a:solidFill>
                  <a:srgbClr val="000000"/>
                </a:solidFill>
                <a:latin typeface="Raleway"/>
                <a:ea typeface="Raleway"/>
                <a:cs typeface="Raleway"/>
                <a:sym typeface="Raleway"/>
              </a:rPr>
              <a:t>, enabling applications such as question answering, content summarization, and basic coding assistance.</a:t>
            </a:r>
          </a:p>
          <a:p>
            <a:pPr algn="just">
              <a:lnSpc>
                <a:spcPts val="1399"/>
              </a:lnSpc>
            </a:pPr>
          </a:p>
          <a:p>
            <a:pPr algn="just">
              <a:lnSpc>
                <a:spcPts val="4315"/>
              </a:lnSpc>
            </a:pPr>
            <a:r>
              <a:rPr lang="en-US" sz="3082" b="true">
                <a:solidFill>
                  <a:srgbClr val="000000"/>
                </a:solidFill>
                <a:latin typeface="Raleway Bold"/>
                <a:ea typeface="Raleway Bold"/>
                <a:cs typeface="Raleway Bold"/>
                <a:sym typeface="Raleway Bold"/>
              </a:rPr>
              <a:t>GPT-4</a:t>
            </a:r>
            <a:r>
              <a:rPr lang="en-US" sz="3082">
                <a:solidFill>
                  <a:srgbClr val="000000"/>
                </a:solidFill>
                <a:latin typeface="Raleway"/>
                <a:ea typeface="Raleway"/>
                <a:cs typeface="Raleway"/>
                <a:sym typeface="Raleway"/>
              </a:rPr>
              <a:t> improved </a:t>
            </a:r>
            <a:r>
              <a:rPr lang="en-US" sz="3082" i="true">
                <a:solidFill>
                  <a:srgbClr val="000000"/>
                </a:solidFill>
                <a:latin typeface="Raleway Italics"/>
                <a:ea typeface="Raleway Italics"/>
                <a:cs typeface="Raleway Italics"/>
                <a:sym typeface="Raleway Italics"/>
              </a:rPr>
              <a:t>reasoning accuracy</a:t>
            </a:r>
            <a:r>
              <a:rPr lang="en-US" sz="3082">
                <a:solidFill>
                  <a:srgbClr val="000000"/>
                </a:solidFill>
                <a:latin typeface="Raleway"/>
                <a:ea typeface="Raleway"/>
                <a:cs typeface="Raleway"/>
                <a:sym typeface="Raleway"/>
              </a:rPr>
              <a:t> and introduced </a:t>
            </a:r>
            <a:r>
              <a:rPr lang="en-US" sz="3082" i="true">
                <a:solidFill>
                  <a:srgbClr val="000000"/>
                </a:solidFill>
                <a:latin typeface="Raleway Italics"/>
                <a:ea typeface="Raleway Italics"/>
                <a:cs typeface="Raleway Italics"/>
                <a:sym typeface="Raleway Italics"/>
              </a:rPr>
              <a:t>multimodal capabilities</a:t>
            </a:r>
            <a:r>
              <a:rPr lang="en-US" sz="3082">
                <a:solidFill>
                  <a:srgbClr val="000000"/>
                </a:solidFill>
                <a:latin typeface="Raleway"/>
                <a:ea typeface="Raleway"/>
                <a:cs typeface="Raleway"/>
                <a:sym typeface="Raleway"/>
              </a:rPr>
              <a:t>, allowing the model to process both </a:t>
            </a:r>
            <a:r>
              <a:rPr lang="en-US" sz="3082" i="true">
                <a:solidFill>
                  <a:srgbClr val="000000"/>
                </a:solidFill>
                <a:latin typeface="Raleway Italics"/>
                <a:ea typeface="Raleway Italics"/>
                <a:cs typeface="Raleway Italics"/>
                <a:sym typeface="Raleway Italics"/>
              </a:rPr>
              <a:t>text</a:t>
            </a:r>
            <a:r>
              <a:rPr lang="en-US" sz="3082">
                <a:solidFill>
                  <a:srgbClr val="000000"/>
                </a:solidFill>
                <a:latin typeface="Raleway"/>
                <a:ea typeface="Raleway"/>
                <a:cs typeface="Raleway"/>
                <a:sym typeface="Raleway"/>
              </a:rPr>
              <a:t> and </a:t>
            </a:r>
            <a:r>
              <a:rPr lang="en-US" sz="3082" i="true">
                <a:solidFill>
                  <a:srgbClr val="000000"/>
                </a:solidFill>
                <a:latin typeface="Raleway Italics"/>
                <a:ea typeface="Raleway Italics"/>
                <a:cs typeface="Raleway Italics"/>
                <a:sym typeface="Raleway Italics"/>
              </a:rPr>
              <a:t>images</a:t>
            </a:r>
            <a:r>
              <a:rPr lang="en-US" sz="3082">
                <a:solidFill>
                  <a:srgbClr val="000000"/>
                </a:solidFill>
                <a:latin typeface="Raleway"/>
                <a:ea typeface="Raleway"/>
                <a:cs typeface="Raleway"/>
                <a:sym typeface="Raleway"/>
              </a:rPr>
              <a:t>.</a:t>
            </a:r>
          </a:p>
          <a:p>
            <a:pPr algn="just">
              <a:lnSpc>
                <a:spcPts val="1399"/>
              </a:lnSpc>
            </a:pPr>
          </a:p>
          <a:p>
            <a:pPr algn="just">
              <a:lnSpc>
                <a:spcPts val="4315"/>
              </a:lnSpc>
            </a:pPr>
            <a:r>
              <a:rPr lang="en-US" sz="3082">
                <a:solidFill>
                  <a:srgbClr val="000000"/>
                </a:solidFill>
                <a:latin typeface="Raleway"/>
                <a:ea typeface="Raleway"/>
                <a:cs typeface="Raleway"/>
                <a:sym typeface="Raleway"/>
              </a:rPr>
              <a:t>However, these earlier systems still faced several limitations:</a:t>
            </a:r>
          </a:p>
          <a:p>
            <a:pPr algn="just" marL="665580" indent="-332790" lvl="1">
              <a:lnSpc>
                <a:spcPts val="4315"/>
              </a:lnSpc>
              <a:buFont typeface="Arial"/>
              <a:buChar char="•"/>
            </a:pPr>
            <a:r>
              <a:rPr lang="en-US" sz="3082">
                <a:solidFill>
                  <a:srgbClr val="000000"/>
                </a:solidFill>
                <a:latin typeface="Raleway"/>
                <a:ea typeface="Raleway"/>
                <a:cs typeface="Raleway"/>
                <a:sym typeface="Raleway"/>
              </a:rPr>
              <a:t>Users often had to choose between fast responses and deeper reasoning models.</a:t>
            </a:r>
          </a:p>
          <a:p>
            <a:pPr algn="just">
              <a:lnSpc>
                <a:spcPts val="420"/>
              </a:lnSpc>
            </a:pPr>
          </a:p>
          <a:p>
            <a:pPr algn="just" marL="665580" indent="-332790" lvl="1">
              <a:lnSpc>
                <a:spcPts val="4315"/>
              </a:lnSpc>
              <a:buFont typeface="Arial"/>
              <a:buChar char="•"/>
            </a:pPr>
            <a:r>
              <a:rPr lang="en-US" sz="3082">
                <a:solidFill>
                  <a:srgbClr val="000000"/>
                </a:solidFill>
                <a:latin typeface="Raleway"/>
                <a:ea typeface="Raleway"/>
                <a:cs typeface="Raleway"/>
                <a:sym typeface="Raleway"/>
              </a:rPr>
              <a:t>Complex questions sometimes produced shallow or incomplete answers.</a:t>
            </a:r>
          </a:p>
          <a:p>
            <a:pPr algn="just">
              <a:lnSpc>
                <a:spcPts val="419"/>
              </a:lnSpc>
            </a:pPr>
          </a:p>
          <a:p>
            <a:pPr algn="just" marL="665580" indent="-332790" lvl="1">
              <a:lnSpc>
                <a:spcPts val="4315"/>
              </a:lnSpc>
              <a:buFont typeface="Arial"/>
              <a:buChar char="•"/>
            </a:pPr>
            <a:r>
              <a:rPr lang="en-US" sz="3082">
                <a:solidFill>
                  <a:srgbClr val="000000"/>
                </a:solidFill>
                <a:latin typeface="Raleway"/>
                <a:ea typeface="Raleway"/>
                <a:cs typeface="Raleway"/>
                <a:sym typeface="Raleway"/>
              </a:rPr>
              <a:t>Reliability and factual consistency remained challenging for open-ended tasks.</a:t>
            </a:r>
          </a:p>
          <a:p>
            <a:pPr algn="just">
              <a:lnSpc>
                <a:spcPts val="419"/>
              </a:lnSpc>
            </a:pPr>
          </a:p>
          <a:p>
            <a:pPr algn="just" marL="665580" indent="-332790" lvl="1">
              <a:lnSpc>
                <a:spcPts val="4315"/>
              </a:lnSpc>
              <a:buFont typeface="Arial"/>
              <a:buChar char="•"/>
            </a:pPr>
            <a:r>
              <a:rPr lang="en-US" sz="3082">
                <a:solidFill>
                  <a:srgbClr val="000000"/>
                </a:solidFill>
                <a:latin typeface="Raleway"/>
                <a:ea typeface="Raleway"/>
                <a:cs typeface="Raleway"/>
                <a:sym typeface="Raleway"/>
              </a:rPr>
              <a:t>Difficulty handling multi-step or highly complex problems.</a:t>
            </a:r>
          </a:p>
          <a:p>
            <a:pPr algn="just">
              <a:lnSpc>
                <a:spcPts val="1400"/>
              </a:lnSpc>
            </a:pPr>
          </a:p>
          <a:p>
            <a:pPr algn="just">
              <a:lnSpc>
                <a:spcPts val="4315"/>
              </a:lnSpc>
            </a:pPr>
            <a:r>
              <a:rPr lang="en-US" sz="3082">
                <a:solidFill>
                  <a:srgbClr val="000000"/>
                </a:solidFill>
                <a:latin typeface="Raleway"/>
                <a:ea typeface="Raleway"/>
                <a:cs typeface="Raleway"/>
                <a:sym typeface="Raleway"/>
              </a:rPr>
              <a:t>These limitations created the need for a more advanced system that could combine speed, reasoning, and reliability within a single model.</a:t>
            </a:r>
          </a:p>
          <a:p>
            <a:pPr algn="just">
              <a:lnSpc>
                <a:spcPts val="4315"/>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300990">
            <a:off x="-5944680" y="3783659"/>
            <a:ext cx="10630757" cy="10949282"/>
          </a:xfrm>
          <a:custGeom>
            <a:avLst/>
            <a:gdLst/>
            <a:ahLst/>
            <a:cxnLst/>
            <a:rect r="r" b="b" t="t" l="l"/>
            <a:pathLst>
              <a:path h="10949282" w="10630757">
                <a:moveTo>
                  <a:pt x="0" y="0"/>
                </a:moveTo>
                <a:lnTo>
                  <a:pt x="10630757" y="0"/>
                </a:lnTo>
                <a:lnTo>
                  <a:pt x="10630757" y="10949282"/>
                </a:lnTo>
                <a:lnTo>
                  <a:pt x="0" y="109492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9300990">
            <a:off x="12459812" y="-2031537"/>
            <a:ext cx="7089208" cy="7301619"/>
          </a:xfrm>
          <a:custGeom>
            <a:avLst/>
            <a:gdLst/>
            <a:ahLst/>
            <a:cxnLst/>
            <a:rect r="r" b="b" t="t" l="l"/>
            <a:pathLst>
              <a:path h="7301619" w="7089208">
                <a:moveTo>
                  <a:pt x="0" y="0"/>
                </a:moveTo>
                <a:lnTo>
                  <a:pt x="7089208" y="0"/>
                </a:lnTo>
                <a:lnTo>
                  <a:pt x="7089208" y="7301619"/>
                </a:lnTo>
                <a:lnTo>
                  <a:pt x="0" y="73016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0" y="215763"/>
            <a:ext cx="18288000" cy="793887"/>
          </a:xfrm>
          <a:prstGeom prst="rect">
            <a:avLst/>
          </a:prstGeom>
        </p:spPr>
        <p:txBody>
          <a:bodyPr anchor="t" rtlCol="false" tIns="0" lIns="0" bIns="0" rIns="0">
            <a:spAutoFit/>
          </a:bodyPr>
          <a:lstStyle/>
          <a:p>
            <a:pPr algn="ctr">
              <a:lnSpc>
                <a:spcPts val="6061"/>
              </a:lnSpc>
            </a:pPr>
            <a:r>
              <a:rPr lang="en-US" b="true" sz="5510">
                <a:solidFill>
                  <a:srgbClr val="000000"/>
                </a:solidFill>
                <a:latin typeface="Raleway Bold"/>
                <a:ea typeface="Raleway Bold"/>
                <a:cs typeface="Raleway Bold"/>
                <a:sym typeface="Raleway Bold"/>
              </a:rPr>
              <a:t>Introduction to GPT-5</a:t>
            </a:r>
          </a:p>
        </p:txBody>
      </p:sp>
      <p:sp>
        <p:nvSpPr>
          <p:cNvPr name="TextBox 6" id="6"/>
          <p:cNvSpPr txBox="true"/>
          <p:nvPr/>
        </p:nvSpPr>
        <p:spPr>
          <a:xfrm rot="0">
            <a:off x="1190855" y="1424936"/>
            <a:ext cx="15906290" cy="1626672"/>
          </a:xfrm>
          <a:prstGeom prst="rect">
            <a:avLst/>
          </a:prstGeom>
        </p:spPr>
        <p:txBody>
          <a:bodyPr anchor="t" rtlCol="false" tIns="0" lIns="0" bIns="0" rIns="0">
            <a:spAutoFit/>
          </a:bodyPr>
          <a:lstStyle/>
          <a:p>
            <a:pPr algn="just">
              <a:lnSpc>
                <a:spcPts val="4315"/>
              </a:lnSpc>
            </a:pPr>
            <a:r>
              <a:rPr lang="en-US" b="true" sz="3082">
                <a:solidFill>
                  <a:srgbClr val="000000"/>
                </a:solidFill>
                <a:latin typeface="Raleway Bold"/>
                <a:ea typeface="Raleway Bold"/>
                <a:cs typeface="Raleway Bold"/>
                <a:sym typeface="Raleway Bold"/>
              </a:rPr>
              <a:t>GPT-5</a:t>
            </a:r>
            <a:r>
              <a:rPr lang="en-US" sz="3082">
                <a:solidFill>
                  <a:srgbClr val="000000"/>
                </a:solidFill>
                <a:latin typeface="Raleway"/>
                <a:ea typeface="Raleway"/>
                <a:cs typeface="Raleway"/>
                <a:sym typeface="Raleway"/>
              </a:rPr>
              <a:t> is a newly introduced large-scale artificial intelligence model developed by OpenAI. </a:t>
            </a:r>
            <a:r>
              <a:rPr lang="en-US" sz="3082">
                <a:solidFill>
                  <a:srgbClr val="000000"/>
                </a:solidFill>
                <a:latin typeface="Raleway"/>
                <a:ea typeface="Raleway"/>
                <a:cs typeface="Raleway"/>
                <a:sym typeface="Raleway"/>
              </a:rPr>
              <a:t>It is designed as a general-purpose AI system that can understand, reason, and generate information across multiple types of inputs such as text, images, and voice.</a:t>
            </a:r>
          </a:p>
        </p:txBody>
      </p:sp>
      <p:sp>
        <p:nvSpPr>
          <p:cNvPr name="TextBox 7" id="7"/>
          <p:cNvSpPr txBox="true"/>
          <p:nvPr/>
        </p:nvSpPr>
        <p:spPr>
          <a:xfrm rot="0">
            <a:off x="1190855" y="3466893"/>
            <a:ext cx="10486187" cy="5398572"/>
          </a:xfrm>
          <a:prstGeom prst="rect">
            <a:avLst/>
          </a:prstGeom>
        </p:spPr>
        <p:txBody>
          <a:bodyPr anchor="t" rtlCol="false" tIns="0" lIns="0" bIns="0" rIns="0">
            <a:spAutoFit/>
          </a:bodyPr>
          <a:lstStyle/>
          <a:p>
            <a:pPr algn="just">
              <a:lnSpc>
                <a:spcPts val="4315"/>
              </a:lnSpc>
            </a:pPr>
            <a:r>
              <a:rPr lang="en-US" sz="3082" b="true">
                <a:solidFill>
                  <a:srgbClr val="000000"/>
                </a:solidFill>
                <a:latin typeface="Raleway Bold"/>
                <a:ea typeface="Raleway Bold"/>
                <a:cs typeface="Raleway Bold"/>
                <a:sym typeface="Raleway Bold"/>
              </a:rPr>
              <a:t>Key characteristics of GPT-5:</a:t>
            </a:r>
          </a:p>
          <a:p>
            <a:pPr algn="just" marL="665577" indent="-332788" lvl="1">
              <a:lnSpc>
                <a:spcPts val="4315"/>
              </a:lnSpc>
              <a:buFont typeface="Arial"/>
              <a:buChar char="•"/>
            </a:pPr>
            <a:r>
              <a:rPr lang="en-US" sz="3082">
                <a:solidFill>
                  <a:srgbClr val="000000"/>
                </a:solidFill>
                <a:latin typeface="Raleway"/>
                <a:ea typeface="Raleway"/>
                <a:cs typeface="Raleway"/>
                <a:sym typeface="Raleway"/>
              </a:rPr>
              <a:t>Built with reasoning as a core capability, not an optional feature</a:t>
            </a:r>
          </a:p>
          <a:p>
            <a:pPr algn="just">
              <a:lnSpc>
                <a:spcPts val="1399"/>
              </a:lnSpc>
            </a:pPr>
          </a:p>
          <a:p>
            <a:pPr algn="just" marL="665577" indent="-332788" lvl="1">
              <a:lnSpc>
                <a:spcPts val="4315"/>
              </a:lnSpc>
              <a:buFont typeface="Arial"/>
              <a:buChar char="•"/>
            </a:pPr>
            <a:r>
              <a:rPr lang="en-US" sz="3082">
                <a:solidFill>
                  <a:srgbClr val="000000"/>
                </a:solidFill>
                <a:latin typeface="Raleway"/>
                <a:ea typeface="Raleway"/>
                <a:cs typeface="Raleway"/>
                <a:sym typeface="Raleway"/>
              </a:rPr>
              <a:t>Automatically applies deeper thinking for complex tasks</a:t>
            </a:r>
          </a:p>
          <a:p>
            <a:pPr algn="just">
              <a:lnSpc>
                <a:spcPts val="1399"/>
              </a:lnSpc>
            </a:pPr>
          </a:p>
          <a:p>
            <a:pPr algn="just" marL="665577" indent="-332788" lvl="1">
              <a:lnSpc>
                <a:spcPts val="4315"/>
              </a:lnSpc>
              <a:buFont typeface="Arial"/>
              <a:buChar char="•"/>
            </a:pPr>
            <a:r>
              <a:rPr lang="en-US" sz="3082">
                <a:solidFill>
                  <a:srgbClr val="000000"/>
                </a:solidFill>
                <a:latin typeface="Raleway"/>
                <a:ea typeface="Raleway"/>
                <a:cs typeface="Raleway"/>
                <a:sym typeface="Raleway"/>
              </a:rPr>
              <a:t>Combines speed, intelligence, and reliability in a single model</a:t>
            </a:r>
          </a:p>
          <a:p>
            <a:pPr algn="just">
              <a:lnSpc>
                <a:spcPts val="1399"/>
              </a:lnSpc>
            </a:pPr>
          </a:p>
          <a:p>
            <a:pPr algn="just" marL="665577" indent="-332788" lvl="1">
              <a:lnSpc>
                <a:spcPts val="4315"/>
              </a:lnSpc>
              <a:buFont typeface="Arial"/>
              <a:buChar char="•"/>
            </a:pPr>
            <a:r>
              <a:rPr lang="en-US" sz="3082">
                <a:solidFill>
                  <a:srgbClr val="000000"/>
                </a:solidFill>
                <a:latin typeface="Raleway"/>
                <a:ea typeface="Raleway"/>
                <a:cs typeface="Raleway"/>
                <a:sym typeface="Raleway"/>
              </a:rPr>
              <a:t>Designed for learning, coding, creative work, and professional use</a:t>
            </a:r>
          </a:p>
        </p:txBody>
      </p:sp>
      <p:sp>
        <p:nvSpPr>
          <p:cNvPr name="Freeform 8" id="8"/>
          <p:cNvSpPr/>
          <p:nvPr/>
        </p:nvSpPr>
        <p:spPr>
          <a:xfrm flipH="false" flipV="false" rot="0">
            <a:off x="12459807" y="4509019"/>
            <a:ext cx="4799493" cy="3833089"/>
          </a:xfrm>
          <a:custGeom>
            <a:avLst/>
            <a:gdLst/>
            <a:ahLst/>
            <a:cxnLst/>
            <a:rect r="r" b="b" t="t" l="l"/>
            <a:pathLst>
              <a:path h="3833089" w="4799493">
                <a:moveTo>
                  <a:pt x="0" y="0"/>
                </a:moveTo>
                <a:lnTo>
                  <a:pt x="4799493" y="0"/>
                </a:lnTo>
                <a:lnTo>
                  <a:pt x="4799493" y="3833089"/>
                </a:lnTo>
                <a:lnTo>
                  <a:pt x="0" y="3833089"/>
                </a:lnTo>
                <a:lnTo>
                  <a:pt x="0" y="0"/>
                </a:lnTo>
                <a:close/>
              </a:path>
            </a:pathLst>
          </a:custGeom>
          <a:blipFill>
            <a:blip r:embed="rId5"/>
            <a:stretch>
              <a:fillRect l="-32567" t="-10233" r="-40641" b="-12239"/>
            </a:stretch>
          </a:blipFill>
          <a:ln w="19050" cap="sq">
            <a:solidFill>
              <a:srgbClr val="000000"/>
            </a:solid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161345" y="6471989"/>
            <a:ext cx="5410509" cy="5572622"/>
          </a:xfrm>
          <a:custGeom>
            <a:avLst/>
            <a:gdLst/>
            <a:ahLst/>
            <a:cxnLst/>
            <a:rect r="r" b="b" t="t" l="l"/>
            <a:pathLst>
              <a:path h="5572622" w="5410509">
                <a:moveTo>
                  <a:pt x="0" y="0"/>
                </a:moveTo>
                <a:lnTo>
                  <a:pt x="5410509" y="0"/>
                </a:lnTo>
                <a:lnTo>
                  <a:pt x="5410509" y="5572622"/>
                </a:lnTo>
                <a:lnTo>
                  <a:pt x="0" y="55726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679312">
            <a:off x="14273431" y="-1757611"/>
            <a:ext cx="5410509" cy="5572622"/>
          </a:xfrm>
          <a:custGeom>
            <a:avLst/>
            <a:gdLst/>
            <a:ahLst/>
            <a:cxnLst/>
            <a:rect r="r" b="b" t="t" l="l"/>
            <a:pathLst>
              <a:path h="5572622" w="5410509">
                <a:moveTo>
                  <a:pt x="0" y="0"/>
                </a:moveTo>
                <a:lnTo>
                  <a:pt x="5410509" y="0"/>
                </a:lnTo>
                <a:lnTo>
                  <a:pt x="5410509" y="5572622"/>
                </a:lnTo>
                <a:lnTo>
                  <a:pt x="0" y="55726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0" y="234813"/>
            <a:ext cx="18288000" cy="793887"/>
          </a:xfrm>
          <a:prstGeom prst="rect">
            <a:avLst/>
          </a:prstGeom>
        </p:spPr>
        <p:txBody>
          <a:bodyPr anchor="t" rtlCol="false" tIns="0" lIns="0" bIns="0" rIns="0">
            <a:spAutoFit/>
          </a:bodyPr>
          <a:lstStyle/>
          <a:p>
            <a:pPr algn="ctr">
              <a:lnSpc>
                <a:spcPts val="6061"/>
              </a:lnSpc>
            </a:pPr>
            <a:r>
              <a:rPr lang="en-US" b="true" sz="5510">
                <a:solidFill>
                  <a:srgbClr val="000000"/>
                </a:solidFill>
                <a:latin typeface="Raleway Bold"/>
                <a:ea typeface="Raleway Bold"/>
                <a:cs typeface="Raleway Bold"/>
                <a:sym typeface="Raleway Bold"/>
              </a:rPr>
              <a:t>Key Improvements Over Previous Models</a:t>
            </a:r>
          </a:p>
        </p:txBody>
      </p:sp>
      <p:sp>
        <p:nvSpPr>
          <p:cNvPr name="TextBox 6" id="6"/>
          <p:cNvSpPr txBox="true"/>
          <p:nvPr/>
        </p:nvSpPr>
        <p:spPr>
          <a:xfrm rot="0">
            <a:off x="1190855" y="1373703"/>
            <a:ext cx="15906290" cy="7741722"/>
          </a:xfrm>
          <a:prstGeom prst="rect">
            <a:avLst/>
          </a:prstGeom>
        </p:spPr>
        <p:txBody>
          <a:bodyPr anchor="t" rtlCol="false" tIns="0" lIns="0" bIns="0" rIns="0">
            <a:spAutoFit/>
          </a:bodyPr>
          <a:lstStyle/>
          <a:p>
            <a:pPr algn="just">
              <a:lnSpc>
                <a:spcPts val="4315"/>
              </a:lnSpc>
            </a:pPr>
            <a:r>
              <a:rPr lang="en-US" sz="3082" b="true">
                <a:solidFill>
                  <a:srgbClr val="000000"/>
                </a:solidFill>
                <a:latin typeface="Raleway Bold"/>
                <a:ea typeface="Raleway Bold"/>
                <a:cs typeface="Raleway Bold"/>
                <a:sym typeface="Raleway Bold"/>
              </a:rPr>
              <a:t>1. Built-in Reasoning:</a:t>
            </a:r>
            <a:r>
              <a:rPr lang="en-US" sz="3082">
                <a:solidFill>
                  <a:srgbClr val="000000"/>
                </a:solidFill>
                <a:latin typeface="Raleway"/>
                <a:ea typeface="Raleway"/>
                <a:cs typeface="Raleway"/>
                <a:sym typeface="Raleway"/>
              </a:rPr>
              <a:t> Reasoning is now a core feature, not a separate mode. The model pauses and thinks when a task is complex, then delivers a structured response.</a:t>
            </a:r>
          </a:p>
          <a:p>
            <a:pPr algn="just">
              <a:lnSpc>
                <a:spcPts val="1399"/>
              </a:lnSpc>
            </a:pPr>
          </a:p>
          <a:p>
            <a:pPr algn="just">
              <a:lnSpc>
                <a:spcPts val="4315"/>
              </a:lnSpc>
            </a:pPr>
            <a:r>
              <a:rPr lang="en-US" sz="3082" b="true">
                <a:solidFill>
                  <a:srgbClr val="000000"/>
                </a:solidFill>
                <a:latin typeface="Raleway Bold"/>
                <a:ea typeface="Raleway Bold"/>
                <a:cs typeface="Raleway Bold"/>
                <a:sym typeface="Raleway Bold"/>
              </a:rPr>
              <a:t>2. Coding Performance: </a:t>
            </a:r>
            <a:r>
              <a:rPr lang="en-US" sz="3082">
                <a:solidFill>
                  <a:srgbClr val="000000"/>
                </a:solidFill>
                <a:latin typeface="Raleway"/>
                <a:ea typeface="Raleway"/>
                <a:cs typeface="Raleway"/>
                <a:sym typeface="Raleway"/>
              </a:rPr>
              <a:t>GPT-5 is state-of-the-art across key coding benchmarks, scoring 74.9% on SWE-bench Verified and 88% on Aider Polyglot. It can build complete applications, debug code, and handle multi-step engineering tasks.</a:t>
            </a:r>
          </a:p>
          <a:p>
            <a:pPr algn="just">
              <a:lnSpc>
                <a:spcPts val="1399"/>
              </a:lnSpc>
            </a:pPr>
          </a:p>
          <a:p>
            <a:pPr algn="just">
              <a:lnSpc>
                <a:spcPts val="4315"/>
              </a:lnSpc>
            </a:pPr>
            <a:r>
              <a:rPr lang="en-US" sz="3082" b="true">
                <a:solidFill>
                  <a:srgbClr val="000000"/>
                </a:solidFill>
                <a:latin typeface="Raleway Bold"/>
                <a:ea typeface="Raleway Bold"/>
                <a:cs typeface="Raleway Bold"/>
                <a:sym typeface="Raleway Bold"/>
              </a:rPr>
              <a:t>3. Multimodal Capability: </a:t>
            </a:r>
            <a:r>
              <a:rPr lang="en-US" sz="3082">
                <a:solidFill>
                  <a:srgbClr val="000000"/>
                </a:solidFill>
                <a:latin typeface="Raleway"/>
                <a:ea typeface="Raleway"/>
                <a:cs typeface="Raleway"/>
                <a:sym typeface="Raleway"/>
              </a:rPr>
              <a:t>Integrated text, image, and voice understanding are now available through a single interface, with video frame analysis capabilities and enhanced visual reasoning. </a:t>
            </a:r>
          </a:p>
          <a:p>
            <a:pPr algn="just">
              <a:lnSpc>
                <a:spcPts val="1399"/>
              </a:lnSpc>
            </a:pPr>
          </a:p>
          <a:p>
            <a:pPr algn="just">
              <a:lnSpc>
                <a:spcPts val="4315"/>
              </a:lnSpc>
            </a:pPr>
            <a:r>
              <a:rPr lang="en-US" sz="3082" b="true">
                <a:solidFill>
                  <a:srgbClr val="000000"/>
                </a:solidFill>
                <a:latin typeface="Raleway Bold"/>
                <a:ea typeface="Raleway Bold"/>
                <a:cs typeface="Raleway Bold"/>
                <a:sym typeface="Raleway Bold"/>
              </a:rPr>
              <a:t>4. Reduced Hallucinations: </a:t>
            </a:r>
            <a:r>
              <a:rPr lang="en-US" sz="3082">
                <a:solidFill>
                  <a:srgbClr val="000000"/>
                </a:solidFill>
                <a:latin typeface="Raleway"/>
                <a:ea typeface="Raleway"/>
                <a:cs typeface="Raleway"/>
                <a:sym typeface="Raleway"/>
              </a:rPr>
              <a:t>With web search enabled, GPT-5's responses are ~45% less likely to contain a factual error than GPT-4o, and when thinking, approximately 80% less likely to contain a factual error than OpenAI o3. </a:t>
            </a:r>
          </a:p>
          <a:p>
            <a:pPr algn="just">
              <a:lnSpc>
                <a:spcPts val="1399"/>
              </a:lnSpc>
            </a:pPr>
          </a:p>
          <a:p>
            <a:pPr algn="just">
              <a:lnSpc>
                <a:spcPts val="4315"/>
              </a:lnSpc>
            </a:pPr>
            <a:r>
              <a:rPr lang="en-US" b="true" sz="3082">
                <a:solidFill>
                  <a:srgbClr val="000000"/>
                </a:solidFill>
                <a:latin typeface="Raleway Bold"/>
                <a:ea typeface="Raleway Bold"/>
                <a:cs typeface="Raleway Bold"/>
                <a:sym typeface="Raleway Bold"/>
              </a:rPr>
              <a:t>5. Safe Completions: </a:t>
            </a:r>
            <a:r>
              <a:rPr lang="en-US" sz="3082">
                <a:solidFill>
                  <a:srgbClr val="000000"/>
                </a:solidFill>
                <a:latin typeface="Raleway"/>
                <a:ea typeface="Raleway"/>
                <a:cs typeface="Raleway"/>
                <a:sym typeface="Raleway"/>
              </a:rPr>
              <a:t>Instead of hard refusals, GPT-5 implements a "Safe Completions" approach — providing helpful responses within safety boundaries.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300990">
            <a:off x="-2164075" y="-1813218"/>
            <a:ext cx="6385551" cy="6576878"/>
          </a:xfrm>
          <a:custGeom>
            <a:avLst/>
            <a:gdLst/>
            <a:ahLst/>
            <a:cxnLst/>
            <a:rect r="r" b="b" t="t" l="l"/>
            <a:pathLst>
              <a:path h="6576878" w="6385551">
                <a:moveTo>
                  <a:pt x="0" y="0"/>
                </a:moveTo>
                <a:lnTo>
                  <a:pt x="6385550" y="0"/>
                </a:lnTo>
                <a:lnTo>
                  <a:pt x="6385550" y="6576878"/>
                </a:lnTo>
                <a:lnTo>
                  <a:pt x="0" y="65768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9300990">
            <a:off x="10570692" y="5396352"/>
            <a:ext cx="10630757" cy="10949282"/>
          </a:xfrm>
          <a:custGeom>
            <a:avLst/>
            <a:gdLst/>
            <a:ahLst/>
            <a:cxnLst/>
            <a:rect r="r" b="b" t="t" l="l"/>
            <a:pathLst>
              <a:path h="10949282" w="10630757">
                <a:moveTo>
                  <a:pt x="0" y="0"/>
                </a:moveTo>
                <a:lnTo>
                  <a:pt x="10630757" y="0"/>
                </a:lnTo>
                <a:lnTo>
                  <a:pt x="10630757" y="10949282"/>
                </a:lnTo>
                <a:lnTo>
                  <a:pt x="0" y="109492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5" id="5"/>
          <p:cNvGraphicFramePr>
            <a:graphicFrameLocks noGrp="true"/>
          </p:cNvGraphicFramePr>
          <p:nvPr/>
        </p:nvGraphicFramePr>
        <p:xfrm>
          <a:off x="1028700" y="1236641"/>
          <a:ext cx="16230600" cy="8448675"/>
        </p:xfrm>
        <a:graphic>
          <a:graphicData uri="http://schemas.openxmlformats.org/drawingml/2006/table">
            <a:tbl>
              <a:tblPr/>
              <a:tblGrid>
                <a:gridCol w="3775036"/>
                <a:gridCol w="12455564"/>
              </a:tblGrid>
              <a:tr h="1033360">
                <a:tc>
                  <a:txBody>
                    <a:bodyPr anchor="t" rtlCol="false"/>
                    <a:lstStyle/>
                    <a:p>
                      <a:pPr algn="ctr">
                        <a:lnSpc>
                          <a:spcPts val="4200"/>
                        </a:lnSpc>
                        <a:defRPr/>
                      </a:pPr>
                      <a:r>
                        <a:rPr lang="en-US" sz="3000" b="true">
                          <a:solidFill>
                            <a:srgbClr val="000000"/>
                          </a:solidFill>
                          <a:latin typeface="Raleway Bold"/>
                          <a:ea typeface="Raleway Bold"/>
                          <a:cs typeface="Raleway Bold"/>
                          <a:sym typeface="Raleway Bold"/>
                        </a:rPr>
                        <a:t>Domain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Raleway Bold"/>
                          <a:ea typeface="Raleway Bold"/>
                          <a:cs typeface="Raleway Bold"/>
                          <a:sym typeface="Raleway Bold"/>
                        </a:rPr>
                        <a:t>How GPT-5 is Applied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3063">
                <a:tc>
                  <a:txBody>
                    <a:bodyPr anchor="t" rtlCol="false"/>
                    <a:lstStyle/>
                    <a:p>
                      <a:pPr algn="ctr">
                        <a:lnSpc>
                          <a:spcPts val="3920"/>
                        </a:lnSpc>
                        <a:defRPr/>
                      </a:pPr>
                      <a:r>
                        <a:rPr lang="en-US" sz="2800" b="true">
                          <a:solidFill>
                            <a:srgbClr val="000000"/>
                          </a:solidFill>
                          <a:latin typeface="Raleway Bold"/>
                          <a:ea typeface="Raleway Bold"/>
                          <a:cs typeface="Raleway Bold"/>
                          <a:sym typeface="Raleway Bold"/>
                        </a:rPr>
                        <a:t>Education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920"/>
                        </a:lnSpc>
                        <a:defRPr/>
                      </a:pPr>
                      <a:r>
                        <a:rPr lang="en-US" sz="2800">
                          <a:solidFill>
                            <a:srgbClr val="000000"/>
                          </a:solidFill>
                          <a:latin typeface="Canva Sans"/>
                          <a:ea typeface="Canva Sans"/>
                          <a:cs typeface="Canva Sans"/>
                          <a:sym typeface="Canva Sans"/>
                        </a:rPr>
                        <a:t>Explains concepts via voice, generates interactive simulations (e.g., Bernoulli effect demo)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3063">
                <a:tc>
                  <a:txBody>
                    <a:bodyPr anchor="t" rtlCol="false"/>
                    <a:lstStyle/>
                    <a:p>
                      <a:pPr algn="ctr">
                        <a:lnSpc>
                          <a:spcPts val="3920"/>
                        </a:lnSpc>
                        <a:defRPr/>
                      </a:pPr>
                      <a:r>
                        <a:rPr lang="en-US" sz="2800" b="true">
                          <a:solidFill>
                            <a:srgbClr val="000000"/>
                          </a:solidFill>
                          <a:latin typeface="Canva Sans Bold"/>
                          <a:ea typeface="Canva Sans Bold"/>
                          <a:cs typeface="Canva Sans Bold"/>
                          <a:sym typeface="Canva Sans Bold"/>
                        </a:rPr>
                        <a:t>Software Development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920"/>
                        </a:lnSpc>
                        <a:defRPr/>
                      </a:pPr>
                      <a:r>
                        <a:rPr lang="en-US" sz="2800">
                          <a:solidFill>
                            <a:srgbClr val="000000"/>
                          </a:solidFill>
                          <a:latin typeface="Canva Sans"/>
                          <a:ea typeface="Canva Sans"/>
                          <a:cs typeface="Canva Sans"/>
                          <a:sym typeface="Canva Sans"/>
                        </a:rPr>
                        <a:t>Builds full applications, debugs code, handles multi-step coding tasks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3063">
                <a:tc>
                  <a:txBody>
                    <a:bodyPr anchor="t" rtlCol="false"/>
                    <a:lstStyle/>
                    <a:p>
                      <a:pPr algn="ctr">
                        <a:lnSpc>
                          <a:spcPts val="3920"/>
                        </a:lnSpc>
                        <a:defRPr/>
                      </a:pPr>
                      <a:r>
                        <a:rPr lang="en-US" sz="2800" b="true">
                          <a:solidFill>
                            <a:srgbClr val="000000"/>
                          </a:solidFill>
                          <a:latin typeface="Canva Sans Bold"/>
                          <a:ea typeface="Canva Sans Bold"/>
                          <a:cs typeface="Canva Sans Bold"/>
                          <a:sym typeface="Canva Sans Bold"/>
                        </a:rPr>
                        <a:t>Healthcare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920"/>
                        </a:lnSpc>
                        <a:defRPr/>
                      </a:pPr>
                      <a:r>
                        <a:rPr lang="en-US" sz="2800">
                          <a:solidFill>
                            <a:srgbClr val="000000"/>
                          </a:solidFill>
                          <a:latin typeface="Canva Sans"/>
                          <a:ea typeface="Canva Sans"/>
                          <a:cs typeface="Canva Sans"/>
                          <a:sym typeface="Canva Sans"/>
                        </a:rPr>
                        <a:t>Interprets medical documents, supports clinical reasoning, reduces hallucinations in health queries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3063">
                <a:tc>
                  <a:txBody>
                    <a:bodyPr anchor="t" rtlCol="false"/>
                    <a:lstStyle/>
                    <a:p>
                      <a:pPr algn="ctr">
                        <a:lnSpc>
                          <a:spcPts val="3920"/>
                        </a:lnSpc>
                        <a:defRPr/>
                      </a:pPr>
                      <a:r>
                        <a:rPr lang="en-US" sz="2800" b="true">
                          <a:solidFill>
                            <a:srgbClr val="000000"/>
                          </a:solidFill>
                          <a:latin typeface="Canva Sans Bold"/>
                          <a:ea typeface="Canva Sans Bold"/>
                          <a:cs typeface="Canva Sans Bold"/>
                          <a:sym typeface="Canva Sans Bold"/>
                        </a:rPr>
                        <a:t>Enterprise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920"/>
                        </a:lnSpc>
                        <a:defRPr/>
                      </a:pPr>
                      <a:r>
                        <a:rPr lang="en-US" sz="2800">
                          <a:solidFill>
                            <a:srgbClr val="000000"/>
                          </a:solidFill>
                          <a:latin typeface="Canva Sans"/>
                          <a:ea typeface="Canva Sans"/>
                          <a:cs typeface="Canva Sans"/>
                          <a:sym typeface="Canva Sans"/>
                        </a:rPr>
                        <a:t>Automates complex workflows, assists drug discovery, analyzes data at scale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3063">
                <a:tc>
                  <a:txBody>
                    <a:bodyPr anchor="t" rtlCol="false"/>
                    <a:lstStyle/>
                    <a:p>
                      <a:pPr algn="ctr">
                        <a:lnSpc>
                          <a:spcPts val="3920"/>
                        </a:lnSpc>
                        <a:defRPr/>
                      </a:pPr>
                      <a:r>
                        <a:rPr lang="en-US" sz="2800" b="true">
                          <a:solidFill>
                            <a:srgbClr val="000000"/>
                          </a:solidFill>
                          <a:latin typeface="Canva Sans Bold"/>
                          <a:ea typeface="Canva Sans Bold"/>
                          <a:cs typeface="Canva Sans Bold"/>
                          <a:sym typeface="Canva Sans Bold"/>
                        </a:rPr>
                        <a:t>Research &amp; Analysis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3920"/>
                        </a:lnSpc>
                        <a:defRPr/>
                      </a:pPr>
                      <a:r>
                        <a:rPr lang="en-US" sz="2800">
                          <a:solidFill>
                            <a:srgbClr val="000000"/>
                          </a:solidFill>
                          <a:latin typeface="Canva Sans"/>
                          <a:ea typeface="Canva Sans"/>
                          <a:cs typeface="Canva Sans"/>
                          <a:sym typeface="Canva Sans"/>
                        </a:rPr>
                        <a:t>Summarizes large volumes of scientific literature, assists in data interpretation and report generation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0" y="215763"/>
            <a:ext cx="18288000" cy="793887"/>
          </a:xfrm>
          <a:prstGeom prst="rect">
            <a:avLst/>
          </a:prstGeom>
        </p:spPr>
        <p:txBody>
          <a:bodyPr anchor="t" rtlCol="false" tIns="0" lIns="0" bIns="0" rIns="0">
            <a:spAutoFit/>
          </a:bodyPr>
          <a:lstStyle/>
          <a:p>
            <a:pPr algn="ctr">
              <a:lnSpc>
                <a:spcPts val="6061"/>
              </a:lnSpc>
            </a:pPr>
            <a:r>
              <a:rPr lang="en-US" b="true" sz="5510">
                <a:solidFill>
                  <a:srgbClr val="000000"/>
                </a:solidFill>
                <a:latin typeface="Raleway Bold"/>
                <a:ea typeface="Raleway Bold"/>
                <a:cs typeface="Raleway Bold"/>
                <a:sym typeface="Raleway Bold"/>
              </a:rPr>
              <a:t>Applications and Usage of GPT-5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546066" y="5143500"/>
            <a:ext cx="7270702" cy="7488551"/>
          </a:xfrm>
          <a:custGeom>
            <a:avLst/>
            <a:gdLst/>
            <a:ahLst/>
            <a:cxnLst/>
            <a:rect r="r" b="b" t="t" l="l"/>
            <a:pathLst>
              <a:path h="7488551" w="7270702">
                <a:moveTo>
                  <a:pt x="0" y="0"/>
                </a:moveTo>
                <a:lnTo>
                  <a:pt x="7270702" y="0"/>
                </a:lnTo>
                <a:lnTo>
                  <a:pt x="7270702" y="7488551"/>
                </a:lnTo>
                <a:lnTo>
                  <a:pt x="0" y="74885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61363" y="-829708"/>
            <a:ext cx="5538430" cy="5704376"/>
          </a:xfrm>
          <a:custGeom>
            <a:avLst/>
            <a:gdLst/>
            <a:ahLst/>
            <a:cxnLst/>
            <a:rect r="r" b="b" t="t" l="l"/>
            <a:pathLst>
              <a:path h="5704376" w="5538430">
                <a:moveTo>
                  <a:pt x="0" y="0"/>
                </a:moveTo>
                <a:lnTo>
                  <a:pt x="5538430" y="0"/>
                </a:lnTo>
                <a:lnTo>
                  <a:pt x="5538430" y="5704375"/>
                </a:lnTo>
                <a:lnTo>
                  <a:pt x="0" y="57043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0" y="215763"/>
            <a:ext cx="18288000" cy="793887"/>
          </a:xfrm>
          <a:prstGeom prst="rect">
            <a:avLst/>
          </a:prstGeom>
        </p:spPr>
        <p:txBody>
          <a:bodyPr anchor="t" rtlCol="false" tIns="0" lIns="0" bIns="0" rIns="0">
            <a:spAutoFit/>
          </a:bodyPr>
          <a:lstStyle/>
          <a:p>
            <a:pPr algn="ctr">
              <a:lnSpc>
                <a:spcPts val="6061"/>
              </a:lnSpc>
            </a:pPr>
            <a:r>
              <a:rPr lang="en-US" b="true" sz="5510">
                <a:solidFill>
                  <a:srgbClr val="000000"/>
                </a:solidFill>
                <a:latin typeface="Raleway Bold"/>
                <a:ea typeface="Raleway Bold"/>
                <a:cs typeface="Raleway Bold"/>
                <a:sym typeface="Raleway Bold"/>
              </a:rPr>
              <a:t>Impact and Conclusion</a:t>
            </a:r>
          </a:p>
        </p:txBody>
      </p:sp>
      <p:sp>
        <p:nvSpPr>
          <p:cNvPr name="TextBox 6" id="6"/>
          <p:cNvSpPr txBox="true"/>
          <p:nvPr/>
        </p:nvSpPr>
        <p:spPr>
          <a:xfrm rot="0">
            <a:off x="1190855" y="1354119"/>
            <a:ext cx="15906290" cy="7502562"/>
          </a:xfrm>
          <a:prstGeom prst="rect">
            <a:avLst/>
          </a:prstGeom>
        </p:spPr>
        <p:txBody>
          <a:bodyPr anchor="t" rtlCol="false" tIns="0" lIns="0" bIns="0" rIns="0">
            <a:spAutoFit/>
          </a:bodyPr>
          <a:lstStyle/>
          <a:p>
            <a:pPr algn="just">
              <a:lnSpc>
                <a:spcPts val="4315"/>
              </a:lnSpc>
            </a:pPr>
            <a:r>
              <a:rPr lang="en-US" sz="3082" b="true">
                <a:solidFill>
                  <a:srgbClr val="000000"/>
                </a:solidFill>
                <a:latin typeface="Raleway Bold"/>
                <a:ea typeface="Raleway Bold"/>
                <a:cs typeface="Raleway Bold"/>
                <a:sym typeface="Raleway Bold"/>
              </a:rPr>
              <a:t>Impact of GPT-5:</a:t>
            </a:r>
          </a:p>
          <a:p>
            <a:pPr algn="l" marL="665577" indent="-332789" lvl="1">
              <a:lnSpc>
                <a:spcPts val="4315"/>
              </a:lnSpc>
              <a:buFont typeface="Arial"/>
              <a:buChar char="•"/>
            </a:pPr>
            <a:r>
              <a:rPr lang="en-US" sz="3082">
                <a:solidFill>
                  <a:srgbClr val="000000"/>
                </a:solidFill>
                <a:latin typeface="Raleway"/>
                <a:ea typeface="Raleway"/>
                <a:cs typeface="Raleway"/>
                <a:sym typeface="Raleway"/>
              </a:rPr>
              <a:t>Eliminated the Speed vs. Reasoning Trade-off.</a:t>
            </a:r>
          </a:p>
          <a:p>
            <a:pPr algn="l">
              <a:lnSpc>
                <a:spcPts val="980"/>
              </a:lnSpc>
            </a:pPr>
          </a:p>
          <a:p>
            <a:pPr algn="l" marL="665577" indent="-332789" lvl="1">
              <a:lnSpc>
                <a:spcPts val="4315"/>
              </a:lnSpc>
              <a:buFont typeface="Arial"/>
              <a:buChar char="•"/>
            </a:pPr>
            <a:r>
              <a:rPr lang="en-US" sz="3082">
                <a:solidFill>
                  <a:srgbClr val="000000"/>
                </a:solidFill>
                <a:latin typeface="Raleway"/>
                <a:ea typeface="Raleway"/>
                <a:cs typeface="Raleway"/>
                <a:sym typeface="Raleway"/>
              </a:rPr>
              <a:t>R</a:t>
            </a:r>
            <a:r>
              <a:rPr lang="en-US" sz="3082">
                <a:solidFill>
                  <a:srgbClr val="000000"/>
                </a:solidFill>
                <a:latin typeface="Raleway"/>
                <a:ea typeface="Raleway"/>
                <a:cs typeface="Raleway"/>
                <a:sym typeface="Raleway"/>
              </a:rPr>
              <a:t>aised the Bar on Benchmark Performance.</a:t>
            </a:r>
          </a:p>
          <a:p>
            <a:pPr algn="l">
              <a:lnSpc>
                <a:spcPts val="980"/>
              </a:lnSpc>
            </a:pPr>
          </a:p>
          <a:p>
            <a:pPr algn="l" marL="665577" indent="-332789" lvl="1">
              <a:lnSpc>
                <a:spcPts val="4315"/>
              </a:lnSpc>
              <a:buFont typeface="Arial"/>
              <a:buChar char="•"/>
            </a:pPr>
            <a:r>
              <a:rPr lang="en-US" sz="3082">
                <a:solidFill>
                  <a:srgbClr val="000000"/>
                </a:solidFill>
                <a:latin typeface="Raleway"/>
                <a:ea typeface="Raleway"/>
                <a:cs typeface="Raleway"/>
                <a:sym typeface="Raleway"/>
              </a:rPr>
              <a:t>Significantly </a:t>
            </a:r>
            <a:r>
              <a:rPr lang="en-US" sz="3082">
                <a:solidFill>
                  <a:srgbClr val="000000"/>
                </a:solidFill>
                <a:latin typeface="Raleway"/>
                <a:ea typeface="Raleway"/>
                <a:cs typeface="Raleway"/>
                <a:sym typeface="Raleway"/>
              </a:rPr>
              <a:t>Reduced Hallucinations.</a:t>
            </a:r>
          </a:p>
          <a:p>
            <a:pPr algn="l">
              <a:lnSpc>
                <a:spcPts val="980"/>
              </a:lnSpc>
            </a:pPr>
          </a:p>
          <a:p>
            <a:pPr algn="l" marL="665577" indent="-332789" lvl="1">
              <a:lnSpc>
                <a:spcPts val="4315"/>
              </a:lnSpc>
              <a:buFont typeface="Arial"/>
              <a:buChar char="•"/>
            </a:pPr>
            <a:r>
              <a:rPr lang="en-US" sz="3082">
                <a:solidFill>
                  <a:srgbClr val="000000"/>
                </a:solidFill>
                <a:latin typeface="Raleway"/>
                <a:ea typeface="Raleway"/>
                <a:cs typeface="Raleway"/>
                <a:sym typeface="Raleway"/>
              </a:rPr>
              <a:t>Real-World Enterprise Impact.</a:t>
            </a:r>
          </a:p>
          <a:p>
            <a:pPr algn="l">
              <a:lnSpc>
                <a:spcPts val="980"/>
              </a:lnSpc>
            </a:pPr>
          </a:p>
          <a:p>
            <a:pPr algn="l" marL="665577" indent="-332789" lvl="1">
              <a:lnSpc>
                <a:spcPts val="4315"/>
              </a:lnSpc>
              <a:buFont typeface="Arial"/>
              <a:buChar char="•"/>
            </a:pPr>
            <a:r>
              <a:rPr lang="en-US" sz="3082">
                <a:solidFill>
                  <a:srgbClr val="000000"/>
                </a:solidFill>
                <a:latin typeface="Raleway"/>
                <a:ea typeface="Raleway"/>
                <a:cs typeface="Raleway"/>
                <a:sym typeface="Raleway"/>
              </a:rPr>
              <a:t>Br</a:t>
            </a:r>
            <a:r>
              <a:rPr lang="en-US" sz="3082">
                <a:solidFill>
                  <a:srgbClr val="000000"/>
                </a:solidFill>
                <a:latin typeface="Raleway"/>
                <a:ea typeface="Raleway"/>
                <a:cs typeface="Raleway"/>
                <a:sym typeface="Raleway"/>
              </a:rPr>
              <a:t>oadened Access to Advanced AI.</a:t>
            </a:r>
          </a:p>
          <a:p>
            <a:pPr algn="l">
              <a:lnSpc>
                <a:spcPts val="4315"/>
              </a:lnSpc>
            </a:pPr>
          </a:p>
          <a:p>
            <a:pPr algn="l">
              <a:lnSpc>
                <a:spcPts val="4315"/>
              </a:lnSpc>
            </a:pPr>
            <a:r>
              <a:rPr lang="en-US" sz="3082" b="true">
                <a:solidFill>
                  <a:srgbClr val="000000"/>
                </a:solidFill>
                <a:latin typeface="Raleway Bold"/>
                <a:ea typeface="Raleway Bold"/>
                <a:cs typeface="Raleway Bold"/>
                <a:sym typeface="Raleway Bold"/>
              </a:rPr>
              <a:t>Conclusion:</a:t>
            </a:r>
          </a:p>
          <a:p>
            <a:pPr algn="just">
              <a:lnSpc>
                <a:spcPts val="4315"/>
              </a:lnSpc>
            </a:pPr>
            <a:r>
              <a:rPr lang="en-US" b="true" sz="3082">
                <a:solidFill>
                  <a:srgbClr val="000000"/>
                </a:solidFill>
                <a:latin typeface="Raleway Bold"/>
                <a:ea typeface="Raleway Bold"/>
                <a:cs typeface="Raleway Bold"/>
                <a:sym typeface="Raleway Bold"/>
              </a:rPr>
              <a:t>GPT-5</a:t>
            </a:r>
            <a:r>
              <a:rPr lang="en-US" sz="3082">
                <a:solidFill>
                  <a:srgbClr val="000000"/>
                </a:solidFill>
                <a:latin typeface="Raleway"/>
                <a:ea typeface="Raleway"/>
                <a:cs typeface="Raleway"/>
                <a:sym typeface="Raleway"/>
              </a:rPr>
              <a:t> demonstrates how modern AI systems are evolving into versatile tools that can support a wide range of real-world tasks. By combining advanced reasoning, multimodal interaction, and improved reliability, it enables practical applications across education, software development, healthcare, business, and research, highlighting the role of AI in enhancing productivity, learning, and decision-making.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212696">
            <a:off x="-2576439" y="2491000"/>
            <a:ext cx="11797975" cy="12151473"/>
          </a:xfrm>
          <a:custGeom>
            <a:avLst/>
            <a:gdLst/>
            <a:ahLst/>
            <a:cxnLst/>
            <a:rect r="r" b="b" t="t" l="l"/>
            <a:pathLst>
              <a:path h="12151473" w="11797975">
                <a:moveTo>
                  <a:pt x="0" y="0"/>
                </a:moveTo>
                <a:lnTo>
                  <a:pt x="11797975" y="0"/>
                </a:lnTo>
                <a:lnTo>
                  <a:pt x="11797975" y="12151472"/>
                </a:lnTo>
                <a:lnTo>
                  <a:pt x="0" y="121514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27338" y="-1811770"/>
            <a:ext cx="5840316" cy="6335648"/>
          </a:xfrm>
          <a:custGeom>
            <a:avLst/>
            <a:gdLst/>
            <a:ahLst/>
            <a:cxnLst/>
            <a:rect r="r" b="b" t="t" l="l"/>
            <a:pathLst>
              <a:path h="6335648" w="5840316">
                <a:moveTo>
                  <a:pt x="0" y="0"/>
                </a:moveTo>
                <a:lnTo>
                  <a:pt x="5840315" y="0"/>
                </a:lnTo>
                <a:lnTo>
                  <a:pt x="5840315" y="6335649"/>
                </a:lnTo>
                <a:lnTo>
                  <a:pt x="0" y="63356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163789" y="4184929"/>
            <a:ext cx="3960423" cy="3960423"/>
          </a:xfrm>
          <a:custGeom>
            <a:avLst/>
            <a:gdLst/>
            <a:ahLst/>
            <a:cxnLst/>
            <a:rect r="r" b="b" t="t" l="l"/>
            <a:pathLst>
              <a:path h="3960423" w="3960423">
                <a:moveTo>
                  <a:pt x="0" y="0"/>
                </a:moveTo>
                <a:lnTo>
                  <a:pt x="3960422" y="0"/>
                </a:lnTo>
                <a:lnTo>
                  <a:pt x="3960422" y="3960423"/>
                </a:lnTo>
                <a:lnTo>
                  <a:pt x="0" y="3960423"/>
                </a:lnTo>
                <a:lnTo>
                  <a:pt x="0" y="0"/>
                </a:lnTo>
                <a:close/>
              </a:path>
            </a:pathLst>
          </a:custGeom>
          <a:blipFill>
            <a:blip r:embed="rId7"/>
            <a:stretch>
              <a:fillRect l="0" t="0" r="0" b="0"/>
            </a:stretch>
          </a:blipFill>
          <a:ln w="19050" cap="sq">
            <a:solidFill>
              <a:srgbClr val="000000"/>
            </a:solidFill>
            <a:prstDash val="solid"/>
            <a:miter/>
          </a:ln>
        </p:spPr>
      </p:sp>
      <p:sp>
        <p:nvSpPr>
          <p:cNvPr name="TextBox 6" id="6"/>
          <p:cNvSpPr txBox="true"/>
          <p:nvPr/>
        </p:nvSpPr>
        <p:spPr>
          <a:xfrm rot="0">
            <a:off x="1086172" y="1614662"/>
            <a:ext cx="16115657" cy="2111375"/>
          </a:xfrm>
          <a:prstGeom prst="rect">
            <a:avLst/>
          </a:prstGeom>
        </p:spPr>
        <p:txBody>
          <a:bodyPr anchor="t" rtlCol="false" tIns="0" lIns="0" bIns="0" rIns="0">
            <a:spAutoFit/>
          </a:bodyPr>
          <a:lstStyle/>
          <a:p>
            <a:pPr algn="ctr">
              <a:lnSpc>
                <a:spcPts val="5499"/>
              </a:lnSpc>
            </a:pPr>
            <a:r>
              <a:rPr lang="en-US" sz="4999" b="true">
                <a:solidFill>
                  <a:srgbClr val="000000"/>
                </a:solidFill>
                <a:latin typeface="Raleway Bold"/>
                <a:ea typeface="Raleway Bold"/>
                <a:cs typeface="Raleway Bold"/>
                <a:sym typeface="Raleway Bold"/>
              </a:rPr>
              <a:t>YouTube Video Link:</a:t>
            </a:r>
          </a:p>
          <a:p>
            <a:pPr algn="ctr">
              <a:lnSpc>
                <a:spcPts val="5499"/>
              </a:lnSpc>
            </a:pPr>
            <a:r>
              <a:rPr lang="en-US" sz="4999">
                <a:solidFill>
                  <a:srgbClr val="000000"/>
                </a:solidFill>
                <a:latin typeface="Raleway"/>
                <a:ea typeface="Raleway"/>
                <a:cs typeface="Raleway"/>
                <a:sym typeface="Raleway"/>
              </a:rPr>
              <a:t>https://www.youtube.com/live/0Uu_VJeVVfo?si=mGxC62YpJw_WZTkA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0212696">
            <a:off x="-2576439" y="2491000"/>
            <a:ext cx="11797975" cy="12151473"/>
          </a:xfrm>
          <a:custGeom>
            <a:avLst/>
            <a:gdLst/>
            <a:ahLst/>
            <a:cxnLst/>
            <a:rect r="r" b="b" t="t" l="l"/>
            <a:pathLst>
              <a:path h="12151473" w="11797975">
                <a:moveTo>
                  <a:pt x="0" y="0"/>
                </a:moveTo>
                <a:lnTo>
                  <a:pt x="11797975" y="0"/>
                </a:lnTo>
                <a:lnTo>
                  <a:pt x="11797975" y="12151472"/>
                </a:lnTo>
                <a:lnTo>
                  <a:pt x="0" y="121514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27338" y="-1811770"/>
            <a:ext cx="5840316" cy="6335648"/>
          </a:xfrm>
          <a:custGeom>
            <a:avLst/>
            <a:gdLst/>
            <a:ahLst/>
            <a:cxnLst/>
            <a:rect r="r" b="b" t="t" l="l"/>
            <a:pathLst>
              <a:path h="6335648" w="5840316">
                <a:moveTo>
                  <a:pt x="0" y="0"/>
                </a:moveTo>
                <a:lnTo>
                  <a:pt x="5840315" y="0"/>
                </a:lnTo>
                <a:lnTo>
                  <a:pt x="5840315" y="6335649"/>
                </a:lnTo>
                <a:lnTo>
                  <a:pt x="0" y="63356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119766" y="4165605"/>
            <a:ext cx="10048467" cy="2079615"/>
          </a:xfrm>
          <a:prstGeom prst="rect">
            <a:avLst/>
          </a:prstGeom>
        </p:spPr>
        <p:txBody>
          <a:bodyPr anchor="t" rtlCol="false" tIns="0" lIns="0" bIns="0" rIns="0">
            <a:spAutoFit/>
          </a:bodyPr>
          <a:lstStyle/>
          <a:p>
            <a:pPr algn="ctr">
              <a:lnSpc>
                <a:spcPts val="15949"/>
              </a:lnSpc>
            </a:pPr>
            <a:r>
              <a:rPr lang="en-US" b="true" sz="14499">
                <a:solidFill>
                  <a:srgbClr val="000000"/>
                </a:solidFill>
                <a:latin typeface="Raleway Bold"/>
                <a:ea typeface="Raleway Bold"/>
                <a:cs typeface="Raleway Bold"/>
                <a:sym typeface="Raleway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DAHD2LECWwE</dc:identifier>
  <dcterms:modified xsi:type="dcterms:W3CDTF">2011-08-01T06:04:30Z</dcterms:modified>
  <cp:revision>1</cp:revision>
  <dc:title>STQA PPT - 2</dc:title>
</cp:coreProperties>
</file>