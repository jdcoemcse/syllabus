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Digital Image Processing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Basics, Concepts and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Digital Image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 Image Processing (DIP) refers to processing of digital images using computers.</a:t>
            </a:r>
          </a:p>
          <a:p>
            <a:r>
              <a:t>It involves manipulation and analysis of images to improve quality or extract information.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digital image is a representation of a two-dimensional image as a finite set of digital values.</a:t>
            </a:r>
          </a:p>
          <a:p>
            <a:r>
              <a:t>Images are composed of pixels arranged in rows and columns.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Elements of Digital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Pixels</a:t>
            </a:r>
          </a:p>
          <a:p>
            <a:r>
              <a:t>Resolution</a:t>
            </a:r>
          </a:p>
          <a:p>
            <a:r>
              <a:t>Intensity Levels</a:t>
            </a:r>
          </a:p>
          <a:p>
            <a:r>
              <a:t>Dimensions (Width and Height)</a:t>
            </a:r>
          </a:p>
          <a:p>
            <a:r>
              <a:t>Bit Depth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 as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Images are stored as numerical data.</a:t>
            </a:r>
          </a:p>
          <a:p>
            <a:r>
              <a:t>Each pixel has an intensity value representing brightness or color.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Pixels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Pixel is the smallest unit of a digital image.</a:t>
            </a:r>
          </a:p>
          <a:p>
            <a:r>
              <a:t>Each pixel contains intensity or color information.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 of Digital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Brightness</a:t>
            </a:r>
          </a:p>
          <a:p>
            <a:r>
              <a:t>Contrast</a:t>
            </a:r>
          </a:p>
          <a:p>
            <a:r>
              <a:t>Color</a:t>
            </a:r>
          </a:p>
          <a:p>
            <a:r>
              <a:t>Texture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Image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Binary Image</a:t>
            </a:r>
          </a:p>
          <a:p>
            <a:r>
              <a:t>Grayscale Image</a:t>
            </a:r>
          </a:p>
          <a:p>
            <a:r>
              <a:t>Color Image (RGB)</a:t>
            </a:r>
          </a:p>
          <a:p>
            <a:r>
              <a:t>Indexed Image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Measures of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Resolution</a:t>
            </a:r>
          </a:p>
          <a:p>
            <a:r>
              <a:t>Aspect Ratio</a:t>
            </a:r>
          </a:p>
          <a:p>
            <a:r>
              <a:t>Dynamic Range</a:t>
            </a:r>
          </a:p>
          <a:p>
            <a:r>
              <a:t>Bit Depth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Applications of Digital Image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Medical Imaging</a:t>
            </a:r>
          </a:p>
          <a:p>
            <a:r>
              <a:t>Satellite Imaging</a:t>
            </a:r>
          </a:p>
          <a:p>
            <a:r>
              <a:t>Computer Vision</a:t>
            </a:r>
          </a:p>
          <a:p>
            <a:r>
              <a:t>Biometrics</a:t>
            </a:r>
          </a:p>
          <a:p>
            <a:r>
              <a:t>Image Enhancement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DIP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Improved image quality</a:t>
            </a:r>
          </a:p>
          <a:p>
            <a:r>
              <a:t>Efficient storage</a:t>
            </a:r>
          </a:p>
          <a:p>
            <a:r>
              <a:t>Better analysis</a:t>
            </a:r>
          </a:p>
          <a:p>
            <a:r>
              <a:t>Automation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Image Formation on Camera</a:t>
            </a:r>
            <a:br>
              <a:rPr lang="en-IN" b="1" dirty="0"/>
            </a:br>
            <a:r>
              <a:rPr lang="en-US" b="1" dirty="0"/>
              <a:t>How does the human eye work?</a:t>
            </a:r>
            <a:br>
              <a:rPr lang="en-US" b="1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Our eyes capture and focus light like a camera. Below are the steps of how an eye works:</a:t>
            </a:r>
          </a:p>
          <a:p>
            <a:r>
              <a:rPr lang="en-US" dirty="0"/>
              <a:t>Light rays enter the eye through the cornea.</a:t>
            </a:r>
          </a:p>
          <a:p>
            <a:r>
              <a:rPr lang="en-US" dirty="0"/>
              <a:t>Through the cornea, light rays pass to the pupil.</a:t>
            </a:r>
          </a:p>
          <a:p>
            <a:r>
              <a:rPr lang="en-US" dirty="0"/>
              <a:t>The amount of light which is passed through the pupil is controlled and maintained by iris.</a:t>
            </a:r>
          </a:p>
          <a:p>
            <a:r>
              <a:rPr lang="en-US" dirty="0"/>
              <a:t>From Iris, the light hits the lens. A lens is a transparent structure.</a:t>
            </a:r>
          </a:p>
          <a:p>
            <a:r>
              <a:rPr lang="en-US" dirty="0"/>
              <a:t>From lens, light rays focus onto the retina.</a:t>
            </a:r>
          </a:p>
          <a:p>
            <a:r>
              <a:rPr lang="en-US" dirty="0"/>
              <a:t>When the light rays reach the retina, the light-sensitive nerve layer is activated in which the image appears inverted.</a:t>
            </a:r>
          </a:p>
          <a:p>
            <a:r>
              <a:rPr lang="en-US" dirty="0"/>
              <a:t>The optic nerve carries signals of light, dark and colors in the brain which assembles all the signals into our vision or we can say image.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l="20607" t="40362" r="46654" b="27160"/>
          <a:stretch/>
        </p:blipFill>
        <p:spPr bwMode="auto">
          <a:xfrm>
            <a:off x="1547446" y="2749511"/>
            <a:ext cx="6569612" cy="348247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857848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Image formation on analog cameras</a:t>
            </a:r>
          </a:p>
          <a:p>
            <a:r>
              <a:rPr lang="en-US" dirty="0"/>
              <a:t>In analog cameras, an image is formed by a chemical reaction which takes place on the strip. A 35mm strip is used in an analog camera. These strips are coated with silver halide. Silver halide is a chemical substance.</a:t>
            </a:r>
          </a:p>
          <a:p>
            <a:r>
              <a:rPr lang="en-US" dirty="0"/>
              <a:t>Light rays are small particles known as photon particles. This photon particle passes through the camera and reacts with silver halide particles on the strip. And it generates a negative of the image.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8516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l="20441" t="25541" r="42001" b="28106"/>
          <a:stretch/>
        </p:blipFill>
        <p:spPr bwMode="auto">
          <a:xfrm>
            <a:off x="2128636" y="2273737"/>
            <a:ext cx="4886728" cy="317888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930820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Image formation on digital cameras</a:t>
            </a:r>
          </a:p>
          <a:p>
            <a:r>
              <a:rPr lang="en-US"/>
              <a:t>In digital cameras, image formation is not through the chemical reaction. Rather than, it is more complex. A CDD array of sensors is used to form an image.</a:t>
            </a:r>
          </a:p>
        </p:txBody>
      </p:sp>
    </p:spTree>
    <p:extLst>
      <p:ext uri="{BB962C8B-B14F-4D97-AF65-F5344CB8AC3E}">
        <p14:creationId xmlns:p14="http://schemas.microsoft.com/office/powerpoint/2010/main" val="32232766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l="19776" t="29009" r="41669" b="12341"/>
          <a:stretch/>
        </p:blipFill>
        <p:spPr bwMode="auto">
          <a:xfrm>
            <a:off x="2063775" y="1852073"/>
            <a:ext cx="5016449" cy="402221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303943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5446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Applications of Image Processing </a:t>
            </a:r>
            <a:r>
              <a:rPr lang="en-IN" dirty="0">
                <a:solidFill>
                  <a:srgbClr val="FF0000"/>
                </a:solidFill>
              </a:rPr>
              <a:t/>
            </a:r>
            <a:br>
              <a:rPr lang="en-IN" dirty="0">
                <a:solidFill>
                  <a:srgbClr val="FF0000"/>
                </a:solidFill>
              </a:rPr>
            </a:br>
            <a:r>
              <a:rPr lang="en-IN" dirty="0">
                <a:solidFill>
                  <a:srgbClr val="FF0000"/>
                </a:solidFill>
              </a:rPr>
              <a:t/>
            </a:r>
            <a:br>
              <a:rPr lang="en-IN" dirty="0">
                <a:solidFill>
                  <a:srgbClr val="FF0000"/>
                </a:solidFill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1. Medical </a:t>
            </a:r>
            <a:r>
              <a:rPr lang="en-IN" b="1" dirty="0" smtClean="0"/>
              <a:t>Imaging:</a:t>
            </a:r>
          </a:p>
          <a:p>
            <a:pPr lvl="0"/>
            <a:r>
              <a:rPr lang="en-IN" b="1" dirty="0"/>
              <a:t>MRI and CT </a:t>
            </a:r>
            <a:r>
              <a:rPr lang="en-IN" b="1" dirty="0" smtClean="0"/>
              <a:t>Scans</a:t>
            </a:r>
          </a:p>
          <a:p>
            <a:pPr lvl="0"/>
            <a:r>
              <a:rPr lang="en-IN" b="1" dirty="0" smtClean="0"/>
              <a:t>X-Ray Imaging</a:t>
            </a:r>
          </a:p>
          <a:p>
            <a:pPr lvl="0"/>
            <a:r>
              <a:rPr lang="en-IN" b="1" dirty="0" smtClean="0"/>
              <a:t>Ultrasound Imaging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60404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Remote Sensing</a:t>
            </a:r>
            <a:r>
              <a:rPr lang="en-IN" dirty="0">
                <a:solidFill>
                  <a:srgbClr val="FF0000"/>
                </a:solidFill>
              </a:rPr>
              <a:t/>
            </a:r>
            <a:br>
              <a:rPr lang="en-IN" dirty="0">
                <a:solidFill>
                  <a:srgbClr val="FF0000"/>
                </a:solidFill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b="1" dirty="0" smtClean="0"/>
              <a:t>Satellite Imaging</a:t>
            </a:r>
          </a:p>
          <a:p>
            <a:pPr lvl="0"/>
            <a:r>
              <a:rPr lang="en-IN" b="1" dirty="0" smtClean="0"/>
              <a:t>Aerial Photography</a:t>
            </a:r>
          </a:p>
          <a:p>
            <a:pPr lvl="0"/>
            <a:r>
              <a:rPr lang="en-IN" b="1" dirty="0" smtClean="0"/>
              <a:t>Environmental Monitoring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7811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Industrial Inspection</a:t>
            </a:r>
            <a:r>
              <a:rPr lang="en-IN" dirty="0">
                <a:solidFill>
                  <a:srgbClr val="FF0000"/>
                </a:solidFill>
              </a:rPr>
              <a:t/>
            </a:r>
            <a:br>
              <a:rPr lang="en-IN" dirty="0">
                <a:solidFill>
                  <a:srgbClr val="FF0000"/>
                </a:solidFill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b="1" dirty="0" smtClean="0"/>
              <a:t>Quality Control</a:t>
            </a:r>
          </a:p>
          <a:p>
            <a:pPr lvl="0"/>
            <a:r>
              <a:rPr lang="en-IN" b="1" dirty="0" smtClean="0"/>
              <a:t>Defect Detection</a:t>
            </a:r>
          </a:p>
          <a:p>
            <a:pPr lvl="0"/>
            <a:r>
              <a:rPr lang="en-IN" b="1" dirty="0" smtClean="0"/>
              <a:t>Robotics Vision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87988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Security and Surveillance</a:t>
            </a:r>
            <a:r>
              <a:rPr lang="en-IN" dirty="0">
                <a:solidFill>
                  <a:srgbClr val="FF0000"/>
                </a:solidFill>
              </a:rPr>
              <a:t/>
            </a:r>
            <a:br>
              <a:rPr lang="en-IN" dirty="0">
                <a:solidFill>
                  <a:srgbClr val="FF0000"/>
                </a:solidFill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b="1" dirty="0" smtClean="0"/>
              <a:t>Facial Recognition</a:t>
            </a:r>
          </a:p>
          <a:p>
            <a:pPr lvl="0"/>
            <a:r>
              <a:rPr lang="en-IN" b="1" dirty="0" smtClean="0"/>
              <a:t>Object Detection</a:t>
            </a:r>
          </a:p>
          <a:p>
            <a:pPr lvl="0"/>
            <a:r>
              <a:rPr lang="en-IN" b="1" dirty="0" smtClean="0"/>
              <a:t>Motion Detection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27479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Automotive Industry</a:t>
            </a:r>
            <a:r>
              <a:rPr lang="en-IN" dirty="0">
                <a:solidFill>
                  <a:srgbClr val="FF0000"/>
                </a:solidFill>
              </a:rPr>
              <a:t/>
            </a:r>
            <a:br>
              <a:rPr lang="en-IN" dirty="0">
                <a:solidFill>
                  <a:srgbClr val="FF0000"/>
                </a:solidFill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b="1" dirty="0" smtClean="0"/>
              <a:t>Autonomous Vehicles</a:t>
            </a:r>
          </a:p>
          <a:p>
            <a:pPr lvl="0"/>
            <a:r>
              <a:rPr lang="en-IN" b="1" dirty="0" smtClean="0"/>
              <a:t>Traffic </a:t>
            </a:r>
            <a:r>
              <a:rPr lang="en-IN" b="1" dirty="0"/>
              <a:t>Sign </a:t>
            </a:r>
            <a:r>
              <a:rPr lang="en-IN" b="1" dirty="0" smtClean="0"/>
              <a:t>Recognition</a:t>
            </a:r>
          </a:p>
          <a:p>
            <a:pPr lvl="0"/>
            <a:r>
              <a:rPr lang="en-IN" b="1" dirty="0" smtClean="0"/>
              <a:t>Driver </a:t>
            </a:r>
            <a:r>
              <a:rPr lang="en-IN" b="1" dirty="0"/>
              <a:t>Assistance </a:t>
            </a:r>
            <a:r>
              <a:rPr lang="en-IN" b="1" dirty="0" smtClean="0"/>
              <a:t>Systems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71146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en-IN" b="1" dirty="0">
                <a:solidFill>
                  <a:srgbClr val="FF0000"/>
                </a:solidFill>
              </a:rPr>
              <a:t>Entertainment and Multimedia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 smtClean="0"/>
              <a:t>Photo </a:t>
            </a:r>
            <a:r>
              <a:rPr lang="en-IN" b="1" dirty="0"/>
              <a:t>and Video </a:t>
            </a:r>
            <a:r>
              <a:rPr lang="en-IN" b="1" dirty="0" smtClean="0"/>
              <a:t>Editing</a:t>
            </a:r>
          </a:p>
          <a:p>
            <a:pPr lvl="0"/>
            <a:r>
              <a:rPr lang="en-IN" b="1" dirty="0" smtClean="0"/>
              <a:t>Virtual </a:t>
            </a:r>
            <a:r>
              <a:rPr lang="en-IN" b="1" dirty="0"/>
              <a:t>Reality and Augmented </a:t>
            </a:r>
            <a:r>
              <a:rPr lang="en-IN" b="1" dirty="0" smtClean="0"/>
              <a:t>Reality</a:t>
            </a:r>
          </a:p>
          <a:p>
            <a:pPr lvl="0"/>
            <a:r>
              <a:rPr lang="en-IN" b="1" dirty="0" smtClean="0"/>
              <a:t>Gaming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40483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Document Processing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 smtClean="0"/>
              <a:t>OCR </a:t>
            </a:r>
            <a:r>
              <a:rPr lang="en-IN" b="1" dirty="0"/>
              <a:t>(Optical Character </a:t>
            </a:r>
            <a:r>
              <a:rPr lang="en-IN" b="1" dirty="0" smtClean="0"/>
              <a:t>Recognition)</a:t>
            </a:r>
          </a:p>
          <a:p>
            <a:pPr lvl="0"/>
            <a:r>
              <a:rPr lang="en-IN" b="1" dirty="0" smtClean="0"/>
              <a:t>Barcode </a:t>
            </a:r>
            <a:r>
              <a:rPr lang="en-IN" b="1" dirty="0"/>
              <a:t>and QR Code </a:t>
            </a:r>
            <a:r>
              <a:rPr lang="en-IN" b="1" dirty="0" smtClean="0"/>
              <a:t>Scanning</a:t>
            </a:r>
          </a:p>
          <a:p>
            <a:pPr lvl="0"/>
            <a:r>
              <a:rPr lang="en-IN" b="1" dirty="0" smtClean="0"/>
              <a:t>Document </a:t>
            </a:r>
            <a:r>
              <a:rPr lang="en-IN" b="1" dirty="0"/>
              <a:t>Enhancement and Restoration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0225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546</Words>
  <Application>Microsoft Office PowerPoint</Application>
  <PresentationFormat>On-screen Show (4:3)</PresentationFormat>
  <Paragraphs>89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Introduction to Digital Image Processing</vt:lpstr>
      <vt:lpstr>What is Digital Image Processing</vt:lpstr>
      <vt:lpstr>Digital Image</vt:lpstr>
      <vt:lpstr>Elements of Digital Image</vt:lpstr>
      <vt:lpstr>Image as Data</vt:lpstr>
      <vt:lpstr>Pixels</vt:lpstr>
      <vt:lpstr>Components of Digital Image</vt:lpstr>
      <vt:lpstr>Types of Image Representation</vt:lpstr>
      <vt:lpstr>Measures of Image</vt:lpstr>
      <vt:lpstr>Applications of Digital Image Processing</vt:lpstr>
      <vt:lpstr>Advantages of DIP</vt:lpstr>
      <vt:lpstr>Image Formation on Camera How does the human eye work?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Applications of Image Processing   </vt:lpstr>
      <vt:lpstr>Remote Sensing </vt:lpstr>
      <vt:lpstr>Industrial Inspection </vt:lpstr>
      <vt:lpstr>Security and Surveillance </vt:lpstr>
      <vt:lpstr>Automotive Industry </vt:lpstr>
      <vt:lpstr>Entertainment and Multimedia</vt:lpstr>
      <vt:lpstr>Document Processing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Digital Image Processing</dc:title>
  <dc:subject/>
  <dc:creator/>
  <cp:keywords/>
  <dc:description>generated using python-pptx</dc:description>
  <cp:lastModifiedBy>Asus</cp:lastModifiedBy>
  <cp:revision>13</cp:revision>
  <dcterms:created xsi:type="dcterms:W3CDTF">2013-01-27T09:14:16Z</dcterms:created>
  <dcterms:modified xsi:type="dcterms:W3CDTF">2025-12-20T07:23:43Z</dcterms:modified>
  <cp:category/>
</cp:coreProperties>
</file>