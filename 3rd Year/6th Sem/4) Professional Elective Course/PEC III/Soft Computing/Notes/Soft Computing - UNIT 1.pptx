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7.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331" r:id="rId3"/>
    <p:sldId id="371" r:id="rId5"/>
    <p:sldId id="349" r:id="rId6"/>
    <p:sldId id="375" r:id="rId7"/>
    <p:sldId id="374" r:id="rId8"/>
    <p:sldId id="350" r:id="rId9"/>
    <p:sldId id="351" r:id="rId10"/>
    <p:sldId id="396" r:id="rId11"/>
    <p:sldId id="352" r:id="rId12"/>
    <p:sldId id="357" r:id="rId13"/>
    <p:sldId id="356" r:id="rId14"/>
    <p:sldId id="355" r:id="rId15"/>
    <p:sldId id="358" r:id="rId16"/>
    <p:sldId id="359" r:id="rId17"/>
    <p:sldId id="353" r:id="rId18"/>
    <p:sldId id="360" r:id="rId19"/>
    <p:sldId id="361" r:id="rId20"/>
    <p:sldId id="362" r:id="rId21"/>
    <p:sldId id="363" r:id="rId22"/>
    <p:sldId id="364" r:id="rId23"/>
    <p:sldId id="369" r:id="rId24"/>
    <p:sldId id="365" r:id="rId25"/>
    <p:sldId id="366" r:id="rId26"/>
    <p:sldId id="367" r:id="rId27"/>
    <p:sldId id="368" r:id="rId28"/>
    <p:sldId id="370" r:id="rId29"/>
    <p:sldId id="372" r:id="rId30"/>
    <p:sldId id="376" r:id="rId31"/>
    <p:sldId id="377" r:id="rId32"/>
    <p:sldId id="378" r:id="rId33"/>
    <p:sldId id="379" r:id="rId34"/>
    <p:sldId id="380" r:id="rId35"/>
    <p:sldId id="381" r:id="rId36"/>
    <p:sldId id="382" r:id="rId37"/>
    <p:sldId id="384" r:id="rId38"/>
    <p:sldId id="383" r:id="rId39"/>
    <p:sldId id="385" r:id="rId40"/>
    <p:sldId id="386" r:id="rId41"/>
    <p:sldId id="387" r:id="rId42"/>
    <p:sldId id="390" r:id="rId43"/>
    <p:sldId id="395" r:id="rId44"/>
    <p:sldId id="391" r:id="rId45"/>
    <p:sldId id="392" r:id="rId46"/>
    <p:sldId id="393" r:id="rId47"/>
    <p:sldId id="394" r:id="rId48"/>
    <p:sldId id="398" r:id="rId49"/>
    <p:sldId id="397" r:id="rId50"/>
    <p:sldId id="399" r:id="rId51"/>
    <p:sldId id="400" r:id="rId52"/>
    <p:sldId id="401" r:id="rId53"/>
    <p:sldId id="402" r:id="rId54"/>
    <p:sldId id="403" r:id="rId55"/>
    <p:sldId id="347" r:id="rId5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A3B"/>
    <a:srgbClr val="3E4E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0" d="100"/>
          <a:sy n="80" d="100"/>
        </p:scale>
        <p:origin x="480" y="84"/>
      </p:cViewPr>
      <p:guideLst>
        <p:guide orient="horz" pos="2160"/>
        <p:guide pos="2880"/>
        <p:guide orient="horz" pos="162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commentAuthors" Target="commentAuthors.xml"/><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3455F4-35DF-4934-841C-E4BBE4B4163A}"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689BD6-91AE-4E67-9C26-BFED49EB51A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dirty="0"/>
              <a:t>Click to edit Master title style</a:t>
            </a:r>
            <a:endParaRPr lang="en-US" dirty="0"/>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22000" y="357240"/>
            <a:ext cx="8100000" cy="594000"/>
          </a:xfrm>
        </p:spPr>
        <p:txBody>
          <a:bodyPr lIns="0" tIns="0" rIns="0" bIns="0" anchor="t" anchorCtr="0"/>
          <a:lstStyle>
            <a:lvl1pPr algn="l" fontAlgn="base">
              <a:defRPr sz="2400">
                <a:solidFill>
                  <a:schemeClr val="tx1">
                    <a:lumMod val="85000"/>
                    <a:lumOff val="15000"/>
                  </a:schemeClr>
                </a:solidFill>
                <a:latin typeface="+mj-lt"/>
              </a:defRPr>
            </a:lvl1pPr>
          </a:lstStyle>
          <a:p>
            <a:r>
              <a:rPr lang="en-US"/>
              <a:t>Click to add title</a:t>
            </a:r>
            <a:endParaRPr lang="en-US"/>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microsoft.com/office/2007/relationships/hdphoto" Target="../media/image2.wdp"/><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
        <p:nvSpPr>
          <p:cNvPr id="8" name="Rectangle 7"/>
          <p:cNvSpPr/>
          <p:nvPr userDrawn="1"/>
        </p:nvSpPr>
        <p:spPr>
          <a:xfrm>
            <a:off x="0" y="0"/>
            <a:ext cx="9144000" cy="548877"/>
          </a:xfrm>
          <a:prstGeom prst="rect">
            <a:avLst/>
          </a:prstGeom>
          <a:solidFill>
            <a:srgbClr val="3E4E7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5486400" y="0"/>
            <a:ext cx="3657600" cy="666750"/>
          </a:xfrm>
          <a:custGeom>
            <a:avLst/>
            <a:gdLst>
              <a:gd name="connsiteX0" fmla="*/ 0 w 4572000"/>
              <a:gd name="connsiteY0" fmla="*/ 0 h 857250"/>
              <a:gd name="connsiteX1" fmla="*/ 4572000 w 4572000"/>
              <a:gd name="connsiteY1" fmla="*/ 0 h 857250"/>
              <a:gd name="connsiteX2" fmla="*/ 4572000 w 4572000"/>
              <a:gd name="connsiteY2" fmla="*/ 857250 h 857250"/>
              <a:gd name="connsiteX3" fmla="*/ 0 w 4572000"/>
              <a:gd name="connsiteY3" fmla="*/ 857250 h 857250"/>
              <a:gd name="connsiteX4" fmla="*/ 0 w 4572000"/>
              <a:gd name="connsiteY4" fmla="*/ 0 h 857250"/>
              <a:gd name="connsiteX0-1" fmla="*/ 0 w 4572000"/>
              <a:gd name="connsiteY0-2" fmla="*/ 0 h 857250"/>
              <a:gd name="connsiteX1-3" fmla="*/ 4572000 w 4572000"/>
              <a:gd name="connsiteY1-4" fmla="*/ 0 h 857250"/>
              <a:gd name="connsiteX2-5" fmla="*/ 4572000 w 4572000"/>
              <a:gd name="connsiteY2-6" fmla="*/ 857250 h 857250"/>
              <a:gd name="connsiteX3-7" fmla="*/ 394855 w 4572000"/>
              <a:gd name="connsiteY3-8" fmla="*/ 857250 h 857250"/>
              <a:gd name="connsiteX4-9" fmla="*/ 0 w 4572000"/>
              <a:gd name="connsiteY4-10" fmla="*/ 0 h 8572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572000" h="857250">
                <a:moveTo>
                  <a:pt x="0" y="0"/>
                </a:moveTo>
                <a:lnTo>
                  <a:pt x="4572000" y="0"/>
                </a:lnTo>
                <a:lnTo>
                  <a:pt x="4572000" y="857250"/>
                </a:lnTo>
                <a:lnTo>
                  <a:pt x="394855" y="857250"/>
                </a:lnTo>
                <a:lnTo>
                  <a:pt x="0" y="0"/>
                </a:lnTo>
                <a:close/>
              </a:path>
            </a:pathLst>
          </a:custGeom>
          <a:solidFill>
            <a:srgbClr val="1E2A3B"/>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C:\Users\NEW DEAN ADMIN\Desktop\Asset 1.png"/>
          <p:cNvPicPr>
            <a:picLocks noChangeAspect="1" noChangeArrowheads="1"/>
          </p:cNvPicPr>
          <p:nvPr userDrawn="1"/>
        </p:nvPicPr>
        <p:blipFill rotWithShape="1">
          <a:blip r:embed="rId13">
            <a:extLst>
              <a:ext uri="{BEBA8EAE-BF5A-486C-A8C5-ECC9F3942E4B}">
                <a14:imgProps xmlns:a14="http://schemas.microsoft.com/office/drawing/2010/main">
                  <a14:imgLayer r:embed="rId14">
                    <a14:imgEffect>
                      <a14:backgroundRemoval t="21387" b="84393" l="14087" r="88986">
                        <a14:foregroundMark x1="55884" y1="31214" x2="85739" y2="57803"/>
                        <a14:foregroundMark x1="85739" y1="57803" x2="88986" y2="31792"/>
                        <a14:foregroundMark x1="62609" y1="73410" x2="80000" y2="57225"/>
                        <a14:foregroundMark x1="80000" y1="57225" x2="75884" y2="84393"/>
                        <a14:foregroundMark x1="75884" y1="84393" x2="70493" y2="66474"/>
                        <a14:foregroundMark x1="70493" y1="66474" x2="70377" y2="61850"/>
                        <a14:foregroundMark x1="55130" y1="68208" x2="53681" y2="23121"/>
                        <a14:foregroundMark x1="53681" y1="23121" x2="53681" y2="23121"/>
                        <a14:foregroundMark x1="55130" y1="65318" x2="55420" y2="72254"/>
                        <a14:foregroundMark x1="55246" y1="72832" x2="54841" y2="61272"/>
                        <a14:backgroundMark x1="11478" y1="45665" x2="16986" y2="42775"/>
                        <a14:backgroundMark x1="16986" y1="42775" x2="52058" y2="57803"/>
                        <a14:backgroundMark x1="52058" y1="57803" x2="52928" y2="69364"/>
                        <a14:backgroundMark x1="54609" y1="72832" x2="52058" y2="24855"/>
                        <a14:backgroundMark x1="52058" y1="24855" x2="53681" y2="67630"/>
                        <a14:backgroundMark x1="53681" y1="67630" x2="53739" y2="72254"/>
                      </a14:backgroundRemoval>
                    </a14:imgEffect>
                  </a14:imgLayer>
                </a14:imgProps>
              </a:ext>
            </a:extLst>
          </a:blip>
          <a:srcRect l="59566" t="15183" r="9943" b="21959"/>
          <a:stretch>
            <a:fillRect/>
          </a:stretch>
        </p:blipFill>
        <p:spPr bwMode="auto">
          <a:xfrm>
            <a:off x="5867400" y="-5057"/>
            <a:ext cx="3276600" cy="671807"/>
          </a:xfrm>
          <a:prstGeom prst="rect">
            <a:avLst/>
          </a:prstGeom>
          <a:noFill/>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7.webp"/></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429260"/>
          </a:xfrm>
          <a:prstGeom prst="rect">
            <a:avLst/>
          </a:prstGeom>
        </p:spPr>
        <p:txBody>
          <a:bodyPr vert="horz" lIns="91440" tIns="45720" rIns="91440" bIns="45720" rtlCol="0" anchor="ctr">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Soft</a:t>
            </a:r>
            <a:r>
              <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Computing</a:t>
            </a:r>
            <a:endPar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2" name="Text Box 1"/>
          <p:cNvSpPr txBox="1"/>
          <p:nvPr/>
        </p:nvSpPr>
        <p:spPr>
          <a:xfrm>
            <a:off x="2133600" y="1076960"/>
            <a:ext cx="4572000" cy="337185"/>
          </a:xfrm>
          <a:prstGeom prst="rect">
            <a:avLst/>
          </a:prstGeom>
          <a:noFill/>
        </p:spPr>
        <p:txBody>
          <a:bodyPr wrap="square" rtlCol="0" anchor="t">
            <a:spAutoFit/>
          </a:bodyPr>
          <a:p>
            <a:pPr algn="ctr"/>
            <a:r>
              <a:rPr lang="en-GB" altLang="en-US" sz="1600" b="1">
                <a:latin typeface="Times New Roman" panose="02020603050405020304" charset="0"/>
                <a:cs typeface="Times New Roman" panose="02020603050405020304" charset="0"/>
                <a:sym typeface="+mn-ea"/>
              </a:rPr>
              <a:t>UNIT -1</a:t>
            </a:r>
            <a:endParaRPr lang="en-GB" altLang="en-US" sz="1600" b="1">
              <a:latin typeface="Times New Roman" panose="02020603050405020304" charset="0"/>
              <a:cs typeface="Times New Roman" panose="02020603050405020304" charset="0"/>
              <a:sym typeface="+mn-ea"/>
            </a:endParaRPr>
          </a:p>
        </p:txBody>
      </p:sp>
      <p:sp>
        <p:nvSpPr>
          <p:cNvPr id="4" name="Text Box 3"/>
          <p:cNvSpPr txBox="1"/>
          <p:nvPr/>
        </p:nvSpPr>
        <p:spPr>
          <a:xfrm>
            <a:off x="304800" y="1390015"/>
            <a:ext cx="8695690" cy="3562350"/>
          </a:xfrm>
          <a:prstGeom prst="rect">
            <a:avLst/>
          </a:prstGeom>
          <a:noFill/>
        </p:spPr>
        <p:txBody>
          <a:bodyPr wrap="square" rtlCol="0">
            <a:noAutofit/>
          </a:bodyPr>
          <a:p>
            <a:r>
              <a:rPr lang="en-GB" altLang="en-US" sz="2000" b="1">
                <a:latin typeface="Times New Roman" panose="02020603050405020304" charset="0"/>
                <a:cs typeface="Times New Roman" panose="02020603050405020304" charset="0"/>
              </a:rPr>
              <a:t>Contents -</a:t>
            </a:r>
            <a:endParaRPr lang="en-GB" altLang="en-US" sz="2000" b="1">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Introduction to Soft Computing: Define Soft Computing</a:t>
            </a:r>
            <a:endParaRPr lang="en-US" altLang="en-US">
              <a:latin typeface="Times New Roman" panose="02020603050405020304" charset="0"/>
              <a:cs typeface="Times New Roman" panose="02020603050405020304" charset="0"/>
            </a:endParaRPr>
          </a:p>
          <a:p>
            <a:pPr indent="0">
              <a:buFont typeface="Wingdings" panose="05000000000000000000" charset="0"/>
              <a:buNone/>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Characteristics of Soft computing, Example </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Applications of soft computing </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Need of soft computing </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Elements of soft computing</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Soft computing vs hard computing</a:t>
            </a:r>
            <a:r>
              <a:rPr lang="en-GB" altLang="en-US">
                <a:latin typeface="Times New Roman" panose="02020603050405020304" charset="0"/>
                <a:cs typeface="Times New Roman" panose="02020603050405020304" charset="0"/>
              </a:rPr>
              <a:t> </a:t>
            </a:r>
            <a:endParaRPr lang="en-GB" altLang="en-US">
              <a:latin typeface="Times New Roman" panose="02020603050405020304" charset="0"/>
              <a:cs typeface="Times New Roman" panose="0202060305040502030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Soft</a:t>
            </a:r>
            <a:r>
              <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Computing</a:t>
            </a:r>
            <a:endPar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3" name="Text Box 2"/>
          <p:cNvSpPr txBox="1"/>
          <p:nvPr/>
        </p:nvSpPr>
        <p:spPr>
          <a:xfrm>
            <a:off x="314325" y="1359535"/>
            <a:ext cx="8524875" cy="2553335"/>
          </a:xfrm>
          <a:prstGeom prst="rect">
            <a:avLst/>
          </a:prstGeom>
          <a:noFill/>
        </p:spPr>
        <p:txBody>
          <a:bodyPr wrap="square" rtlCol="0">
            <a:spAutoFit/>
          </a:bodyPr>
          <a:p>
            <a:pPr marL="457200" indent="-457200" algn="just">
              <a:buFont typeface="+mj-lt"/>
              <a:buAutoNum type="arabicPeriod"/>
            </a:pPr>
            <a:r>
              <a:rPr lang="en-US" altLang="en-US" sz="2000">
                <a:latin typeface="Times New Roman" panose="02020603050405020304" charset="0"/>
                <a:cs typeface="Times New Roman" panose="02020603050405020304" charset="0"/>
              </a:rPr>
              <a:t>Soft computing is a collection of artificial intelligence (AI) computing techniques that gives devices human-like problem-solving capabilities. It includes the basics of neural networks, fuzzy logic, and genetic algorithms.</a:t>
            </a:r>
            <a:endParaRPr lang="en-US" altLang="en-US" sz="2000">
              <a:latin typeface="Times New Roman" panose="02020603050405020304" charset="0"/>
              <a:cs typeface="Times New Roman" panose="02020603050405020304" charset="0"/>
            </a:endParaRPr>
          </a:p>
          <a:p>
            <a:pPr marL="457200" indent="-457200" algn="just">
              <a:buFont typeface="+mj-lt"/>
              <a:buAutoNum type="arabicPeriod"/>
            </a:pPr>
            <a:endParaRPr lang="en-US" altLang="en-US" sz="2000">
              <a:latin typeface="Times New Roman" panose="02020603050405020304" charset="0"/>
              <a:cs typeface="Times New Roman" panose="02020603050405020304" charset="0"/>
            </a:endParaRPr>
          </a:p>
          <a:p>
            <a:pPr marL="457200" indent="-457200" algn="just">
              <a:buFont typeface="+mj-lt"/>
              <a:buAutoNum type="arabicPeriod"/>
            </a:pPr>
            <a:r>
              <a:rPr lang="en-US" altLang="en-US" sz="2000">
                <a:latin typeface="Times New Roman" panose="02020603050405020304" charset="0"/>
                <a:cs typeface="Times New Roman" panose="02020603050405020304" charset="0"/>
              </a:rPr>
              <a:t>The soft computing theory and techniques were introduced in the 1980s. The term was coined by Lofti A. Zadeh, a mathematician, computer scientist, electrical engineer, AI researcher, and professor emeritus of computer science at the University of California, Berkeley.</a:t>
            </a:r>
            <a:endParaRPr lang="en-US" altLang="en-US" sz="2000">
              <a:latin typeface="Times New Roman" panose="02020603050405020304" charset="0"/>
              <a:cs typeface="Times New Roman" panose="020206030504050203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Soft</a:t>
            </a:r>
            <a:r>
              <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Computing</a:t>
            </a:r>
            <a:r>
              <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Techniques - </a:t>
            </a:r>
            <a:endPar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pic>
        <p:nvPicPr>
          <p:cNvPr id="6" name="Picture 5"/>
          <p:cNvPicPr>
            <a:picLocks noChangeAspect="1"/>
          </p:cNvPicPr>
          <p:nvPr/>
        </p:nvPicPr>
        <p:blipFill>
          <a:blip r:embed="rId1"/>
          <a:stretch>
            <a:fillRect/>
          </a:stretch>
        </p:blipFill>
        <p:spPr>
          <a:xfrm>
            <a:off x="844550" y="1186815"/>
            <a:ext cx="7616190" cy="3759200"/>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Soft</a:t>
            </a:r>
            <a:r>
              <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Computing</a:t>
            </a:r>
            <a:r>
              <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Techniques - </a:t>
            </a:r>
            <a:endPar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pic>
        <p:nvPicPr>
          <p:cNvPr id="2" name="Picture 1"/>
          <p:cNvPicPr>
            <a:picLocks noChangeAspect="1"/>
          </p:cNvPicPr>
          <p:nvPr/>
        </p:nvPicPr>
        <p:blipFill>
          <a:blip r:embed="rId1"/>
          <a:stretch>
            <a:fillRect/>
          </a:stretch>
        </p:blipFill>
        <p:spPr>
          <a:xfrm>
            <a:off x="1327150" y="1437640"/>
            <a:ext cx="6914515" cy="3281680"/>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Soft</a:t>
            </a:r>
            <a:r>
              <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Computing</a:t>
            </a:r>
            <a:endPar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pic>
        <p:nvPicPr>
          <p:cNvPr id="4" name="Picture 3"/>
          <p:cNvPicPr/>
          <p:nvPr/>
        </p:nvPicPr>
        <p:blipFill>
          <a:blip r:embed="rId1"/>
          <a:stretch>
            <a:fillRect/>
          </a:stretch>
        </p:blipFill>
        <p:spPr>
          <a:xfrm>
            <a:off x="-190500" y="1140460"/>
            <a:ext cx="9144000" cy="381254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59055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Soft</a:t>
            </a:r>
            <a:r>
              <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Computing</a:t>
            </a:r>
            <a:endPar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2" name="Text Box 1"/>
          <p:cNvSpPr txBox="1"/>
          <p:nvPr/>
        </p:nvSpPr>
        <p:spPr>
          <a:xfrm>
            <a:off x="304800" y="1047750"/>
            <a:ext cx="8456295" cy="1722120"/>
          </a:xfrm>
          <a:prstGeom prst="rect">
            <a:avLst/>
          </a:prstGeom>
        </p:spPr>
        <p:txBody>
          <a:bodyPr wrap="square">
            <a:noAutofit/>
          </a:bodyPr>
          <a:p>
            <a:pPr marL="0" indent="0" algn="just">
              <a:spcBef>
                <a:spcPts val="600"/>
              </a:spcBef>
              <a:spcAft>
                <a:spcPts val="600"/>
              </a:spcAft>
            </a:pPr>
            <a:r>
              <a:rPr sz="2000" b="1" i="0">
                <a:solidFill>
                  <a:srgbClr val="2E3444"/>
                </a:solidFill>
                <a:latin typeface="Times New Roman" panose="02020603050405020304" charset="0"/>
                <a:ea typeface="Lato"/>
                <a:cs typeface="Times New Roman" panose="02020603050405020304" charset="0"/>
              </a:rPr>
              <a:t>Fuzzy Logic</a:t>
            </a:r>
            <a:endParaRPr sz="2000" b="1" i="0">
              <a:solidFill>
                <a:srgbClr val="2E3444"/>
              </a:solidFill>
              <a:latin typeface="Times New Roman" panose="02020603050405020304" charset="0"/>
              <a:ea typeface="Lato"/>
              <a:cs typeface="Times New Roman" panose="02020603050405020304" charset="0"/>
            </a:endParaRPr>
          </a:p>
          <a:p>
            <a:pPr marL="0" indent="0" algn="just">
              <a:spcBef>
                <a:spcPts val="600"/>
              </a:spcBef>
              <a:spcAft>
                <a:spcPts val="600"/>
              </a:spcAft>
            </a:pPr>
            <a:r>
              <a:rPr sz="2000" b="0" i="0">
                <a:solidFill>
                  <a:srgbClr val="2E3444"/>
                </a:solidFill>
                <a:latin typeface="Times New Roman" panose="02020603050405020304" charset="0"/>
                <a:ea typeface="Lato"/>
                <a:cs typeface="Times New Roman" panose="02020603050405020304" charset="0"/>
              </a:rPr>
              <a:t>Fuzzy logic is a computing approach that relies on “degrees of truth” rather than “true or false” (1 or 0) Boolean logic, which most computers use. Zadeh introduced the concept in the 1960s, two decades before soft computing.</a:t>
            </a:r>
            <a:endParaRPr sz="2000" b="0" i="0">
              <a:solidFill>
                <a:srgbClr val="2E3444"/>
              </a:solidFill>
              <a:latin typeface="Times New Roman" panose="02020603050405020304" charset="0"/>
              <a:ea typeface="Lato"/>
              <a:cs typeface="Times New Roman" panose="02020603050405020304" charset="0"/>
            </a:endParaRPr>
          </a:p>
          <a:p>
            <a:pPr marL="0" indent="0" algn="just">
              <a:spcBef>
                <a:spcPts val="600"/>
              </a:spcBef>
              <a:spcAft>
                <a:spcPts val="600"/>
              </a:spcAft>
            </a:pPr>
            <a:endParaRPr sz="2000" b="0" i="0">
              <a:solidFill>
                <a:srgbClr val="2E3444"/>
              </a:solidFill>
              <a:latin typeface="Times New Roman" panose="02020603050405020304" charset="0"/>
              <a:ea typeface="Lato"/>
              <a:cs typeface="Times New Roman" panose="02020603050405020304" charset="0"/>
            </a:endParaRPr>
          </a:p>
          <a:p>
            <a:pPr marL="0" indent="0" algn="just">
              <a:spcBef>
                <a:spcPts val="600"/>
              </a:spcBef>
              <a:spcAft>
                <a:spcPts val="600"/>
              </a:spcAft>
            </a:pPr>
            <a:endParaRPr sz="2000" b="0" i="0">
              <a:solidFill>
                <a:srgbClr val="2E3444"/>
              </a:solidFill>
              <a:latin typeface="Times New Roman" panose="02020603050405020304" charset="0"/>
              <a:ea typeface="Lato"/>
              <a:cs typeface="Times New Roman" panose="02020603050405020304" charset="0"/>
            </a:endParaRPr>
          </a:p>
          <a:p>
            <a:pPr marL="0" indent="0" algn="just">
              <a:lnSpc>
                <a:spcPts val="1800"/>
              </a:lnSpc>
              <a:spcBef>
                <a:spcPct val="0"/>
              </a:spcBef>
              <a:spcAft>
                <a:spcPts val="1800"/>
              </a:spcAft>
            </a:pPr>
            <a:endParaRPr sz="2000" b="0" i="0">
              <a:solidFill>
                <a:srgbClr val="2E3444"/>
              </a:solidFill>
              <a:latin typeface="Times New Roman" panose="02020603050405020304" charset="0"/>
              <a:ea typeface="Lato"/>
              <a:cs typeface="Times New Roman" panose="02020603050405020304" charset="0"/>
            </a:endParaRPr>
          </a:p>
          <a:p>
            <a:pPr marL="0" indent="0" algn="just">
              <a:lnSpc>
                <a:spcPts val="1800"/>
              </a:lnSpc>
              <a:spcBef>
                <a:spcPct val="0"/>
              </a:spcBef>
              <a:spcAft>
                <a:spcPts val="1800"/>
              </a:spcAft>
            </a:pPr>
            <a:endParaRPr sz="2000" b="0" i="0">
              <a:solidFill>
                <a:srgbClr val="2E3444"/>
              </a:solidFill>
              <a:latin typeface="Times New Roman" panose="02020603050405020304" charset="0"/>
              <a:ea typeface="Lato"/>
              <a:cs typeface="Times New Roman" panose="02020603050405020304" charset="0"/>
            </a:endParaRPr>
          </a:p>
          <a:p>
            <a:pPr marL="0" indent="0" algn="just">
              <a:lnSpc>
                <a:spcPts val="1800"/>
              </a:lnSpc>
              <a:spcBef>
                <a:spcPct val="0"/>
              </a:spcBef>
              <a:spcAft>
                <a:spcPts val="1800"/>
              </a:spcAft>
            </a:pPr>
            <a:endParaRPr sz="2000" b="0" i="0">
              <a:solidFill>
                <a:srgbClr val="2E3444"/>
              </a:solidFill>
              <a:latin typeface="Times New Roman" panose="02020603050405020304" charset="0"/>
              <a:ea typeface="Lato"/>
              <a:cs typeface="Times New Roman" panose="02020603050405020304" charset="0"/>
            </a:endParaRPr>
          </a:p>
        </p:txBody>
      </p:sp>
      <p:pic>
        <p:nvPicPr>
          <p:cNvPr id="3" name="Picture 2"/>
          <p:cNvPicPr>
            <a:picLocks noChangeAspect="1"/>
          </p:cNvPicPr>
          <p:nvPr/>
        </p:nvPicPr>
        <p:blipFill>
          <a:blip r:embed="rId1"/>
          <a:stretch>
            <a:fillRect/>
          </a:stretch>
        </p:blipFill>
        <p:spPr>
          <a:xfrm>
            <a:off x="1262380" y="2516505"/>
            <a:ext cx="6619240" cy="2280285"/>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1123950"/>
            <a:ext cx="8745220" cy="1076325"/>
          </a:xfrm>
          <a:prstGeom prst="rect">
            <a:avLst/>
          </a:prstGeom>
        </p:spPr>
        <p:txBody>
          <a:bodyPr wrap="square">
            <a:spAutoFit/>
          </a:bodyPr>
          <a:p>
            <a:pPr marL="0" indent="0" algn="just"/>
            <a:r>
              <a:rPr sz="1600" b="0" i="0">
                <a:solidFill>
                  <a:srgbClr val="2E3444"/>
                </a:solidFill>
                <a:latin typeface="Times New Roman" panose="02020603050405020304" charset="0"/>
                <a:ea typeface="Lato"/>
                <a:cs typeface="Times New Roman" panose="02020603050405020304" charset="0"/>
              </a:rPr>
              <a:t>Genetic algorithms refer to a group of search methods that are inspired by the theory of evolution. As such, they create sets of solutions that evolve to get the lowest or highest value of an objective function or a linear expression. In math, that’s the formula you are given, such as f = c1x1 + … + cnxn. They help obtain all the values that would possibly result given a specific objective function.</a:t>
            </a:r>
            <a:endParaRPr sz="1600" b="0" i="0">
              <a:solidFill>
                <a:srgbClr val="2E3444"/>
              </a:solidFill>
              <a:latin typeface="Times New Roman" panose="02020603050405020304" charset="0"/>
              <a:ea typeface="Lato"/>
              <a:cs typeface="Times New Roman" panose="02020603050405020304" charset="0"/>
            </a:endParaRPr>
          </a:p>
        </p:txBody>
      </p:sp>
      <p:sp>
        <p:nvSpPr>
          <p:cNvPr id="3" name="Text Box 2"/>
          <p:cNvSpPr txBox="1"/>
          <p:nvPr/>
        </p:nvSpPr>
        <p:spPr>
          <a:xfrm>
            <a:off x="152400" y="666433"/>
            <a:ext cx="5080000" cy="337185"/>
          </a:xfrm>
          <a:prstGeom prst="rect">
            <a:avLst/>
          </a:prstGeom>
        </p:spPr>
        <p:txBody>
          <a:bodyPr>
            <a:spAutoFit/>
          </a:bodyPr>
          <a:p>
            <a:pPr marL="0" indent="0">
              <a:spcBef>
                <a:spcPts val="600"/>
              </a:spcBef>
              <a:spcAft>
                <a:spcPts val="600"/>
              </a:spcAft>
            </a:pPr>
            <a:r>
              <a:rPr sz="1600" b="1" i="0">
                <a:solidFill>
                  <a:srgbClr val="2E3444"/>
                </a:solidFill>
                <a:latin typeface="Times New Roman" panose="02020603050405020304" charset="0"/>
                <a:ea typeface="Lato"/>
                <a:cs typeface="Times New Roman" panose="02020603050405020304" charset="0"/>
              </a:rPr>
              <a:t>Genetic Algorithms</a:t>
            </a:r>
            <a:endParaRPr sz="1600" b="1" i="0">
              <a:solidFill>
                <a:srgbClr val="2E3444"/>
              </a:solidFill>
              <a:latin typeface="Times New Roman" panose="02020603050405020304" charset="0"/>
              <a:ea typeface="Lato"/>
              <a:cs typeface="Times New Roman" panose="02020603050405020304" charset="0"/>
            </a:endParaRPr>
          </a:p>
        </p:txBody>
      </p:sp>
      <p:sp>
        <p:nvSpPr>
          <p:cNvPr id="4" name="Text Box 3"/>
          <p:cNvSpPr txBox="1"/>
          <p:nvPr/>
        </p:nvSpPr>
        <p:spPr>
          <a:xfrm>
            <a:off x="228600" y="2342833"/>
            <a:ext cx="5080000" cy="337185"/>
          </a:xfrm>
          <a:prstGeom prst="rect">
            <a:avLst/>
          </a:prstGeom>
        </p:spPr>
        <p:txBody>
          <a:bodyPr>
            <a:spAutoFit/>
          </a:bodyPr>
          <a:p>
            <a:pPr marL="0" indent="0">
              <a:spcBef>
                <a:spcPts val="600"/>
              </a:spcBef>
              <a:spcAft>
                <a:spcPts val="600"/>
              </a:spcAft>
            </a:pPr>
            <a:r>
              <a:rPr sz="1600" b="1" i="0">
                <a:solidFill>
                  <a:srgbClr val="2E3444"/>
                </a:solidFill>
                <a:latin typeface="Times New Roman" panose="02020603050405020304" charset="0"/>
                <a:ea typeface="Lato"/>
                <a:cs typeface="Times New Roman" panose="02020603050405020304" charset="0"/>
              </a:rPr>
              <a:t>Artificial Neural Networks</a:t>
            </a:r>
            <a:endParaRPr sz="1600" b="1" i="0">
              <a:solidFill>
                <a:srgbClr val="2E3444"/>
              </a:solidFill>
              <a:latin typeface="Times New Roman" panose="02020603050405020304" charset="0"/>
              <a:ea typeface="Lato"/>
              <a:cs typeface="Times New Roman" panose="02020603050405020304" charset="0"/>
            </a:endParaRPr>
          </a:p>
        </p:txBody>
      </p:sp>
      <p:sp>
        <p:nvSpPr>
          <p:cNvPr id="5" name="Text Box 4"/>
          <p:cNvSpPr txBox="1"/>
          <p:nvPr/>
        </p:nvSpPr>
        <p:spPr>
          <a:xfrm>
            <a:off x="228600" y="2876550"/>
            <a:ext cx="8659495" cy="1476375"/>
          </a:xfrm>
          <a:prstGeom prst="rect">
            <a:avLst/>
          </a:prstGeom>
        </p:spPr>
        <p:txBody>
          <a:bodyPr wrap="square">
            <a:spAutoFit/>
          </a:bodyPr>
          <a:p>
            <a:pPr marL="0" indent="0" algn="just">
              <a:lnSpc>
                <a:spcPts val="1800"/>
              </a:lnSpc>
              <a:spcBef>
                <a:spcPct val="0"/>
              </a:spcBef>
              <a:spcAft>
                <a:spcPts val="1800"/>
              </a:spcAft>
            </a:pPr>
            <a:r>
              <a:rPr sz="1600" b="0" i="0">
                <a:solidFill>
                  <a:srgbClr val="2E3444"/>
                </a:solidFill>
                <a:latin typeface="Times New Roman" panose="02020603050405020304" charset="0"/>
                <a:ea typeface="Lato"/>
                <a:cs typeface="Times New Roman" panose="02020603050405020304" charset="0"/>
              </a:rPr>
              <a:t>An </a:t>
            </a:r>
            <a:r>
              <a:rPr sz="1600" b="0" i="0">
                <a:solidFill>
                  <a:schemeClr val="tx1"/>
                </a:solidFill>
                <a:latin typeface="Times New Roman" panose="02020603050405020304" charset="0"/>
                <a:ea typeface="Lato"/>
                <a:cs typeface="Times New Roman" panose="02020603050405020304" charset="0"/>
              </a:rPr>
              <a:t>artificial neural network</a:t>
            </a:r>
            <a:r>
              <a:rPr sz="1600" b="0" i="0">
                <a:solidFill>
                  <a:srgbClr val="2E3444"/>
                </a:solidFill>
                <a:latin typeface="Times New Roman" panose="02020603050405020304" charset="0"/>
                <a:ea typeface="Lato"/>
                <a:cs typeface="Times New Roman" panose="02020603050405020304" charset="0"/>
              </a:rPr>
              <a:t> is a computer program that emulates a particular biological counterpart. A machine designed to work as a human heart is an example of an artificial neural network. It uses trial and error to get to the desired output.</a:t>
            </a:r>
            <a:endParaRPr sz="1600" b="0" i="0">
              <a:solidFill>
                <a:srgbClr val="2E3444"/>
              </a:solidFill>
              <a:latin typeface="Times New Roman" panose="02020603050405020304" charset="0"/>
              <a:ea typeface="Lato"/>
              <a:cs typeface="Times New Roman" panose="02020603050405020304" charset="0"/>
            </a:endParaRPr>
          </a:p>
          <a:p>
            <a:pPr marL="0" indent="0" algn="just">
              <a:lnSpc>
                <a:spcPts val="1800"/>
              </a:lnSpc>
              <a:spcBef>
                <a:spcPct val="0"/>
              </a:spcBef>
              <a:spcAft>
                <a:spcPts val="1800"/>
              </a:spcAft>
            </a:pPr>
            <a:r>
              <a:rPr sz="1600" b="0" i="0">
                <a:solidFill>
                  <a:srgbClr val="2E3444"/>
                </a:solidFill>
                <a:latin typeface="Times New Roman" panose="02020603050405020304" charset="0"/>
                <a:ea typeface="Lato"/>
                <a:cs typeface="Times New Roman" panose="02020603050405020304" charset="0"/>
              </a:rPr>
              <a:t>At present, artificial neural networks are already used to spot fraudulent transactions, recognize people in photographs, predict outcomes, recognize speech and natural language, and more.</a:t>
            </a:r>
            <a:endParaRPr sz="1600" b="0" i="0">
              <a:solidFill>
                <a:srgbClr val="2E3444"/>
              </a:solidFill>
              <a:latin typeface="Times New Roman" panose="02020603050405020304" charset="0"/>
              <a:ea typeface="Lato"/>
              <a:cs typeface="Times New Roman" panose="0202060305040502030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04800" y="742633"/>
            <a:ext cx="5080000" cy="368300"/>
          </a:xfrm>
          <a:prstGeom prst="rect">
            <a:avLst/>
          </a:prstGeom>
        </p:spPr>
        <p:txBody>
          <a:bodyPr>
            <a:spAutoFit/>
          </a:bodyPr>
          <a:p>
            <a:pPr marL="0" indent="0">
              <a:spcBef>
                <a:spcPts val="600"/>
              </a:spcBef>
              <a:spcAft>
                <a:spcPts val="600"/>
              </a:spcAft>
            </a:pPr>
            <a:r>
              <a:rPr b="1" i="0">
                <a:solidFill>
                  <a:srgbClr val="2E3444"/>
                </a:solidFill>
                <a:latin typeface="Times New Roman" panose="02020603050405020304" charset="0"/>
                <a:ea typeface="Lato"/>
                <a:cs typeface="Times New Roman" panose="02020603050405020304" charset="0"/>
              </a:rPr>
              <a:t>Artificial Neural Networks</a:t>
            </a:r>
            <a:endParaRPr b="1" i="0">
              <a:solidFill>
                <a:srgbClr val="2E3444"/>
              </a:solidFill>
              <a:latin typeface="Times New Roman" panose="02020603050405020304" charset="0"/>
              <a:ea typeface="Lato"/>
              <a:cs typeface="Times New Roman" panose="02020603050405020304" charset="0"/>
            </a:endParaRPr>
          </a:p>
        </p:txBody>
      </p:sp>
      <p:pic>
        <p:nvPicPr>
          <p:cNvPr id="8" name="Picture 7"/>
          <p:cNvPicPr>
            <a:picLocks noChangeAspect="1"/>
          </p:cNvPicPr>
          <p:nvPr/>
        </p:nvPicPr>
        <p:blipFill>
          <a:blip r:embed="rId1"/>
          <a:stretch>
            <a:fillRect/>
          </a:stretch>
        </p:blipFill>
        <p:spPr>
          <a:xfrm>
            <a:off x="457200" y="1581150"/>
            <a:ext cx="3813810" cy="2522220"/>
          </a:xfrm>
          <a:prstGeom prst="rect">
            <a:avLst/>
          </a:prstGeom>
        </p:spPr>
      </p:pic>
      <p:pic>
        <p:nvPicPr>
          <p:cNvPr id="9" name="Picture 8"/>
          <p:cNvPicPr>
            <a:picLocks noChangeAspect="1"/>
          </p:cNvPicPr>
          <p:nvPr/>
        </p:nvPicPr>
        <p:blipFill>
          <a:blip r:embed="rId2"/>
          <a:srcRect t="5232" r="117"/>
          <a:stretch>
            <a:fillRect/>
          </a:stretch>
        </p:blipFill>
        <p:spPr>
          <a:xfrm>
            <a:off x="5041265" y="1200150"/>
            <a:ext cx="3797935" cy="3070860"/>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18833"/>
            <a:ext cx="5080000" cy="337185"/>
          </a:xfrm>
          <a:prstGeom prst="rect">
            <a:avLst/>
          </a:prstGeom>
        </p:spPr>
        <p:txBody>
          <a:bodyPr>
            <a:spAutoFit/>
          </a:bodyPr>
          <a:p>
            <a:pPr marL="0" indent="0">
              <a:spcBef>
                <a:spcPts val="600"/>
              </a:spcBef>
              <a:spcAft>
                <a:spcPts val="600"/>
              </a:spcAft>
            </a:pPr>
            <a:r>
              <a:rPr sz="1600" b="1" i="0">
                <a:solidFill>
                  <a:srgbClr val="2E3444"/>
                </a:solidFill>
                <a:latin typeface="Times New Roman" panose="02020603050405020304" charset="0"/>
                <a:ea typeface="Lato"/>
                <a:cs typeface="Times New Roman" panose="02020603050405020304" charset="0"/>
              </a:rPr>
              <a:t>Machine Learning</a:t>
            </a:r>
            <a:endParaRPr sz="1600" b="1" i="0">
              <a:solidFill>
                <a:srgbClr val="2E3444"/>
              </a:solidFill>
              <a:latin typeface="Times New Roman" panose="02020603050405020304" charset="0"/>
              <a:ea typeface="Lato"/>
              <a:cs typeface="Times New Roman" panose="02020603050405020304" charset="0"/>
            </a:endParaRPr>
          </a:p>
        </p:txBody>
      </p:sp>
      <p:sp>
        <p:nvSpPr>
          <p:cNvPr id="3" name="Text Box 2"/>
          <p:cNvSpPr txBox="1"/>
          <p:nvPr/>
        </p:nvSpPr>
        <p:spPr>
          <a:xfrm>
            <a:off x="304800" y="1352550"/>
            <a:ext cx="8618855" cy="1076325"/>
          </a:xfrm>
          <a:prstGeom prst="rect">
            <a:avLst/>
          </a:prstGeom>
        </p:spPr>
        <p:txBody>
          <a:bodyPr wrap="square">
            <a:spAutoFit/>
          </a:bodyPr>
          <a:p>
            <a:pPr marL="0" indent="0" algn="just"/>
            <a:r>
              <a:rPr sz="1600" b="0" i="0">
                <a:solidFill>
                  <a:schemeClr val="tx1"/>
                </a:solidFill>
                <a:latin typeface="Times New Roman" panose="02020603050405020304" charset="0"/>
                <a:ea typeface="Lato"/>
                <a:cs typeface="Times New Roman" panose="02020603050405020304" charset="0"/>
              </a:rPr>
              <a:t>Machine learning (ML)</a:t>
            </a:r>
            <a:r>
              <a:rPr lang="en-GB" sz="1600" b="0" i="0">
                <a:solidFill>
                  <a:srgbClr val="337AB7"/>
                </a:solidFill>
                <a:latin typeface="Times New Roman" panose="02020603050405020304" charset="0"/>
                <a:ea typeface="Lato"/>
                <a:cs typeface="Times New Roman" panose="02020603050405020304" charset="0"/>
              </a:rPr>
              <a:t> </a:t>
            </a:r>
            <a:r>
              <a:rPr sz="1600" b="0" i="0">
                <a:solidFill>
                  <a:srgbClr val="2E3444"/>
                </a:solidFill>
                <a:latin typeface="Times New Roman" panose="02020603050405020304" charset="0"/>
                <a:ea typeface="Lato"/>
                <a:cs typeface="Times New Roman" panose="02020603050405020304" charset="0"/>
              </a:rPr>
              <a:t>is an AI branch that develops computers that learn and improve from experience without any human intervention or programming. Machines are fed tons of data, which they analyze for patterns and learn from using examples. Over time, they automatically make decisions and adjust actions accordingly.</a:t>
            </a:r>
            <a:endParaRPr sz="1600" b="0" i="0">
              <a:solidFill>
                <a:srgbClr val="2E3444"/>
              </a:solidFill>
              <a:latin typeface="Times New Roman" panose="02020603050405020304" charset="0"/>
              <a:ea typeface="Lato"/>
              <a:cs typeface="Times New Roman" panose="02020603050405020304" charset="0"/>
            </a:endParaRPr>
          </a:p>
        </p:txBody>
      </p:sp>
      <p:sp>
        <p:nvSpPr>
          <p:cNvPr id="4" name="Text Box 3"/>
          <p:cNvSpPr txBox="1"/>
          <p:nvPr/>
        </p:nvSpPr>
        <p:spPr>
          <a:xfrm>
            <a:off x="228600" y="2647633"/>
            <a:ext cx="5080000" cy="337185"/>
          </a:xfrm>
          <a:prstGeom prst="rect">
            <a:avLst/>
          </a:prstGeom>
        </p:spPr>
        <p:txBody>
          <a:bodyPr>
            <a:spAutoFit/>
          </a:bodyPr>
          <a:p>
            <a:pPr marL="0" indent="0">
              <a:spcBef>
                <a:spcPts val="600"/>
              </a:spcBef>
              <a:spcAft>
                <a:spcPts val="600"/>
              </a:spcAft>
            </a:pPr>
            <a:r>
              <a:rPr sz="1600" b="1" i="0">
                <a:solidFill>
                  <a:srgbClr val="2E3444"/>
                </a:solidFill>
                <a:latin typeface="Times New Roman" panose="02020603050405020304" charset="0"/>
                <a:ea typeface="Lato"/>
                <a:cs typeface="Times New Roman" panose="02020603050405020304" charset="0"/>
              </a:rPr>
              <a:t>Expert Systems</a:t>
            </a:r>
            <a:endParaRPr sz="1600" b="1" i="0">
              <a:solidFill>
                <a:srgbClr val="2E3444"/>
              </a:solidFill>
              <a:latin typeface="Times New Roman" panose="02020603050405020304" charset="0"/>
              <a:ea typeface="Lato"/>
              <a:cs typeface="Times New Roman" panose="02020603050405020304" charset="0"/>
            </a:endParaRPr>
          </a:p>
        </p:txBody>
      </p:sp>
      <p:sp>
        <p:nvSpPr>
          <p:cNvPr id="5" name="Text Box 4"/>
          <p:cNvSpPr txBox="1"/>
          <p:nvPr/>
        </p:nvSpPr>
        <p:spPr>
          <a:xfrm>
            <a:off x="304800" y="3204210"/>
            <a:ext cx="8590280" cy="829945"/>
          </a:xfrm>
          <a:prstGeom prst="rect">
            <a:avLst/>
          </a:prstGeom>
        </p:spPr>
        <p:txBody>
          <a:bodyPr wrap="square">
            <a:spAutoFit/>
          </a:bodyPr>
          <a:p>
            <a:pPr marL="0" indent="0" algn="just"/>
            <a:r>
              <a:rPr sz="1600" b="0" i="0">
                <a:solidFill>
                  <a:srgbClr val="2E3444"/>
                </a:solidFill>
                <a:latin typeface="Times New Roman" panose="02020603050405020304" charset="0"/>
                <a:ea typeface="Lato"/>
                <a:cs typeface="Times New Roman" panose="02020603050405020304" charset="0"/>
              </a:rPr>
              <a:t>An </a:t>
            </a:r>
            <a:r>
              <a:rPr sz="1600" b="0" i="0">
                <a:solidFill>
                  <a:schemeClr val="tx1"/>
                </a:solidFill>
                <a:latin typeface="Times New Roman" panose="02020603050405020304" charset="0"/>
                <a:ea typeface="Lato"/>
                <a:cs typeface="Times New Roman" panose="02020603050405020304" charset="0"/>
              </a:rPr>
              <a:t>expert system</a:t>
            </a:r>
            <a:r>
              <a:rPr sz="1600" b="0" i="0">
                <a:solidFill>
                  <a:srgbClr val="2E3444"/>
                </a:solidFill>
                <a:latin typeface="Times New Roman" panose="02020603050405020304" charset="0"/>
                <a:ea typeface="Lato"/>
                <a:cs typeface="Times New Roman" panose="02020603050405020304" charset="0"/>
              </a:rPr>
              <a:t> is a computer or application that provides answers, solves complex problems, and makes decisions just like a human expert in a specialized domain. It performs complex calculations, analyses, and predictions and so is considered the first successful AI model.</a:t>
            </a:r>
            <a:endParaRPr sz="1600" b="0" i="0">
              <a:solidFill>
                <a:srgbClr val="2E3444"/>
              </a:solidFill>
              <a:latin typeface="Times New Roman" panose="02020603050405020304" charset="0"/>
              <a:ea typeface="Lato"/>
              <a:cs typeface="Times New Roman" panose="0202060305040502030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Difference between AI and Soft Computing</a:t>
            </a:r>
            <a:endPar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pic>
        <p:nvPicPr>
          <p:cNvPr id="2" name="Picture 1"/>
          <p:cNvPicPr/>
          <p:nvPr/>
        </p:nvPicPr>
        <p:blipFill>
          <a:blip r:embed="rId1"/>
          <a:stretch>
            <a:fillRect/>
          </a:stretch>
        </p:blipFill>
        <p:spPr>
          <a:xfrm>
            <a:off x="850900" y="2952750"/>
            <a:ext cx="8102600" cy="1802130"/>
          </a:xfrm>
          <a:prstGeom prst="rect">
            <a:avLst/>
          </a:prstGeom>
        </p:spPr>
      </p:pic>
      <p:sp>
        <p:nvSpPr>
          <p:cNvPr id="3" name="Text Box 2"/>
          <p:cNvSpPr txBox="1"/>
          <p:nvPr/>
        </p:nvSpPr>
        <p:spPr>
          <a:xfrm>
            <a:off x="228600" y="1251585"/>
            <a:ext cx="8724265" cy="1489075"/>
          </a:xfrm>
          <a:prstGeom prst="rect">
            <a:avLst/>
          </a:prstGeom>
        </p:spPr>
        <p:txBody>
          <a:bodyPr wrap="square">
            <a:noAutofit/>
          </a:bodyPr>
          <a:p>
            <a:pPr marL="0" indent="0" algn="l" fontAlgn="base">
              <a:spcBef>
                <a:spcPct val="0"/>
              </a:spcBef>
              <a:spcAft>
                <a:spcPct val="0"/>
              </a:spcAft>
            </a:pPr>
            <a:r>
              <a:rPr sz="1600" b="1" i="0">
                <a:solidFill>
                  <a:schemeClr val="tx1"/>
                </a:solidFill>
                <a:latin typeface="Times New Roman" panose="02020603050405020304" charset="0"/>
                <a:ea typeface="Nunito"/>
                <a:cs typeface="Times New Roman" panose="02020603050405020304" charset="0"/>
              </a:rPr>
              <a:t>Artificial Intelligence:</a:t>
            </a:r>
            <a:endParaRPr sz="1600" b="1" i="0">
              <a:solidFill>
                <a:schemeClr val="tx1"/>
              </a:solidFill>
              <a:latin typeface="Times New Roman" panose="02020603050405020304" charset="0"/>
              <a:ea typeface="Nunito"/>
              <a:cs typeface="Times New Roman" panose="02020603050405020304" charset="0"/>
            </a:endParaRPr>
          </a:p>
          <a:p>
            <a:pPr marL="0" indent="0" algn="l" fontAlgn="base">
              <a:spcBef>
                <a:spcPct val="0"/>
              </a:spcBef>
              <a:spcAft>
                <a:spcPct val="0"/>
              </a:spcAft>
            </a:pPr>
            <a:endParaRPr sz="1600" b="1" i="0">
              <a:solidFill>
                <a:schemeClr val="tx1"/>
              </a:solidFill>
              <a:latin typeface="Times New Roman" panose="02020603050405020304" charset="0"/>
              <a:ea typeface="Nunito"/>
              <a:cs typeface="Times New Roman" panose="02020603050405020304" charset="0"/>
            </a:endParaRPr>
          </a:p>
          <a:p>
            <a:pPr marL="0" indent="0" algn="just"/>
            <a:r>
              <a:rPr sz="1600" b="0" i="0">
                <a:solidFill>
                  <a:srgbClr val="273239"/>
                </a:solidFill>
                <a:latin typeface="Nunito"/>
                <a:ea typeface="Nunito"/>
              </a:rPr>
              <a:t> </a:t>
            </a:r>
            <a:r>
              <a:rPr sz="1600" b="0" i="0">
                <a:solidFill>
                  <a:srgbClr val="273239"/>
                </a:solidFill>
                <a:latin typeface="Times New Roman" panose="02020603050405020304" charset="0"/>
                <a:ea typeface="Nunito"/>
                <a:cs typeface="Times New Roman" panose="02020603050405020304" charset="0"/>
              </a:rPr>
              <a:t>AI manages more comprehensive issues of automating a system. This computerization should be possible by utilizing any field such as image processing, cognitive science, neural systems, machine learning etc. AI manages the making of machines, frameworks and different gadgets savvy by enabling them to think and do errands as all people generally do.</a:t>
            </a:r>
            <a:endParaRPr sz="16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304800" y="971550"/>
            <a:ext cx="8229600" cy="1562100"/>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defRPr/>
            </a:pPr>
            <a:endParaRPr kumimoji="0" lang="en-US" altLang="en-US" sz="1600" b="1" i="0" strike="noStrike" kern="1200" cap="none" spc="0" normalizeH="0" baseline="0" noProof="0" dirty="0">
              <a:ln>
                <a:noFill/>
              </a:ln>
              <a:solidFill>
                <a:schemeClr val="tx1"/>
              </a:solidFill>
              <a:effectLst/>
              <a:uLnTx/>
              <a:uFillTx/>
              <a:latin typeface="Times New Roman" panose="02020603050405020304" charset="0"/>
              <a:ea typeface="+mj-ea"/>
              <a:cs typeface="Times New Roman" panose="02020603050405020304" charset="0"/>
            </a:endParaRPr>
          </a:p>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1600" b="1" i="0" strike="noStrike" kern="1200" cap="none" spc="0" normalizeH="0" baseline="0" noProof="0" dirty="0">
                <a:ln>
                  <a:noFill/>
                </a:ln>
                <a:solidFill>
                  <a:schemeClr val="tx1"/>
                </a:solidFill>
                <a:effectLst/>
                <a:uLnTx/>
                <a:uFillTx/>
                <a:latin typeface="Times New Roman" panose="02020603050405020304" charset="0"/>
                <a:ea typeface="+mj-ea"/>
                <a:cs typeface="Times New Roman" panose="02020603050405020304" charset="0"/>
              </a:rPr>
              <a:t>Soft Computing: </a:t>
            </a:r>
            <a:endParaRPr kumimoji="0" lang="en-US" altLang="en-US" sz="1600" b="1" i="0" strike="noStrike" kern="1200" cap="none" spc="0" normalizeH="0" baseline="0" noProof="0" dirty="0">
              <a:ln>
                <a:noFill/>
              </a:ln>
              <a:solidFill>
                <a:schemeClr val="tx1"/>
              </a:solidFill>
              <a:effectLst/>
              <a:uLnTx/>
              <a:uFillTx/>
              <a:latin typeface="Times New Roman" panose="02020603050405020304" charset="0"/>
              <a:ea typeface="+mj-ea"/>
              <a:cs typeface="Times New Roman" panose="02020603050405020304" charset="0"/>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en-US" sz="1600" b="1" i="0" strike="noStrike" kern="1200" cap="none" spc="0" normalizeH="0" baseline="0" noProof="0" dirty="0">
              <a:ln>
                <a:noFill/>
              </a:ln>
              <a:solidFill>
                <a:schemeClr val="tx1"/>
              </a:solidFill>
              <a:effectLst/>
              <a:uLnTx/>
              <a:uFillTx/>
              <a:latin typeface="Times New Roman" panose="02020603050405020304" charset="0"/>
              <a:ea typeface="+mj-ea"/>
              <a:cs typeface="Times New Roman" panose="02020603050405020304" charset="0"/>
            </a:endParaRPr>
          </a:p>
          <a:p>
            <a:pPr marL="0" marR="0" lvl="0" indent="0" algn="just" defTabSz="914400" rtl="0" eaLnBrk="1" fontAlgn="auto" latinLnBrk="0" hangingPunct="1">
              <a:lnSpc>
                <a:spcPct val="100000"/>
              </a:lnSpc>
              <a:spcBef>
                <a:spcPct val="0"/>
              </a:spcBef>
              <a:spcAft>
                <a:spcPts val="0"/>
              </a:spcAft>
              <a:buClrTx/>
              <a:buSzTx/>
              <a:buFontTx/>
              <a:buNone/>
              <a:defRPr/>
            </a:pPr>
            <a:r>
              <a:rPr kumimoji="0" lang="en-US" altLang="en-US" i="0" strike="noStrike" kern="1200" cap="none" spc="0" normalizeH="0" baseline="0" noProof="0" dirty="0">
                <a:ln>
                  <a:noFill/>
                </a:ln>
                <a:solidFill>
                  <a:schemeClr val="tx1"/>
                </a:solidFill>
                <a:effectLst/>
                <a:uLnTx/>
                <a:uFillTx/>
                <a:latin typeface="Times New Roman" panose="02020603050405020304" charset="0"/>
                <a:ea typeface="+mj-ea"/>
                <a:cs typeface="Times New Roman" panose="02020603050405020304" charset="0"/>
              </a:rPr>
              <a:t>Soft Computing could be a computing model evolved to resolve the non-linear issues that involve unsure, imprecise and approximate solutions of a tangle. These sorts of issues square measure thought of as real-life issues wherever the human-like intelligence is needed to resolve it.</a:t>
            </a:r>
            <a:endParaRPr kumimoji="0" lang="en-US" altLang="en-US" i="0" strike="noStrike" kern="1200" cap="none" spc="0" normalizeH="0" baseline="0" noProof="0" dirty="0">
              <a:ln>
                <a:noFill/>
              </a:ln>
              <a:solidFill>
                <a:schemeClr val="tx1"/>
              </a:solidFill>
              <a:effectLst/>
              <a:uLnTx/>
              <a:uFillTx/>
              <a:latin typeface="Times New Roman" panose="02020603050405020304" charset="0"/>
              <a:ea typeface="+mj-ea"/>
              <a:cs typeface="Times New Roman" panose="02020603050405020304" charset="0"/>
            </a:endParaRPr>
          </a:p>
          <a:p>
            <a:pPr marL="0" marR="0" lvl="0" indent="0" algn="just" defTabSz="914400" rtl="0" eaLnBrk="1" fontAlgn="auto" latinLnBrk="0" hangingPunct="1">
              <a:lnSpc>
                <a:spcPct val="100000"/>
              </a:lnSpc>
              <a:spcBef>
                <a:spcPct val="0"/>
              </a:spcBef>
              <a:spcAft>
                <a:spcPts val="0"/>
              </a:spcAft>
              <a:buClrTx/>
              <a:buSzTx/>
              <a:buFontTx/>
              <a:buNone/>
              <a:defRPr/>
            </a:pPr>
            <a:endParaRPr kumimoji="0" lang="en-US" altLang="en-US" i="0" strike="noStrike" kern="1200" cap="none" spc="0" normalizeH="0" baseline="0" noProof="0" dirty="0">
              <a:ln>
                <a:noFill/>
              </a:ln>
              <a:solidFill>
                <a:schemeClr val="tx1"/>
              </a:solidFill>
              <a:effectLst/>
              <a:uLnTx/>
              <a:uFillTx/>
              <a:latin typeface="Times New Roman" panose="02020603050405020304" charset="0"/>
              <a:ea typeface="+mj-ea"/>
              <a:cs typeface="Times New Roman" panose="02020603050405020304" charset="0"/>
            </a:endParaRPr>
          </a:p>
          <a:p>
            <a:pPr marL="0" marR="0" lvl="0" indent="0" algn="just" defTabSz="914400" rtl="0" eaLnBrk="1" fontAlgn="auto" latinLnBrk="0" hangingPunct="1">
              <a:lnSpc>
                <a:spcPct val="100000"/>
              </a:lnSpc>
              <a:spcBef>
                <a:spcPct val="0"/>
              </a:spcBef>
              <a:spcAft>
                <a:spcPts val="0"/>
              </a:spcAft>
              <a:buClrTx/>
              <a:buSzTx/>
              <a:buFontTx/>
              <a:buNone/>
              <a:defRPr/>
            </a:pPr>
            <a:endParaRPr kumimoji="0" lang="en-US" altLang="en-US" i="0" strike="noStrike" kern="1200" cap="none" spc="0" normalizeH="0" baseline="0" noProof="0" dirty="0">
              <a:ln>
                <a:noFill/>
              </a:ln>
              <a:solidFill>
                <a:schemeClr val="tx1"/>
              </a:solidFill>
              <a:effectLst/>
              <a:uLnTx/>
              <a:uFillTx/>
              <a:latin typeface="Times New Roman" panose="02020603050405020304" charset="0"/>
              <a:ea typeface="+mj-ea"/>
              <a:cs typeface="Times New Roman" panose="02020603050405020304" charset="0"/>
            </a:endParaRPr>
          </a:p>
          <a:p>
            <a:pPr marL="0" marR="0" lvl="0" indent="0" algn="just" defTabSz="914400" rtl="0" eaLnBrk="1" fontAlgn="auto" latinLnBrk="0" hangingPunct="1">
              <a:lnSpc>
                <a:spcPct val="100000"/>
              </a:lnSpc>
              <a:spcBef>
                <a:spcPct val="0"/>
              </a:spcBef>
              <a:spcAft>
                <a:spcPts val="0"/>
              </a:spcAft>
              <a:buClrTx/>
              <a:buSzTx/>
              <a:buFontTx/>
              <a:buNone/>
              <a:defRPr/>
            </a:pPr>
            <a:endParaRPr kumimoji="0" lang="en-US" altLang="en-US" i="0" strike="noStrike" kern="1200" cap="none" spc="0" normalizeH="0" baseline="0" noProof="0" dirty="0">
              <a:ln>
                <a:noFill/>
              </a:ln>
              <a:solidFill>
                <a:schemeClr val="tx1"/>
              </a:solidFill>
              <a:effectLst/>
              <a:uLnTx/>
              <a:uFillTx/>
              <a:latin typeface="Times New Roman" panose="02020603050405020304" charset="0"/>
              <a:ea typeface="+mj-ea"/>
              <a:cs typeface="Times New Roman" panose="02020603050405020304" charset="0"/>
            </a:endParaRPr>
          </a:p>
        </p:txBody>
      </p:sp>
      <p:pic>
        <p:nvPicPr>
          <p:cNvPr id="2" name="Picture 1"/>
          <p:cNvPicPr/>
          <p:nvPr/>
        </p:nvPicPr>
        <p:blipFill>
          <a:blip r:embed="rId1"/>
          <a:stretch>
            <a:fillRect/>
          </a:stretch>
        </p:blipFill>
        <p:spPr>
          <a:xfrm>
            <a:off x="938530" y="2362200"/>
            <a:ext cx="6886575" cy="2339975"/>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410210"/>
          </a:xfrm>
          <a:prstGeom prst="rect">
            <a:avLst/>
          </a:prstGeom>
        </p:spPr>
        <p:txBody>
          <a:bodyPr vert="horz" lIns="91440" tIns="45720" rIns="91440" bIns="45720" rtlCol="0" anchor="ctr">
            <a:normAutofit fontScale="90000" lnSpcReduction="10000"/>
          </a:bodyPr>
          <a:lstStyle/>
          <a:p>
            <a:pPr marL="0" marR="0" lvl="0" indent="0" defTabSz="914400" rtl="0" eaLnBrk="1" fontAlgn="auto" latinLnBrk="0" hangingPunct="1">
              <a:lnSpc>
                <a:spcPct val="100000"/>
              </a:lnSpc>
              <a:spcBef>
                <a:spcPct val="0"/>
              </a:spcBef>
              <a:spcAft>
                <a:spcPts val="0"/>
              </a:spcAft>
              <a:buClrTx/>
              <a:buSzTx/>
              <a:buFontTx/>
              <a:buNone/>
              <a:defRPr/>
            </a:pPr>
            <a:r>
              <a:rPr lang="en-US" altLang="en-US" sz="2400" b="1"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sym typeface="+mn-ea"/>
              </a:rPr>
              <a:t>Difference between AI and Soft Computing</a:t>
            </a:r>
            <a:endPar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graphicFrame>
        <p:nvGraphicFramePr>
          <p:cNvPr id="2" name="Table 1"/>
          <p:cNvGraphicFramePr/>
          <p:nvPr>
            <p:custDataLst>
              <p:tags r:id="rId1"/>
            </p:custDataLst>
          </p:nvPr>
        </p:nvGraphicFramePr>
        <p:xfrm>
          <a:off x="304800" y="1276350"/>
          <a:ext cx="8522335" cy="3575685"/>
        </p:xfrm>
        <a:graphic>
          <a:graphicData uri="http://schemas.openxmlformats.org/drawingml/2006/table">
            <a:tbl>
              <a:tblPr/>
              <a:tblGrid>
                <a:gridCol w="1012825"/>
                <a:gridCol w="3740150"/>
                <a:gridCol w="3769360"/>
              </a:tblGrid>
              <a:tr h="374015">
                <a:tc>
                  <a:txBody>
                    <a:bodyPr/>
                    <a:p>
                      <a:pPr marL="0" indent="0" algn="ctr" fontAlgn="base">
                        <a:spcBef>
                          <a:spcPct val="0"/>
                        </a:spcBef>
                        <a:spcAft>
                          <a:spcPct val="0"/>
                        </a:spcAft>
                      </a:pPr>
                      <a:r>
                        <a:rPr sz="1400" b="1" i="0">
                          <a:solidFill>
                            <a:srgbClr val="273239"/>
                          </a:solidFill>
                          <a:latin typeface="Times New Roman" panose="02020603050405020304" charset="0"/>
                          <a:ea typeface="Nunito"/>
                          <a:cs typeface="Times New Roman" panose="02020603050405020304" charset="0"/>
                        </a:rPr>
                        <a:t>S.NO.</a:t>
                      </a:r>
                      <a:endParaRPr sz="1400" b="1" i="0">
                        <a:solidFill>
                          <a:srgbClr val="273239"/>
                        </a:solidFill>
                        <a:latin typeface="Times New Roman" panose="02020603050405020304" charset="0"/>
                        <a:ea typeface="Nunito"/>
                        <a:cs typeface="Times New Roman" panose="02020603050405020304" charset="0"/>
                      </a:endParaRPr>
                    </a:p>
                  </a:txBody>
                  <a:tcPr marL="38100" marR="38100" marT="76517" marB="76517">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solidFill>
                      <a:srgbClr val="F9F9F9"/>
                    </a:solidFill>
                  </a:tcPr>
                </a:tc>
                <a:tc>
                  <a:txBody>
                    <a:bodyPr/>
                    <a:p>
                      <a:pPr marL="0" indent="0" algn="ctr" fontAlgn="base">
                        <a:spcBef>
                          <a:spcPct val="0"/>
                        </a:spcBef>
                        <a:spcAft>
                          <a:spcPct val="0"/>
                        </a:spcAft>
                      </a:pPr>
                      <a:r>
                        <a:rPr sz="1400" b="1" i="0">
                          <a:solidFill>
                            <a:srgbClr val="273239"/>
                          </a:solidFill>
                          <a:latin typeface="Times New Roman" panose="02020603050405020304" charset="0"/>
                          <a:ea typeface="Nunito"/>
                          <a:cs typeface="Times New Roman" panose="02020603050405020304" charset="0"/>
                        </a:rPr>
                        <a:t>A.I.</a:t>
                      </a:r>
                      <a:endParaRPr sz="1400" b="1" i="0">
                        <a:solidFill>
                          <a:srgbClr val="273239"/>
                        </a:solidFill>
                        <a:latin typeface="Times New Roman" panose="02020603050405020304" charset="0"/>
                        <a:ea typeface="Nunito"/>
                        <a:cs typeface="Times New Roman" panose="02020603050405020304" charset="0"/>
                      </a:endParaRPr>
                    </a:p>
                  </a:txBody>
                  <a:tcPr marL="76517" marR="76517" marT="76517" marB="76517">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solidFill>
                      <a:srgbClr val="F9F9F9"/>
                    </a:solidFill>
                  </a:tcPr>
                </a:tc>
                <a:tc>
                  <a:txBody>
                    <a:bodyPr/>
                    <a:p>
                      <a:pPr marL="0" indent="0" algn="ctr" fontAlgn="base">
                        <a:spcBef>
                          <a:spcPct val="0"/>
                        </a:spcBef>
                        <a:spcAft>
                          <a:spcPct val="0"/>
                        </a:spcAft>
                      </a:pPr>
                      <a:r>
                        <a:rPr sz="1400" b="1" i="0">
                          <a:solidFill>
                            <a:srgbClr val="273239"/>
                          </a:solidFill>
                          <a:latin typeface="Times New Roman" panose="02020603050405020304" charset="0"/>
                          <a:ea typeface="Nunito"/>
                          <a:cs typeface="Times New Roman" panose="02020603050405020304" charset="0"/>
                        </a:rPr>
                        <a:t>SOFT COMPUTING</a:t>
                      </a:r>
                      <a:endParaRPr sz="1400" b="1" i="0">
                        <a:solidFill>
                          <a:srgbClr val="273239"/>
                        </a:solidFill>
                        <a:latin typeface="Times New Roman" panose="02020603050405020304" charset="0"/>
                        <a:ea typeface="Nunito"/>
                        <a:cs typeface="Times New Roman" panose="02020603050405020304" charset="0"/>
                      </a:endParaRPr>
                    </a:p>
                  </a:txBody>
                  <a:tcPr marL="76517" marR="76517" marT="76517" marB="76517">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solidFill>
                      <a:srgbClr val="F9F9F9"/>
                    </a:solidFill>
                  </a:tcPr>
                </a:tc>
              </a:tr>
              <a:tr h="836295">
                <a:tc>
                  <a:txBody>
                    <a:bodyPr/>
                    <a:p>
                      <a:pPr marL="0" indent="0" algn="ctr" fontAlgn="ctr">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1</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Artificial Intelligence is the art and science of developing intelligent machines.</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Soft Computing aims to exploit tolerance for uncertainty, imprecision, and partial truth.</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1031875">
                <a:tc>
                  <a:txBody>
                    <a:bodyPr/>
                    <a:p>
                      <a:pPr marL="0" indent="0" algn="ctr" fontAlgn="ctr">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2</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AI plays a fundamental role in finding missing pieces between the interesting real world problems.</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Soft Computing comprises techniques which are inspired by human reasoning and have the potential in handling imprecision, uncertainty and partial truth.</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445135">
                <a:tc>
                  <a:txBody>
                    <a:bodyPr/>
                    <a:p>
                      <a:pPr marL="0" indent="0" algn="ctr" fontAlgn="ctr">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3</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Branches of AI :</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Branches of soft computing :</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836295">
                <a:tc>
                  <a:txBody>
                    <a:bodyPr/>
                    <a:p>
                      <a:pPr marL="0" indent="0" algn="ctr" fontAlgn="ctr">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4</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AI has countless applications in healthcare and widely used in analyzing complicated medical data.</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400" b="0" i="0">
                          <a:solidFill>
                            <a:srgbClr val="273239"/>
                          </a:solidFill>
                          <a:latin typeface="Times New Roman" panose="02020603050405020304" charset="0"/>
                          <a:ea typeface="Nunito"/>
                          <a:cs typeface="Times New Roman" panose="02020603050405020304" charset="0"/>
                        </a:rPr>
                        <a:t>They are used in science and engineering disciplines such as data mining, electronics, automotive, etc.</a:t>
                      </a:r>
                      <a:endParaRPr sz="14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bl>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lang="en-US" altLang="en-US" sz="2400" b="1"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sym typeface="+mn-ea"/>
              </a:rPr>
              <a:t>Difference between AI and Soft Computing</a:t>
            </a:r>
            <a:endPar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graphicFrame>
        <p:nvGraphicFramePr>
          <p:cNvPr id="2" name="Table 1"/>
          <p:cNvGraphicFramePr/>
          <p:nvPr/>
        </p:nvGraphicFramePr>
        <p:xfrm>
          <a:off x="359092" y="1276572"/>
          <a:ext cx="8343900" cy="3394710"/>
        </p:xfrm>
        <a:graphic>
          <a:graphicData uri="http://schemas.openxmlformats.org/drawingml/2006/table">
            <a:tbl>
              <a:tblPr/>
              <a:tblGrid>
                <a:gridCol w="977900"/>
                <a:gridCol w="3733800"/>
                <a:gridCol w="3632200"/>
              </a:tblGrid>
              <a:tr h="595630">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5</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Goal is to stimulate human-level intelligence in machines.</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It aims at accommodation with the pervasive imprecision of the real world.</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594995">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6</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They require programs to be written.</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They not require all programs to be written, they can evolve its own programs.</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455930">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7</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They require exact input sample.</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They can deal with ambiguous and noisy data.</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595630">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8</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Artificial Intelligence mainly deals with making the machines intelligent.</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Soft computing mainly deals with the imprecision and probabilities.</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1152525">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9  </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AI is also used to solve problems that is at the human level like pattern identification, problem resolution, plan execution, automating analytical jobs, detecting efficiencies and performance enhancement.</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200" b="0" i="0">
                          <a:solidFill>
                            <a:srgbClr val="273239"/>
                          </a:solidFill>
                          <a:latin typeface="Times New Roman" panose="02020603050405020304" charset="0"/>
                          <a:ea typeface="Nunito"/>
                          <a:cs typeface="Times New Roman" panose="02020603050405020304" charset="0"/>
                        </a:rPr>
                        <a:t>Soft computing solves the complicated real-world situations to bring better solutions that some researchers cannot quantitatively describe.</a:t>
                      </a:r>
                      <a:endParaRPr sz="12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bl>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Need for Soft Computing</a:t>
            </a:r>
            <a:endPar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2" name="Text Box 1"/>
          <p:cNvSpPr txBox="1"/>
          <p:nvPr/>
        </p:nvSpPr>
        <p:spPr>
          <a:xfrm>
            <a:off x="304800" y="1352550"/>
            <a:ext cx="8571865" cy="1076325"/>
          </a:xfrm>
          <a:prstGeom prst="rect">
            <a:avLst/>
          </a:prstGeom>
        </p:spPr>
        <p:txBody>
          <a:bodyPr wrap="square">
            <a:spAutoFit/>
          </a:bodyPr>
          <a:p>
            <a:pPr marL="0" indent="0" algn="just"/>
            <a:r>
              <a:rPr sz="1600" b="0" i="0">
                <a:solidFill>
                  <a:srgbClr val="273239"/>
                </a:solidFill>
                <a:latin typeface="Times New Roman" panose="02020603050405020304" charset="0"/>
                <a:ea typeface="Nunito"/>
                <a:cs typeface="Times New Roman" panose="02020603050405020304" charset="0"/>
              </a:rPr>
              <a:t>The need for soft computing arises from the limitations of traditional, classical computing methods in solving real-world problems. Soft computing is a branch of artificial intelligence that provides approximate solutions to complex problems that are difficult or impossible to solve using classical methods.</a:t>
            </a:r>
            <a:endParaRPr sz="1600" b="0"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386715" y="2571750"/>
            <a:ext cx="8521065" cy="337185"/>
          </a:xfrm>
          <a:prstGeom prst="rect">
            <a:avLst/>
          </a:prstGeom>
        </p:spPr>
        <p:txBody>
          <a:bodyPr wrap="square">
            <a:spAutoFit/>
          </a:bodyPr>
          <a:p>
            <a:pPr marL="0" indent="0" algn="l" fontAlgn="base">
              <a:spcBef>
                <a:spcPts val="1400"/>
              </a:spcBef>
              <a:spcAft>
                <a:spcPts val="1400"/>
              </a:spcAft>
            </a:pPr>
            <a:r>
              <a:rPr sz="1600" b="1" i="0">
                <a:solidFill>
                  <a:srgbClr val="273239"/>
                </a:solidFill>
                <a:latin typeface="Times New Roman" panose="02020603050405020304" charset="0"/>
                <a:ea typeface="Nunito"/>
                <a:cs typeface="Times New Roman" panose="02020603050405020304" charset="0"/>
              </a:rPr>
              <a:t>The following are some of the reasons why soft computing is needed:</a:t>
            </a:r>
            <a:endParaRPr sz="1600" b="1" i="0">
              <a:solidFill>
                <a:srgbClr val="273239"/>
              </a:solidFill>
              <a:latin typeface="Times New Roman" panose="02020603050405020304" charset="0"/>
              <a:ea typeface="Nunito"/>
              <a:cs typeface="Times New Roman" panose="02020603050405020304" charset="0"/>
            </a:endParaRPr>
          </a:p>
        </p:txBody>
      </p:sp>
      <p:sp>
        <p:nvSpPr>
          <p:cNvPr id="4" name="Text Box 3"/>
          <p:cNvSpPr txBox="1"/>
          <p:nvPr/>
        </p:nvSpPr>
        <p:spPr>
          <a:xfrm>
            <a:off x="386715" y="3232785"/>
            <a:ext cx="8381365" cy="829945"/>
          </a:xfrm>
          <a:prstGeom prst="rect">
            <a:avLst/>
          </a:prstGeom>
        </p:spPr>
        <p:txBody>
          <a:bodyPr wrap="square">
            <a:spAutoFit/>
          </a:bodyPr>
          <a:p>
            <a:pPr marL="182880" indent="0" algn="just" fontAlgn="base">
              <a:spcBef>
                <a:spcPct val="0"/>
              </a:spcBef>
              <a:spcAft>
                <a:spcPct val="0"/>
              </a:spcAft>
              <a:buNone/>
            </a:pPr>
            <a:r>
              <a:rPr lang="en-GB" sz="1600" b="0" i="0">
                <a:solidFill>
                  <a:srgbClr val="273239"/>
                </a:solidFill>
                <a:latin typeface="Times New Roman" panose="02020603050405020304" charset="0"/>
                <a:ea typeface="Nunito"/>
                <a:cs typeface="Times New Roman" panose="02020603050405020304" charset="0"/>
              </a:rPr>
              <a:t>1. </a:t>
            </a:r>
            <a:r>
              <a:rPr sz="1600" b="0" i="0">
                <a:solidFill>
                  <a:srgbClr val="273239"/>
                </a:solidFill>
                <a:latin typeface="Times New Roman" panose="02020603050405020304" charset="0"/>
                <a:ea typeface="Nunito"/>
                <a:cs typeface="Times New Roman" panose="02020603050405020304" charset="0"/>
              </a:rPr>
              <a:t>Complexity of real-world problems: Many real-world problems are complex and involve uncertainty, vagueness, and imprecision. Traditional computing methods are not well-suited to handle these complexities.</a:t>
            </a:r>
            <a:endParaRPr sz="16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lang="en-US" altLang="en-US" sz="2400" b="1"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sym typeface="+mn-ea"/>
              </a:rPr>
              <a:t>Need for Soft Computing</a:t>
            </a:r>
            <a:endPar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2" name="Text Box 1"/>
          <p:cNvSpPr txBox="1"/>
          <p:nvPr/>
        </p:nvSpPr>
        <p:spPr>
          <a:xfrm>
            <a:off x="304800" y="1352550"/>
            <a:ext cx="8557895" cy="337185"/>
          </a:xfrm>
          <a:prstGeom prst="rect">
            <a:avLst/>
          </a:prstGeom>
        </p:spPr>
        <p:txBody>
          <a:bodyPr wrap="square">
            <a:spAutoFit/>
          </a:bodyPr>
          <a:p>
            <a:pPr marL="0" indent="0" algn="l" fontAlgn="base">
              <a:spcBef>
                <a:spcPts val="1400"/>
              </a:spcBef>
              <a:spcAft>
                <a:spcPts val="1400"/>
              </a:spcAft>
            </a:pPr>
            <a:r>
              <a:rPr sz="1600" b="1" i="0">
                <a:solidFill>
                  <a:srgbClr val="273239"/>
                </a:solidFill>
                <a:latin typeface="Times New Roman" panose="02020603050405020304" charset="0"/>
                <a:ea typeface="Nunito"/>
                <a:cs typeface="Times New Roman" panose="02020603050405020304" charset="0"/>
              </a:rPr>
              <a:t>The following are some of the reasons why soft computing is needed:</a:t>
            </a:r>
            <a:endParaRPr sz="16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381000" y="1855470"/>
            <a:ext cx="8582025" cy="2799715"/>
          </a:xfrm>
          <a:prstGeom prst="rect">
            <a:avLst/>
          </a:prstGeom>
        </p:spPr>
        <p:txBody>
          <a:bodyPr wrap="square">
            <a:spAutoFit/>
          </a:bodyPr>
          <a:p>
            <a:pPr marL="182880" indent="0" algn="just" fontAlgn="base">
              <a:spcBef>
                <a:spcPct val="0"/>
              </a:spcBef>
              <a:spcAft>
                <a:spcPct val="0"/>
              </a:spcAft>
              <a:buNone/>
            </a:pPr>
            <a:r>
              <a:rPr lang="en-GB" sz="1600" b="0" i="0">
                <a:solidFill>
                  <a:srgbClr val="273239"/>
                </a:solidFill>
                <a:latin typeface="Times New Roman" panose="02020603050405020304" charset="0"/>
                <a:ea typeface="Nunito"/>
                <a:cs typeface="Times New Roman" panose="02020603050405020304" charset="0"/>
              </a:rPr>
              <a:t>2. </a:t>
            </a:r>
            <a:r>
              <a:rPr sz="1600" b="0" i="0">
                <a:solidFill>
                  <a:srgbClr val="273239"/>
                </a:solidFill>
                <a:latin typeface="Times New Roman" panose="02020603050405020304" charset="0"/>
                <a:ea typeface="Nunito"/>
                <a:cs typeface="Times New Roman" panose="02020603050405020304" charset="0"/>
              </a:rPr>
              <a:t>Incomplete information: In many cases, there is a lack of complete and accurate information available to solve a problem. Soft computing techniques can provide approximate solutions even in the absence of complete information.</a:t>
            </a:r>
            <a:endParaRPr sz="1600" b="0" i="0">
              <a:solidFill>
                <a:srgbClr val="273239"/>
              </a:solidFill>
              <a:latin typeface="Times New Roman" panose="02020603050405020304" charset="0"/>
              <a:ea typeface="Nunito"/>
              <a:cs typeface="Times New Roman" panose="02020603050405020304" charset="0"/>
            </a:endParaRPr>
          </a:p>
          <a:p>
            <a:pPr marL="182880" indent="0" algn="just" fontAlgn="base">
              <a:spcBef>
                <a:spcPct val="0"/>
              </a:spcBef>
              <a:spcAft>
                <a:spcPct val="0"/>
              </a:spcAft>
              <a:buNone/>
            </a:pPr>
            <a:endParaRPr sz="1600" b="0" i="0">
              <a:solidFill>
                <a:srgbClr val="273239"/>
              </a:solidFill>
              <a:latin typeface="Times New Roman" panose="02020603050405020304" charset="0"/>
              <a:ea typeface="Nunito"/>
              <a:cs typeface="Times New Roman" panose="02020603050405020304" charset="0"/>
            </a:endParaRPr>
          </a:p>
          <a:p>
            <a:pPr marL="182880" indent="0" algn="just" fontAlgn="base">
              <a:spcBef>
                <a:spcPct val="0"/>
              </a:spcBef>
              <a:spcAft>
                <a:spcPct val="0"/>
              </a:spcAft>
              <a:buNone/>
            </a:pPr>
            <a:r>
              <a:rPr lang="en-GB" sz="1600" b="0" i="0">
                <a:solidFill>
                  <a:srgbClr val="273239"/>
                </a:solidFill>
                <a:latin typeface="Times New Roman" panose="02020603050405020304" charset="0"/>
                <a:ea typeface="Nunito"/>
                <a:cs typeface="Times New Roman" panose="02020603050405020304" charset="0"/>
              </a:rPr>
              <a:t>3. </a:t>
            </a:r>
            <a:r>
              <a:rPr sz="1600" b="0" i="0">
                <a:solidFill>
                  <a:srgbClr val="273239"/>
                </a:solidFill>
                <a:latin typeface="Times New Roman" panose="02020603050405020304" charset="0"/>
                <a:ea typeface="Nunito"/>
                <a:cs typeface="Times New Roman" panose="02020603050405020304" charset="0"/>
              </a:rPr>
              <a:t>Noise and uncertainty: Real-world data is often noisy and uncertain, and classical methods can produce incorrect results when dealing with such data. Soft computing techniques are designed to handle uncertainty and imprecision</a:t>
            </a:r>
            <a:r>
              <a:rPr sz="1600" b="0" i="0">
                <a:solidFill>
                  <a:srgbClr val="273239"/>
                </a:solidFill>
                <a:latin typeface="Nunito"/>
                <a:ea typeface="Nunito"/>
              </a:rPr>
              <a:t>.</a:t>
            </a:r>
            <a:endParaRPr sz="1600" b="0" i="0">
              <a:solidFill>
                <a:srgbClr val="273239"/>
              </a:solidFill>
              <a:latin typeface="Nunito"/>
              <a:ea typeface="Nunito"/>
            </a:endParaRPr>
          </a:p>
          <a:p>
            <a:pPr marL="182880" indent="0" algn="just" fontAlgn="base">
              <a:spcBef>
                <a:spcPct val="0"/>
              </a:spcBef>
              <a:spcAft>
                <a:spcPct val="0"/>
              </a:spcAft>
              <a:buNone/>
            </a:pPr>
            <a:endParaRPr sz="1600" b="0" i="0">
              <a:solidFill>
                <a:srgbClr val="273239"/>
              </a:solidFill>
              <a:latin typeface="Nunito"/>
              <a:ea typeface="Nunito"/>
            </a:endParaRPr>
          </a:p>
          <a:p>
            <a:pPr marL="182880" indent="0" algn="just" fontAlgn="base">
              <a:spcBef>
                <a:spcPct val="0"/>
              </a:spcBef>
              <a:spcAft>
                <a:spcPct val="0"/>
              </a:spcAft>
              <a:buNone/>
            </a:pPr>
            <a:r>
              <a:rPr lang="en-GB" sz="1600" b="0" i="0">
                <a:solidFill>
                  <a:srgbClr val="273239"/>
                </a:solidFill>
                <a:latin typeface="Times New Roman" panose="02020603050405020304" charset="0"/>
                <a:ea typeface="Nunito"/>
                <a:cs typeface="Times New Roman" panose="02020603050405020304" charset="0"/>
              </a:rPr>
              <a:t>4. </a:t>
            </a:r>
            <a:r>
              <a:rPr lang="en-US" altLang="en-US" sz="1600" b="0" i="0">
                <a:solidFill>
                  <a:srgbClr val="273239"/>
                </a:solidFill>
                <a:latin typeface="Times New Roman" panose="02020603050405020304" charset="0"/>
                <a:ea typeface="Nunito"/>
                <a:cs typeface="Times New Roman" panose="02020603050405020304" charset="0"/>
              </a:rPr>
              <a:t>Non-linear problems: Many real-world problems are non-linear, and classical methods are not well-suited to solve them. Soft computing techniques such as fuzzy logic and neural networks can handle non-linear problems effectively.</a:t>
            </a:r>
            <a:endParaRPr lang="en-US" altLang="en-US" sz="16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81915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lang="en-US" altLang="en-US" sz="2400" b="1"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sym typeface="+mn-ea"/>
              </a:rPr>
              <a:t>Need for Soft Computing</a:t>
            </a:r>
            <a:endPar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en-GB"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2" name="Text Box 1"/>
          <p:cNvSpPr txBox="1"/>
          <p:nvPr/>
        </p:nvSpPr>
        <p:spPr>
          <a:xfrm>
            <a:off x="304800" y="1885950"/>
            <a:ext cx="8459470" cy="583565"/>
          </a:xfrm>
          <a:prstGeom prst="rect">
            <a:avLst/>
          </a:prstGeom>
        </p:spPr>
        <p:txBody>
          <a:bodyPr wrap="square">
            <a:spAutoFit/>
          </a:bodyPr>
          <a:p>
            <a:pPr marL="182880" indent="0" algn="just" fontAlgn="base">
              <a:spcBef>
                <a:spcPct val="0"/>
              </a:spcBef>
              <a:spcAft>
                <a:spcPct val="0"/>
              </a:spcAft>
              <a:buNone/>
            </a:pPr>
            <a:r>
              <a:rPr lang="en-GB" sz="1600" b="0" i="0">
                <a:solidFill>
                  <a:srgbClr val="273239"/>
                </a:solidFill>
                <a:latin typeface="Times New Roman" panose="02020603050405020304" charset="0"/>
                <a:ea typeface="Nunito"/>
                <a:cs typeface="Times New Roman" panose="02020603050405020304" charset="0"/>
              </a:rPr>
              <a:t>5. </a:t>
            </a:r>
            <a:r>
              <a:rPr sz="1600" b="0" i="0">
                <a:solidFill>
                  <a:srgbClr val="273239"/>
                </a:solidFill>
                <a:latin typeface="Times New Roman" panose="02020603050405020304" charset="0"/>
                <a:ea typeface="Nunito"/>
                <a:cs typeface="Times New Roman" panose="02020603050405020304" charset="0"/>
              </a:rPr>
              <a:t>Human-like reasoning: Soft computing techniques are designed to mimic human-like reasoning, which is often more effective in solving complex problems.</a:t>
            </a:r>
            <a:endParaRPr sz="1600" b="0"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304800" y="1276350"/>
            <a:ext cx="8691880" cy="337185"/>
          </a:xfrm>
          <a:prstGeom prst="rect">
            <a:avLst/>
          </a:prstGeom>
          <a:noFill/>
        </p:spPr>
        <p:txBody>
          <a:bodyPr wrap="square" rtlCol="0" anchor="t">
            <a:spAutoFit/>
          </a:bodyPr>
          <a:p>
            <a:pPr marL="0" indent="0" algn="l" fontAlgn="base">
              <a:spcBef>
                <a:spcPts val="1400"/>
              </a:spcBef>
              <a:spcAft>
                <a:spcPts val="1400"/>
              </a:spcAft>
            </a:pPr>
            <a:r>
              <a:rPr sz="1600" b="1">
                <a:solidFill>
                  <a:srgbClr val="273239"/>
                </a:solidFill>
                <a:latin typeface="Times New Roman" panose="02020603050405020304" charset="0"/>
                <a:ea typeface="Nunito"/>
                <a:cs typeface="Times New Roman" panose="02020603050405020304" charset="0"/>
                <a:sym typeface="+mn-ea"/>
              </a:rPr>
              <a:t>The following are some of the reasons why soft computing is needed:</a:t>
            </a:r>
            <a:endParaRPr lang="en-US" sz="1600" b="1">
              <a:solidFill>
                <a:srgbClr val="273239"/>
              </a:solidFill>
              <a:latin typeface="Times New Roman" panose="02020603050405020304" charset="0"/>
              <a:ea typeface="Nunito"/>
              <a:cs typeface="Times New Roman" panose="02020603050405020304" charset="0"/>
              <a:sym typeface="+mn-ea"/>
            </a:endParaRPr>
          </a:p>
        </p:txBody>
      </p:sp>
      <p:sp>
        <p:nvSpPr>
          <p:cNvPr id="4" name="Text Box 3"/>
          <p:cNvSpPr txBox="1"/>
          <p:nvPr/>
        </p:nvSpPr>
        <p:spPr>
          <a:xfrm>
            <a:off x="533400" y="3105150"/>
            <a:ext cx="8298180" cy="583565"/>
          </a:xfrm>
          <a:prstGeom prst="rect">
            <a:avLst/>
          </a:prstGeom>
        </p:spPr>
        <p:txBody>
          <a:bodyPr wrap="square">
            <a:spAutoFit/>
          </a:bodyPr>
          <a:p>
            <a:pPr marL="0" indent="0" algn="just"/>
            <a:r>
              <a:rPr sz="1600" b="0" i="0">
                <a:solidFill>
                  <a:srgbClr val="273239"/>
                </a:solidFill>
                <a:latin typeface="Times New Roman" panose="02020603050405020304" charset="0"/>
                <a:ea typeface="Nunito"/>
                <a:cs typeface="Times New Roman" panose="02020603050405020304" charset="0"/>
              </a:rPr>
              <a:t>Overall, soft computing provides an effective and efficient way to solve complex real-world problems that are difficult or impossible to solve using classical computing methods.</a:t>
            </a:r>
            <a:endParaRPr sz="16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Concept of computing : </a:t>
            </a:r>
            <a:endPar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2" name="Text Box 1"/>
          <p:cNvSpPr txBox="1"/>
          <p:nvPr/>
        </p:nvSpPr>
        <p:spPr>
          <a:xfrm>
            <a:off x="286385" y="1276350"/>
            <a:ext cx="8564245" cy="829945"/>
          </a:xfrm>
          <a:prstGeom prst="rect">
            <a:avLst/>
          </a:prstGeom>
        </p:spPr>
        <p:txBody>
          <a:bodyPr wrap="square">
            <a:spAutoFit/>
          </a:bodyPr>
          <a:p>
            <a:pPr marL="0" indent="0" algn="just"/>
            <a:r>
              <a:rPr sz="1600" b="0" i="0">
                <a:solidFill>
                  <a:srgbClr val="273239"/>
                </a:solidFill>
                <a:latin typeface="Times New Roman" panose="02020603050405020304" charset="0"/>
                <a:ea typeface="Nunito"/>
                <a:cs typeface="Times New Roman" panose="02020603050405020304" charset="0"/>
              </a:rPr>
              <a:t>According to the concept of computing, the input is called an antecedent and the output is called the consequent. For example, Adding information in DataBase, Compute the sum of two numbers using a C program, etc.​ </a:t>
            </a:r>
            <a:endParaRPr sz="1600" b="0"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286385" y="2419350"/>
            <a:ext cx="8627110" cy="337185"/>
          </a:xfrm>
          <a:prstGeom prst="rect">
            <a:avLst/>
          </a:prstGeom>
        </p:spPr>
        <p:txBody>
          <a:bodyPr wrap="square">
            <a:spAutoFit/>
          </a:bodyPr>
          <a:p>
            <a:pPr marL="0" indent="0" algn="l"/>
            <a:r>
              <a:rPr sz="1600" b="1" i="0">
                <a:solidFill>
                  <a:srgbClr val="273239"/>
                </a:solidFill>
                <a:latin typeface="Times New Roman" panose="02020603050405020304" charset="0"/>
                <a:ea typeface="Nunito"/>
                <a:cs typeface="Times New Roman" panose="02020603050405020304" charset="0"/>
              </a:rPr>
              <a:t>There are two types of computing as following : </a:t>
            </a:r>
            <a:endParaRPr sz="1600" b="1" i="0">
              <a:solidFill>
                <a:srgbClr val="273239"/>
              </a:solidFill>
              <a:latin typeface="Times New Roman" panose="02020603050405020304" charset="0"/>
              <a:ea typeface="Nunito"/>
              <a:cs typeface="Times New Roman" panose="02020603050405020304" charset="0"/>
            </a:endParaRPr>
          </a:p>
        </p:txBody>
      </p:sp>
      <p:sp>
        <p:nvSpPr>
          <p:cNvPr id="4" name="Text Box 3"/>
          <p:cNvSpPr txBox="1"/>
          <p:nvPr/>
        </p:nvSpPr>
        <p:spPr>
          <a:xfrm>
            <a:off x="304800" y="3257867"/>
            <a:ext cx="5080000" cy="1014730"/>
          </a:xfrm>
          <a:prstGeom prst="rect">
            <a:avLst/>
          </a:prstGeom>
        </p:spPr>
        <p:txBody>
          <a:bodyPr>
            <a:spAutoFit/>
          </a:bodyPr>
          <a:p>
            <a:pPr marL="342900" indent="-342900" algn="l" fontAlgn="base">
              <a:spcBef>
                <a:spcPct val="0"/>
              </a:spcBef>
              <a:spcAft>
                <a:spcPct val="0"/>
              </a:spcAft>
              <a:buFont typeface="Wingdings" panose="05000000000000000000" charset="0"/>
              <a:buChar char="Ø"/>
            </a:pPr>
            <a:r>
              <a:rPr sz="2000" b="0" i="0">
                <a:solidFill>
                  <a:schemeClr val="tx1"/>
                </a:solidFill>
                <a:latin typeface="Times New Roman" panose="02020603050405020304" charset="0"/>
                <a:ea typeface="Nunito"/>
                <a:cs typeface="Times New Roman" panose="02020603050405020304" charset="0"/>
              </a:rPr>
              <a:t>Hard computing </a:t>
            </a:r>
            <a:endParaRPr sz="2000" b="0" i="0">
              <a:solidFill>
                <a:schemeClr val="tx1"/>
              </a:solidFill>
              <a:latin typeface="Times New Roman" panose="02020603050405020304" charset="0"/>
              <a:ea typeface="Nunito"/>
              <a:cs typeface="Times New Roman" panose="02020603050405020304" charset="0"/>
            </a:endParaRPr>
          </a:p>
          <a:p>
            <a:pPr marL="182880" indent="0" algn="l" fontAlgn="base">
              <a:spcBef>
                <a:spcPct val="0"/>
              </a:spcBef>
              <a:spcAft>
                <a:spcPct val="0"/>
              </a:spcAft>
            </a:pPr>
            <a:r>
              <a:rPr sz="2000" b="0" i="0">
                <a:solidFill>
                  <a:schemeClr val="tx1"/>
                </a:solidFill>
                <a:latin typeface="Times New Roman" panose="02020603050405020304" charset="0"/>
                <a:ea typeface="Nunito"/>
                <a:cs typeface="Times New Roman" panose="02020603050405020304" charset="0"/>
              </a:rPr>
              <a:t> </a:t>
            </a:r>
            <a:endParaRPr sz="2000" b="0" i="0">
              <a:solidFill>
                <a:schemeClr val="tx1"/>
              </a:solidFill>
              <a:latin typeface="Times New Roman" panose="02020603050405020304" charset="0"/>
              <a:ea typeface="Nunito"/>
              <a:cs typeface="Times New Roman" panose="02020603050405020304" charset="0"/>
            </a:endParaRPr>
          </a:p>
          <a:p>
            <a:pPr marL="342900" indent="-342900" algn="l" fontAlgn="base">
              <a:spcBef>
                <a:spcPct val="0"/>
              </a:spcBef>
              <a:spcAft>
                <a:spcPct val="0"/>
              </a:spcAft>
              <a:buFont typeface="Wingdings" panose="05000000000000000000" charset="0"/>
              <a:buChar char="Ø"/>
            </a:pPr>
            <a:r>
              <a:rPr lang="en-GB" sz="2000" b="0" i="0">
                <a:solidFill>
                  <a:schemeClr val="tx1"/>
                </a:solidFill>
                <a:latin typeface="Times New Roman" panose="02020603050405020304" charset="0"/>
                <a:ea typeface="Nunito"/>
                <a:cs typeface="Times New Roman" panose="02020603050405020304" charset="0"/>
              </a:rPr>
              <a:t>S</a:t>
            </a:r>
            <a:r>
              <a:rPr sz="2000" b="0" i="0">
                <a:solidFill>
                  <a:schemeClr val="tx1"/>
                </a:solidFill>
                <a:latin typeface="Times New Roman" panose="02020603050405020304" charset="0"/>
                <a:ea typeface="Nunito"/>
                <a:cs typeface="Times New Roman" panose="02020603050405020304" charset="0"/>
              </a:rPr>
              <a:t>oft computing</a:t>
            </a:r>
            <a:endParaRPr sz="2000" b="0" i="0">
              <a:solidFill>
                <a:schemeClr val="tx1"/>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Concept of computing : </a:t>
            </a:r>
            <a:endPar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5" name="Text Box 4"/>
          <p:cNvSpPr txBox="1"/>
          <p:nvPr/>
        </p:nvSpPr>
        <p:spPr>
          <a:xfrm>
            <a:off x="381000" y="1429067"/>
            <a:ext cx="5080000" cy="583565"/>
          </a:xfrm>
          <a:prstGeom prst="rect">
            <a:avLst/>
          </a:prstGeom>
        </p:spPr>
        <p:txBody>
          <a:bodyPr>
            <a:spAutoFit/>
          </a:bodyPr>
          <a:p>
            <a:pPr marL="0" indent="0" algn="l" fontAlgn="base">
              <a:spcBef>
                <a:spcPct val="0"/>
              </a:spcBef>
              <a:spcAft>
                <a:spcPct val="0"/>
              </a:spcAft>
            </a:pPr>
            <a:r>
              <a:rPr sz="1600" b="1" i="0">
                <a:solidFill>
                  <a:srgbClr val="273239"/>
                </a:solidFill>
                <a:latin typeface="Times New Roman" panose="02020603050405020304" charset="0"/>
                <a:ea typeface="Nunito"/>
                <a:cs typeface="Times New Roman" panose="02020603050405020304" charset="0"/>
              </a:rPr>
              <a:t>Characteristics of hard computing :</a:t>
            </a:r>
            <a:endParaRPr sz="1600" b="1" i="0">
              <a:solidFill>
                <a:srgbClr val="273239"/>
              </a:solidFill>
              <a:latin typeface="Times New Roman" panose="02020603050405020304" charset="0"/>
              <a:ea typeface="Nunito"/>
              <a:cs typeface="Times New Roman" panose="02020603050405020304" charset="0"/>
            </a:endParaRPr>
          </a:p>
          <a:p>
            <a:pPr marL="0" indent="0" algn="l"/>
            <a:r>
              <a:rPr sz="1600" b="1" i="0">
                <a:solidFill>
                  <a:srgbClr val="273239"/>
                </a:solidFill>
                <a:latin typeface="Times New Roman" panose="02020603050405020304" charset="0"/>
                <a:ea typeface="Nunito"/>
                <a:cs typeface="Times New Roman" panose="02020603050405020304" charset="0"/>
              </a:rPr>
              <a:t> </a:t>
            </a:r>
            <a:endParaRPr sz="1600" b="1" i="0">
              <a:solidFill>
                <a:srgbClr val="273239"/>
              </a:solidFill>
              <a:latin typeface="Times New Roman" panose="02020603050405020304" charset="0"/>
              <a:ea typeface="Nunito"/>
              <a:cs typeface="Times New Roman" panose="02020603050405020304" charset="0"/>
            </a:endParaRPr>
          </a:p>
        </p:txBody>
      </p:sp>
      <p:sp>
        <p:nvSpPr>
          <p:cNvPr id="6" name="Text Box 5"/>
          <p:cNvSpPr txBox="1"/>
          <p:nvPr/>
        </p:nvSpPr>
        <p:spPr>
          <a:xfrm>
            <a:off x="457200" y="2038350"/>
            <a:ext cx="8228965" cy="1322070"/>
          </a:xfrm>
          <a:prstGeom prst="rect">
            <a:avLst/>
          </a:prstGeom>
        </p:spPr>
        <p:txBody>
          <a:bodyPr wrap="square">
            <a:spAutoFit/>
          </a:bodyPr>
          <a:p>
            <a:pPr marL="182880" indent="0" algn="l"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The precise result is guaranteed​. </a:t>
            </a:r>
            <a:endParaRPr sz="1600" b="0" i="0">
              <a:solidFill>
                <a:srgbClr val="273239"/>
              </a:solidFill>
              <a:latin typeface="Times New Roman" panose="02020603050405020304" charset="0"/>
              <a:ea typeface="Nunito"/>
              <a:cs typeface="Times New Roman" panose="02020603050405020304" charset="0"/>
            </a:endParaRPr>
          </a:p>
          <a:p>
            <a:pPr marL="182880" indent="0" algn="l" fontAlgn="base">
              <a:spcBef>
                <a:spcPct val="0"/>
              </a:spcBef>
              <a:spcAft>
                <a:spcPct val="0"/>
              </a:spcAft>
            </a:pPr>
            <a:r>
              <a:rPr sz="1600" b="0" i="0">
                <a:solidFill>
                  <a:srgbClr val="273239"/>
                </a:solidFill>
                <a:latin typeface="Times New Roman" panose="02020603050405020304" charset="0"/>
                <a:ea typeface="Nunito"/>
                <a:cs typeface="Times New Roman" panose="02020603050405020304" charset="0"/>
              </a:rPr>
              <a:t> </a:t>
            </a:r>
            <a:endParaRPr sz="1600" b="0" i="0">
              <a:solidFill>
                <a:srgbClr val="273239"/>
              </a:solidFill>
              <a:latin typeface="Times New Roman" panose="02020603050405020304" charset="0"/>
              <a:ea typeface="Nunito"/>
              <a:cs typeface="Times New Roman" panose="02020603050405020304" charset="0"/>
            </a:endParaRPr>
          </a:p>
          <a:p>
            <a:pPr marL="182880" indent="0" algn="l"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The control action is unambiguous​. </a:t>
            </a:r>
            <a:endParaRPr sz="1600" b="0" i="0">
              <a:solidFill>
                <a:srgbClr val="273239"/>
              </a:solidFill>
              <a:latin typeface="Times New Roman" panose="02020603050405020304" charset="0"/>
              <a:ea typeface="Nunito"/>
              <a:cs typeface="Times New Roman" panose="02020603050405020304" charset="0"/>
            </a:endParaRPr>
          </a:p>
          <a:p>
            <a:pPr marL="182880" indent="0" algn="l" fontAlgn="base">
              <a:spcBef>
                <a:spcPct val="0"/>
              </a:spcBef>
              <a:spcAft>
                <a:spcPct val="0"/>
              </a:spcAft>
            </a:pPr>
            <a:r>
              <a:rPr sz="1600" b="0" i="0">
                <a:solidFill>
                  <a:srgbClr val="273239"/>
                </a:solidFill>
                <a:latin typeface="Times New Roman" panose="02020603050405020304" charset="0"/>
                <a:ea typeface="Nunito"/>
                <a:cs typeface="Times New Roman" panose="02020603050405020304" charset="0"/>
              </a:rPr>
              <a:t> </a:t>
            </a:r>
            <a:endParaRPr sz="1600" b="0" i="0">
              <a:solidFill>
                <a:srgbClr val="273239"/>
              </a:solidFill>
              <a:latin typeface="Times New Roman" panose="02020603050405020304" charset="0"/>
              <a:ea typeface="Nunito"/>
              <a:cs typeface="Times New Roman" panose="02020603050405020304" charset="0"/>
            </a:endParaRPr>
          </a:p>
          <a:p>
            <a:pPr marL="182880" indent="0" algn="l"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The control action is formally defined (i.e. with a mathematical model)</a:t>
            </a:r>
            <a:endParaRPr sz="16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Concept of computing : </a:t>
            </a:r>
            <a:endPar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2" name="Text Box 1"/>
          <p:cNvSpPr txBox="1"/>
          <p:nvPr/>
        </p:nvSpPr>
        <p:spPr>
          <a:xfrm>
            <a:off x="381000" y="1352867"/>
            <a:ext cx="5080000" cy="583565"/>
          </a:xfrm>
          <a:prstGeom prst="rect">
            <a:avLst/>
          </a:prstGeom>
        </p:spPr>
        <p:txBody>
          <a:bodyPr>
            <a:spAutoFit/>
          </a:bodyPr>
          <a:p>
            <a:pPr marL="0" indent="0" algn="l" fontAlgn="base">
              <a:spcBef>
                <a:spcPct val="0"/>
              </a:spcBef>
              <a:spcAft>
                <a:spcPct val="0"/>
              </a:spcAft>
            </a:pPr>
            <a:r>
              <a:rPr sz="1600" b="1" i="0">
                <a:solidFill>
                  <a:srgbClr val="273239"/>
                </a:solidFill>
                <a:latin typeface="Times New Roman" panose="02020603050405020304" charset="0"/>
                <a:ea typeface="Nunito"/>
                <a:cs typeface="Times New Roman" panose="02020603050405020304" charset="0"/>
              </a:rPr>
              <a:t>Characteristics of soft computing :</a:t>
            </a:r>
            <a:endParaRPr sz="1600" b="1" i="0">
              <a:solidFill>
                <a:srgbClr val="273239"/>
              </a:solidFill>
              <a:latin typeface="Times New Roman" panose="02020603050405020304" charset="0"/>
              <a:ea typeface="Nunito"/>
              <a:cs typeface="Times New Roman" panose="02020603050405020304" charset="0"/>
            </a:endParaRPr>
          </a:p>
          <a:p>
            <a:pPr marL="0" indent="0" algn="l"/>
            <a:r>
              <a:rPr sz="1600" b="1" i="0">
                <a:solidFill>
                  <a:srgbClr val="273239"/>
                </a:solidFill>
                <a:latin typeface="Times New Roman" panose="02020603050405020304" charset="0"/>
                <a:ea typeface="Nunito"/>
                <a:cs typeface="Times New Roman" panose="02020603050405020304" charset="0"/>
              </a:rPr>
              <a:t> </a:t>
            </a:r>
            <a:endParaRPr sz="16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457200" y="1936115"/>
            <a:ext cx="8218170" cy="2061210"/>
          </a:xfrm>
          <a:prstGeom prst="rect">
            <a:avLst/>
          </a:prstGeom>
        </p:spPr>
        <p:txBody>
          <a:bodyPr wrap="square">
            <a:spAutoFit/>
          </a:bodyPr>
          <a:p>
            <a:pPr marL="182880" indent="0" algn="l"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It may not yield a precise solution​. </a:t>
            </a:r>
            <a:endParaRPr sz="1600" b="0" i="0">
              <a:solidFill>
                <a:srgbClr val="273239"/>
              </a:solidFill>
              <a:latin typeface="Times New Roman" panose="02020603050405020304" charset="0"/>
              <a:ea typeface="Nunito"/>
              <a:cs typeface="Times New Roman" panose="02020603050405020304" charset="0"/>
            </a:endParaRPr>
          </a:p>
          <a:p>
            <a:pPr marL="182880" indent="0" algn="l" fontAlgn="base">
              <a:spcBef>
                <a:spcPct val="0"/>
              </a:spcBef>
              <a:spcAft>
                <a:spcPct val="0"/>
              </a:spcAft>
            </a:pPr>
            <a:r>
              <a:rPr sz="1600" b="0" i="0">
                <a:solidFill>
                  <a:srgbClr val="273239"/>
                </a:solidFill>
                <a:latin typeface="Times New Roman" panose="02020603050405020304" charset="0"/>
                <a:ea typeface="Nunito"/>
                <a:cs typeface="Times New Roman" panose="02020603050405020304" charset="0"/>
              </a:rPr>
              <a:t> </a:t>
            </a:r>
            <a:endParaRPr sz="1600" b="0" i="0">
              <a:solidFill>
                <a:srgbClr val="273239"/>
              </a:solidFill>
              <a:latin typeface="Times New Roman" panose="02020603050405020304" charset="0"/>
              <a:ea typeface="Nunito"/>
              <a:cs typeface="Times New Roman" panose="02020603050405020304" charset="0"/>
            </a:endParaRPr>
          </a:p>
          <a:p>
            <a:pPr marL="182880" indent="0" algn="l"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Algorithms are adaptive. </a:t>
            </a:r>
            <a:endParaRPr sz="1600" b="0" i="0">
              <a:solidFill>
                <a:srgbClr val="273239"/>
              </a:solidFill>
              <a:latin typeface="Times New Roman" panose="02020603050405020304" charset="0"/>
              <a:ea typeface="Nunito"/>
              <a:cs typeface="Times New Roman" panose="02020603050405020304" charset="0"/>
            </a:endParaRPr>
          </a:p>
          <a:p>
            <a:pPr marL="182880" indent="0" algn="l" fontAlgn="base">
              <a:spcBef>
                <a:spcPct val="0"/>
              </a:spcBef>
              <a:spcAft>
                <a:spcPct val="0"/>
              </a:spcAft>
            </a:pPr>
            <a:r>
              <a:rPr sz="1600" b="0" i="0">
                <a:solidFill>
                  <a:srgbClr val="273239"/>
                </a:solidFill>
                <a:latin typeface="Times New Roman" panose="02020603050405020304" charset="0"/>
                <a:ea typeface="Nunito"/>
                <a:cs typeface="Times New Roman" panose="02020603050405020304" charset="0"/>
              </a:rPr>
              <a:t> </a:t>
            </a:r>
            <a:endParaRPr sz="1600" b="0" i="0">
              <a:solidFill>
                <a:srgbClr val="273239"/>
              </a:solidFill>
              <a:latin typeface="Times New Roman" panose="02020603050405020304" charset="0"/>
              <a:ea typeface="Nunito"/>
              <a:cs typeface="Times New Roman" panose="02020603050405020304" charset="0"/>
            </a:endParaRPr>
          </a:p>
          <a:p>
            <a:pPr marL="182880" indent="0" algn="l"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In soft computing, you can consider an example where you can see the evolution changes for a specific species like the human nervous system and behavior of an Ant's, etc. </a:t>
            </a:r>
            <a:endParaRPr sz="1600" b="0" i="0">
              <a:solidFill>
                <a:srgbClr val="273239"/>
              </a:solidFill>
              <a:latin typeface="Times New Roman" panose="02020603050405020304" charset="0"/>
              <a:ea typeface="Nunito"/>
              <a:cs typeface="Times New Roman" panose="02020603050405020304" charset="0"/>
            </a:endParaRPr>
          </a:p>
          <a:p>
            <a:pPr marL="182880" indent="0" algn="l" fontAlgn="base">
              <a:spcBef>
                <a:spcPct val="0"/>
              </a:spcBef>
              <a:spcAft>
                <a:spcPct val="0"/>
              </a:spcAft>
            </a:pPr>
            <a:r>
              <a:rPr sz="1600" b="0" i="0">
                <a:solidFill>
                  <a:srgbClr val="273239"/>
                </a:solidFill>
                <a:latin typeface="Times New Roman" panose="02020603050405020304" charset="0"/>
                <a:ea typeface="Nunito"/>
                <a:cs typeface="Times New Roman" panose="02020603050405020304" charset="0"/>
              </a:rPr>
              <a:t> </a:t>
            </a:r>
            <a:endParaRPr sz="1600" b="0" i="0">
              <a:solidFill>
                <a:srgbClr val="273239"/>
              </a:solidFill>
              <a:latin typeface="Times New Roman" panose="02020603050405020304" charset="0"/>
              <a:ea typeface="Nunito"/>
              <a:cs typeface="Times New Roman" panose="02020603050405020304" charset="0"/>
            </a:endParaRPr>
          </a:p>
          <a:p>
            <a:pPr marL="182880" indent="0" algn="l"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Learning from experimental data.</a:t>
            </a:r>
            <a:endParaRPr sz="16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Difference between Soft Computing and Hard Computing </a:t>
            </a:r>
            <a:endPar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4" name="Text Box 3"/>
          <p:cNvSpPr txBox="1"/>
          <p:nvPr/>
        </p:nvSpPr>
        <p:spPr>
          <a:xfrm>
            <a:off x="179705" y="1214755"/>
            <a:ext cx="8735695" cy="706755"/>
          </a:xfrm>
          <a:prstGeom prst="rect">
            <a:avLst/>
          </a:prstGeom>
          <a:noFill/>
        </p:spPr>
        <p:txBody>
          <a:bodyPr wrap="square" rtlCol="0">
            <a:spAutoFit/>
          </a:bodyPr>
          <a:p>
            <a:pPr algn="just"/>
            <a:r>
              <a:rPr lang="en-US" altLang="en-US" sz="2000">
                <a:latin typeface="Times New Roman" panose="02020603050405020304" charset="0"/>
                <a:cs typeface="Times New Roman" panose="02020603050405020304" charset="0"/>
              </a:rPr>
              <a:t>The main difference between Soft Computing and Hard Computing is their approach to solving complex problems:</a:t>
            </a:r>
            <a:endParaRPr lang="en-US" altLang="en-US" sz="2000">
              <a:latin typeface="Times New Roman" panose="02020603050405020304" charset="0"/>
              <a:cs typeface="Times New Roman" panose="02020603050405020304" charset="0"/>
            </a:endParaRPr>
          </a:p>
        </p:txBody>
      </p:sp>
      <p:sp>
        <p:nvSpPr>
          <p:cNvPr id="5" name="Text Box 4"/>
          <p:cNvSpPr txBox="1"/>
          <p:nvPr/>
        </p:nvSpPr>
        <p:spPr>
          <a:xfrm>
            <a:off x="304800" y="2114550"/>
            <a:ext cx="8609965" cy="2245360"/>
          </a:xfrm>
          <a:prstGeom prst="rect">
            <a:avLst/>
          </a:prstGeom>
        </p:spPr>
        <p:txBody>
          <a:bodyPr wrap="square">
            <a:spAutoFit/>
          </a:bodyPr>
          <a:p>
            <a:pPr marL="0" indent="0" algn="just" fontAlgn="base">
              <a:spcBef>
                <a:spcPct val="0"/>
              </a:spcBef>
              <a:spcAft>
                <a:spcPct val="0"/>
              </a:spcAft>
              <a:buNone/>
            </a:pPr>
            <a:r>
              <a:rPr lang="en-GB" sz="2000" b="1" i="0">
                <a:solidFill>
                  <a:srgbClr val="273239"/>
                </a:solidFill>
                <a:latin typeface="Times New Roman" panose="02020603050405020304" charset="0"/>
                <a:ea typeface="Nunito"/>
                <a:cs typeface="Times New Roman" panose="02020603050405020304" charset="0"/>
              </a:rPr>
              <a:t>1</a:t>
            </a:r>
            <a:r>
              <a:rPr lang="en-GB" sz="1600" b="1" i="0">
                <a:solidFill>
                  <a:srgbClr val="273239"/>
                </a:solidFill>
                <a:latin typeface="Times New Roman" panose="02020603050405020304" charset="0"/>
                <a:ea typeface="Nunito"/>
                <a:cs typeface="Times New Roman" panose="02020603050405020304" charset="0"/>
              </a:rPr>
              <a:t>. </a:t>
            </a:r>
            <a:r>
              <a:rPr sz="2000" b="1" i="0">
                <a:solidFill>
                  <a:srgbClr val="273239"/>
                </a:solidFill>
                <a:latin typeface="Times New Roman" panose="02020603050405020304" charset="0"/>
                <a:ea typeface="Nunito"/>
                <a:cs typeface="Times New Roman" panose="02020603050405020304" charset="0"/>
              </a:rPr>
              <a:t>Hard Computing:</a:t>
            </a:r>
            <a:r>
              <a:rPr sz="2000" b="0" i="0">
                <a:solidFill>
                  <a:srgbClr val="273239"/>
                </a:solidFill>
                <a:latin typeface="Times New Roman" panose="02020603050405020304" charset="0"/>
                <a:ea typeface="Nunito"/>
                <a:cs typeface="Times New Roman" panose="02020603050405020304" charset="0"/>
              </a:rPr>
              <a:t> </a:t>
            </a:r>
            <a:endParaRPr sz="20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None/>
            </a:pPr>
            <a:endParaRPr sz="2000" b="0" i="0">
              <a:solidFill>
                <a:srgbClr val="273239"/>
              </a:solidFill>
              <a:latin typeface="Times New Roman" panose="02020603050405020304" charset="0"/>
              <a:ea typeface="Nunito"/>
              <a:cs typeface="Times New Roman" panose="02020603050405020304" charset="0"/>
            </a:endParaRPr>
          </a:p>
          <a:p>
            <a:pPr marL="342900" indent="-342900" algn="just" fontAlgn="base">
              <a:spcBef>
                <a:spcPct val="0"/>
              </a:spcBef>
              <a:spcAft>
                <a:spcPct val="0"/>
              </a:spcAft>
              <a:buFont typeface="Wingdings" panose="05000000000000000000" charset="0"/>
              <a:buChar char="ü"/>
            </a:pPr>
            <a:r>
              <a:rPr sz="2000" b="0" i="0">
                <a:solidFill>
                  <a:srgbClr val="273239"/>
                </a:solidFill>
                <a:latin typeface="Times New Roman" panose="02020603050405020304" charset="0"/>
                <a:ea typeface="Nunito"/>
                <a:cs typeface="Times New Roman" panose="02020603050405020304" charset="0"/>
              </a:rPr>
              <a:t>Hard computing uses traditional mathematical methods to solve problems, such as algorithms and mathematical models. </a:t>
            </a:r>
            <a:endParaRPr sz="2000" b="0" i="0">
              <a:solidFill>
                <a:srgbClr val="273239"/>
              </a:solidFill>
              <a:latin typeface="Times New Roman" panose="02020603050405020304" charset="0"/>
              <a:ea typeface="Nunito"/>
              <a:cs typeface="Times New Roman" panose="02020603050405020304" charset="0"/>
            </a:endParaRPr>
          </a:p>
          <a:p>
            <a:pPr marL="342900" indent="-342900" algn="just" fontAlgn="base">
              <a:spcBef>
                <a:spcPct val="0"/>
              </a:spcBef>
              <a:spcAft>
                <a:spcPct val="0"/>
              </a:spcAft>
              <a:buFont typeface="Wingdings" panose="05000000000000000000" charset="0"/>
              <a:buChar char="ü"/>
            </a:pPr>
            <a:endParaRPr sz="2000" b="0" i="0">
              <a:solidFill>
                <a:srgbClr val="273239"/>
              </a:solidFill>
              <a:latin typeface="Times New Roman" panose="02020603050405020304" charset="0"/>
              <a:ea typeface="Nunito"/>
              <a:cs typeface="Times New Roman" panose="02020603050405020304" charset="0"/>
            </a:endParaRPr>
          </a:p>
          <a:p>
            <a:pPr marL="342900" indent="-342900" algn="just" fontAlgn="base">
              <a:spcBef>
                <a:spcPct val="0"/>
              </a:spcBef>
              <a:spcAft>
                <a:spcPct val="0"/>
              </a:spcAft>
              <a:buFont typeface="Wingdings" panose="05000000000000000000" charset="0"/>
              <a:buChar char="ü"/>
            </a:pPr>
            <a:r>
              <a:rPr sz="2000" b="0" i="0">
                <a:solidFill>
                  <a:srgbClr val="273239"/>
                </a:solidFill>
                <a:latin typeface="Times New Roman" panose="02020603050405020304" charset="0"/>
                <a:ea typeface="Nunito"/>
                <a:cs typeface="Times New Roman" panose="02020603050405020304" charset="0"/>
              </a:rPr>
              <a:t>It is based on deterministic and precise calculations and is ideal for solving problems that have well-defined mathematical solutions.</a:t>
            </a:r>
            <a:endParaRPr sz="20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Difference between Soft Computing and Hard Computing </a:t>
            </a:r>
            <a:endPar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5" name="Text Box 4"/>
          <p:cNvSpPr txBox="1"/>
          <p:nvPr/>
        </p:nvSpPr>
        <p:spPr>
          <a:xfrm>
            <a:off x="228600" y="1276350"/>
            <a:ext cx="8609965" cy="3476625"/>
          </a:xfrm>
          <a:prstGeom prst="rect">
            <a:avLst/>
          </a:prstGeom>
        </p:spPr>
        <p:txBody>
          <a:bodyPr wrap="square">
            <a:spAutoFit/>
          </a:bodyPr>
          <a:p>
            <a:pPr marL="0" indent="0" algn="just" fontAlgn="base">
              <a:spcBef>
                <a:spcPct val="0"/>
              </a:spcBef>
              <a:spcAft>
                <a:spcPct val="0"/>
              </a:spcAft>
              <a:buNone/>
            </a:pPr>
            <a:r>
              <a:rPr lang="en-GB" sz="2000" b="1" i="0">
                <a:solidFill>
                  <a:srgbClr val="273239"/>
                </a:solidFill>
                <a:latin typeface="Times New Roman" panose="02020603050405020304" charset="0"/>
                <a:ea typeface="Nunito"/>
                <a:cs typeface="Times New Roman" panose="02020603050405020304" charset="0"/>
              </a:rPr>
              <a:t>1</a:t>
            </a:r>
            <a:r>
              <a:rPr lang="en-GB" sz="1600" b="1" i="0">
                <a:solidFill>
                  <a:srgbClr val="273239"/>
                </a:solidFill>
                <a:latin typeface="Times New Roman" panose="02020603050405020304" charset="0"/>
                <a:ea typeface="Nunito"/>
                <a:cs typeface="Times New Roman" panose="02020603050405020304" charset="0"/>
              </a:rPr>
              <a:t>. </a:t>
            </a:r>
            <a:r>
              <a:rPr sz="2000" b="1" i="0">
                <a:solidFill>
                  <a:srgbClr val="273239"/>
                </a:solidFill>
                <a:latin typeface="Times New Roman" panose="02020603050405020304" charset="0"/>
                <a:ea typeface="Nunito"/>
                <a:cs typeface="Times New Roman" panose="02020603050405020304" charset="0"/>
              </a:rPr>
              <a:t>Hard Computing:</a:t>
            </a:r>
            <a:r>
              <a:rPr sz="2000" b="0" i="0">
                <a:solidFill>
                  <a:srgbClr val="273239"/>
                </a:solidFill>
                <a:latin typeface="Times New Roman" panose="02020603050405020304" charset="0"/>
                <a:ea typeface="Nunito"/>
                <a:cs typeface="Times New Roman" panose="02020603050405020304" charset="0"/>
              </a:rPr>
              <a:t> </a:t>
            </a:r>
            <a:endParaRPr sz="20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None/>
            </a:pPr>
            <a:endParaRPr sz="2000" b="0" i="0">
              <a:solidFill>
                <a:srgbClr val="273239"/>
              </a:solidFill>
              <a:latin typeface="Times New Roman" panose="02020603050405020304" charset="0"/>
              <a:ea typeface="Nunito"/>
              <a:cs typeface="Times New Roman" panose="02020603050405020304" charset="0"/>
            </a:endParaRPr>
          </a:p>
          <a:p>
            <a:pPr marL="342900" indent="-342900" algn="just" fontAlgn="base">
              <a:spcBef>
                <a:spcPct val="0"/>
              </a:spcBef>
              <a:spcAft>
                <a:spcPct val="0"/>
              </a:spcAft>
              <a:buFont typeface="Wingdings" panose="05000000000000000000" charset="0"/>
              <a:buChar char="ü"/>
            </a:pPr>
            <a:r>
              <a:rPr lang="en-US" altLang="en-US" sz="2000" b="0" i="0">
                <a:solidFill>
                  <a:srgbClr val="273239"/>
                </a:solidFill>
                <a:latin typeface="Times New Roman" panose="02020603050405020304" charset="0"/>
                <a:ea typeface="Nunito"/>
                <a:cs typeface="Times New Roman" panose="02020603050405020304" charset="0"/>
              </a:rPr>
              <a:t>Hard Computing is that the ancient approach employed in computing that desires Associate in Nursing accurately declared analytical model. </a:t>
            </a:r>
            <a:endParaRPr lang="en-US" altLang="en-US" sz="2000" b="0" i="0">
              <a:solidFill>
                <a:srgbClr val="273239"/>
              </a:solidFill>
              <a:latin typeface="Times New Roman" panose="02020603050405020304" charset="0"/>
              <a:ea typeface="Nunito"/>
              <a:cs typeface="Times New Roman" panose="02020603050405020304" charset="0"/>
            </a:endParaRPr>
          </a:p>
          <a:p>
            <a:pPr marL="342900" indent="-342900" algn="just" fontAlgn="base">
              <a:spcBef>
                <a:spcPct val="0"/>
              </a:spcBef>
              <a:spcAft>
                <a:spcPct val="0"/>
              </a:spcAft>
              <a:buFont typeface="Wingdings" panose="05000000000000000000" charset="0"/>
              <a:buChar char="ü"/>
            </a:pPr>
            <a:endParaRPr lang="en-US" altLang="en-US" sz="2000" b="0" i="0">
              <a:solidFill>
                <a:srgbClr val="273239"/>
              </a:solidFill>
              <a:latin typeface="Times New Roman" panose="02020603050405020304" charset="0"/>
              <a:ea typeface="Nunito"/>
              <a:cs typeface="Times New Roman" panose="02020603050405020304" charset="0"/>
            </a:endParaRPr>
          </a:p>
          <a:p>
            <a:pPr marL="342900" indent="-342900" algn="just" fontAlgn="base">
              <a:spcBef>
                <a:spcPct val="0"/>
              </a:spcBef>
              <a:spcAft>
                <a:spcPct val="0"/>
              </a:spcAft>
              <a:buFont typeface="Wingdings" panose="05000000000000000000" charset="0"/>
              <a:buChar char="ü"/>
            </a:pPr>
            <a:r>
              <a:rPr lang="en-GB" altLang="en-US" sz="2000" b="0" i="0">
                <a:solidFill>
                  <a:srgbClr val="273239"/>
                </a:solidFill>
                <a:latin typeface="Times New Roman" panose="02020603050405020304" charset="0"/>
                <a:ea typeface="Nunito"/>
                <a:cs typeface="Times New Roman" panose="02020603050405020304" charset="0"/>
              </a:rPr>
              <a:t>T</a:t>
            </a:r>
            <a:r>
              <a:rPr lang="en-US" altLang="en-US" sz="2000" b="0" i="0">
                <a:solidFill>
                  <a:srgbClr val="273239"/>
                </a:solidFill>
                <a:latin typeface="Times New Roman" panose="02020603050405020304" charset="0"/>
                <a:ea typeface="Nunito"/>
                <a:cs typeface="Times New Roman" panose="02020603050405020304" charset="0"/>
              </a:rPr>
              <a:t>he outcome of hard computing approach is a warranted, settled, correct result and defines definite management actions employing a mathematical model or algorithmic rule. </a:t>
            </a:r>
            <a:endParaRPr lang="en-US" altLang="en-US" sz="2000" b="0" i="0">
              <a:solidFill>
                <a:srgbClr val="273239"/>
              </a:solidFill>
              <a:latin typeface="Times New Roman" panose="02020603050405020304" charset="0"/>
              <a:ea typeface="Nunito"/>
              <a:cs typeface="Times New Roman" panose="02020603050405020304" charset="0"/>
            </a:endParaRPr>
          </a:p>
          <a:p>
            <a:pPr marL="342900" indent="-342900" algn="just" fontAlgn="base">
              <a:spcBef>
                <a:spcPct val="0"/>
              </a:spcBef>
              <a:spcAft>
                <a:spcPct val="0"/>
              </a:spcAft>
              <a:buFont typeface="Wingdings" panose="05000000000000000000" charset="0"/>
              <a:buChar char="ü"/>
            </a:pPr>
            <a:endParaRPr lang="en-US" altLang="en-US" sz="2000" b="0" i="0">
              <a:solidFill>
                <a:srgbClr val="273239"/>
              </a:solidFill>
              <a:latin typeface="Times New Roman" panose="02020603050405020304" charset="0"/>
              <a:ea typeface="Nunito"/>
              <a:cs typeface="Times New Roman" panose="02020603050405020304" charset="0"/>
            </a:endParaRPr>
          </a:p>
          <a:p>
            <a:pPr marL="342900" indent="-342900" algn="just" fontAlgn="base">
              <a:spcBef>
                <a:spcPct val="0"/>
              </a:spcBef>
              <a:spcAft>
                <a:spcPct val="0"/>
              </a:spcAft>
              <a:buFont typeface="Wingdings" panose="05000000000000000000" charset="0"/>
              <a:buChar char="ü"/>
            </a:pPr>
            <a:r>
              <a:rPr lang="en-US" altLang="en-US" sz="2000" b="0" i="0">
                <a:solidFill>
                  <a:srgbClr val="273239"/>
                </a:solidFill>
                <a:latin typeface="Times New Roman" panose="02020603050405020304" charset="0"/>
                <a:ea typeface="Nunito"/>
                <a:cs typeface="Times New Roman" panose="02020603050405020304" charset="0"/>
              </a:rPr>
              <a:t>It deals with binary and crisp logic that need the precise input file consecutive. Hard computing isn't capable of finding the real world problem's solution.</a:t>
            </a:r>
            <a:endParaRPr lang="en-US" altLang="en-US" sz="20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742950"/>
            <a:ext cx="8229600" cy="386715"/>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20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Difference between Soft Computing and Hard Computing </a:t>
            </a:r>
            <a:endParaRPr kumimoji="0" lang="en-US" altLang="en-US" sz="20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2" name="Text Box 1"/>
          <p:cNvSpPr txBox="1"/>
          <p:nvPr/>
        </p:nvSpPr>
        <p:spPr>
          <a:xfrm>
            <a:off x="274320" y="1200150"/>
            <a:ext cx="8564880" cy="3784600"/>
          </a:xfrm>
          <a:prstGeom prst="rect">
            <a:avLst/>
          </a:prstGeom>
          <a:noFill/>
        </p:spPr>
        <p:txBody>
          <a:bodyPr wrap="square" rtlCol="0">
            <a:spAutoFit/>
          </a:bodyPr>
          <a:p>
            <a:pPr algn="just"/>
            <a:r>
              <a:rPr lang="en-GB" altLang="en-US" sz="2000" b="1">
                <a:latin typeface="Times New Roman" panose="02020603050405020304" charset="0"/>
                <a:cs typeface="Times New Roman" panose="02020603050405020304" charset="0"/>
              </a:rPr>
              <a:t>2. </a:t>
            </a:r>
            <a:r>
              <a:rPr lang="en-US" altLang="en-US" sz="2000" b="1">
                <a:latin typeface="Times New Roman" panose="02020603050405020304" charset="0"/>
                <a:cs typeface="Times New Roman" panose="02020603050405020304" charset="0"/>
              </a:rPr>
              <a:t>Soft Computing:</a:t>
            </a:r>
            <a:r>
              <a:rPr lang="en-US" altLang="en-US" sz="2000">
                <a:latin typeface="Times New Roman" panose="02020603050405020304" charset="0"/>
                <a:cs typeface="Times New Roman" panose="02020603050405020304" charset="0"/>
              </a:rPr>
              <a:t> </a:t>
            </a:r>
            <a:endParaRPr lang="en-US" altLang="en-US" sz="2000">
              <a:latin typeface="Times New Roman" panose="02020603050405020304" charset="0"/>
              <a:cs typeface="Times New Roman" panose="02020603050405020304" charset="0"/>
            </a:endParaRPr>
          </a:p>
          <a:p>
            <a:pPr algn="just"/>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ü"/>
            </a:pPr>
            <a:r>
              <a:rPr lang="en-US" altLang="en-US" sz="2000">
                <a:latin typeface="Times New Roman" panose="02020603050405020304" charset="0"/>
                <a:cs typeface="Times New Roman" panose="02020603050405020304" charset="0"/>
              </a:rPr>
              <a:t>Soft computing, on the other hand, uses techniques such as fuzzy logic, neural networks, genetic algorithms, and other heuristic methods to solve problems. </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ü"/>
            </a:pP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ü"/>
            </a:pPr>
            <a:r>
              <a:rPr lang="en-US" altLang="en-US" sz="2000">
                <a:latin typeface="Times New Roman" panose="02020603050405020304" charset="0"/>
                <a:cs typeface="Times New Roman" panose="02020603050405020304" charset="0"/>
              </a:rPr>
              <a:t>It is based on the idea of approximation and is ideal for solving problems that are difficult or impossible to solve exactly.</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ü"/>
            </a:pP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ü"/>
            </a:pPr>
            <a:r>
              <a:rPr lang="en-US" altLang="en-US" sz="2000">
                <a:latin typeface="Times New Roman" panose="02020603050405020304" charset="0"/>
                <a:cs typeface="Times New Roman" panose="02020603050405020304" charset="0"/>
              </a:rPr>
              <a:t>Soft Computing could be a computing model evolved to resolve the non-linear issues that involve unsure, imprecise and approximate solutions of a tangle. These sorts of issues square measure thought of as real-life issues wherever the human-like intelligence is needed to resolve it. </a:t>
            </a:r>
            <a:endParaRPr lang="en-US" altLang="en-US" sz="2000">
              <a:latin typeface="Times New Roman" panose="02020603050405020304" charset="0"/>
              <a:cs typeface="Times New Roman" panose="0202060305040502030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Difference between Soft Computing and Hard Computing </a:t>
            </a:r>
            <a:endPar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graphicFrame>
        <p:nvGraphicFramePr>
          <p:cNvPr id="2" name="Table 1"/>
          <p:cNvGraphicFramePr/>
          <p:nvPr>
            <p:custDataLst>
              <p:tags r:id="rId1"/>
            </p:custDataLst>
          </p:nvPr>
        </p:nvGraphicFramePr>
        <p:xfrm>
          <a:off x="316230" y="1314450"/>
          <a:ext cx="8422640" cy="3617595"/>
        </p:xfrm>
        <a:graphic>
          <a:graphicData uri="http://schemas.openxmlformats.org/drawingml/2006/table">
            <a:tbl>
              <a:tblPr/>
              <a:tblGrid>
                <a:gridCol w="767715"/>
                <a:gridCol w="4085590"/>
                <a:gridCol w="3569335"/>
              </a:tblGrid>
              <a:tr h="474345">
                <a:tc>
                  <a:txBody>
                    <a:bodyPr/>
                    <a:p>
                      <a:pPr marL="0" indent="0" algn="ctr" fontAlgn="base">
                        <a:spcBef>
                          <a:spcPct val="0"/>
                        </a:spcBef>
                        <a:spcAft>
                          <a:spcPct val="0"/>
                        </a:spcAft>
                      </a:pPr>
                      <a:r>
                        <a:rPr sz="1800" b="1" i="0">
                          <a:solidFill>
                            <a:srgbClr val="273239"/>
                          </a:solidFill>
                          <a:latin typeface="Times New Roman" panose="02020603050405020304" charset="0"/>
                          <a:ea typeface="Nunito"/>
                          <a:cs typeface="Times New Roman" panose="02020603050405020304" charset="0"/>
                        </a:rPr>
                        <a:t>S</a:t>
                      </a:r>
                      <a:r>
                        <a:rPr lang="en-GB" sz="1800" b="1" i="0">
                          <a:solidFill>
                            <a:srgbClr val="273239"/>
                          </a:solidFill>
                          <a:latin typeface="Times New Roman" panose="02020603050405020304" charset="0"/>
                          <a:ea typeface="Nunito"/>
                          <a:cs typeface="Times New Roman" panose="02020603050405020304" charset="0"/>
                        </a:rPr>
                        <a:t>r</a:t>
                      </a:r>
                      <a:r>
                        <a:rPr sz="1800" b="1" i="0">
                          <a:solidFill>
                            <a:srgbClr val="273239"/>
                          </a:solidFill>
                          <a:latin typeface="Times New Roman" panose="02020603050405020304" charset="0"/>
                          <a:ea typeface="Nunito"/>
                          <a:cs typeface="Times New Roman" panose="02020603050405020304" charset="0"/>
                        </a:rPr>
                        <a:t>.N</a:t>
                      </a:r>
                      <a:r>
                        <a:rPr lang="en-GB" sz="1800" b="1" i="0">
                          <a:solidFill>
                            <a:srgbClr val="273239"/>
                          </a:solidFill>
                          <a:latin typeface="Times New Roman" panose="02020603050405020304" charset="0"/>
                          <a:ea typeface="Nunito"/>
                          <a:cs typeface="Times New Roman" panose="02020603050405020304" charset="0"/>
                        </a:rPr>
                        <a:t>o</a:t>
                      </a:r>
                      <a:endParaRPr lang="en-GB" sz="1800" b="1" i="0">
                        <a:solidFill>
                          <a:srgbClr val="273239"/>
                        </a:solidFill>
                        <a:latin typeface="Times New Roman" panose="02020603050405020304" charset="0"/>
                        <a:ea typeface="Nunito"/>
                        <a:cs typeface="Times New Roman" panose="02020603050405020304" charset="0"/>
                      </a:endParaRPr>
                    </a:p>
                  </a:txBody>
                  <a:tcPr marL="38100" marR="38100" marT="76517" marB="76517">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solidFill>
                      <a:srgbClr val="F9F9F9"/>
                    </a:solidFill>
                  </a:tcPr>
                </a:tc>
                <a:tc>
                  <a:txBody>
                    <a:bodyPr/>
                    <a:p>
                      <a:pPr marL="0" indent="0" algn="ctr" fontAlgn="base">
                        <a:spcBef>
                          <a:spcPct val="0"/>
                        </a:spcBef>
                        <a:spcAft>
                          <a:spcPct val="0"/>
                        </a:spcAft>
                      </a:pPr>
                      <a:r>
                        <a:rPr sz="1800" b="1" i="0">
                          <a:solidFill>
                            <a:srgbClr val="273239"/>
                          </a:solidFill>
                          <a:latin typeface="Times New Roman" panose="02020603050405020304" charset="0"/>
                          <a:ea typeface="Nunito"/>
                          <a:cs typeface="Times New Roman" panose="02020603050405020304" charset="0"/>
                        </a:rPr>
                        <a:t>Soft Computing</a:t>
                      </a:r>
                      <a:endParaRPr sz="1800" b="1" i="0">
                        <a:solidFill>
                          <a:srgbClr val="273239"/>
                        </a:solidFill>
                        <a:latin typeface="Times New Roman" panose="02020603050405020304" charset="0"/>
                        <a:ea typeface="Nunito"/>
                        <a:cs typeface="Times New Roman" panose="02020603050405020304" charset="0"/>
                      </a:endParaRPr>
                    </a:p>
                  </a:txBody>
                  <a:tcPr marL="76517" marR="76517" marT="76517" marB="76517">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solidFill>
                      <a:srgbClr val="F9F9F9"/>
                    </a:solidFill>
                  </a:tcPr>
                </a:tc>
                <a:tc>
                  <a:txBody>
                    <a:bodyPr/>
                    <a:p>
                      <a:pPr marL="0" indent="0" algn="ctr" fontAlgn="base">
                        <a:spcBef>
                          <a:spcPct val="0"/>
                        </a:spcBef>
                        <a:spcAft>
                          <a:spcPct val="0"/>
                        </a:spcAft>
                      </a:pPr>
                      <a:r>
                        <a:rPr sz="1800" b="1" i="0">
                          <a:solidFill>
                            <a:srgbClr val="273239"/>
                          </a:solidFill>
                          <a:latin typeface="Times New Roman" panose="02020603050405020304" charset="0"/>
                          <a:ea typeface="Nunito"/>
                          <a:cs typeface="Times New Roman" panose="02020603050405020304" charset="0"/>
                        </a:rPr>
                        <a:t>Hard Computing</a:t>
                      </a:r>
                      <a:endParaRPr sz="1800" b="1" i="0">
                        <a:solidFill>
                          <a:srgbClr val="273239"/>
                        </a:solidFill>
                        <a:latin typeface="Times New Roman" panose="02020603050405020304" charset="0"/>
                        <a:ea typeface="Nunito"/>
                        <a:cs typeface="Times New Roman" panose="02020603050405020304" charset="0"/>
                      </a:endParaRPr>
                    </a:p>
                  </a:txBody>
                  <a:tcPr marL="76517" marR="76517" marT="76517" marB="76517">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solidFill>
                      <a:srgbClr val="F9F9F9"/>
                    </a:solidFill>
                  </a:tcPr>
                </a:tc>
              </a:tr>
              <a:tr h="1149350">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1.</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Soft Computing is liberal of inexactness, uncertainty, partial truth and approximation.</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Hard computing needs a exactly state analytic model.</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844550">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2.</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Soft Computing relies on formal logic and probabilistic reasoning.</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Hard computing relies on binary logic and crisp system.</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1149350">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3.</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Soft computing has the features of approximation and dispositionality.</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Hard computing has the features of exactitude(precision) and categoricity.</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bl>
          </a:graphicData>
        </a:graphic>
      </p:graphicFrame>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Difference between Soft Computing and Hard Computing </a:t>
            </a:r>
            <a:endPar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graphicFrame>
        <p:nvGraphicFramePr>
          <p:cNvPr id="2" name="Table 1"/>
          <p:cNvGraphicFramePr/>
          <p:nvPr>
            <p:custDataLst>
              <p:tags r:id="rId1"/>
            </p:custDataLst>
          </p:nvPr>
        </p:nvGraphicFramePr>
        <p:xfrm>
          <a:off x="381000" y="1352550"/>
          <a:ext cx="8247380" cy="3497580"/>
        </p:xfrm>
        <a:graphic>
          <a:graphicData uri="http://schemas.openxmlformats.org/drawingml/2006/table">
            <a:tbl>
              <a:tblPr/>
              <a:tblGrid>
                <a:gridCol w="639445"/>
                <a:gridCol w="3966210"/>
                <a:gridCol w="3641725"/>
              </a:tblGrid>
              <a:tr h="886460">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4.</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Soft computing is stochastic in nature.</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Hard computing is deterministic in nature.</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887095">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5.</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Soft computing works on ambiguous and noisy data.</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Hard computing works on exact data.</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886460">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6.</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Soft computing can perform parallel computations.</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Hard computing performs sequential computations.</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837565">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7.</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Soft computing produces approximate results.</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Hard computing produces precise results.</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bl>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Difference between Soft Computing and Hard Computing </a:t>
            </a:r>
            <a:endParaRPr kumimoji="0" lang="en-US"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graphicFrame>
        <p:nvGraphicFramePr>
          <p:cNvPr id="2" name="Table 1"/>
          <p:cNvGraphicFramePr/>
          <p:nvPr>
            <p:custDataLst>
              <p:tags r:id="rId1"/>
            </p:custDataLst>
          </p:nvPr>
        </p:nvGraphicFramePr>
        <p:xfrm>
          <a:off x="640080" y="1358265"/>
          <a:ext cx="7863840" cy="3421380"/>
        </p:xfrm>
        <a:graphic>
          <a:graphicData uri="http://schemas.openxmlformats.org/drawingml/2006/table">
            <a:tbl>
              <a:tblPr/>
              <a:tblGrid>
                <a:gridCol w="877570"/>
                <a:gridCol w="3707130"/>
                <a:gridCol w="3279140"/>
              </a:tblGrid>
              <a:tr h="1140460">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8.</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Soft computing will emerge its own programs.</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Hard computing requires programs to be written.</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1140460">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9.</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Soft computing incorporates randomness .</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Hard computing is settled.</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1140460">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10.</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Soft computing will use multivalued logic.</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1800" b="0" i="0">
                          <a:solidFill>
                            <a:srgbClr val="273239"/>
                          </a:solidFill>
                          <a:latin typeface="Times New Roman" panose="02020603050405020304" charset="0"/>
                          <a:ea typeface="Nunito"/>
                          <a:cs typeface="Times New Roman" panose="02020603050405020304" charset="0"/>
                        </a:rPr>
                        <a:t>Hard computing uses two-valued logic.</a:t>
                      </a:r>
                      <a:endParaRPr sz="1800" b="0" i="0">
                        <a:solidFill>
                          <a:srgbClr val="273239"/>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bl>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647700"/>
            <a:ext cx="8229600" cy="539115"/>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Application of Soft Computing</a:t>
            </a:r>
            <a:endPar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pic>
        <p:nvPicPr>
          <p:cNvPr id="5" name="Picture 4"/>
          <p:cNvPicPr>
            <a:picLocks noChangeAspect="1"/>
          </p:cNvPicPr>
          <p:nvPr/>
        </p:nvPicPr>
        <p:blipFill>
          <a:blip r:embed="rId1"/>
          <a:stretch>
            <a:fillRect/>
          </a:stretch>
        </p:blipFill>
        <p:spPr>
          <a:xfrm>
            <a:off x="76200" y="1186815"/>
            <a:ext cx="8851900" cy="3872230"/>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228600" y="895350"/>
            <a:ext cx="8829675" cy="4038600"/>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228600" y="819150"/>
            <a:ext cx="8617585" cy="4000500"/>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3520" y="730250"/>
            <a:ext cx="8722360" cy="4356100"/>
          </a:xfrm>
          <a:prstGeom prst="rect">
            <a:avLst/>
          </a:prstGeom>
          <a:noFill/>
        </p:spPr>
        <p:txBody>
          <a:bodyPr wrap="square" rtlCol="0">
            <a:noAutofit/>
          </a:bodyPr>
          <a:p>
            <a:r>
              <a:rPr lang="en-GB" altLang="en-US" sz="2000" b="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rPr>
              <a:t>Core Components of Soft Computing -</a:t>
            </a:r>
            <a:endParaRPr lang="en-GB" altLang="en-US" sz="2000" b="1">
              <a:gradFill>
                <a:gsLst>
                  <a:gs pos="50000">
                    <a:schemeClr val="accent1"/>
                  </a:gs>
                  <a:gs pos="0">
                    <a:schemeClr val="accent1">
                      <a:lumMod val="25000"/>
                      <a:lumOff val="75000"/>
                    </a:schemeClr>
                  </a:gs>
                  <a:gs pos="100000">
                    <a:schemeClr val="accent1">
                      <a:lumMod val="85000"/>
                    </a:schemeClr>
                  </a:gs>
                </a:gsLst>
                <a:lin ang="5400000" scaled="1"/>
              </a:gradFill>
              <a:latin typeface="Times New Roman" panose="02020603050405020304" charset="0"/>
              <a:cs typeface="Times New Roman" panose="02020603050405020304" charset="0"/>
            </a:endParaRPr>
          </a:p>
          <a:p>
            <a:endParaRPr lang="en-GB" altLang="en-US" sz="2000" b="1">
              <a:latin typeface="Times New Roman" panose="02020603050405020304" charset="0"/>
              <a:cs typeface="Times New Roman" panose="02020603050405020304" charset="0"/>
            </a:endParaRPr>
          </a:p>
          <a:p>
            <a:pPr marL="342900" indent="-342900">
              <a:buFont typeface="Wingdings" panose="05000000000000000000" charset="0"/>
              <a:buChar char="v"/>
            </a:pPr>
            <a:r>
              <a:rPr lang="en-GB" altLang="en-US" sz="2000" b="1">
                <a:latin typeface="Times New Roman" panose="02020603050405020304" charset="0"/>
                <a:cs typeface="Times New Roman" panose="02020603050405020304" charset="0"/>
              </a:rPr>
              <a:t>Genetic Algorithm -</a:t>
            </a:r>
            <a:endParaRPr lang="en-GB" altLang="en-US" sz="2000" b="1">
              <a:latin typeface="Times New Roman" panose="02020603050405020304" charset="0"/>
              <a:cs typeface="Times New Roman" panose="02020603050405020304" charset="0"/>
            </a:endParaRPr>
          </a:p>
          <a:p>
            <a:pPr marL="342900" indent="-342900">
              <a:buFont typeface="Wingdings" panose="05000000000000000000" charset="0"/>
              <a:buChar char="Ø"/>
            </a:pPr>
            <a:endParaRPr lang="en-GB" altLang="en-US" sz="2000" b="1">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altLang="en-US" sz="2000">
                <a:latin typeface="Times New Roman" panose="02020603050405020304" charset="0"/>
                <a:cs typeface="Times New Roman" panose="02020603050405020304" charset="0"/>
              </a:rPr>
              <a:t>Genetic Algorithms(GAs) are adaptive heuristic search algorithms that belong to the larger part of evolutionary algorithms. </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altLang="en-US" sz="2000">
                <a:latin typeface="Times New Roman" panose="02020603050405020304" charset="0"/>
                <a:cs typeface="Times New Roman" panose="02020603050405020304" charset="0"/>
              </a:rPr>
              <a:t>Genetic algorithms are based on the ideas of natural selection and genetics. These are intelligent exploitation of random searches provided with historical data to direct the search into the region of better performance in solution space. </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altLang="en-US" sz="2000">
                <a:latin typeface="Times New Roman" panose="02020603050405020304" charset="0"/>
                <a:cs typeface="Times New Roman" panose="02020603050405020304" charset="0"/>
              </a:rPr>
              <a:t>They are commonly used to generate high-quality solutions for optimization problems and search problems.</a:t>
            </a:r>
            <a:endParaRPr lang="en-US" altLang="en-US" sz="2000">
              <a:latin typeface="Times New Roman" panose="02020603050405020304" charset="0"/>
              <a:cs typeface="Times New Roman" panose="02020603050405020304" charset="0"/>
            </a:endParaRPr>
          </a:p>
          <a:p>
            <a:endParaRPr lang="en-GB" altLang="en-US" sz="2000" b="1">
              <a:latin typeface="Times New Roman" panose="02020603050405020304" charset="0"/>
              <a:cs typeface="Times New Roman" panose="02020603050405020304" charset="0"/>
            </a:endParaRPr>
          </a:p>
          <a:p>
            <a:endParaRPr lang="en-GB" altLang="en-US" sz="2000" b="1">
              <a:latin typeface="Times New Roman" panose="02020603050405020304" charset="0"/>
              <a:cs typeface="Times New Roman" panose="02020603050405020304"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9705" y="889000"/>
            <a:ext cx="8659495" cy="3784600"/>
          </a:xfrm>
          <a:prstGeom prst="rect">
            <a:avLst/>
          </a:prstGeom>
          <a:noFill/>
        </p:spPr>
        <p:txBody>
          <a:bodyPr wrap="square" rtlCol="0">
            <a:spAutoFit/>
          </a:bodyPr>
          <a:p>
            <a:pPr marL="342900" indent="-342900" algn="just">
              <a:buFont typeface="Wingdings" panose="05000000000000000000" charset="0"/>
              <a:buChar char="Ø"/>
            </a:pPr>
            <a:r>
              <a:rPr lang="en-US" altLang="en-US" sz="2000">
                <a:latin typeface="Times New Roman" panose="02020603050405020304" charset="0"/>
                <a:cs typeface="Times New Roman" panose="02020603050405020304" charset="0"/>
              </a:rPr>
              <a:t>Genetic algorithms simulate the process of natural selection which means those species that can adapt to changes in their environment can survive and reproduce and go to the next generation. </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altLang="en-US" sz="2000">
                <a:latin typeface="Times New Roman" panose="02020603050405020304" charset="0"/>
                <a:cs typeface="Times New Roman" panose="02020603050405020304" charset="0"/>
              </a:rPr>
              <a:t>In simple words, they simulate “survival of the fittest” among individuals of consecutive generations to solve a problem. </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altLang="en-US" sz="2000">
                <a:latin typeface="Times New Roman" panose="02020603050405020304" charset="0"/>
                <a:cs typeface="Times New Roman" panose="02020603050405020304" charset="0"/>
              </a:rPr>
              <a:t>Each generation consists of a population of individuals and each individual represents a point in search space and possible solution. </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altLang="en-US" sz="2000">
                <a:latin typeface="Times New Roman" panose="02020603050405020304" charset="0"/>
                <a:cs typeface="Times New Roman" panose="02020603050405020304" charset="0"/>
              </a:rPr>
              <a:t>Each individual is represented as a string of character/integer/float/bits. This string is analogous to the Chromosome.</a:t>
            </a:r>
            <a:endParaRPr lang="en-US" altLang="en-US" sz="2000">
              <a:latin typeface="Times New Roman" panose="02020603050405020304" charset="0"/>
              <a:cs typeface="Times New Roman" panose="0202060305040502030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666433"/>
            <a:ext cx="5080000" cy="398780"/>
          </a:xfrm>
          <a:prstGeom prst="rect">
            <a:avLst/>
          </a:prstGeom>
        </p:spPr>
        <p:txBody>
          <a:bodyPr>
            <a:spAutoFit/>
          </a:bodyPr>
          <a:p>
            <a:pPr marL="0" indent="0" algn="l" fontAlgn="base">
              <a:spcBef>
                <a:spcPct val="0"/>
              </a:spcBef>
              <a:spcAft>
                <a:spcPct val="0"/>
              </a:spcAft>
            </a:pPr>
            <a:r>
              <a:rPr sz="2000" b="1" i="0">
                <a:solidFill>
                  <a:srgbClr val="273239"/>
                </a:solidFill>
                <a:latin typeface="Times New Roman" panose="02020603050405020304" charset="0"/>
                <a:ea typeface="Nunito"/>
                <a:cs typeface="Times New Roman" panose="02020603050405020304" charset="0"/>
              </a:rPr>
              <a:t>Foundation of Genetic Algorithms</a:t>
            </a:r>
            <a:endParaRPr sz="20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304800" y="1123950"/>
            <a:ext cx="8396605" cy="3519170"/>
          </a:xfrm>
          <a:prstGeom prst="rect">
            <a:avLst/>
          </a:prstGeom>
        </p:spPr>
        <p:txBody>
          <a:bodyPr wrap="square">
            <a:noAutofit/>
          </a:bodyPr>
          <a:p>
            <a:pPr marL="0" indent="0" algn="just"/>
            <a:r>
              <a:rPr sz="2000" b="0" i="0">
                <a:solidFill>
                  <a:srgbClr val="273239"/>
                </a:solidFill>
                <a:latin typeface="Times New Roman" panose="02020603050405020304" charset="0"/>
                <a:ea typeface="Nunito"/>
                <a:cs typeface="Times New Roman" panose="02020603050405020304" charset="0"/>
              </a:rPr>
              <a:t>Genetic algorithms are based on an analogy with the genetic structure and behavior of chromosomes of the population. Following is the foundation of GAs based on this analogy -  </a:t>
            </a:r>
            <a:endParaRPr sz="2000" b="0" i="0">
              <a:solidFill>
                <a:srgbClr val="273239"/>
              </a:solidFill>
              <a:latin typeface="Times New Roman" panose="02020603050405020304" charset="0"/>
              <a:ea typeface="Nunito"/>
              <a:cs typeface="Times New Roman" panose="02020603050405020304" charset="0"/>
            </a:endParaRPr>
          </a:p>
          <a:p>
            <a:pPr marL="0" indent="0" algn="just"/>
            <a:endParaRPr sz="2000" b="0" i="0">
              <a:solidFill>
                <a:srgbClr val="273239"/>
              </a:solidFill>
              <a:latin typeface="Times New Roman" panose="02020603050405020304" charset="0"/>
              <a:ea typeface="Nunito"/>
              <a:cs typeface="Times New Roman" panose="02020603050405020304" charset="0"/>
            </a:endParaRPr>
          </a:p>
          <a:p>
            <a:pPr marL="342900" indent="-342900" algn="just">
              <a:buFont typeface="Wingdings" panose="05000000000000000000" charset="0"/>
              <a:buChar char="ü"/>
            </a:pPr>
            <a:r>
              <a:rPr lang="en-US" altLang="en-US" sz="2000" b="0" i="0">
                <a:solidFill>
                  <a:srgbClr val="273239"/>
                </a:solidFill>
                <a:latin typeface="Times New Roman" panose="02020603050405020304" charset="0"/>
                <a:ea typeface="Nunito"/>
                <a:cs typeface="Times New Roman" panose="02020603050405020304" charset="0"/>
              </a:rPr>
              <a:t>Individuals in the population compete for resources and mate</a:t>
            </a:r>
            <a:r>
              <a:rPr lang="en-GB" altLang="en-US" sz="2000" b="0" i="0">
                <a:solidFill>
                  <a:srgbClr val="273239"/>
                </a:solidFill>
                <a:latin typeface="Times New Roman" panose="02020603050405020304" charset="0"/>
                <a:ea typeface="Nunito"/>
                <a:cs typeface="Times New Roman" panose="02020603050405020304" charset="0"/>
              </a:rPr>
              <a:t>.</a:t>
            </a:r>
            <a:endParaRPr lang="en-US" altLang="en-US" sz="2000" b="0" i="0">
              <a:solidFill>
                <a:srgbClr val="273239"/>
              </a:solidFill>
              <a:latin typeface="Times New Roman" panose="02020603050405020304" charset="0"/>
              <a:ea typeface="Nunito"/>
              <a:cs typeface="Times New Roman" panose="02020603050405020304" charset="0"/>
            </a:endParaRPr>
          </a:p>
          <a:p>
            <a:pPr indent="0" algn="just">
              <a:buFont typeface="Wingdings" panose="05000000000000000000" charset="0"/>
              <a:buNone/>
            </a:pPr>
            <a:endParaRPr lang="en-US" altLang="en-US" sz="2000" b="0" i="0">
              <a:solidFill>
                <a:srgbClr val="273239"/>
              </a:solidFill>
              <a:latin typeface="Times New Roman" panose="02020603050405020304" charset="0"/>
              <a:ea typeface="Nunito"/>
              <a:cs typeface="Times New Roman" panose="02020603050405020304" charset="0"/>
            </a:endParaRPr>
          </a:p>
          <a:p>
            <a:pPr marL="342900" indent="-342900" algn="just">
              <a:buFont typeface="Wingdings" panose="05000000000000000000" charset="0"/>
              <a:buChar char="ü"/>
            </a:pPr>
            <a:r>
              <a:rPr lang="en-US" altLang="en-US" sz="2000" b="0" i="0">
                <a:solidFill>
                  <a:srgbClr val="273239"/>
                </a:solidFill>
                <a:latin typeface="Times New Roman" panose="02020603050405020304" charset="0"/>
                <a:ea typeface="Nunito"/>
                <a:cs typeface="Times New Roman" panose="02020603050405020304" charset="0"/>
              </a:rPr>
              <a:t>Those individuals who are successful (fittest) then mate to create more offspring than others</a:t>
            </a:r>
            <a:r>
              <a:rPr lang="en-GB" altLang="en-US" sz="2000" b="0" i="0">
                <a:solidFill>
                  <a:srgbClr val="273239"/>
                </a:solidFill>
                <a:latin typeface="Times New Roman" panose="02020603050405020304" charset="0"/>
                <a:ea typeface="Nunito"/>
                <a:cs typeface="Times New Roman" panose="02020603050405020304" charset="0"/>
              </a:rPr>
              <a:t>.</a:t>
            </a:r>
            <a:endParaRPr lang="en-US" altLang="en-US" sz="2000" b="0" i="0">
              <a:solidFill>
                <a:srgbClr val="273239"/>
              </a:solidFill>
              <a:latin typeface="Times New Roman" panose="02020603050405020304" charset="0"/>
              <a:ea typeface="Nunito"/>
              <a:cs typeface="Times New Roman" panose="02020603050405020304" charset="0"/>
            </a:endParaRPr>
          </a:p>
          <a:p>
            <a:pPr indent="0" algn="just">
              <a:buFont typeface="Wingdings" panose="05000000000000000000" charset="0"/>
              <a:buNone/>
            </a:pPr>
            <a:endParaRPr lang="en-US" altLang="en-US" sz="2000" b="0" i="0">
              <a:solidFill>
                <a:srgbClr val="273239"/>
              </a:solidFill>
              <a:latin typeface="Times New Roman" panose="02020603050405020304" charset="0"/>
              <a:ea typeface="Nunito"/>
              <a:cs typeface="Times New Roman" panose="02020603050405020304" charset="0"/>
            </a:endParaRPr>
          </a:p>
          <a:p>
            <a:pPr marL="342900" indent="-342900" algn="just">
              <a:buFont typeface="Wingdings" panose="05000000000000000000" charset="0"/>
              <a:buChar char="ü"/>
            </a:pPr>
            <a:r>
              <a:rPr lang="en-US" altLang="en-US" sz="2000" b="0" i="0">
                <a:solidFill>
                  <a:srgbClr val="273239"/>
                </a:solidFill>
                <a:latin typeface="Times New Roman" panose="02020603050405020304" charset="0"/>
                <a:ea typeface="Nunito"/>
                <a:cs typeface="Times New Roman" panose="02020603050405020304" charset="0"/>
              </a:rPr>
              <a:t>Genes from the “fittest” parent propagate throughout the generation, that is sometimes parents create offspring which is better than either parent.</a:t>
            </a:r>
            <a:endParaRPr lang="en-US" altLang="en-US" sz="2000" b="0" i="0">
              <a:solidFill>
                <a:srgbClr val="273239"/>
              </a:solidFill>
              <a:latin typeface="Times New Roman" panose="02020603050405020304" charset="0"/>
              <a:ea typeface="Nunito"/>
              <a:cs typeface="Times New Roman" panose="02020603050405020304" charset="0"/>
            </a:endParaRPr>
          </a:p>
          <a:p>
            <a:pPr indent="0" algn="just">
              <a:buFont typeface="Wingdings" panose="05000000000000000000" charset="0"/>
              <a:buNone/>
            </a:pPr>
            <a:endParaRPr lang="en-US" altLang="en-US" sz="2000" b="0" i="0">
              <a:solidFill>
                <a:srgbClr val="273239"/>
              </a:solidFill>
              <a:latin typeface="Times New Roman" panose="02020603050405020304" charset="0"/>
              <a:ea typeface="Nunito"/>
              <a:cs typeface="Times New Roman" panose="02020603050405020304" charset="0"/>
            </a:endParaRPr>
          </a:p>
          <a:p>
            <a:pPr marL="342900" indent="-342900" algn="just">
              <a:buFont typeface="Wingdings" panose="05000000000000000000" charset="0"/>
              <a:buChar char="ü"/>
            </a:pPr>
            <a:r>
              <a:rPr lang="en-US" altLang="en-US" sz="2000" b="0" i="0">
                <a:solidFill>
                  <a:srgbClr val="273239"/>
                </a:solidFill>
                <a:latin typeface="Times New Roman" panose="02020603050405020304" charset="0"/>
                <a:ea typeface="Nunito"/>
                <a:cs typeface="Times New Roman" panose="02020603050405020304" charset="0"/>
              </a:rPr>
              <a:t>Thus each successive generation is more suited for their environment.</a:t>
            </a:r>
            <a:endParaRPr lang="en-US" altLang="en-US" sz="20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590550"/>
            <a:ext cx="4052570" cy="398780"/>
          </a:xfrm>
          <a:prstGeom prst="rect">
            <a:avLst/>
          </a:prstGeom>
        </p:spPr>
        <p:txBody>
          <a:bodyPr wrap="square">
            <a:spAutoFit/>
          </a:bodyPr>
          <a:p>
            <a:pPr marL="0" indent="0" algn="l" fontAlgn="base">
              <a:spcBef>
                <a:spcPct val="0"/>
              </a:spcBef>
              <a:spcAft>
                <a:spcPct val="0"/>
              </a:spcAft>
            </a:pPr>
            <a:r>
              <a:rPr sz="2000" b="1" i="0">
                <a:solidFill>
                  <a:srgbClr val="273239"/>
                </a:solidFill>
                <a:latin typeface="Times New Roman" panose="02020603050405020304" charset="0"/>
                <a:ea typeface="Nunito"/>
                <a:cs typeface="Times New Roman" panose="02020603050405020304" charset="0"/>
              </a:rPr>
              <a:t>Search space</a:t>
            </a:r>
            <a:endParaRPr sz="20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381000" y="989330"/>
            <a:ext cx="8451215" cy="2861310"/>
          </a:xfrm>
          <a:prstGeom prst="rect">
            <a:avLst/>
          </a:prstGeom>
        </p:spPr>
        <p:txBody>
          <a:bodyPr wrap="square">
            <a:spAutoFit/>
          </a:bodyPr>
          <a:p>
            <a:pPr marL="285750" indent="-285750" algn="jus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The population of individuals are maintained within search space. </a:t>
            </a:r>
            <a:endParaRPr b="0" i="0">
              <a:solidFill>
                <a:srgbClr val="273239"/>
              </a:solidFill>
              <a:latin typeface="Times New Roman" panose="02020603050405020304" charset="0"/>
              <a:ea typeface="Nunito"/>
              <a:cs typeface="Times New Roman" panose="02020603050405020304" charset="0"/>
            </a:endParaRPr>
          </a:p>
          <a:p>
            <a:pPr marL="285750" indent="-285750" algn="jus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Each individual represents a solution in search space for given problem. </a:t>
            </a:r>
            <a:endParaRPr b="0" i="0">
              <a:solidFill>
                <a:srgbClr val="273239"/>
              </a:solidFill>
              <a:latin typeface="Times New Roman" panose="02020603050405020304" charset="0"/>
              <a:ea typeface="Nunito"/>
              <a:cs typeface="Times New Roman" panose="02020603050405020304" charset="0"/>
            </a:endParaRPr>
          </a:p>
          <a:p>
            <a:pPr marL="285750" indent="-285750" algn="jus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Each individual is coded as a finite length vector (analogous to chromosome) of components. </a:t>
            </a:r>
            <a:endParaRPr b="0" i="0">
              <a:solidFill>
                <a:srgbClr val="273239"/>
              </a:solidFill>
              <a:latin typeface="Times New Roman" panose="02020603050405020304" charset="0"/>
              <a:ea typeface="Nunito"/>
              <a:cs typeface="Times New Roman" panose="02020603050405020304" charset="0"/>
            </a:endParaRPr>
          </a:p>
          <a:p>
            <a:pPr marL="285750" indent="-285750" algn="jus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These variable components are analogous to Genes. </a:t>
            </a:r>
            <a:endParaRPr b="0" i="0">
              <a:solidFill>
                <a:srgbClr val="273239"/>
              </a:solidFill>
              <a:latin typeface="Times New Roman" panose="02020603050405020304" charset="0"/>
              <a:ea typeface="Nunito"/>
              <a:cs typeface="Times New Roman" panose="02020603050405020304" charset="0"/>
            </a:endParaRPr>
          </a:p>
          <a:p>
            <a:pPr marL="285750" indent="-285750" algn="jus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Thus a chromosome (individual) is composed of several genes (variable components). </a:t>
            </a:r>
            <a:endParaRPr b="0" i="0">
              <a:solidFill>
                <a:srgbClr val="273239"/>
              </a:solidFill>
              <a:latin typeface="Times New Roman" panose="02020603050405020304" charset="0"/>
              <a:ea typeface="Nunito"/>
              <a:cs typeface="Times New Roman" panose="02020603050405020304" charset="0"/>
            </a:endParaRPr>
          </a:p>
        </p:txBody>
      </p:sp>
      <p:pic>
        <p:nvPicPr>
          <p:cNvPr id="4" name="Picture 3"/>
          <p:cNvPicPr>
            <a:picLocks noChangeAspect="1"/>
          </p:cNvPicPr>
          <p:nvPr/>
        </p:nvPicPr>
        <p:blipFill>
          <a:blip r:embed="rId1"/>
          <a:stretch>
            <a:fillRect/>
          </a:stretch>
        </p:blipFill>
        <p:spPr>
          <a:xfrm>
            <a:off x="1128395" y="3895725"/>
            <a:ext cx="6886575" cy="1247775"/>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666433"/>
            <a:ext cx="5080000" cy="398780"/>
          </a:xfrm>
          <a:prstGeom prst="rect">
            <a:avLst/>
          </a:prstGeom>
        </p:spPr>
        <p:txBody>
          <a:bodyPr>
            <a:spAutoFit/>
          </a:bodyPr>
          <a:p>
            <a:pPr marL="0" indent="0" algn="l" fontAlgn="base">
              <a:spcBef>
                <a:spcPct val="0"/>
              </a:spcBef>
              <a:spcAft>
                <a:spcPct val="0"/>
              </a:spcAft>
            </a:pPr>
            <a:r>
              <a:rPr sz="2000" b="1" i="0">
                <a:solidFill>
                  <a:srgbClr val="273239"/>
                </a:solidFill>
                <a:latin typeface="Times New Roman" panose="02020603050405020304" charset="0"/>
                <a:ea typeface="Nunito"/>
                <a:cs typeface="Times New Roman" panose="02020603050405020304" charset="0"/>
              </a:rPr>
              <a:t>Fitness Score</a:t>
            </a:r>
            <a:endParaRPr sz="20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228600" y="1352550"/>
            <a:ext cx="8639175" cy="3138170"/>
          </a:xfrm>
          <a:prstGeom prst="rect">
            <a:avLst/>
          </a:prstGeom>
        </p:spPr>
        <p:txBody>
          <a:bodyPr wrap="square">
            <a:spAutoFit/>
          </a:bodyPr>
          <a:p>
            <a:pPr marL="285750" indent="-285750" algn="just" fontAlgn="base">
              <a:spcBef>
                <a:spcPct val="0"/>
              </a:spcBef>
              <a:spcAft>
                <a:spcPct val="0"/>
              </a:spcAf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A Fitness Score is given to each individual which </a:t>
            </a:r>
            <a:r>
              <a:rPr b="1" i="0">
                <a:solidFill>
                  <a:srgbClr val="273239"/>
                </a:solidFill>
                <a:latin typeface="Times New Roman" panose="02020603050405020304" charset="0"/>
                <a:ea typeface="Nunito"/>
                <a:cs typeface="Times New Roman" panose="02020603050405020304" charset="0"/>
              </a:rPr>
              <a:t>shows the ability of an individual to “compete”</a:t>
            </a:r>
            <a:r>
              <a:rPr b="0" i="0">
                <a:solidFill>
                  <a:srgbClr val="273239"/>
                </a:solidFill>
                <a:latin typeface="Times New Roman" panose="02020603050405020304" charset="0"/>
                <a:ea typeface="Nunito"/>
                <a:cs typeface="Times New Roman" panose="02020603050405020304" charset="0"/>
              </a:rPr>
              <a:t>. </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The individual having optimal fitness score (or near optimal) are sought. </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The GAs maintains the population of n individuals (chromosome/solutions) along with their fitness scores.</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The individuals having better fitness scores are given more chance to reproduce than others. </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95350"/>
            <a:ext cx="8649970" cy="3969385"/>
          </a:xfrm>
          <a:prstGeom prst="rect">
            <a:avLst/>
          </a:prstGeom>
        </p:spPr>
        <p:txBody>
          <a:bodyPr wrap="square">
            <a:spAutoFit/>
          </a:bodyPr>
          <a:p>
            <a:pPr marL="285750" indent="-285750" algn="just" fontAlgn="base">
              <a:spcBef>
                <a:spcPct val="0"/>
              </a:spcBef>
              <a:spcAft>
                <a:spcPct val="0"/>
              </a:spcAf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The individuals with better fitness scores are selected who mate and produce </a:t>
            </a:r>
            <a:r>
              <a:rPr b="1" i="0">
                <a:solidFill>
                  <a:srgbClr val="273239"/>
                </a:solidFill>
                <a:latin typeface="Times New Roman" panose="02020603050405020304" charset="0"/>
                <a:ea typeface="Nunito"/>
                <a:cs typeface="Times New Roman" panose="02020603050405020304" charset="0"/>
              </a:rPr>
              <a:t>better offspring</a:t>
            </a:r>
            <a:r>
              <a:rPr b="0" i="0">
                <a:solidFill>
                  <a:srgbClr val="273239"/>
                </a:solidFill>
                <a:latin typeface="Times New Roman" panose="02020603050405020304" charset="0"/>
                <a:ea typeface="Nunito"/>
                <a:cs typeface="Times New Roman" panose="02020603050405020304" charset="0"/>
              </a:rPr>
              <a:t> by combining chromosomes of parents. </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The population size is static so the room has to be created for new arrivals. </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So, some individuals die and get replaced by new arrivals eventually creating new generation when all the mating opportunity of the old population is exhausted. </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It is hoped that over successive generations better solutions will arrive while least fit die.</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r>
              <a:rPr lang="en-US" altLang="en-US" b="0" i="0">
                <a:solidFill>
                  <a:srgbClr val="273239"/>
                </a:solidFill>
                <a:latin typeface="Times New Roman" panose="02020603050405020304" charset="0"/>
                <a:ea typeface="Nunito"/>
                <a:cs typeface="Times New Roman" panose="02020603050405020304" charset="0"/>
              </a:rPr>
              <a:t>Each new generation has on average more “better genes” than the individual (solution) of previous generations. </a:t>
            </a:r>
            <a:endParaRPr lang="en-US" altLang="en-US"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Wingdings" panose="05000000000000000000" charset="0"/>
              <a:buChar char="ü"/>
            </a:pPr>
            <a:r>
              <a:rPr lang="en-US" altLang="en-US" b="0" i="0">
                <a:solidFill>
                  <a:srgbClr val="273239"/>
                </a:solidFill>
                <a:latin typeface="Times New Roman" panose="02020603050405020304" charset="0"/>
                <a:ea typeface="Nunito"/>
                <a:cs typeface="Times New Roman" panose="02020603050405020304" charset="0"/>
              </a:rPr>
              <a:t>Thus each new generations have better “partial solutions” than previous generations. </a:t>
            </a:r>
            <a:r>
              <a:rPr b="0" i="0">
                <a:solidFill>
                  <a:srgbClr val="273239"/>
                </a:solidFill>
                <a:latin typeface="Times New Roman" panose="02020603050405020304" charset="0"/>
                <a:ea typeface="Nunito"/>
                <a:cs typeface="Times New Roman" panose="02020603050405020304" charset="0"/>
              </a:rPr>
              <a:t> </a:t>
            </a:r>
            <a:endParaRPr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895350"/>
            <a:ext cx="8848725" cy="922020"/>
          </a:xfrm>
          <a:prstGeom prst="rect">
            <a:avLst/>
          </a:prstGeom>
        </p:spPr>
        <p:txBody>
          <a:bodyPr wrap="square">
            <a:spAutoFit/>
          </a:bodyPr>
          <a:p>
            <a:pPr marL="285750" indent="-285750" algn="just">
              <a:buFont typeface="Wingdings" panose="05000000000000000000" charset="0"/>
              <a:buChar char="ü"/>
            </a:pPr>
            <a:r>
              <a:rPr b="0" i="0">
                <a:solidFill>
                  <a:srgbClr val="273239"/>
                </a:solidFill>
                <a:latin typeface="Times New Roman" panose="02020603050405020304" charset="0"/>
                <a:ea typeface="Nunito"/>
                <a:cs typeface="Times New Roman" panose="02020603050405020304" charset="0"/>
              </a:rPr>
              <a:t>Once the offspring produced having no significant difference from offspring produced by previous populations, the population is converged. The algorithm is said to be converged to a set of solutions for the problem.</a:t>
            </a:r>
            <a:endParaRPr b="0"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304800" y="2114550"/>
            <a:ext cx="6248400" cy="368300"/>
          </a:xfrm>
          <a:prstGeom prst="rect">
            <a:avLst/>
          </a:prstGeom>
        </p:spPr>
        <p:txBody>
          <a:bodyPr wrap="square">
            <a:spAutoFit/>
          </a:bodyPr>
          <a:p>
            <a:pPr marL="0" indent="0" algn="l" fontAlgn="base">
              <a:spcBef>
                <a:spcPct val="0"/>
              </a:spcBef>
              <a:spcAft>
                <a:spcPct val="0"/>
              </a:spcAft>
            </a:pPr>
            <a:r>
              <a:rPr b="1" i="0">
                <a:solidFill>
                  <a:srgbClr val="273239"/>
                </a:solidFill>
                <a:latin typeface="Times New Roman" panose="02020603050405020304" charset="0"/>
                <a:ea typeface="Nunito"/>
                <a:cs typeface="Times New Roman" panose="02020603050405020304" charset="0"/>
              </a:rPr>
              <a:t>Operators of Genetic Algorithms</a:t>
            </a:r>
            <a:endParaRPr b="1" i="0">
              <a:solidFill>
                <a:srgbClr val="273239"/>
              </a:solidFill>
              <a:latin typeface="Times New Roman" panose="02020603050405020304" charset="0"/>
              <a:ea typeface="Nunito"/>
              <a:cs typeface="Times New Roman" panose="02020603050405020304" charset="0"/>
            </a:endParaRPr>
          </a:p>
        </p:txBody>
      </p:sp>
      <p:sp>
        <p:nvSpPr>
          <p:cNvPr id="4" name="Text Box 3"/>
          <p:cNvSpPr txBox="1"/>
          <p:nvPr/>
        </p:nvSpPr>
        <p:spPr>
          <a:xfrm>
            <a:off x="339090" y="2647950"/>
            <a:ext cx="8662670" cy="645160"/>
          </a:xfrm>
          <a:prstGeom prst="rect">
            <a:avLst/>
          </a:prstGeom>
        </p:spPr>
        <p:txBody>
          <a:bodyPr wrap="square">
            <a:spAutoFit/>
          </a:bodyPr>
          <a:p>
            <a:pPr marL="0" indent="0" algn="l"/>
            <a:r>
              <a:rPr b="0" i="0">
                <a:solidFill>
                  <a:srgbClr val="273239"/>
                </a:solidFill>
                <a:latin typeface="Times New Roman" panose="02020603050405020304" charset="0"/>
                <a:ea typeface="Nunito"/>
                <a:cs typeface="Times New Roman" panose="02020603050405020304" charset="0"/>
              </a:rPr>
              <a:t>Once the initial generation is created, the algorithm evolves the generation using following operators - </a:t>
            </a:r>
            <a:endParaRPr b="0" i="0">
              <a:solidFill>
                <a:srgbClr val="273239"/>
              </a:solidFill>
              <a:latin typeface="Times New Roman" panose="02020603050405020304" charset="0"/>
              <a:ea typeface="Nunito"/>
              <a:cs typeface="Times New Roman" panose="02020603050405020304" charset="0"/>
            </a:endParaRPr>
          </a:p>
        </p:txBody>
      </p:sp>
      <p:sp>
        <p:nvSpPr>
          <p:cNvPr id="5" name="Text Box 4"/>
          <p:cNvSpPr txBox="1"/>
          <p:nvPr/>
        </p:nvSpPr>
        <p:spPr>
          <a:xfrm>
            <a:off x="381000" y="3409950"/>
            <a:ext cx="8462010" cy="1198880"/>
          </a:xfrm>
          <a:prstGeom prst="rect">
            <a:avLst/>
          </a:prstGeom>
        </p:spPr>
        <p:txBody>
          <a:bodyPr wrap="square">
            <a:spAutoFit/>
          </a:bodyPr>
          <a:p>
            <a:pPr marL="0" indent="0" algn="l" fontAlgn="base">
              <a:spcBef>
                <a:spcPct val="0"/>
              </a:spcBef>
              <a:spcAft>
                <a:spcPct val="0"/>
              </a:spcAft>
            </a:pPr>
            <a:r>
              <a:rPr b="1" i="0">
                <a:solidFill>
                  <a:srgbClr val="273239"/>
                </a:solidFill>
                <a:latin typeface="Times New Roman" panose="02020603050405020304" charset="0"/>
                <a:ea typeface="Nunito"/>
                <a:cs typeface="Times New Roman" panose="02020603050405020304" charset="0"/>
              </a:rPr>
              <a:t>1) Selection Operator:</a:t>
            </a:r>
            <a:endParaRPr b="1"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pPr>
            <a:endParaRPr b="1"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pPr>
            <a:r>
              <a:rPr b="0" i="0">
                <a:solidFill>
                  <a:srgbClr val="273239"/>
                </a:solidFill>
                <a:latin typeface="Times New Roman" panose="02020603050405020304" charset="0"/>
                <a:ea typeface="Nunito"/>
                <a:cs typeface="Times New Roman" panose="02020603050405020304" charset="0"/>
              </a:rPr>
              <a:t> The idea is to give preference to the individuals with good fitness scores and allow them to pass their genes to successive generations. </a:t>
            </a:r>
            <a:endParaRPr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45745" y="742950"/>
            <a:ext cx="8663940" cy="1638300"/>
          </a:xfrm>
          <a:prstGeom prst="rect">
            <a:avLst/>
          </a:prstGeom>
        </p:spPr>
        <p:txBody>
          <a:bodyPr wrap="square">
            <a:noAutofit/>
          </a:bodyPr>
          <a:p>
            <a:pPr marL="0" indent="0" algn="just" fontAlgn="base">
              <a:spcBef>
                <a:spcPct val="0"/>
              </a:spcBef>
              <a:spcAft>
                <a:spcPct val="0"/>
              </a:spcAft>
            </a:pPr>
            <a:r>
              <a:rPr b="1" i="0">
                <a:solidFill>
                  <a:srgbClr val="273239"/>
                </a:solidFill>
                <a:latin typeface="Times New Roman" panose="02020603050405020304" charset="0"/>
                <a:ea typeface="Nunito"/>
                <a:cs typeface="Times New Roman" panose="02020603050405020304" charset="0"/>
              </a:rPr>
              <a:t>2) Crossover Operator:</a:t>
            </a:r>
            <a:endParaRPr b="1"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pPr>
            <a:endParaRPr b="1"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pPr>
            <a:r>
              <a:rPr b="0" i="0">
                <a:solidFill>
                  <a:srgbClr val="273239"/>
                </a:solidFill>
                <a:latin typeface="Times New Roman" panose="02020603050405020304" charset="0"/>
                <a:ea typeface="Nunito"/>
                <a:cs typeface="Times New Roman" panose="02020603050405020304" charset="0"/>
              </a:rPr>
              <a:t> This represents mating between individuals. Two individuals are selected using selection operator and crossover sites are chosen randomly. Then the genes at these crossover sites are exchanged thus creating a completely new individual (offspring). For example - </a:t>
            </a:r>
            <a:endParaRPr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pPr>
            <a:endParaRPr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pPr>
            <a:endParaRPr b="0" i="0">
              <a:solidFill>
                <a:srgbClr val="273239"/>
              </a:solidFill>
              <a:latin typeface="Times New Roman" panose="02020603050405020304" charset="0"/>
              <a:ea typeface="Nunito"/>
              <a:cs typeface="Times New Roman" panose="02020603050405020304" charset="0"/>
            </a:endParaRPr>
          </a:p>
        </p:txBody>
      </p:sp>
      <p:pic>
        <p:nvPicPr>
          <p:cNvPr id="3" name="Picture 2"/>
          <p:cNvPicPr/>
          <p:nvPr/>
        </p:nvPicPr>
        <p:blipFill>
          <a:blip r:embed="rId1"/>
          <a:stretch>
            <a:fillRect/>
          </a:stretch>
        </p:blipFill>
        <p:spPr>
          <a:xfrm>
            <a:off x="1219200" y="2419033"/>
            <a:ext cx="6896100" cy="1476375"/>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819150"/>
            <a:ext cx="8748395" cy="1753235"/>
          </a:xfrm>
          <a:prstGeom prst="rect">
            <a:avLst/>
          </a:prstGeom>
        </p:spPr>
        <p:txBody>
          <a:bodyPr wrap="square">
            <a:spAutoFit/>
          </a:bodyPr>
          <a:p>
            <a:pPr marL="0" indent="0" algn="just" fontAlgn="base">
              <a:spcBef>
                <a:spcPct val="0"/>
              </a:spcBef>
              <a:spcAft>
                <a:spcPct val="0"/>
              </a:spcAft>
            </a:pPr>
            <a:r>
              <a:rPr b="1" i="0">
                <a:solidFill>
                  <a:srgbClr val="273239"/>
                </a:solidFill>
                <a:latin typeface="Times New Roman" panose="02020603050405020304" charset="0"/>
                <a:ea typeface="Nunito"/>
                <a:cs typeface="Times New Roman" panose="02020603050405020304" charset="0"/>
              </a:rPr>
              <a:t>3) Mutation Operator:</a:t>
            </a:r>
            <a:endParaRPr b="1"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pPr>
            <a:endParaRPr b="1"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pPr>
            <a:r>
              <a:rPr b="0" i="0">
                <a:solidFill>
                  <a:srgbClr val="273239"/>
                </a:solidFill>
                <a:latin typeface="Times New Roman" panose="02020603050405020304" charset="0"/>
                <a:ea typeface="Nunito"/>
                <a:cs typeface="Times New Roman" panose="02020603050405020304" charset="0"/>
              </a:rPr>
              <a:t> The key idea is to insert random genes in offspring to maintain the diversity in the population to avoid premature convergence. For example - </a:t>
            </a:r>
            <a:endParaRPr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pPr>
            <a:endParaRPr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pPr>
            <a:endParaRPr b="0" i="0">
              <a:solidFill>
                <a:srgbClr val="273239"/>
              </a:solidFill>
              <a:latin typeface="Times New Roman" panose="02020603050405020304" charset="0"/>
              <a:ea typeface="Nunito"/>
              <a:cs typeface="Times New Roman" panose="02020603050405020304" charset="0"/>
            </a:endParaRPr>
          </a:p>
        </p:txBody>
      </p:sp>
      <p:pic>
        <p:nvPicPr>
          <p:cNvPr id="3" name="Picture 2"/>
          <p:cNvPicPr/>
          <p:nvPr/>
        </p:nvPicPr>
        <p:blipFill>
          <a:blip r:embed="rId1"/>
          <a:stretch>
            <a:fillRect/>
          </a:stretch>
        </p:blipFill>
        <p:spPr>
          <a:xfrm>
            <a:off x="1905000" y="2190750"/>
            <a:ext cx="4896485" cy="1344930"/>
          </a:xfrm>
          <a:prstGeom prst="rect">
            <a:avLst/>
          </a:prstGeom>
        </p:spPr>
      </p:pic>
      <p:sp>
        <p:nvSpPr>
          <p:cNvPr id="4" name="Text Box 3"/>
          <p:cNvSpPr txBox="1"/>
          <p:nvPr/>
        </p:nvSpPr>
        <p:spPr>
          <a:xfrm>
            <a:off x="304800" y="4095750"/>
            <a:ext cx="8595995" cy="368300"/>
          </a:xfrm>
          <a:prstGeom prst="rect">
            <a:avLst/>
          </a:prstGeom>
        </p:spPr>
        <p:txBody>
          <a:bodyPr wrap="square">
            <a:spAutoFit/>
          </a:bodyPr>
          <a:p>
            <a:pPr marL="0" indent="0" algn="l"/>
            <a:r>
              <a:rPr b="0" i="0">
                <a:solidFill>
                  <a:srgbClr val="273239"/>
                </a:solidFill>
                <a:latin typeface="Times New Roman" panose="02020603050405020304" charset="0"/>
                <a:ea typeface="Nunito"/>
                <a:cs typeface="Times New Roman" panose="02020603050405020304" charset="0"/>
              </a:rPr>
              <a:t>The whole algorithm can be summarized as -  </a:t>
            </a:r>
            <a:endParaRPr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76200" y="1002665"/>
            <a:ext cx="8557895" cy="3692525"/>
          </a:xfrm>
          <a:prstGeom prst="rect">
            <a:avLst/>
          </a:prstGeom>
        </p:spPr>
        <p:txBody>
          <a:bodyPr wrap="square">
            <a:spAutoFit/>
          </a:bodyPr>
          <a:p>
            <a:pPr marL="0" indent="0" algn="l" fontAlgn="base">
              <a:spcBef>
                <a:spcPct val="0"/>
              </a:spcBef>
              <a:spcAft>
                <a:spcPct val="0"/>
              </a:spcAft>
            </a:pPr>
            <a:r>
              <a:rPr b="0" i="0">
                <a:latin typeface="Times New Roman" panose="02020603050405020304" charset="0"/>
                <a:ea typeface="Consolas" panose="020B0609020204030204"/>
                <a:cs typeface="Times New Roman" panose="02020603050405020304" charset="0"/>
              </a:rPr>
              <a:t>1) Randomly initialize populations p</a:t>
            </a: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r>
              <a:rPr b="0" i="0">
                <a:latin typeface="Times New Roman" panose="02020603050405020304" charset="0"/>
                <a:ea typeface="Consolas" panose="020B0609020204030204"/>
                <a:cs typeface="Times New Roman" panose="02020603050405020304" charset="0"/>
              </a:rPr>
              <a:t>2) Determine fitness of population</a:t>
            </a: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r>
              <a:rPr b="0" i="0">
                <a:latin typeface="Times New Roman" panose="02020603050405020304" charset="0"/>
                <a:ea typeface="Consolas" panose="020B0609020204030204"/>
                <a:cs typeface="Times New Roman" panose="02020603050405020304" charset="0"/>
              </a:rPr>
              <a:t>3) Until convergence repeat:</a:t>
            </a: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r>
              <a:rPr b="0" i="0">
                <a:latin typeface="Times New Roman" panose="02020603050405020304" charset="0"/>
                <a:ea typeface="Consolas" panose="020B0609020204030204"/>
                <a:cs typeface="Times New Roman" panose="02020603050405020304" charset="0"/>
              </a:rPr>
              <a:t>      a) Select parents from population</a:t>
            </a: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r>
              <a:rPr b="0" i="0">
                <a:latin typeface="Times New Roman" panose="02020603050405020304" charset="0"/>
                <a:ea typeface="Consolas" panose="020B0609020204030204"/>
                <a:cs typeface="Times New Roman" panose="02020603050405020304" charset="0"/>
              </a:rPr>
              <a:t>      b) Crossover and generate new population</a:t>
            </a: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r>
              <a:rPr b="0" i="0">
                <a:latin typeface="Times New Roman" panose="02020603050405020304" charset="0"/>
                <a:ea typeface="Consolas" panose="020B0609020204030204"/>
                <a:cs typeface="Times New Roman" panose="02020603050405020304" charset="0"/>
              </a:rPr>
              <a:t>      c) Perform mutation on new population</a:t>
            </a: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endParaRPr b="0" i="0">
              <a:latin typeface="Times New Roman" panose="02020603050405020304" charset="0"/>
              <a:ea typeface="Consolas" panose="020B0609020204030204"/>
              <a:cs typeface="Times New Roman" panose="02020603050405020304" charset="0"/>
            </a:endParaRPr>
          </a:p>
          <a:p>
            <a:pPr marL="0" indent="0" algn="l" fontAlgn="base">
              <a:spcBef>
                <a:spcPct val="0"/>
              </a:spcBef>
              <a:spcAft>
                <a:spcPct val="0"/>
              </a:spcAft>
            </a:pPr>
            <a:r>
              <a:rPr b="0" i="0">
                <a:latin typeface="Times New Roman" panose="02020603050405020304" charset="0"/>
                <a:ea typeface="Consolas" panose="020B0609020204030204"/>
                <a:cs typeface="Times New Roman" panose="02020603050405020304" charset="0"/>
              </a:rPr>
              <a:t>      d) Calculate fitness for new population</a:t>
            </a:r>
            <a:endParaRPr b="0" i="0">
              <a:latin typeface="Times New Roman" panose="02020603050405020304" charset="0"/>
              <a:ea typeface="Consolas" panose="020B0609020204030204"/>
              <a:cs typeface="Times New Roman" panose="0202060305040502030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742950"/>
            <a:ext cx="8695055" cy="2030095"/>
          </a:xfrm>
          <a:prstGeom prst="rect">
            <a:avLst/>
          </a:prstGeom>
        </p:spPr>
        <p:txBody>
          <a:bodyPr wrap="square">
            <a:spAutoFit/>
          </a:bodyPr>
          <a:p>
            <a:pPr marL="0" indent="0" algn="l" fontAlgn="base">
              <a:spcBef>
                <a:spcPct val="0"/>
              </a:spcBef>
              <a:spcAft>
                <a:spcPct val="0"/>
              </a:spcAft>
            </a:pPr>
            <a:r>
              <a:rPr b="1" i="0">
                <a:solidFill>
                  <a:srgbClr val="273239"/>
                </a:solidFill>
                <a:latin typeface="Times New Roman" panose="02020603050405020304" charset="0"/>
                <a:ea typeface="Nunito"/>
                <a:cs typeface="Times New Roman" panose="02020603050405020304" charset="0"/>
              </a:rPr>
              <a:t>Why use Genetic Algorithms </a:t>
            </a:r>
            <a:endParaRPr b="1"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pPr>
            <a:endParaRPr b="1"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b="0" i="0">
                <a:solidFill>
                  <a:srgbClr val="273239"/>
                </a:solidFill>
                <a:latin typeface="Times New Roman" panose="02020603050405020304" charset="0"/>
                <a:ea typeface="Nunito"/>
                <a:cs typeface="Times New Roman" panose="02020603050405020304" charset="0"/>
              </a:rPr>
              <a:t> </a:t>
            </a:r>
            <a:r>
              <a:rPr b="0" i="0">
                <a:solidFill>
                  <a:srgbClr val="273239"/>
                </a:solidFill>
                <a:latin typeface="Times New Roman" panose="02020603050405020304" charset="0"/>
                <a:ea typeface="Nunito"/>
                <a:cs typeface="Times New Roman" panose="02020603050405020304" charset="0"/>
              </a:rPr>
              <a:t>They are Robust</a:t>
            </a: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None/>
            </a:pP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b="0" i="0">
                <a:solidFill>
                  <a:srgbClr val="273239"/>
                </a:solidFill>
                <a:latin typeface="Times New Roman" panose="02020603050405020304" charset="0"/>
                <a:ea typeface="Nunito"/>
                <a:cs typeface="Times New Roman" panose="02020603050405020304" charset="0"/>
              </a:rPr>
              <a:t> </a:t>
            </a:r>
            <a:r>
              <a:rPr b="0" i="0">
                <a:solidFill>
                  <a:srgbClr val="273239"/>
                </a:solidFill>
                <a:latin typeface="Times New Roman" panose="02020603050405020304" charset="0"/>
                <a:ea typeface="Nunito"/>
                <a:cs typeface="Times New Roman" panose="02020603050405020304" charset="0"/>
              </a:rPr>
              <a:t>Provide optimisation over large space state.</a:t>
            </a: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None/>
            </a:pP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b="0" i="0">
                <a:solidFill>
                  <a:srgbClr val="273239"/>
                </a:solidFill>
                <a:latin typeface="Times New Roman" panose="02020603050405020304" charset="0"/>
                <a:ea typeface="Nunito"/>
                <a:cs typeface="Times New Roman" panose="02020603050405020304" charset="0"/>
              </a:rPr>
              <a:t> </a:t>
            </a:r>
            <a:r>
              <a:rPr b="0" i="0">
                <a:solidFill>
                  <a:srgbClr val="273239"/>
                </a:solidFill>
                <a:latin typeface="Times New Roman" panose="02020603050405020304" charset="0"/>
                <a:ea typeface="Nunito"/>
                <a:cs typeface="Times New Roman" panose="02020603050405020304" charset="0"/>
              </a:rPr>
              <a:t>Unlike traditional AI, they do not break on slight change in input or presence of noise</a:t>
            </a:r>
            <a:r>
              <a:rPr lang="en-GB" b="0" i="0">
                <a:solidFill>
                  <a:srgbClr val="273239"/>
                </a:solidFill>
                <a:latin typeface="Times New Roman" panose="02020603050405020304" charset="0"/>
                <a:ea typeface="Nunito"/>
                <a:cs typeface="Times New Roman" panose="02020603050405020304" charset="0"/>
              </a:rPr>
              <a:t> .</a:t>
            </a:r>
            <a:endParaRPr lang="en-GB"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819150"/>
            <a:ext cx="8722360" cy="3692525"/>
          </a:xfrm>
          <a:prstGeom prst="rect">
            <a:avLst/>
          </a:prstGeom>
        </p:spPr>
        <p:txBody>
          <a:bodyPr wrap="square">
            <a:spAutoFit/>
          </a:bodyPr>
          <a:p>
            <a:pPr marL="0" indent="0" algn="l" fontAlgn="base">
              <a:spcBef>
                <a:spcPct val="0"/>
              </a:spcBef>
              <a:spcAft>
                <a:spcPct val="0"/>
              </a:spcAft>
            </a:pPr>
            <a:r>
              <a:rPr b="1" i="0">
                <a:solidFill>
                  <a:srgbClr val="273239"/>
                </a:solidFill>
                <a:latin typeface="Times New Roman" panose="02020603050405020304" charset="0"/>
                <a:ea typeface="Nunito"/>
                <a:cs typeface="Times New Roman" panose="02020603050405020304" charset="0"/>
              </a:rPr>
              <a:t>Application of Genetic Algorithms</a:t>
            </a:r>
            <a:endParaRPr b="1"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pPr>
            <a:endParaRPr b="1"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pPr>
            <a:r>
              <a:rPr b="0" i="0">
                <a:solidFill>
                  <a:srgbClr val="273239"/>
                </a:solidFill>
                <a:latin typeface="Times New Roman" panose="02020603050405020304" charset="0"/>
                <a:ea typeface="Nunito"/>
                <a:cs typeface="Times New Roman" panose="02020603050405020304" charset="0"/>
              </a:rPr>
              <a:t>Genetic algorithms have many applications, some of them are -</a:t>
            </a: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pPr>
            <a:r>
              <a:rPr b="0" i="0">
                <a:solidFill>
                  <a:srgbClr val="273239"/>
                </a:solidFill>
                <a:latin typeface="Times New Roman" panose="02020603050405020304" charset="0"/>
                <a:ea typeface="Nunito"/>
                <a:cs typeface="Times New Roman" panose="02020603050405020304" charset="0"/>
              </a:rPr>
              <a:t> </a:t>
            </a: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b="0" i="0">
                <a:solidFill>
                  <a:srgbClr val="273239"/>
                </a:solidFill>
                <a:latin typeface="Times New Roman" panose="02020603050405020304" charset="0"/>
                <a:ea typeface="Nunito"/>
                <a:cs typeface="Times New Roman" panose="02020603050405020304" charset="0"/>
              </a:rPr>
              <a:t> </a:t>
            </a:r>
            <a:r>
              <a:rPr b="0" i="0">
                <a:solidFill>
                  <a:srgbClr val="273239"/>
                </a:solidFill>
                <a:latin typeface="Times New Roman" panose="02020603050405020304" charset="0"/>
                <a:ea typeface="Nunito"/>
                <a:cs typeface="Times New Roman" panose="02020603050405020304" charset="0"/>
              </a:rPr>
              <a:t>Recurrent Neural Network</a:t>
            </a: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None/>
            </a:pP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b="0" i="0">
                <a:solidFill>
                  <a:srgbClr val="273239"/>
                </a:solidFill>
                <a:latin typeface="Times New Roman" panose="02020603050405020304" charset="0"/>
                <a:ea typeface="Nunito"/>
                <a:cs typeface="Times New Roman" panose="02020603050405020304" charset="0"/>
              </a:rPr>
              <a:t> </a:t>
            </a:r>
            <a:r>
              <a:rPr b="0" i="0">
                <a:solidFill>
                  <a:srgbClr val="273239"/>
                </a:solidFill>
                <a:latin typeface="Times New Roman" panose="02020603050405020304" charset="0"/>
                <a:ea typeface="Nunito"/>
                <a:cs typeface="Times New Roman" panose="02020603050405020304" charset="0"/>
              </a:rPr>
              <a:t>Mutation testing</a:t>
            </a: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None/>
            </a:pP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b="0" i="0">
                <a:solidFill>
                  <a:srgbClr val="273239"/>
                </a:solidFill>
                <a:latin typeface="Times New Roman" panose="02020603050405020304" charset="0"/>
                <a:ea typeface="Nunito"/>
                <a:cs typeface="Times New Roman" panose="02020603050405020304" charset="0"/>
              </a:rPr>
              <a:t> </a:t>
            </a:r>
            <a:r>
              <a:rPr b="0" i="0">
                <a:solidFill>
                  <a:srgbClr val="273239"/>
                </a:solidFill>
                <a:latin typeface="Times New Roman" panose="02020603050405020304" charset="0"/>
                <a:ea typeface="Nunito"/>
                <a:cs typeface="Times New Roman" panose="02020603050405020304" charset="0"/>
              </a:rPr>
              <a:t>Code breaking</a:t>
            </a: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None/>
            </a:pP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b="0" i="0">
                <a:solidFill>
                  <a:srgbClr val="273239"/>
                </a:solidFill>
                <a:latin typeface="Times New Roman" panose="02020603050405020304" charset="0"/>
                <a:ea typeface="Nunito"/>
                <a:cs typeface="Times New Roman" panose="02020603050405020304" charset="0"/>
              </a:rPr>
              <a:t> </a:t>
            </a:r>
            <a:r>
              <a:rPr b="0" i="0">
                <a:solidFill>
                  <a:srgbClr val="273239"/>
                </a:solidFill>
                <a:latin typeface="Times New Roman" panose="02020603050405020304" charset="0"/>
                <a:ea typeface="Nunito"/>
                <a:cs typeface="Times New Roman" panose="02020603050405020304" charset="0"/>
              </a:rPr>
              <a:t>Filtering and signal processing</a:t>
            </a: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None/>
            </a:pPr>
            <a:endParaRPr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b="0" i="0">
                <a:solidFill>
                  <a:srgbClr val="273239"/>
                </a:solidFill>
                <a:latin typeface="Times New Roman" panose="02020603050405020304" charset="0"/>
                <a:ea typeface="Nunito"/>
                <a:cs typeface="Times New Roman" panose="02020603050405020304" charset="0"/>
              </a:rPr>
              <a:t> </a:t>
            </a:r>
            <a:r>
              <a:rPr b="0" i="0">
                <a:solidFill>
                  <a:srgbClr val="273239"/>
                </a:solidFill>
                <a:latin typeface="Times New Roman" panose="02020603050405020304" charset="0"/>
                <a:ea typeface="Nunito"/>
                <a:cs typeface="Times New Roman" panose="02020603050405020304" charset="0"/>
              </a:rPr>
              <a:t>Learning fuzzy rule base etc</a:t>
            </a:r>
            <a:endParaRPr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819150"/>
            <a:ext cx="8722360" cy="398780"/>
          </a:xfrm>
          <a:prstGeom prst="rect">
            <a:avLst/>
          </a:prstGeom>
        </p:spPr>
        <p:txBody>
          <a:bodyPr wrap="square">
            <a:spAutoFit/>
          </a:bodyPr>
          <a:p>
            <a:pPr marL="0" indent="0" algn="l" fontAlgn="base">
              <a:spcBef>
                <a:spcPct val="0"/>
              </a:spcBef>
              <a:spcAft>
                <a:spcPct val="0"/>
              </a:spcAft>
            </a:pPr>
            <a:r>
              <a:rPr lang="en-GB" sz="2000" b="1" i="0">
                <a:solidFill>
                  <a:srgbClr val="273239"/>
                </a:solidFill>
                <a:latin typeface="Times New Roman" panose="02020603050405020304" charset="0"/>
                <a:ea typeface="Nunito"/>
                <a:cs typeface="Times New Roman" panose="02020603050405020304" charset="0"/>
              </a:rPr>
              <a:t>Evolutionary Algorithm</a:t>
            </a:r>
            <a:endParaRPr lang="en-GB" sz="2000" b="1" i="0">
              <a:solidFill>
                <a:srgbClr val="273239"/>
              </a:solidFill>
              <a:latin typeface="Times New Roman" panose="02020603050405020304" charset="0"/>
              <a:ea typeface="Nunito"/>
              <a:cs typeface="Times New Roman" panose="02020603050405020304" charset="0"/>
            </a:endParaRPr>
          </a:p>
        </p:txBody>
      </p:sp>
      <p:pic>
        <p:nvPicPr>
          <p:cNvPr id="3" name="Picture 2"/>
          <p:cNvPicPr/>
          <p:nvPr/>
        </p:nvPicPr>
        <p:blipFill>
          <a:blip r:embed="rId1"/>
          <a:stretch>
            <a:fillRect/>
          </a:stretch>
        </p:blipFill>
        <p:spPr>
          <a:xfrm>
            <a:off x="951230" y="1534160"/>
            <a:ext cx="6859905" cy="3418840"/>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76860" y="1276350"/>
            <a:ext cx="8590280" cy="3268980"/>
          </a:xfrm>
          <a:prstGeom prst="rect">
            <a:avLst/>
          </a:prstGeom>
        </p:spPr>
        <p:txBody>
          <a:bodyPr wrap="square">
            <a:noAutofit/>
          </a:bodyPr>
          <a:p>
            <a:pPr marL="285750" indent="-285750" algn="just">
              <a:lnSpc>
                <a:spcPct val="100000"/>
              </a:lnSpc>
              <a:spcBef>
                <a:spcPct val="0"/>
              </a:spcBef>
              <a:spcAft>
                <a:spcPts val="700"/>
              </a:spcAft>
              <a:buFont typeface="Wingdings" panose="05000000000000000000" charset="0"/>
              <a:buChar char="ü"/>
            </a:pPr>
            <a:r>
              <a:rPr b="0" i="0">
                <a:solidFill>
                  <a:srgbClr val="0A0A0A"/>
                </a:solidFill>
                <a:latin typeface="Times New Roman" panose="02020603050405020304" charset="0"/>
                <a:ea typeface="Google Sans"/>
                <a:cs typeface="Times New Roman" panose="02020603050405020304" charset="0"/>
              </a:rPr>
              <a:t>Initialization: Start with a random population of potential solutions</a:t>
            </a:r>
            <a:r>
              <a:rPr sz="1600" b="0" i="0">
                <a:solidFill>
                  <a:srgbClr val="0A0A0A"/>
                </a:solidFill>
                <a:latin typeface="Google Sans"/>
                <a:ea typeface="Google Sans"/>
              </a:rPr>
              <a:t> </a:t>
            </a:r>
            <a:r>
              <a:rPr b="0" i="0">
                <a:solidFill>
                  <a:srgbClr val="0A0A0A"/>
                </a:solidFill>
                <a:latin typeface="Times New Roman" panose="02020603050405020304" charset="0"/>
                <a:ea typeface="Google Sans"/>
                <a:cs typeface="Times New Roman" panose="02020603050405020304" charset="0"/>
              </a:rPr>
              <a:t>(individuals).</a:t>
            </a:r>
            <a:endParaRPr b="0" i="0">
              <a:solidFill>
                <a:srgbClr val="0A0A0A"/>
              </a:solidFill>
              <a:latin typeface="Times New Roman" panose="02020603050405020304" charset="0"/>
              <a:ea typeface="Google Sans"/>
              <a:cs typeface="Times New Roman" panose="02020603050405020304" charset="0"/>
            </a:endParaRPr>
          </a:p>
          <a:p>
            <a:pPr marL="285750" indent="-285750" algn="just">
              <a:lnSpc>
                <a:spcPct val="100000"/>
              </a:lnSpc>
              <a:spcBef>
                <a:spcPct val="0"/>
              </a:spcBef>
              <a:spcAft>
                <a:spcPts val="700"/>
              </a:spcAft>
              <a:buFont typeface="Wingdings" panose="05000000000000000000" charset="0"/>
              <a:buChar char="ü"/>
            </a:pPr>
            <a:r>
              <a:rPr b="0" i="0">
                <a:solidFill>
                  <a:srgbClr val="0A0A0A"/>
                </a:solidFill>
                <a:latin typeface="Times New Roman" panose="02020603050405020304" charset="0"/>
                <a:ea typeface="Google Sans"/>
                <a:cs typeface="Times New Roman" panose="02020603050405020304" charset="0"/>
              </a:rPr>
              <a:t>Fitness Evaluation: Each solution is tested (its "fitness") to see how good it is.</a:t>
            </a:r>
            <a:endParaRPr b="0" i="0">
              <a:solidFill>
                <a:srgbClr val="0A0A0A"/>
              </a:solidFill>
              <a:latin typeface="Times New Roman" panose="02020603050405020304" charset="0"/>
              <a:ea typeface="Google Sans"/>
              <a:cs typeface="Times New Roman" panose="02020603050405020304" charset="0"/>
            </a:endParaRPr>
          </a:p>
          <a:p>
            <a:pPr marL="285750" indent="-285750" algn="just">
              <a:lnSpc>
                <a:spcPct val="100000"/>
              </a:lnSpc>
              <a:spcBef>
                <a:spcPct val="0"/>
              </a:spcBef>
              <a:spcAft>
                <a:spcPts val="700"/>
              </a:spcAft>
              <a:buFont typeface="Wingdings" panose="05000000000000000000" charset="0"/>
              <a:buChar char="ü"/>
            </a:pPr>
            <a:r>
              <a:rPr b="0" i="0">
                <a:solidFill>
                  <a:srgbClr val="0A0A0A"/>
                </a:solidFill>
                <a:latin typeface="Times New Roman" panose="02020603050405020304" charset="0"/>
                <a:ea typeface="Google Sans"/>
                <a:cs typeface="Times New Roman" panose="02020603050405020304" charset="0"/>
              </a:rPr>
              <a:t>Selection: Better-fit individuals are chosen as "parents" for the next generation (survival of the fittest).</a:t>
            </a:r>
            <a:endParaRPr b="0" i="0">
              <a:solidFill>
                <a:srgbClr val="0A0A0A"/>
              </a:solidFill>
              <a:latin typeface="Times New Roman" panose="02020603050405020304" charset="0"/>
              <a:ea typeface="Google Sans"/>
              <a:cs typeface="Times New Roman" panose="02020603050405020304" charset="0"/>
            </a:endParaRPr>
          </a:p>
          <a:p>
            <a:pPr marL="285750" indent="-285750" algn="just">
              <a:lnSpc>
                <a:spcPct val="100000"/>
              </a:lnSpc>
              <a:spcBef>
                <a:spcPct val="0"/>
              </a:spcBef>
              <a:spcAft>
                <a:spcPts val="700"/>
              </a:spcAft>
              <a:buFont typeface="Wingdings" panose="05000000000000000000" charset="0"/>
              <a:buChar char="ü"/>
            </a:pPr>
            <a:r>
              <a:rPr b="0" i="0">
                <a:solidFill>
                  <a:srgbClr val="0A0A0A"/>
                </a:solidFill>
                <a:latin typeface="Times New Roman" panose="02020603050405020304" charset="0"/>
                <a:ea typeface="Google Sans"/>
                <a:cs typeface="Times New Roman" panose="02020603050405020304" charset="0"/>
              </a:rPr>
              <a:t>Crossover (Recombination): Parents' characteristics (genes) are combined to create new "offspring" solutions.</a:t>
            </a:r>
            <a:endParaRPr b="0" i="0">
              <a:solidFill>
                <a:srgbClr val="0A0A0A"/>
              </a:solidFill>
              <a:latin typeface="Times New Roman" panose="02020603050405020304" charset="0"/>
              <a:ea typeface="Google Sans"/>
              <a:cs typeface="Times New Roman" panose="02020603050405020304" charset="0"/>
            </a:endParaRPr>
          </a:p>
          <a:p>
            <a:pPr marL="285750" indent="-285750" algn="just">
              <a:lnSpc>
                <a:spcPct val="100000"/>
              </a:lnSpc>
              <a:spcBef>
                <a:spcPct val="0"/>
              </a:spcBef>
              <a:spcAft>
                <a:spcPts val="700"/>
              </a:spcAft>
              <a:buFont typeface="Wingdings" panose="05000000000000000000" charset="0"/>
              <a:buChar char="ü"/>
            </a:pPr>
            <a:r>
              <a:rPr b="0" i="0">
                <a:solidFill>
                  <a:srgbClr val="0A0A0A"/>
                </a:solidFill>
                <a:latin typeface="Times New Roman" panose="02020603050405020304" charset="0"/>
                <a:ea typeface="Google Sans"/>
                <a:cs typeface="Times New Roman" panose="02020603050405020304" charset="0"/>
              </a:rPr>
              <a:t>Mutation: Small, random changes are introduced into offspring to create new diversity.</a:t>
            </a:r>
            <a:endParaRPr b="0" i="0">
              <a:solidFill>
                <a:srgbClr val="0A0A0A"/>
              </a:solidFill>
              <a:latin typeface="Times New Roman" panose="02020603050405020304" charset="0"/>
              <a:ea typeface="Google Sans"/>
              <a:cs typeface="Times New Roman" panose="02020603050405020304" charset="0"/>
            </a:endParaRPr>
          </a:p>
          <a:p>
            <a:pPr marL="285750" indent="-285750" algn="just">
              <a:lnSpc>
                <a:spcPct val="100000"/>
              </a:lnSpc>
              <a:spcBef>
                <a:spcPct val="0"/>
              </a:spcBef>
              <a:spcAft>
                <a:spcPts val="700"/>
              </a:spcAft>
              <a:buFont typeface="Wingdings" panose="05000000000000000000" charset="0"/>
              <a:buChar char="ü"/>
            </a:pPr>
            <a:r>
              <a:rPr b="0" i="0">
                <a:solidFill>
                  <a:srgbClr val="0A0A0A"/>
                </a:solidFill>
                <a:latin typeface="Times New Roman" panose="02020603050405020304" charset="0"/>
                <a:ea typeface="Google Sans"/>
                <a:cs typeface="Times New Roman" panose="02020603050405020304" charset="0"/>
              </a:rPr>
              <a:t>Replacement: The new generation replaces the old one, and the cycle repeats, improving the population's average fitness over time. </a:t>
            </a:r>
            <a:endParaRPr b="0" i="0">
              <a:solidFill>
                <a:srgbClr val="0A0A0A"/>
              </a:solidFill>
              <a:latin typeface="Times New Roman" panose="02020603050405020304" charset="0"/>
              <a:ea typeface="Google Sans"/>
              <a:cs typeface="Times New Roman" panose="02020603050405020304" charset="0"/>
            </a:endParaRPr>
          </a:p>
        </p:txBody>
      </p:sp>
      <p:sp>
        <p:nvSpPr>
          <p:cNvPr id="3" name="Text Box 2"/>
          <p:cNvSpPr txBox="1"/>
          <p:nvPr/>
        </p:nvSpPr>
        <p:spPr>
          <a:xfrm>
            <a:off x="260985" y="671830"/>
            <a:ext cx="5377815" cy="368300"/>
          </a:xfrm>
          <a:prstGeom prst="rect">
            <a:avLst/>
          </a:prstGeom>
          <a:noFill/>
        </p:spPr>
        <p:txBody>
          <a:bodyPr wrap="square" rtlCol="0">
            <a:spAutoFit/>
          </a:bodyPr>
          <a:p>
            <a:r>
              <a:rPr lang="en-GB" altLang="en-US" b="1">
                <a:latin typeface="Times New Roman" panose="02020603050405020304" charset="0"/>
                <a:cs typeface="Times New Roman" panose="02020603050405020304" charset="0"/>
              </a:rPr>
              <a:t>Key Definition</a:t>
            </a:r>
            <a:endParaRPr lang="en-GB" altLang="en-US" b="1">
              <a:latin typeface="Times New Roman" panose="02020603050405020304" charset="0"/>
              <a:cs typeface="Times New Roman" panose="02020603050405020304"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058545" y="664845"/>
            <a:ext cx="4022725" cy="4338320"/>
          </a:xfrm>
          <a:prstGeom prst="rect">
            <a:avLst/>
          </a:prstGeom>
        </p:spPr>
      </p:pic>
      <p:sp>
        <p:nvSpPr>
          <p:cNvPr id="3" name="Text Box 2"/>
          <p:cNvSpPr txBox="1"/>
          <p:nvPr/>
        </p:nvSpPr>
        <p:spPr>
          <a:xfrm>
            <a:off x="5553075" y="828040"/>
            <a:ext cx="3413125" cy="4027170"/>
          </a:xfrm>
          <a:prstGeom prst="rect">
            <a:avLst/>
          </a:prstGeom>
        </p:spPr>
        <p:txBody>
          <a:bodyPr wrap="square">
            <a:noAutofit/>
          </a:bodyPr>
          <a:p>
            <a:pPr algn="just">
              <a:spcAft>
                <a:spcPct val="60000"/>
              </a:spcAft>
            </a:pPr>
            <a:r>
              <a:rPr b="1">
                <a:latin typeface="Times New Roman" panose="02020603050405020304" charset="0"/>
                <a:cs typeface="Times New Roman" panose="02020603050405020304" charset="0"/>
              </a:rPr>
              <a:t>Definition</a:t>
            </a:r>
            <a:r>
              <a:rPr lang="en-GB" b="1">
                <a:latin typeface="Times New Roman" panose="02020603050405020304" charset="0"/>
                <a:cs typeface="Times New Roman" panose="02020603050405020304" charset="0"/>
              </a:rPr>
              <a:t> - EA</a:t>
            </a:r>
            <a:endParaRPr b="1">
              <a:latin typeface="Times New Roman" panose="02020603050405020304" charset="0"/>
              <a:cs typeface="Times New Roman" panose="02020603050405020304" charset="0"/>
            </a:endParaRPr>
          </a:p>
          <a:p>
            <a:pPr algn="just"/>
            <a:r>
              <a:rPr>
                <a:latin typeface="Times New Roman" panose="02020603050405020304" charset="0"/>
                <a:cs typeface="Times New Roman" panose="02020603050405020304" charset="0"/>
              </a:rPr>
              <a:t>Evolutionary Algorithms are a class of population-based, stochastic optimization techniques inspired by the principles of natural evolution, such as selection, mutation, and reproduction.</a:t>
            </a:r>
            <a:endParaRPr>
              <a:latin typeface="Times New Roman" panose="02020603050405020304" charset="0"/>
              <a:cs typeface="Times New Roman" panose="02020603050405020304" charset="0"/>
            </a:endParaRPr>
          </a:p>
          <a:p>
            <a:pPr algn="just"/>
            <a:r>
              <a:rPr>
                <a:latin typeface="Times New Roman" panose="02020603050405020304" charset="0"/>
                <a:cs typeface="Times New Roman" panose="02020603050405020304" charset="0"/>
              </a:rPr>
              <a:t> They are used to find optimal or near-optimal solutions to complex problems where traditional methods fail.</a:t>
            </a:r>
            <a:endParaRPr>
              <a:latin typeface="Times New Roman" panose="02020603050405020304" charset="0"/>
              <a:cs typeface="Times New Roman" panose="0202060305040502030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895350"/>
            <a:ext cx="7406005" cy="2870200"/>
          </a:xfrm>
          <a:prstGeom prst="rect">
            <a:avLst/>
          </a:prstGeom>
        </p:spPr>
        <p:txBody>
          <a:bodyPr wrap="square">
            <a:spAutoFit/>
          </a:bodyPr>
          <a:p>
            <a:pPr algn="just">
              <a:spcAft>
                <a:spcPct val="60000"/>
              </a:spcAft>
            </a:pPr>
            <a:r>
              <a:rPr sz="2200" b="1">
                <a:latin typeface="Times New Roman" panose="02020603050405020304" charset="0"/>
                <a:cs typeface="Times New Roman" panose="02020603050405020304" charset="0"/>
              </a:rPr>
              <a:t>Biological Inspiration</a:t>
            </a:r>
            <a:endParaRPr sz="2200" b="1">
              <a:latin typeface="Times New Roman" panose="02020603050405020304" charset="0"/>
              <a:cs typeface="Times New Roman" panose="02020603050405020304" charset="0"/>
            </a:endParaRPr>
          </a:p>
          <a:p>
            <a:pPr algn="just"/>
            <a:r>
              <a:rPr sz="1600">
                <a:latin typeface="Times New Roman" panose="02020603050405020304" charset="0"/>
                <a:cs typeface="Times New Roman" panose="02020603050405020304" charset="0"/>
              </a:rPr>
              <a:t>EAs are based on Darwin’s theory of evolution, which includes:</a:t>
            </a:r>
            <a:endParaRPr sz="1600">
              <a:latin typeface="Times New Roman" panose="02020603050405020304" charset="0"/>
              <a:cs typeface="Times New Roman" panose="02020603050405020304" charset="0"/>
            </a:endParaRPr>
          </a:p>
          <a:p>
            <a:pPr algn="just"/>
            <a:endParaRPr sz="1600">
              <a:latin typeface="Times New Roman" panose="02020603050405020304" charset="0"/>
              <a:cs typeface="Times New Roman" panose="02020603050405020304" charset="0"/>
            </a:endParaRPr>
          </a:p>
          <a:p>
            <a:pPr algn="just">
              <a:buFont typeface="Arial" panose="020B0604020202020204"/>
              <a:buChar char="•"/>
            </a:pPr>
            <a:r>
              <a:rPr sz="1600">
                <a:latin typeface="Times New Roman" panose="02020603050405020304" charset="0"/>
                <a:cs typeface="Times New Roman" panose="02020603050405020304" charset="0"/>
              </a:rPr>
              <a:t>Survival of the fittest</a:t>
            </a:r>
            <a:endParaRPr sz="1600">
              <a:latin typeface="Times New Roman" panose="02020603050405020304" charset="0"/>
              <a:cs typeface="Times New Roman" panose="02020603050405020304" charset="0"/>
            </a:endParaRPr>
          </a:p>
          <a:p>
            <a:pPr algn="just">
              <a:buFont typeface="Arial" panose="020B0604020202020204"/>
              <a:buChar char="•"/>
            </a:pPr>
            <a:endParaRPr sz="1600">
              <a:latin typeface="Times New Roman" panose="02020603050405020304" charset="0"/>
              <a:cs typeface="Times New Roman" panose="02020603050405020304" charset="0"/>
            </a:endParaRPr>
          </a:p>
          <a:p>
            <a:pPr algn="just">
              <a:buFont typeface="Arial" panose="020B0604020202020204"/>
              <a:buChar char="•"/>
            </a:pPr>
            <a:r>
              <a:rPr sz="1600">
                <a:latin typeface="Times New Roman" panose="02020603050405020304" charset="0"/>
                <a:cs typeface="Times New Roman" panose="02020603050405020304" charset="0"/>
              </a:rPr>
              <a:t>Natural selection</a:t>
            </a:r>
            <a:endParaRPr sz="1600">
              <a:latin typeface="Times New Roman" panose="02020603050405020304" charset="0"/>
              <a:cs typeface="Times New Roman" panose="02020603050405020304" charset="0"/>
            </a:endParaRPr>
          </a:p>
          <a:p>
            <a:pPr algn="just">
              <a:buFont typeface="Arial" panose="020B0604020202020204"/>
              <a:buChar char="•"/>
            </a:pPr>
            <a:endParaRPr sz="1600">
              <a:latin typeface="Times New Roman" panose="02020603050405020304" charset="0"/>
              <a:cs typeface="Times New Roman" panose="02020603050405020304" charset="0"/>
            </a:endParaRPr>
          </a:p>
          <a:p>
            <a:pPr algn="just">
              <a:buFont typeface="Arial" panose="020B0604020202020204"/>
              <a:buChar char="•"/>
            </a:pPr>
            <a:r>
              <a:rPr sz="1600">
                <a:latin typeface="Times New Roman" panose="02020603050405020304" charset="0"/>
                <a:cs typeface="Times New Roman" panose="02020603050405020304" charset="0"/>
              </a:rPr>
              <a:t>Genetic variation</a:t>
            </a:r>
            <a:endParaRPr sz="1600">
              <a:latin typeface="Times New Roman" panose="02020603050405020304" charset="0"/>
              <a:cs typeface="Times New Roman" panose="02020603050405020304" charset="0"/>
            </a:endParaRPr>
          </a:p>
          <a:p>
            <a:pPr algn="just">
              <a:buFont typeface="Arial" panose="020B0604020202020204"/>
              <a:buChar char="•"/>
            </a:pPr>
            <a:endParaRPr sz="1600">
              <a:latin typeface="Times New Roman" panose="02020603050405020304" charset="0"/>
              <a:cs typeface="Times New Roman" panose="02020603050405020304" charset="0"/>
            </a:endParaRPr>
          </a:p>
          <a:p>
            <a:pPr algn="just">
              <a:buFont typeface="Arial" panose="020B0604020202020204"/>
              <a:buChar char="•"/>
            </a:pPr>
            <a:r>
              <a:rPr sz="1600">
                <a:latin typeface="Times New Roman" panose="02020603050405020304" charset="0"/>
                <a:cs typeface="Times New Roman" panose="02020603050405020304" charset="0"/>
              </a:rPr>
              <a:t>Inheritance of traits</a:t>
            </a:r>
            <a:endParaRPr sz="1600">
              <a:latin typeface="Times New Roman" panose="02020603050405020304" charset="0"/>
              <a:cs typeface="Times New Roman" panose="02020603050405020304"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31850"/>
            <a:ext cx="8524875" cy="3506470"/>
          </a:xfrm>
          <a:prstGeom prst="rect">
            <a:avLst/>
          </a:prstGeom>
        </p:spPr>
        <p:txBody>
          <a:bodyPr wrap="square">
            <a:spAutoFit/>
          </a:bodyPr>
          <a:p>
            <a:pPr>
              <a:spcAft>
                <a:spcPct val="60000"/>
              </a:spcAft>
            </a:pPr>
            <a:r>
              <a:rPr b="1">
                <a:latin typeface="Times New Roman" panose="02020603050405020304" charset="0"/>
                <a:cs typeface="Times New Roman" panose="02020603050405020304" charset="0"/>
              </a:rPr>
              <a:t>Key Characteristics</a:t>
            </a:r>
            <a:endParaRPr b="1">
              <a:latin typeface="Times New Roman" panose="02020603050405020304" charset="0"/>
              <a:cs typeface="Times New Roman" panose="02020603050405020304" charset="0"/>
            </a:endParaRPr>
          </a:p>
          <a:p>
            <a:pPr>
              <a:spcAft>
                <a:spcPct val="60000"/>
              </a:spcAft>
            </a:pPr>
            <a:endParaRPr b="1">
              <a:latin typeface="Times New Roman" panose="02020603050405020304" charset="0"/>
              <a:cs typeface="Times New Roman" panose="02020603050405020304" charset="0"/>
            </a:endParaRPr>
          </a:p>
          <a:p>
            <a:pPr>
              <a:buFont typeface="Arial" panose="020B0604020202020204"/>
              <a:buChar char="•"/>
            </a:pPr>
            <a:r>
              <a:rPr lang="en-GB">
                <a:latin typeface="Times New Roman" panose="02020603050405020304" charset="0"/>
                <a:cs typeface="Times New Roman" panose="02020603050405020304" charset="0"/>
              </a:rPr>
              <a:t> </a:t>
            </a:r>
            <a:r>
              <a:rPr>
                <a:latin typeface="Times New Roman" panose="02020603050405020304" charset="0"/>
                <a:cs typeface="Times New Roman" panose="02020603050405020304" charset="0"/>
              </a:rPr>
              <a:t>Operate on a population of solutions</a:t>
            </a:r>
            <a:endParaRPr>
              <a:latin typeface="Times New Roman" panose="02020603050405020304" charset="0"/>
              <a:cs typeface="Times New Roman" panose="02020603050405020304" charset="0"/>
            </a:endParaRPr>
          </a:p>
          <a:p>
            <a:pPr>
              <a:buFont typeface="Arial" panose="020B0604020202020204"/>
              <a:buChar char="•"/>
            </a:pPr>
            <a:endParaRPr>
              <a:latin typeface="Times New Roman" panose="02020603050405020304" charset="0"/>
              <a:cs typeface="Times New Roman" panose="02020603050405020304" charset="0"/>
            </a:endParaRPr>
          </a:p>
          <a:p>
            <a:pPr>
              <a:buFont typeface="Arial" panose="020B0604020202020204"/>
              <a:buChar char="•"/>
            </a:pPr>
            <a:r>
              <a:rPr lang="en-GB">
                <a:latin typeface="Times New Roman" panose="02020603050405020304" charset="0"/>
                <a:cs typeface="Times New Roman" panose="02020603050405020304" charset="0"/>
              </a:rPr>
              <a:t> </a:t>
            </a:r>
            <a:r>
              <a:rPr>
                <a:latin typeface="Times New Roman" panose="02020603050405020304" charset="0"/>
                <a:cs typeface="Times New Roman" panose="02020603050405020304" charset="0"/>
              </a:rPr>
              <a:t>Use fitness function to evaluate solutions</a:t>
            </a:r>
            <a:endParaRPr>
              <a:latin typeface="Times New Roman" panose="02020603050405020304" charset="0"/>
              <a:cs typeface="Times New Roman" panose="02020603050405020304" charset="0"/>
            </a:endParaRPr>
          </a:p>
          <a:p>
            <a:pPr>
              <a:buFont typeface="Arial" panose="020B0604020202020204"/>
              <a:buChar char="•"/>
            </a:pPr>
            <a:endParaRPr>
              <a:latin typeface="Times New Roman" panose="02020603050405020304" charset="0"/>
              <a:cs typeface="Times New Roman" panose="02020603050405020304" charset="0"/>
            </a:endParaRPr>
          </a:p>
          <a:p>
            <a:pPr>
              <a:buFont typeface="Arial" panose="020B0604020202020204"/>
              <a:buChar char="•"/>
            </a:pPr>
            <a:r>
              <a:rPr lang="en-GB">
                <a:latin typeface="Times New Roman" panose="02020603050405020304" charset="0"/>
                <a:cs typeface="Times New Roman" panose="02020603050405020304" charset="0"/>
              </a:rPr>
              <a:t> </a:t>
            </a:r>
            <a:r>
              <a:rPr>
                <a:latin typeface="Times New Roman" panose="02020603050405020304" charset="0"/>
                <a:cs typeface="Times New Roman" panose="02020603050405020304" charset="0"/>
              </a:rPr>
              <a:t>Employ probabilistic operators</a:t>
            </a:r>
            <a:endParaRPr>
              <a:latin typeface="Times New Roman" panose="02020603050405020304" charset="0"/>
              <a:cs typeface="Times New Roman" panose="02020603050405020304" charset="0"/>
            </a:endParaRPr>
          </a:p>
          <a:p>
            <a:pPr>
              <a:buFont typeface="Arial" panose="020B0604020202020204"/>
              <a:buChar char="•"/>
            </a:pPr>
            <a:endParaRPr>
              <a:latin typeface="Times New Roman" panose="02020603050405020304" charset="0"/>
              <a:cs typeface="Times New Roman" panose="02020603050405020304" charset="0"/>
            </a:endParaRPr>
          </a:p>
          <a:p>
            <a:pPr>
              <a:buFont typeface="Arial" panose="020B0604020202020204"/>
              <a:buChar char="•"/>
            </a:pPr>
            <a:r>
              <a:rPr lang="en-GB">
                <a:latin typeface="Times New Roman" panose="02020603050405020304" charset="0"/>
                <a:cs typeface="Times New Roman" panose="02020603050405020304" charset="0"/>
              </a:rPr>
              <a:t> </a:t>
            </a:r>
            <a:r>
              <a:rPr>
                <a:latin typeface="Times New Roman" panose="02020603050405020304" charset="0"/>
                <a:cs typeface="Times New Roman" panose="02020603050405020304" charset="0"/>
              </a:rPr>
              <a:t>Do not require gradient information</a:t>
            </a:r>
            <a:endParaRPr>
              <a:latin typeface="Times New Roman" panose="02020603050405020304" charset="0"/>
              <a:cs typeface="Times New Roman" panose="02020603050405020304" charset="0"/>
            </a:endParaRPr>
          </a:p>
          <a:p>
            <a:pPr>
              <a:buFont typeface="Arial" panose="020B0604020202020204"/>
              <a:buChar char="•"/>
            </a:pPr>
            <a:endParaRPr>
              <a:latin typeface="Times New Roman" panose="02020603050405020304" charset="0"/>
              <a:cs typeface="Times New Roman" panose="02020603050405020304" charset="0"/>
            </a:endParaRPr>
          </a:p>
          <a:p>
            <a:pPr>
              <a:buFont typeface="Arial" panose="020B0604020202020204"/>
              <a:buChar char="•"/>
            </a:pPr>
            <a:r>
              <a:rPr lang="en-GB">
                <a:latin typeface="Times New Roman" panose="02020603050405020304" charset="0"/>
                <a:cs typeface="Times New Roman" panose="02020603050405020304" charset="0"/>
              </a:rPr>
              <a:t> </a:t>
            </a:r>
            <a:r>
              <a:rPr>
                <a:latin typeface="Times New Roman" panose="02020603050405020304" charset="0"/>
                <a:cs typeface="Times New Roman" panose="02020603050405020304" charset="0"/>
              </a:rPr>
              <a:t>Suitable for nonlinear, multimodal, and NP-hard problems</a:t>
            </a:r>
            <a:endParaRPr>
              <a:latin typeface="Times New Roman" panose="02020603050405020304" charset="0"/>
              <a:cs typeface="Times New Roman" panose="02020603050405020304"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18833"/>
            <a:ext cx="5080000" cy="368300"/>
          </a:xfrm>
          <a:prstGeom prst="rect">
            <a:avLst/>
          </a:prstGeom>
        </p:spPr>
        <p:txBody>
          <a:bodyPr>
            <a:spAutoFit/>
          </a:bodyPr>
          <a:p>
            <a:r>
              <a:rPr b="1">
                <a:latin typeface="Times New Roman" panose="02020603050405020304" charset="0"/>
                <a:cs typeface="Times New Roman" panose="02020603050405020304" charset="0"/>
              </a:rPr>
              <a:t>Basic Components of Evolutionary Algorithms</a:t>
            </a:r>
            <a:endParaRPr b="1">
              <a:latin typeface="Times New Roman" panose="02020603050405020304" charset="0"/>
              <a:cs typeface="Times New Roman" panose="02020603050405020304" charset="0"/>
            </a:endParaRPr>
          </a:p>
        </p:txBody>
      </p:sp>
      <p:sp>
        <p:nvSpPr>
          <p:cNvPr id="3" name="Text Box 2"/>
          <p:cNvSpPr txBox="1"/>
          <p:nvPr/>
        </p:nvSpPr>
        <p:spPr>
          <a:xfrm>
            <a:off x="457200" y="1428750"/>
            <a:ext cx="7920355" cy="3286125"/>
          </a:xfrm>
          <a:prstGeom prst="rect">
            <a:avLst/>
          </a:prstGeom>
        </p:spPr>
        <p:txBody>
          <a:bodyPr wrap="square">
            <a:spAutoFit/>
          </a:bodyPr>
          <a:p>
            <a:pPr>
              <a:spcAft>
                <a:spcPct val="60000"/>
              </a:spcAft>
            </a:pPr>
            <a:r>
              <a:rPr lang="en-GB" sz="1600" b="1">
                <a:latin typeface="Times New Roman" panose="02020603050405020304" charset="0"/>
                <a:cs typeface="Times New Roman" panose="02020603050405020304" charset="0"/>
              </a:rPr>
              <a:t>1</a:t>
            </a:r>
            <a:r>
              <a:rPr lang="en-GB" sz="1900" b="1">
                <a:latin typeface="Times New Roman" panose="02020603050405020304" charset="0"/>
                <a:cs typeface="Times New Roman" panose="02020603050405020304" charset="0"/>
              </a:rPr>
              <a:t>. </a:t>
            </a:r>
            <a:r>
              <a:rPr sz="1600" b="1">
                <a:latin typeface="Times New Roman" panose="02020603050405020304" charset="0"/>
                <a:cs typeface="Times New Roman" panose="02020603050405020304" charset="0"/>
              </a:rPr>
              <a:t>Representation (Chromosome)</a:t>
            </a:r>
            <a:endParaRPr sz="1600" b="1">
              <a:latin typeface="Times New Roman" panose="02020603050405020304" charset="0"/>
              <a:cs typeface="Times New Roman" panose="02020603050405020304" charset="0"/>
            </a:endParaRPr>
          </a:p>
          <a:p>
            <a:pPr>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A solution is encoded as a chromosome</a:t>
            </a:r>
            <a:endParaRPr sz="1600">
              <a:latin typeface="Times New Roman" panose="02020603050405020304" charset="0"/>
              <a:cs typeface="Times New Roman" panose="02020603050405020304" charset="0"/>
            </a:endParaRPr>
          </a:p>
          <a:p>
            <a:pPr>
              <a:buFont typeface="Arial" panose="020B0604020202020204"/>
              <a:buChar char="•"/>
            </a:pPr>
            <a:endParaRPr sz="1600">
              <a:latin typeface="Times New Roman" panose="02020603050405020304" charset="0"/>
              <a:cs typeface="Times New Roman" panose="02020603050405020304" charset="0"/>
            </a:endParaRPr>
          </a:p>
          <a:p>
            <a:pPr>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Common representations:</a:t>
            </a:r>
            <a:endParaRPr sz="1600">
              <a:latin typeface="Times New Roman" panose="02020603050405020304" charset="0"/>
              <a:cs typeface="Times New Roman" panose="02020603050405020304" charset="0"/>
            </a:endParaRPr>
          </a:p>
          <a:p>
            <a:pPr>
              <a:buFont typeface="Arial" panose="020B0604020202020204"/>
              <a:buChar char="•"/>
            </a:pPr>
            <a:endParaRPr sz="1600">
              <a:latin typeface="Times New Roman" panose="02020603050405020304" charset="0"/>
              <a:cs typeface="Times New Roman" panose="02020603050405020304" charset="0"/>
            </a:endParaRPr>
          </a:p>
          <a:p>
            <a:pPr lvl="1">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Binary</a:t>
            </a:r>
            <a:endParaRPr sz="1600">
              <a:latin typeface="Times New Roman" panose="02020603050405020304" charset="0"/>
              <a:cs typeface="Times New Roman" panose="02020603050405020304" charset="0"/>
            </a:endParaRPr>
          </a:p>
          <a:p>
            <a:pPr lvl="1">
              <a:buFont typeface="Arial" panose="020B0604020202020204"/>
              <a:buChar char="◦"/>
            </a:pPr>
            <a:endParaRPr sz="1600">
              <a:latin typeface="Times New Roman" panose="02020603050405020304" charset="0"/>
              <a:cs typeface="Times New Roman" panose="02020603050405020304" charset="0"/>
            </a:endParaRPr>
          </a:p>
          <a:p>
            <a:pPr lvl="1">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Real-valued</a:t>
            </a:r>
            <a:endParaRPr sz="1600">
              <a:latin typeface="Times New Roman" panose="02020603050405020304" charset="0"/>
              <a:cs typeface="Times New Roman" panose="02020603050405020304" charset="0"/>
            </a:endParaRPr>
          </a:p>
          <a:p>
            <a:pPr lvl="1">
              <a:buFont typeface="Arial" panose="020B0604020202020204"/>
              <a:buChar char="◦"/>
            </a:pPr>
            <a:endParaRPr sz="1600">
              <a:latin typeface="Times New Roman" panose="02020603050405020304" charset="0"/>
              <a:cs typeface="Times New Roman" panose="02020603050405020304" charset="0"/>
            </a:endParaRPr>
          </a:p>
          <a:p>
            <a:pPr lvl="1">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Permutation</a:t>
            </a:r>
            <a:endParaRPr sz="1600">
              <a:latin typeface="Times New Roman" panose="02020603050405020304" charset="0"/>
              <a:cs typeface="Times New Roman" panose="02020603050405020304" charset="0"/>
            </a:endParaRPr>
          </a:p>
          <a:p>
            <a:pPr lvl="1">
              <a:buFont typeface="Arial" panose="020B0604020202020204"/>
              <a:buChar char="◦"/>
            </a:pPr>
            <a:endParaRPr sz="1600">
              <a:latin typeface="Times New Roman" panose="02020603050405020304" charset="0"/>
              <a:cs typeface="Times New Roman" panose="02020603050405020304" charset="0"/>
            </a:endParaRPr>
          </a:p>
          <a:p>
            <a:pPr lvl="1">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Tree-based (for Genetic Programming)</a:t>
            </a:r>
            <a:endParaRPr sz="1600">
              <a:latin typeface="Times New Roman" panose="02020603050405020304" charset="0"/>
              <a:cs typeface="Times New Roman" panose="02020603050405020304" charset="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49860" y="666750"/>
            <a:ext cx="8843645" cy="4401820"/>
          </a:xfrm>
          <a:prstGeom prst="rect">
            <a:avLst/>
          </a:prstGeom>
        </p:spPr>
        <p:txBody>
          <a:bodyPr>
            <a:noAutofit/>
          </a:bodyPr>
          <a:p>
            <a:pPr>
              <a:lnSpc>
                <a:spcPct val="100000"/>
              </a:lnSpc>
              <a:spcAft>
                <a:spcPct val="60000"/>
              </a:spcAft>
            </a:pPr>
            <a:r>
              <a:rPr lang="en-GB" sz="1600" b="1">
                <a:latin typeface="Times New Roman" panose="02020603050405020304" charset="0"/>
                <a:cs typeface="Times New Roman" panose="02020603050405020304" charset="0"/>
              </a:rPr>
              <a:t>2. </a:t>
            </a:r>
            <a:r>
              <a:rPr sz="1600" b="1">
                <a:latin typeface="Times New Roman" panose="02020603050405020304" charset="0"/>
                <a:cs typeface="Times New Roman" panose="02020603050405020304" charset="0"/>
              </a:rPr>
              <a:t>Population</a:t>
            </a:r>
            <a:endParaRPr sz="1600" b="1">
              <a:latin typeface="Times New Roman" panose="02020603050405020304" charset="0"/>
              <a:cs typeface="Times New Roman" panose="02020603050405020304" charset="0"/>
            </a:endParaRPr>
          </a:p>
          <a:p>
            <a:pPr marL="285750" indent="-285750">
              <a:lnSpc>
                <a:spcPct val="100000"/>
              </a:lnSpc>
              <a:spcAft>
                <a:spcPct val="60000"/>
              </a:spcAft>
              <a:buFont typeface="Wingdings" panose="05000000000000000000" charset="0"/>
              <a:buChar char="ü"/>
            </a:pPr>
            <a:r>
              <a:rPr sz="1600">
                <a:latin typeface="Times New Roman" panose="02020603050405020304" charset="0"/>
                <a:cs typeface="Times New Roman" panose="02020603050405020304" charset="0"/>
              </a:rPr>
              <a:t>A set of chromosomes</a:t>
            </a:r>
            <a:endParaRPr sz="1600">
              <a:latin typeface="Times New Roman" panose="02020603050405020304" charset="0"/>
              <a:cs typeface="Times New Roman" panose="02020603050405020304" charset="0"/>
            </a:endParaRPr>
          </a:p>
          <a:p>
            <a:pPr marL="285750" indent="-285750">
              <a:lnSpc>
                <a:spcPct val="100000"/>
              </a:lnSpc>
              <a:buFont typeface="Wingdings" panose="05000000000000000000" charset="0"/>
              <a:buChar char="ü"/>
            </a:pPr>
            <a:r>
              <a:rPr sz="1600">
                <a:latin typeface="Times New Roman" panose="02020603050405020304" charset="0"/>
                <a:cs typeface="Times New Roman" panose="02020603050405020304" charset="0"/>
              </a:rPr>
              <a:t>Provides diversity for exploration</a:t>
            </a:r>
            <a:endParaRPr sz="1600">
              <a:latin typeface="Times New Roman" panose="02020603050405020304" charset="0"/>
              <a:cs typeface="Times New Roman" panose="02020603050405020304" charset="0"/>
            </a:endParaRPr>
          </a:p>
          <a:p>
            <a:pPr>
              <a:lnSpc>
                <a:spcPct val="100000"/>
              </a:lnSpc>
              <a:spcAft>
                <a:spcPct val="60000"/>
              </a:spcAft>
            </a:pPr>
            <a:endParaRPr sz="1600" b="1">
              <a:latin typeface="Times New Roman" panose="02020603050405020304" charset="0"/>
              <a:cs typeface="Times New Roman" panose="02020603050405020304" charset="0"/>
            </a:endParaRPr>
          </a:p>
          <a:p>
            <a:pPr>
              <a:lnSpc>
                <a:spcPct val="100000"/>
              </a:lnSpc>
              <a:spcAft>
                <a:spcPct val="60000"/>
              </a:spcAft>
            </a:pPr>
            <a:r>
              <a:rPr lang="en-GB" sz="1600" b="1">
                <a:latin typeface="Times New Roman" panose="02020603050405020304" charset="0"/>
                <a:cs typeface="Times New Roman" panose="02020603050405020304" charset="0"/>
              </a:rPr>
              <a:t>3. </a:t>
            </a:r>
            <a:r>
              <a:rPr sz="1600" b="1">
                <a:latin typeface="Times New Roman" panose="02020603050405020304" charset="0"/>
                <a:cs typeface="Times New Roman" panose="02020603050405020304" charset="0"/>
              </a:rPr>
              <a:t>Fitness Function</a:t>
            </a:r>
            <a:endParaRPr sz="1600" b="1">
              <a:latin typeface="Times New Roman" panose="02020603050405020304" charset="0"/>
              <a:cs typeface="Times New Roman" panose="02020603050405020304" charset="0"/>
            </a:endParaRPr>
          </a:p>
          <a:p>
            <a:pPr marL="285750" indent="-285750">
              <a:lnSpc>
                <a:spcPct val="100000"/>
              </a:lnSpc>
              <a:spcAft>
                <a:spcPct val="60000"/>
              </a:spcAft>
              <a:buFont typeface="Wingdings" panose="05000000000000000000" charset="0"/>
              <a:buChar char="ü"/>
            </a:pPr>
            <a:r>
              <a:rPr sz="1600">
                <a:latin typeface="Times New Roman" panose="02020603050405020304" charset="0"/>
                <a:cs typeface="Times New Roman" panose="02020603050405020304" charset="0"/>
              </a:rPr>
              <a:t>Measures the quality of a solution</a:t>
            </a:r>
            <a:endParaRPr sz="1600">
              <a:latin typeface="Times New Roman" panose="02020603050405020304" charset="0"/>
              <a:cs typeface="Times New Roman" panose="02020603050405020304" charset="0"/>
            </a:endParaRPr>
          </a:p>
          <a:p>
            <a:pPr marL="285750" indent="-285750">
              <a:lnSpc>
                <a:spcPct val="100000"/>
              </a:lnSpc>
              <a:buFont typeface="Wingdings" panose="05000000000000000000" charset="0"/>
              <a:buChar char="ü"/>
            </a:pPr>
            <a:r>
              <a:rPr sz="1600">
                <a:latin typeface="Times New Roman" panose="02020603050405020304" charset="0"/>
                <a:cs typeface="Times New Roman" panose="02020603050405020304" charset="0"/>
              </a:rPr>
              <a:t>Guides the evolution process</a:t>
            </a:r>
            <a:endParaRPr sz="1600">
              <a:latin typeface="Times New Roman" panose="02020603050405020304" charset="0"/>
              <a:cs typeface="Times New Roman" panose="02020603050405020304" charset="0"/>
            </a:endParaRPr>
          </a:p>
          <a:p>
            <a:pPr>
              <a:lnSpc>
                <a:spcPct val="100000"/>
              </a:lnSpc>
              <a:spcAft>
                <a:spcPct val="60000"/>
              </a:spcAft>
            </a:pPr>
            <a:endParaRPr sz="1600" b="1">
              <a:latin typeface="Times New Roman" panose="02020603050405020304" charset="0"/>
              <a:cs typeface="Times New Roman" panose="02020603050405020304" charset="0"/>
            </a:endParaRPr>
          </a:p>
          <a:p>
            <a:pPr>
              <a:lnSpc>
                <a:spcPct val="100000"/>
              </a:lnSpc>
              <a:spcAft>
                <a:spcPct val="60000"/>
              </a:spcAft>
            </a:pPr>
            <a:r>
              <a:rPr lang="en-GB" sz="1600" b="1">
                <a:latin typeface="Times New Roman" panose="02020603050405020304" charset="0"/>
                <a:cs typeface="Times New Roman" panose="02020603050405020304" charset="0"/>
              </a:rPr>
              <a:t>4. </a:t>
            </a:r>
            <a:r>
              <a:rPr sz="1600" b="1">
                <a:latin typeface="Times New Roman" panose="02020603050405020304" charset="0"/>
                <a:cs typeface="Times New Roman" panose="02020603050405020304" charset="0"/>
              </a:rPr>
              <a:t>Genetic Operators</a:t>
            </a:r>
            <a:endParaRPr sz="1600" b="1">
              <a:latin typeface="Times New Roman" panose="02020603050405020304" charset="0"/>
              <a:cs typeface="Times New Roman" panose="02020603050405020304" charset="0"/>
            </a:endParaRPr>
          </a:p>
          <a:p>
            <a:pPr marL="285750" indent="-285750">
              <a:lnSpc>
                <a:spcPct val="100000"/>
              </a:lnSpc>
              <a:spcAft>
                <a:spcPct val="60000"/>
              </a:spcAft>
              <a:buFont typeface="Wingdings" panose="05000000000000000000" charset="0"/>
              <a:buChar char="ü"/>
            </a:pPr>
            <a:r>
              <a:rPr sz="1600">
                <a:latin typeface="Times New Roman" panose="02020603050405020304" charset="0"/>
                <a:cs typeface="Times New Roman" panose="02020603050405020304" charset="0"/>
              </a:rPr>
              <a:t>Selection – chooses fitter individuals</a:t>
            </a:r>
            <a:endParaRPr sz="1600">
              <a:latin typeface="Times New Roman" panose="02020603050405020304" charset="0"/>
              <a:cs typeface="Times New Roman" panose="02020603050405020304" charset="0"/>
            </a:endParaRPr>
          </a:p>
          <a:p>
            <a:pPr marL="285750" indent="-285750">
              <a:lnSpc>
                <a:spcPct val="100000"/>
              </a:lnSpc>
              <a:spcAft>
                <a:spcPct val="60000"/>
              </a:spcAft>
              <a:buFont typeface="Wingdings" panose="05000000000000000000" charset="0"/>
              <a:buChar char="ü"/>
            </a:pPr>
            <a:r>
              <a:rPr sz="1600">
                <a:latin typeface="Times New Roman" panose="02020603050405020304" charset="0"/>
                <a:cs typeface="Times New Roman" panose="02020603050405020304" charset="0"/>
              </a:rPr>
              <a:t>Crossover (Recombination) – combines parents</a:t>
            </a:r>
            <a:endParaRPr sz="1600">
              <a:latin typeface="Times New Roman" panose="02020603050405020304" charset="0"/>
              <a:cs typeface="Times New Roman" panose="02020603050405020304" charset="0"/>
            </a:endParaRPr>
          </a:p>
          <a:p>
            <a:pPr marL="285750" indent="-285750">
              <a:lnSpc>
                <a:spcPct val="100000"/>
              </a:lnSpc>
              <a:buFont typeface="Wingdings" panose="05000000000000000000" charset="0"/>
              <a:buChar char="ü"/>
            </a:pPr>
            <a:r>
              <a:rPr sz="1600">
                <a:latin typeface="Times New Roman" panose="02020603050405020304" charset="0"/>
                <a:cs typeface="Times New Roman" panose="02020603050405020304" charset="0"/>
              </a:rPr>
              <a:t>Mutation – introduces random variations</a:t>
            </a:r>
            <a:endParaRPr sz="1600">
              <a:latin typeface="Times New Roman" panose="02020603050405020304" charset="0"/>
              <a:cs typeface="Times New Roman" panose="02020603050405020304" charset="0"/>
            </a:endParaRPr>
          </a:p>
          <a:p>
            <a:pPr>
              <a:lnSpc>
                <a:spcPct val="100000"/>
              </a:lnSpc>
              <a:spcAft>
                <a:spcPct val="60000"/>
              </a:spcAft>
            </a:pPr>
            <a:endParaRPr sz="1600" b="1">
              <a:latin typeface="Times New Roman" panose="02020603050405020304" charset="0"/>
              <a:cs typeface="Times New Roman" panose="02020603050405020304" charset="0"/>
            </a:endParaRPr>
          </a:p>
          <a:p>
            <a:pPr indent="0">
              <a:lnSpc>
                <a:spcPct val="100000"/>
              </a:lnSpc>
              <a:buFont typeface="Arial" panose="020B0604020202020204"/>
              <a:buNone/>
            </a:pPr>
            <a:endParaRPr sz="1600">
              <a:latin typeface="Times New Roman" panose="02020603050405020304" charset="0"/>
              <a:cs typeface="Times New Roman" panose="02020603050405020304"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742950"/>
            <a:ext cx="8792210" cy="1647825"/>
          </a:xfrm>
          <a:prstGeom prst="rect">
            <a:avLst/>
          </a:prstGeom>
        </p:spPr>
        <p:txBody>
          <a:bodyPr wrap="square">
            <a:spAutoFit/>
          </a:bodyPr>
          <a:p>
            <a:pPr>
              <a:spcAft>
                <a:spcPct val="60000"/>
              </a:spcAft>
            </a:pPr>
            <a:r>
              <a:rPr lang="en-GB" sz="1600" b="1">
                <a:latin typeface="Times New Roman" panose="02020603050405020304" charset="0"/>
                <a:cs typeface="Times New Roman" panose="02020603050405020304" charset="0"/>
              </a:rPr>
              <a:t>5. </a:t>
            </a:r>
            <a:r>
              <a:rPr sz="1600" b="1">
                <a:latin typeface="Times New Roman" panose="02020603050405020304" charset="0"/>
                <a:cs typeface="Times New Roman" panose="02020603050405020304" charset="0"/>
              </a:rPr>
              <a:t>Termination Criteria</a:t>
            </a:r>
            <a:endParaRPr sz="1600" b="1">
              <a:latin typeface="Times New Roman" panose="02020603050405020304" charset="0"/>
              <a:cs typeface="Times New Roman" panose="02020603050405020304" charset="0"/>
            </a:endParaRPr>
          </a:p>
          <a:p>
            <a:pPr marL="285750" indent="-285750">
              <a:lnSpc>
                <a:spcPct val="100000"/>
              </a:lnSpc>
              <a:spcAft>
                <a:spcPct val="60000"/>
              </a:spcAft>
              <a:buFont typeface="Wingdings" panose="05000000000000000000" charset="0"/>
              <a:buChar char="ü"/>
            </a:pPr>
            <a:r>
              <a:rPr sz="1600">
                <a:latin typeface="Times New Roman" panose="02020603050405020304" charset="0"/>
                <a:cs typeface="Times New Roman" panose="02020603050405020304" charset="0"/>
              </a:rPr>
              <a:t>Maximum number of generations</a:t>
            </a:r>
            <a:endParaRPr sz="1600">
              <a:latin typeface="Times New Roman" panose="02020603050405020304" charset="0"/>
              <a:cs typeface="Times New Roman" panose="02020603050405020304" charset="0"/>
            </a:endParaRPr>
          </a:p>
          <a:p>
            <a:pPr marL="285750" indent="-285750">
              <a:lnSpc>
                <a:spcPct val="100000"/>
              </a:lnSpc>
              <a:buFont typeface="Wingdings" panose="05000000000000000000" charset="0"/>
              <a:buChar char="ü"/>
            </a:pPr>
            <a:r>
              <a:rPr sz="1600">
                <a:latin typeface="Times New Roman" panose="02020603050405020304" charset="0"/>
                <a:cs typeface="Times New Roman" panose="02020603050405020304" charset="0"/>
              </a:rPr>
              <a:t>Desired fitness achieved</a:t>
            </a:r>
            <a:endParaRPr sz="1600">
              <a:latin typeface="Times New Roman" panose="02020603050405020304" charset="0"/>
              <a:cs typeface="Times New Roman" panose="02020603050405020304" charset="0"/>
            </a:endParaRPr>
          </a:p>
          <a:p>
            <a:pPr marL="285750" indent="-285750">
              <a:lnSpc>
                <a:spcPct val="100000"/>
              </a:lnSpc>
              <a:buFont typeface="Wingdings" panose="05000000000000000000" charset="0"/>
              <a:buChar char="ü"/>
            </a:pPr>
            <a:endParaRPr sz="1600">
              <a:latin typeface="Times New Roman" panose="02020603050405020304" charset="0"/>
              <a:cs typeface="Times New Roman" panose="02020603050405020304" charset="0"/>
            </a:endParaRPr>
          </a:p>
          <a:p>
            <a:pPr marL="285750" indent="-285750">
              <a:lnSpc>
                <a:spcPct val="100000"/>
              </a:lnSpc>
              <a:buFont typeface="Wingdings" panose="05000000000000000000" charset="0"/>
              <a:buChar char="ü"/>
            </a:pPr>
            <a:r>
              <a:rPr sz="1600">
                <a:latin typeface="Times New Roman" panose="02020603050405020304" charset="0"/>
                <a:cs typeface="Times New Roman" panose="02020603050405020304" charset="0"/>
              </a:rPr>
              <a:t>No significant improvement</a:t>
            </a:r>
            <a:endParaRPr sz="1600">
              <a:latin typeface="Times New Roman" panose="02020603050405020304" charset="0"/>
              <a:cs typeface="Times New Roman" panose="02020603050405020304" charset="0"/>
            </a:endParaRPr>
          </a:p>
        </p:txBody>
      </p:sp>
      <p:sp>
        <p:nvSpPr>
          <p:cNvPr id="3" name="Text Box 2"/>
          <p:cNvSpPr txBox="1"/>
          <p:nvPr/>
        </p:nvSpPr>
        <p:spPr>
          <a:xfrm>
            <a:off x="4064000" y="742950"/>
            <a:ext cx="4570730" cy="4110355"/>
          </a:xfrm>
          <a:prstGeom prst="rect">
            <a:avLst/>
          </a:prstGeom>
        </p:spPr>
        <p:txBody>
          <a:bodyPr wrap="square">
            <a:spAutoFit/>
          </a:bodyPr>
          <a:p>
            <a:pPr>
              <a:spcAft>
                <a:spcPct val="60000"/>
              </a:spcAft>
            </a:pPr>
            <a:r>
              <a:rPr sz="1600" b="1">
                <a:latin typeface="Times New Roman" panose="02020603050405020304" charset="0"/>
                <a:cs typeface="Times New Roman" panose="02020603050405020304" charset="0"/>
              </a:rPr>
              <a:t>General Steps of an Evolutionary Algorithm</a:t>
            </a:r>
            <a:endParaRPr sz="1600" b="1">
              <a:latin typeface="Times New Roman" panose="02020603050405020304" charset="0"/>
              <a:cs typeface="Times New Roman" panose="02020603050405020304" charset="0"/>
            </a:endParaRPr>
          </a:p>
          <a:p>
            <a:pPr>
              <a:spcAft>
                <a:spcPct val="60000"/>
              </a:spcAft>
            </a:pPr>
            <a:endParaRPr sz="1600" b="1">
              <a:latin typeface="Times New Roman" panose="02020603050405020304" charset="0"/>
              <a:cs typeface="Times New Roman" panose="02020603050405020304" charset="0"/>
            </a:endParaRPr>
          </a:p>
          <a:p>
            <a:pPr marL="285750" indent="-285750">
              <a:buFont typeface="Wingdings" panose="05000000000000000000" charset="0"/>
              <a:buChar char="ü"/>
            </a:pPr>
            <a:r>
              <a:rPr sz="1600">
                <a:latin typeface="Times New Roman" panose="02020603050405020304" charset="0"/>
                <a:cs typeface="Times New Roman" panose="02020603050405020304" charset="0"/>
              </a:rPr>
              <a:t>Initialize population randomly</a:t>
            </a: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r>
              <a:rPr sz="1600">
                <a:latin typeface="Times New Roman" panose="02020603050405020304" charset="0"/>
                <a:cs typeface="Times New Roman" panose="02020603050405020304" charset="0"/>
              </a:rPr>
              <a:t>Evaluate fitness of each individual</a:t>
            </a: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r>
              <a:rPr sz="1600">
                <a:latin typeface="Times New Roman" panose="02020603050405020304" charset="0"/>
                <a:cs typeface="Times New Roman" panose="02020603050405020304" charset="0"/>
              </a:rPr>
              <a:t>Select parents based on fitness</a:t>
            </a: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r>
              <a:rPr sz="1600">
                <a:latin typeface="Times New Roman" panose="02020603050405020304" charset="0"/>
                <a:cs typeface="Times New Roman" panose="02020603050405020304" charset="0"/>
              </a:rPr>
              <a:t>Apply crossover and mutation</a:t>
            </a: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r>
              <a:rPr sz="1600">
                <a:latin typeface="Times New Roman" panose="02020603050405020304" charset="0"/>
                <a:cs typeface="Times New Roman" panose="02020603050405020304" charset="0"/>
              </a:rPr>
              <a:t>Generate new population</a:t>
            </a: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r>
              <a:rPr sz="1600">
                <a:latin typeface="Times New Roman" panose="02020603050405020304" charset="0"/>
                <a:cs typeface="Times New Roman" panose="02020603050405020304" charset="0"/>
              </a:rPr>
              <a:t>Check termination condition</a:t>
            </a: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endParaRPr sz="1600">
              <a:latin typeface="Times New Roman" panose="02020603050405020304" charset="0"/>
              <a:cs typeface="Times New Roman" panose="02020603050405020304" charset="0"/>
            </a:endParaRPr>
          </a:p>
          <a:p>
            <a:pPr marL="285750" indent="-285750">
              <a:buFont typeface="Wingdings" panose="05000000000000000000" charset="0"/>
              <a:buChar char="ü"/>
            </a:pPr>
            <a:r>
              <a:rPr sz="1600">
                <a:latin typeface="Times New Roman" panose="02020603050405020304" charset="0"/>
                <a:cs typeface="Times New Roman" panose="02020603050405020304" charset="0"/>
              </a:rPr>
              <a:t>Output best solution</a:t>
            </a:r>
            <a:endParaRPr sz="1600">
              <a:latin typeface="Times New Roman" panose="02020603050405020304" charset="0"/>
              <a:cs typeface="Times New Roman" panose="02020603050405020304"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52400" y="818833"/>
            <a:ext cx="5080000" cy="337185"/>
          </a:xfrm>
          <a:prstGeom prst="rect">
            <a:avLst/>
          </a:prstGeom>
        </p:spPr>
        <p:txBody>
          <a:bodyPr>
            <a:spAutoFit/>
          </a:bodyPr>
          <a:p>
            <a:r>
              <a:rPr sz="1600" b="1">
                <a:latin typeface="Times New Roman" panose="02020603050405020304" charset="0"/>
                <a:cs typeface="Times New Roman" panose="02020603050405020304" charset="0"/>
              </a:rPr>
              <a:t>Types of Evolutionary Algorithms</a:t>
            </a:r>
            <a:endParaRPr sz="1600" b="1">
              <a:latin typeface="Times New Roman" panose="02020603050405020304" charset="0"/>
              <a:cs typeface="Times New Roman" panose="02020603050405020304" charset="0"/>
            </a:endParaRPr>
          </a:p>
        </p:txBody>
      </p:sp>
      <p:sp>
        <p:nvSpPr>
          <p:cNvPr id="5" name="Text Box 4"/>
          <p:cNvSpPr txBox="1"/>
          <p:nvPr/>
        </p:nvSpPr>
        <p:spPr>
          <a:xfrm>
            <a:off x="304800" y="1352550"/>
            <a:ext cx="8576310" cy="1731645"/>
          </a:xfrm>
          <a:prstGeom prst="rect">
            <a:avLst/>
          </a:prstGeom>
        </p:spPr>
        <p:txBody>
          <a:bodyPr wrap="square">
            <a:spAutoFit/>
          </a:bodyPr>
          <a:p>
            <a:pPr marL="285750" indent="-285750">
              <a:lnSpc>
                <a:spcPct val="100000"/>
              </a:lnSpc>
              <a:spcAft>
                <a:spcPct val="60000"/>
              </a:spcAft>
              <a:buFont typeface="Wingdings" panose="05000000000000000000" charset="0"/>
              <a:buChar char="Ø"/>
            </a:pPr>
            <a:r>
              <a:rPr sz="1600" b="1">
                <a:latin typeface="Times New Roman" panose="02020603050405020304" charset="0"/>
                <a:cs typeface="Times New Roman" panose="02020603050405020304" charset="0"/>
              </a:rPr>
              <a:t>Genetic Algorithms (GA)</a:t>
            </a:r>
            <a:endParaRPr sz="1600" b="1">
              <a:latin typeface="Times New Roman" panose="02020603050405020304" charset="0"/>
              <a:cs typeface="Times New Roman" panose="02020603050405020304" charset="0"/>
            </a:endParaRPr>
          </a:p>
          <a:p>
            <a:pPr>
              <a:lnSpc>
                <a:spcPct val="100000"/>
              </a:lnSpc>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Binary or real-coded chromosomes</a:t>
            </a:r>
            <a:endParaRPr sz="1600">
              <a:latin typeface="Times New Roman" panose="02020603050405020304" charset="0"/>
              <a:cs typeface="Times New Roman" panose="02020603050405020304" charset="0"/>
            </a:endParaRPr>
          </a:p>
          <a:p>
            <a:pPr>
              <a:lnSpc>
                <a:spcPct val="100000"/>
              </a:lnSpc>
              <a:buFont typeface="Arial" panose="020B0604020202020204"/>
              <a:buChar char="•"/>
            </a:pPr>
            <a:endParaRPr sz="1600">
              <a:latin typeface="Times New Roman" panose="02020603050405020304" charset="0"/>
              <a:cs typeface="Times New Roman" panose="02020603050405020304" charset="0"/>
            </a:endParaRPr>
          </a:p>
          <a:p>
            <a:pPr>
              <a:lnSpc>
                <a:spcPct val="100000"/>
              </a:lnSpc>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Uses crossover and mutation</a:t>
            </a:r>
            <a:endParaRPr sz="1600">
              <a:latin typeface="Times New Roman" panose="02020603050405020304" charset="0"/>
              <a:cs typeface="Times New Roman" panose="02020603050405020304" charset="0"/>
            </a:endParaRPr>
          </a:p>
          <a:p>
            <a:pPr>
              <a:lnSpc>
                <a:spcPct val="100000"/>
              </a:lnSpc>
              <a:buFont typeface="Arial" panose="020B0604020202020204"/>
              <a:buChar char="•"/>
            </a:pPr>
            <a:endParaRPr sz="1600">
              <a:latin typeface="Times New Roman" panose="02020603050405020304" charset="0"/>
              <a:cs typeface="Times New Roman" panose="02020603050405020304" charset="0"/>
            </a:endParaRPr>
          </a:p>
          <a:p>
            <a:pPr>
              <a:lnSpc>
                <a:spcPct val="100000"/>
              </a:lnSpc>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Widely used in optimization</a:t>
            </a:r>
            <a:endParaRPr sz="1600">
              <a:latin typeface="Times New Roman" panose="02020603050405020304" charset="0"/>
              <a:cs typeface="Times New Roman" panose="02020603050405020304" charset="0"/>
            </a:endParaRPr>
          </a:p>
        </p:txBody>
      </p:sp>
      <p:sp>
        <p:nvSpPr>
          <p:cNvPr id="6" name="Text Box 5"/>
          <p:cNvSpPr txBox="1"/>
          <p:nvPr/>
        </p:nvSpPr>
        <p:spPr>
          <a:xfrm>
            <a:off x="304800" y="3181350"/>
            <a:ext cx="8445500" cy="1731645"/>
          </a:xfrm>
          <a:prstGeom prst="rect">
            <a:avLst/>
          </a:prstGeom>
        </p:spPr>
        <p:txBody>
          <a:bodyPr wrap="square">
            <a:spAutoFit/>
          </a:bodyPr>
          <a:p>
            <a:pPr marL="285750" indent="-285750">
              <a:spcAft>
                <a:spcPct val="60000"/>
              </a:spcAft>
              <a:buFont typeface="Wingdings" panose="05000000000000000000" charset="0"/>
              <a:buChar char="Ø"/>
            </a:pPr>
            <a:r>
              <a:rPr sz="1600" b="1">
                <a:latin typeface="Times New Roman" panose="02020603050405020304" charset="0"/>
                <a:cs typeface="Times New Roman" panose="02020603050405020304" charset="0"/>
              </a:rPr>
              <a:t>Evolution Strategies (ES)</a:t>
            </a:r>
            <a:endParaRPr sz="1600" b="1">
              <a:latin typeface="Times New Roman" panose="02020603050405020304" charset="0"/>
              <a:cs typeface="Times New Roman" panose="02020603050405020304" charset="0"/>
            </a:endParaRPr>
          </a:p>
          <a:p>
            <a:pPr>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Real-valued parameters</a:t>
            </a:r>
            <a:endParaRPr sz="1600">
              <a:latin typeface="Times New Roman" panose="02020603050405020304" charset="0"/>
              <a:cs typeface="Times New Roman" panose="02020603050405020304" charset="0"/>
            </a:endParaRPr>
          </a:p>
          <a:p>
            <a:pPr>
              <a:buFont typeface="Arial" panose="020B0604020202020204"/>
              <a:buChar char="•"/>
            </a:pPr>
            <a:endParaRPr sz="1600">
              <a:latin typeface="Times New Roman" panose="02020603050405020304" charset="0"/>
              <a:cs typeface="Times New Roman" panose="02020603050405020304" charset="0"/>
            </a:endParaRPr>
          </a:p>
          <a:p>
            <a:pPr>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Focus on mutation</a:t>
            </a:r>
            <a:endParaRPr sz="1600">
              <a:latin typeface="Times New Roman" panose="02020603050405020304" charset="0"/>
              <a:cs typeface="Times New Roman" panose="02020603050405020304" charset="0"/>
            </a:endParaRPr>
          </a:p>
          <a:p>
            <a:pPr>
              <a:buFont typeface="Arial" panose="020B0604020202020204"/>
              <a:buChar char="•"/>
            </a:pPr>
            <a:endParaRPr sz="1600">
              <a:latin typeface="Times New Roman" panose="02020603050405020304" charset="0"/>
              <a:cs typeface="Times New Roman" panose="02020603050405020304" charset="0"/>
            </a:endParaRPr>
          </a:p>
          <a:p>
            <a:pPr>
              <a:buFont typeface="Arial" panose="020B0604020202020204"/>
              <a:buChar char="•"/>
            </a:pPr>
            <a:r>
              <a:rPr lang="en-GB"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Common in engineering design</a:t>
            </a:r>
            <a:endParaRPr sz="1600">
              <a:latin typeface="Times New Roman" panose="02020603050405020304" charset="0"/>
              <a:cs typeface="Times New Roman" panose="02020603050405020304"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774700"/>
            <a:ext cx="8608060" cy="4027170"/>
          </a:xfrm>
          <a:prstGeom prst="rect">
            <a:avLst/>
          </a:prstGeom>
        </p:spPr>
        <p:txBody>
          <a:bodyPr wrap="square">
            <a:spAutoFit/>
          </a:bodyPr>
          <a:p>
            <a:pPr marL="285750" indent="-285750">
              <a:spcAft>
                <a:spcPct val="60000"/>
              </a:spcAft>
              <a:buFont typeface="Wingdings" panose="05000000000000000000" charset="0"/>
              <a:buChar char="Ø"/>
            </a:pPr>
            <a:r>
              <a:rPr sz="1600" b="1">
                <a:latin typeface="Times New Roman" panose="02020603050405020304" charset="0"/>
                <a:cs typeface="Times New Roman" panose="02020603050405020304" charset="0"/>
              </a:rPr>
              <a:t>Evolutionary Programming (EP)</a:t>
            </a:r>
            <a:endParaRPr sz="1600" b="1">
              <a:latin typeface="Times New Roman" panose="02020603050405020304" charset="0"/>
              <a:cs typeface="Times New Roman" panose="02020603050405020304" charset="0"/>
            </a:endParaRPr>
          </a:p>
          <a:p>
            <a:pPr marL="285750" indent="-285750">
              <a:buFont typeface="Arial" panose="020B0604020202020204" pitchFamily="34" charset="0"/>
              <a:buChar char="•"/>
            </a:pPr>
            <a:r>
              <a:rPr sz="1600">
                <a:latin typeface="Times New Roman" panose="02020603050405020304" charset="0"/>
                <a:cs typeface="Times New Roman" panose="02020603050405020304" charset="0"/>
              </a:rPr>
              <a:t>Emphasizes mutation and selection</a:t>
            </a:r>
            <a:endParaRPr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sz="1600">
                <a:latin typeface="Times New Roman" panose="02020603050405020304" charset="0"/>
                <a:cs typeface="Times New Roman" panose="02020603050405020304" charset="0"/>
              </a:rPr>
              <a:t>No crossover</a:t>
            </a:r>
            <a:endParaRPr sz="1600">
              <a:latin typeface="Times New Roman" panose="02020603050405020304" charset="0"/>
              <a:cs typeface="Times New Roman" panose="02020603050405020304" charset="0"/>
            </a:endParaRPr>
          </a:p>
          <a:p>
            <a:pPr>
              <a:spcAft>
                <a:spcPct val="60000"/>
              </a:spcAft>
            </a:pPr>
            <a:endParaRPr sz="1600" b="1">
              <a:latin typeface="Times New Roman" panose="02020603050405020304" charset="0"/>
              <a:cs typeface="Times New Roman" panose="02020603050405020304" charset="0"/>
            </a:endParaRPr>
          </a:p>
          <a:p>
            <a:pPr marL="285750" indent="-285750">
              <a:spcAft>
                <a:spcPct val="60000"/>
              </a:spcAft>
              <a:buFont typeface="Wingdings" panose="05000000000000000000" charset="0"/>
              <a:buChar char="Ø"/>
            </a:pPr>
            <a:r>
              <a:rPr sz="1600" b="1">
                <a:latin typeface="Times New Roman" panose="02020603050405020304" charset="0"/>
                <a:cs typeface="Times New Roman" panose="02020603050405020304" charset="0"/>
              </a:rPr>
              <a:t>Genetic Programming (GP)</a:t>
            </a:r>
            <a:endParaRPr sz="1600" b="1">
              <a:latin typeface="Times New Roman" panose="02020603050405020304" charset="0"/>
              <a:cs typeface="Times New Roman" panose="02020603050405020304" charset="0"/>
            </a:endParaRPr>
          </a:p>
          <a:p>
            <a:pPr marL="285750" indent="-285750" fontAlgn="auto">
              <a:lnSpc>
                <a:spcPct val="100000"/>
              </a:lnSpc>
              <a:spcAft>
                <a:spcPts val="0"/>
              </a:spcAft>
              <a:buFont typeface="Arial" panose="020B0604020202020204" pitchFamily="34" charset="0"/>
              <a:buChar char="•"/>
            </a:pPr>
            <a:r>
              <a:rPr sz="1600">
                <a:latin typeface="Times New Roman" panose="02020603050405020304" charset="0"/>
                <a:cs typeface="Times New Roman" panose="02020603050405020304" charset="0"/>
              </a:rPr>
              <a:t>Programs represented as trees</a:t>
            </a:r>
            <a:endParaRPr sz="1600">
              <a:latin typeface="Times New Roman" panose="02020603050405020304" charset="0"/>
              <a:cs typeface="Times New Roman" panose="02020603050405020304" charset="0"/>
            </a:endParaRPr>
          </a:p>
          <a:p>
            <a:pPr marL="285750" indent="-285750" fontAlgn="auto">
              <a:lnSpc>
                <a:spcPct val="100000"/>
              </a:lnSpc>
              <a:spcAft>
                <a:spcPts val="0"/>
              </a:spcAft>
              <a:buFont typeface="Arial" panose="020B0604020202020204" pitchFamily="34" charset="0"/>
              <a:buChar char="•"/>
            </a:pPr>
            <a:r>
              <a:rPr sz="1600">
                <a:latin typeface="Times New Roman" panose="02020603050405020304" charset="0"/>
                <a:cs typeface="Times New Roman" panose="02020603050405020304" charset="0"/>
              </a:rPr>
              <a:t>Used for symbolic regression and program evolution</a:t>
            </a:r>
            <a:endParaRPr sz="1600">
              <a:latin typeface="Times New Roman" panose="02020603050405020304" charset="0"/>
              <a:cs typeface="Times New Roman" panose="02020603050405020304" charset="0"/>
            </a:endParaRPr>
          </a:p>
          <a:p>
            <a:pPr marL="285750" indent="-285750" fontAlgn="auto">
              <a:lnSpc>
                <a:spcPct val="100000"/>
              </a:lnSpc>
              <a:spcAft>
                <a:spcPts val="0"/>
              </a:spcAft>
              <a:buFont typeface="Arial" panose="020B0604020202020204" pitchFamily="34" charset="0"/>
              <a:buChar char="•"/>
            </a:pPr>
            <a:endParaRPr sz="1600">
              <a:latin typeface="Times New Roman" panose="02020603050405020304" charset="0"/>
              <a:cs typeface="Times New Roman" panose="02020603050405020304" charset="0"/>
            </a:endParaRPr>
          </a:p>
          <a:p>
            <a:pPr indent="0" fontAlgn="auto">
              <a:lnSpc>
                <a:spcPct val="100000"/>
              </a:lnSpc>
              <a:spcAft>
                <a:spcPts val="0"/>
              </a:spcAft>
              <a:buFont typeface="Arial" panose="020B0604020202020204" pitchFamily="34" charset="0"/>
              <a:buNone/>
            </a:pPr>
            <a:r>
              <a:rPr lang="en-US" altLang="en-US" sz="1600" b="1">
                <a:latin typeface="Times New Roman" panose="02020603050405020304" charset="0"/>
                <a:cs typeface="Times New Roman" panose="02020603050405020304" charset="0"/>
              </a:rPr>
              <a:t>Advantages of Evolutionary Algorithms</a:t>
            </a:r>
            <a:endParaRPr lang="en-US" altLang="en-US" sz="1600" b="1">
              <a:latin typeface="Times New Roman" panose="02020603050405020304" charset="0"/>
              <a:cs typeface="Times New Roman" panose="02020603050405020304" charset="0"/>
            </a:endParaRPr>
          </a:p>
          <a:p>
            <a:pPr indent="0" fontAlgn="auto">
              <a:lnSpc>
                <a:spcPct val="100000"/>
              </a:lnSpc>
              <a:spcAft>
                <a:spcPts val="0"/>
              </a:spcAft>
              <a:buFont typeface="Arial" panose="020B0604020202020204" pitchFamily="34" charset="0"/>
              <a:buNone/>
            </a:pPr>
            <a:endParaRPr lang="en-US" altLang="en-US" sz="1600">
              <a:latin typeface="Times New Roman" panose="02020603050405020304" charset="0"/>
              <a:cs typeface="Times New Roman" panose="02020603050405020304" charset="0"/>
            </a:endParaRPr>
          </a:p>
          <a:p>
            <a:pPr marL="285750" indent="-285750" fontAlgn="auto">
              <a:lnSpc>
                <a:spcPct val="100000"/>
              </a:lnSpc>
              <a:spcAft>
                <a:spcPts val="0"/>
              </a:spcAft>
              <a:buFont typeface="Arial" panose="020B0604020202020204" pitchFamily="34" charset="0"/>
              <a:buChar char="•"/>
            </a:pPr>
            <a:r>
              <a:rPr lang="en-US" altLang="en-US" sz="1600">
                <a:latin typeface="Times New Roman" panose="02020603050405020304" charset="0"/>
                <a:cs typeface="Times New Roman" panose="02020603050405020304" charset="0"/>
              </a:rPr>
              <a:t>Global search capability</a:t>
            </a:r>
            <a:endParaRPr lang="en-US" altLang="en-US" sz="1600">
              <a:latin typeface="Times New Roman" panose="02020603050405020304" charset="0"/>
              <a:cs typeface="Times New Roman" panose="02020603050405020304" charset="0"/>
            </a:endParaRPr>
          </a:p>
          <a:p>
            <a:pPr marL="285750" indent="-285750" fontAlgn="auto">
              <a:lnSpc>
                <a:spcPct val="100000"/>
              </a:lnSpc>
              <a:spcAft>
                <a:spcPts val="0"/>
              </a:spcAft>
              <a:buFont typeface="Arial" panose="020B0604020202020204" pitchFamily="34" charset="0"/>
              <a:buChar char="•"/>
            </a:pPr>
            <a:r>
              <a:rPr lang="en-US" altLang="en-US" sz="1600">
                <a:latin typeface="Times New Roman" panose="02020603050405020304" charset="0"/>
                <a:cs typeface="Times New Roman" panose="02020603050405020304" charset="0"/>
              </a:rPr>
              <a:t>Can handle noisy and dynamic environments</a:t>
            </a:r>
            <a:endParaRPr lang="en-US" altLang="en-US" sz="1600">
              <a:latin typeface="Times New Roman" panose="02020603050405020304" charset="0"/>
              <a:cs typeface="Times New Roman" panose="02020603050405020304" charset="0"/>
            </a:endParaRPr>
          </a:p>
          <a:p>
            <a:pPr marL="285750" indent="-285750" fontAlgn="auto">
              <a:lnSpc>
                <a:spcPct val="100000"/>
              </a:lnSpc>
              <a:spcAft>
                <a:spcPts val="0"/>
              </a:spcAft>
              <a:buFont typeface="Arial" panose="020B0604020202020204" pitchFamily="34" charset="0"/>
              <a:buChar char="•"/>
            </a:pPr>
            <a:r>
              <a:rPr lang="en-US" altLang="en-US" sz="1600">
                <a:latin typeface="Times New Roman" panose="02020603050405020304" charset="0"/>
                <a:cs typeface="Times New Roman" panose="02020603050405020304" charset="0"/>
              </a:rPr>
              <a:t>Works with multiple objectives</a:t>
            </a:r>
            <a:endParaRPr lang="en-US" altLang="en-US" sz="1600">
              <a:latin typeface="Times New Roman" panose="02020603050405020304" charset="0"/>
              <a:cs typeface="Times New Roman" panose="02020603050405020304" charset="0"/>
            </a:endParaRPr>
          </a:p>
          <a:p>
            <a:pPr marL="285750" indent="-285750" fontAlgn="auto">
              <a:lnSpc>
                <a:spcPct val="100000"/>
              </a:lnSpc>
              <a:spcAft>
                <a:spcPts val="0"/>
              </a:spcAft>
              <a:buFont typeface="Arial" panose="020B0604020202020204" pitchFamily="34" charset="0"/>
              <a:buChar char="•"/>
            </a:pPr>
            <a:r>
              <a:rPr lang="en-US" altLang="en-US" sz="1600">
                <a:latin typeface="Times New Roman" panose="02020603050405020304" charset="0"/>
                <a:cs typeface="Times New Roman" panose="02020603050405020304" charset="0"/>
              </a:rPr>
              <a:t>Easy to parallelize</a:t>
            </a:r>
            <a:endParaRPr lang="en-US" altLang="en-US" sz="1600">
              <a:latin typeface="Times New Roman" panose="02020603050405020304" charset="0"/>
              <a:cs typeface="Times New Roman" panose="02020603050405020304"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228600" y="742950"/>
            <a:ext cx="8690610" cy="4106545"/>
          </a:xfrm>
          <a:prstGeom prst="rect">
            <a:avLst/>
          </a:prstGeom>
        </p:spPr>
        <p:txBody>
          <a:bodyPr>
            <a:noAutofit/>
          </a:bodyPr>
          <a:p>
            <a:pPr indent="0" fontAlgn="auto">
              <a:spcAft>
                <a:spcPct val="60000"/>
              </a:spcAft>
            </a:pPr>
            <a:r>
              <a:rPr sz="1600" b="1">
                <a:latin typeface="Times New Roman" panose="02020603050405020304" charset="0"/>
                <a:cs typeface="Times New Roman" panose="02020603050405020304" charset="0"/>
              </a:rPr>
              <a:t>Limitations</a:t>
            </a:r>
            <a:endParaRPr sz="1600" b="1">
              <a:latin typeface="Times New Roman" panose="02020603050405020304" charset="0"/>
              <a:cs typeface="Times New Roman" panose="02020603050405020304" charset="0"/>
            </a:endParaRPr>
          </a:p>
          <a:p>
            <a:pPr marL="285750" indent="-285750" fontAlgn="auto">
              <a:spcAft>
                <a:spcPts val="0"/>
              </a:spcAft>
              <a:buFont typeface="Arial" panose="020B0604020202020204" pitchFamily="34" charset="0"/>
              <a:buChar char="•"/>
            </a:pPr>
            <a:r>
              <a:rPr sz="1600">
                <a:latin typeface="Times New Roman" panose="02020603050405020304" charset="0"/>
                <a:cs typeface="Times New Roman" panose="02020603050405020304" charset="0"/>
              </a:rPr>
              <a:t>Computationally expensive</a:t>
            </a:r>
            <a:endParaRPr sz="1600">
              <a:latin typeface="Times New Roman" panose="02020603050405020304" charset="0"/>
              <a:cs typeface="Times New Roman" panose="02020603050405020304" charset="0"/>
            </a:endParaRPr>
          </a:p>
          <a:p>
            <a:pPr marL="285750" indent="-285750" fontAlgn="auto">
              <a:spcAft>
                <a:spcPts val="0"/>
              </a:spcAft>
              <a:buFont typeface="Arial" panose="020B0604020202020204" pitchFamily="34" charset="0"/>
              <a:buChar char="•"/>
            </a:pPr>
            <a:r>
              <a:rPr sz="1600">
                <a:latin typeface="Times New Roman" panose="02020603050405020304" charset="0"/>
                <a:cs typeface="Times New Roman" panose="02020603050405020304" charset="0"/>
              </a:rPr>
              <a:t>No guarantee of optimal solution</a:t>
            </a:r>
            <a:endParaRPr sz="1600">
              <a:latin typeface="Times New Roman" panose="02020603050405020304" charset="0"/>
              <a:cs typeface="Times New Roman" panose="02020603050405020304" charset="0"/>
            </a:endParaRPr>
          </a:p>
          <a:p>
            <a:pPr marL="285750" indent="-285750" fontAlgn="auto">
              <a:spcAft>
                <a:spcPts val="0"/>
              </a:spcAft>
              <a:buFont typeface="Arial" panose="020B0604020202020204" pitchFamily="34" charset="0"/>
              <a:buChar char="•"/>
            </a:pPr>
            <a:r>
              <a:rPr sz="1600">
                <a:latin typeface="Times New Roman" panose="02020603050405020304" charset="0"/>
                <a:cs typeface="Times New Roman" panose="02020603050405020304" charset="0"/>
              </a:rPr>
              <a:t>Sensitive to parameter tuning</a:t>
            </a:r>
            <a:endParaRPr sz="1600">
              <a:latin typeface="Times New Roman" panose="02020603050405020304" charset="0"/>
              <a:cs typeface="Times New Roman" panose="02020603050405020304" charset="0"/>
            </a:endParaRPr>
          </a:p>
          <a:p>
            <a:pPr marL="285750" indent="-285750" fontAlgn="auto">
              <a:spcAft>
                <a:spcPts val="0"/>
              </a:spcAft>
              <a:buFont typeface="Arial" panose="020B0604020202020204" pitchFamily="34" charset="0"/>
              <a:buChar char="•"/>
            </a:pPr>
            <a:r>
              <a:rPr sz="1600">
                <a:latin typeface="Times New Roman" panose="02020603050405020304" charset="0"/>
                <a:cs typeface="Times New Roman" panose="02020603050405020304" charset="0"/>
              </a:rPr>
              <a:t>Slower convergence in some cases</a:t>
            </a:r>
            <a:endParaRPr sz="1600">
              <a:latin typeface="Times New Roman" panose="02020603050405020304" charset="0"/>
              <a:cs typeface="Times New Roman" panose="02020603050405020304" charset="0"/>
            </a:endParaRPr>
          </a:p>
          <a:p>
            <a:pPr indent="0" fontAlgn="auto">
              <a:spcAft>
                <a:spcPts val="0"/>
              </a:spcAft>
            </a:pPr>
            <a:endParaRPr sz="1600" b="1">
              <a:latin typeface="Times New Roman" panose="02020603050405020304" charset="0"/>
              <a:cs typeface="Times New Roman" panose="02020603050405020304" charset="0"/>
            </a:endParaRPr>
          </a:p>
          <a:p>
            <a:pPr>
              <a:spcAft>
                <a:spcPct val="60000"/>
              </a:spcAft>
            </a:pPr>
            <a:r>
              <a:rPr sz="1600" b="1">
                <a:latin typeface="Times New Roman" panose="02020603050405020304" charset="0"/>
                <a:cs typeface="Times New Roman" panose="02020603050405020304" charset="0"/>
              </a:rPr>
              <a:t>Applications</a:t>
            </a:r>
            <a:endParaRPr sz="1600" b="1">
              <a:latin typeface="Times New Roman" panose="02020603050405020304" charset="0"/>
              <a:cs typeface="Times New Roman" panose="02020603050405020304" charset="0"/>
            </a:endParaRPr>
          </a:p>
          <a:p>
            <a:pPr marL="285750" indent="-285750" fontAlgn="auto">
              <a:spcAft>
                <a:spcPts val="0"/>
              </a:spcAft>
              <a:buFont typeface="Arial" panose="020B0604020202020204" pitchFamily="34" charset="0"/>
              <a:buChar char="•"/>
            </a:pPr>
            <a:r>
              <a:rPr sz="1600">
                <a:latin typeface="Times New Roman" panose="02020603050405020304" charset="0"/>
                <a:cs typeface="Times New Roman" panose="02020603050405020304" charset="0"/>
              </a:rPr>
              <a:t>Machine learning and AI</a:t>
            </a:r>
            <a:endParaRPr sz="1600">
              <a:latin typeface="Times New Roman" panose="02020603050405020304" charset="0"/>
              <a:cs typeface="Times New Roman" panose="02020603050405020304" charset="0"/>
            </a:endParaRPr>
          </a:p>
          <a:p>
            <a:pPr marL="285750" indent="-285750" fontAlgn="auto">
              <a:spcAft>
                <a:spcPts val="0"/>
              </a:spcAft>
              <a:buFont typeface="Arial" panose="020B0604020202020204" pitchFamily="34" charset="0"/>
              <a:buChar char="•"/>
            </a:pPr>
            <a:r>
              <a:rPr sz="1600">
                <a:latin typeface="Times New Roman" panose="02020603050405020304" charset="0"/>
                <a:cs typeface="Times New Roman" panose="02020603050405020304" charset="0"/>
              </a:rPr>
              <a:t>Optimization problems</a:t>
            </a:r>
            <a:endParaRPr sz="1600">
              <a:latin typeface="Times New Roman" panose="02020603050405020304" charset="0"/>
              <a:cs typeface="Times New Roman" panose="02020603050405020304" charset="0"/>
            </a:endParaRPr>
          </a:p>
          <a:p>
            <a:pPr marL="285750" indent="-285750" fontAlgn="auto">
              <a:spcAft>
                <a:spcPts val="0"/>
              </a:spcAft>
              <a:buFont typeface="Arial" panose="020B0604020202020204" pitchFamily="34" charset="0"/>
              <a:buChar char="•"/>
            </a:pPr>
            <a:r>
              <a:rPr sz="1600">
                <a:latin typeface="Times New Roman" panose="02020603050405020304" charset="0"/>
                <a:cs typeface="Times New Roman" panose="02020603050405020304" charset="0"/>
              </a:rPr>
              <a:t>Robotics and control systems</a:t>
            </a:r>
            <a:endParaRPr sz="1600">
              <a:latin typeface="Times New Roman" panose="02020603050405020304" charset="0"/>
              <a:cs typeface="Times New Roman" panose="02020603050405020304" charset="0"/>
            </a:endParaRPr>
          </a:p>
          <a:p>
            <a:pPr marL="285750" indent="-285750" fontAlgn="auto">
              <a:spcAft>
                <a:spcPts val="0"/>
              </a:spcAft>
              <a:buFont typeface="Arial" panose="020B0604020202020204" pitchFamily="34" charset="0"/>
              <a:buChar char="•"/>
            </a:pPr>
            <a:r>
              <a:rPr sz="1600">
                <a:latin typeface="Times New Roman" panose="02020603050405020304" charset="0"/>
                <a:cs typeface="Times New Roman" panose="02020603050405020304" charset="0"/>
              </a:rPr>
              <a:t>Scheduling and routing</a:t>
            </a:r>
            <a:endParaRPr sz="1600">
              <a:latin typeface="Times New Roman" panose="02020603050405020304" charset="0"/>
              <a:cs typeface="Times New Roman" panose="02020603050405020304" charset="0"/>
            </a:endParaRPr>
          </a:p>
          <a:p>
            <a:pPr marL="285750" indent="-285750" fontAlgn="auto">
              <a:spcAft>
                <a:spcPts val="0"/>
              </a:spcAft>
              <a:buFont typeface="Arial" panose="020B0604020202020204" pitchFamily="34" charset="0"/>
              <a:buChar char="•"/>
            </a:pPr>
            <a:r>
              <a:rPr sz="1600">
                <a:latin typeface="Times New Roman" panose="02020603050405020304" charset="0"/>
                <a:cs typeface="Times New Roman" panose="02020603050405020304" charset="0"/>
              </a:rPr>
              <a:t>Feature selection</a:t>
            </a:r>
            <a:endParaRPr sz="1600">
              <a:latin typeface="Times New Roman" panose="02020603050405020304" charset="0"/>
              <a:cs typeface="Times New Roman" panose="02020603050405020304" charset="0"/>
            </a:endParaRPr>
          </a:p>
          <a:p>
            <a:pPr marL="285750" indent="-285750" fontAlgn="auto">
              <a:spcAft>
                <a:spcPts val="0"/>
              </a:spcAft>
              <a:buFont typeface="Arial" panose="020B0604020202020204" pitchFamily="34" charset="0"/>
              <a:buChar char="•"/>
            </a:pPr>
            <a:r>
              <a:rPr sz="1600">
                <a:latin typeface="Times New Roman" panose="02020603050405020304" charset="0"/>
                <a:cs typeface="Times New Roman" panose="02020603050405020304" charset="0"/>
              </a:rPr>
              <a:t>Game playing</a:t>
            </a:r>
            <a:endParaRPr sz="1600">
              <a:latin typeface="Times New Roman" panose="02020603050405020304" charset="0"/>
              <a:cs typeface="Times New Roman" panose="02020603050405020304"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228600" y="742950"/>
            <a:ext cx="8690610" cy="2806700"/>
          </a:xfrm>
          <a:prstGeom prst="rect">
            <a:avLst/>
          </a:prstGeom>
        </p:spPr>
        <p:txBody>
          <a:bodyPr>
            <a:noAutofit/>
          </a:bodyPr>
          <a:p>
            <a:pPr indent="0" fontAlgn="auto">
              <a:spcAft>
                <a:spcPct val="60000"/>
              </a:spcAft>
            </a:pPr>
            <a:endParaRPr sz="1600">
              <a:latin typeface="Times New Roman" panose="02020603050405020304" charset="0"/>
              <a:cs typeface="Times New Roman" panose="02020603050405020304" charset="0"/>
            </a:endParaRPr>
          </a:p>
        </p:txBody>
      </p:sp>
      <p:pic>
        <p:nvPicPr>
          <p:cNvPr id="2" name="Picture 1"/>
          <p:cNvPicPr>
            <a:picLocks noChangeAspect="1"/>
          </p:cNvPicPr>
          <p:nvPr/>
        </p:nvPicPr>
        <p:blipFill>
          <a:blip r:embed="rId1"/>
          <a:stretch>
            <a:fillRect/>
          </a:stretch>
        </p:blipFill>
        <p:spPr>
          <a:xfrm>
            <a:off x="304800" y="971550"/>
            <a:ext cx="7520940" cy="2606040"/>
          </a:xfrm>
          <a:prstGeom prst="rect">
            <a:avLst/>
          </a:prstGeom>
        </p:spPr>
      </p:pic>
      <p:sp>
        <p:nvSpPr>
          <p:cNvPr id="4" name="Text Box 3"/>
          <p:cNvSpPr txBox="1"/>
          <p:nvPr/>
        </p:nvSpPr>
        <p:spPr>
          <a:xfrm>
            <a:off x="228600" y="3790950"/>
            <a:ext cx="8784590" cy="583565"/>
          </a:xfrm>
          <a:prstGeom prst="rect">
            <a:avLst/>
          </a:prstGeom>
        </p:spPr>
        <p:txBody>
          <a:bodyPr wrap="square">
            <a:spAutoFit/>
          </a:bodyPr>
          <a:p>
            <a:pPr algn="just"/>
            <a:r>
              <a:rPr sz="1600">
                <a:latin typeface="Times New Roman" panose="02020603050405020304" charset="0"/>
                <a:cs typeface="Times New Roman" panose="02020603050405020304" charset="0"/>
              </a:rPr>
              <a:t>A local optimum is a solution that is better than all its neighboring solutions but not the best solution overall (global optimum).</a:t>
            </a:r>
            <a:endParaRPr sz="1600">
              <a:latin typeface="Times New Roman" panose="02020603050405020304" charset="0"/>
              <a:cs typeface="Times New Roman" panose="02020603050405020304"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742950"/>
            <a:ext cx="8928100" cy="468630"/>
          </a:xfrm>
          <a:prstGeom prst="rect">
            <a:avLst/>
          </a:prstGeom>
        </p:spPr>
        <p:txBody>
          <a:bodyPr vert="horz" lIns="91440" tIns="45720" rIns="91440" bIns="45720" rtlCol="0" anchor="ctr">
            <a:normAutofit fontScale="25000"/>
          </a:bodyPr>
          <a:lstStyle/>
          <a:p>
            <a:pPr marR="0" lvl="0" indent="0" algn="just" defTabSz="914400" rtl="0" eaLnBrk="1" fontAlgn="auto" latinLnBrk="0" hangingPunct="1">
              <a:lnSpc>
                <a:spcPct val="100000"/>
              </a:lnSpc>
              <a:spcBef>
                <a:spcPct val="0"/>
              </a:spcBef>
              <a:spcAft>
                <a:spcPts val="0"/>
              </a:spcAft>
              <a:buClrTx/>
              <a:buSzTx/>
              <a:buFont typeface="Arial" panose="020B0604020202020204" pitchFamily="34" charset="0"/>
              <a:buNone/>
              <a:defRPr/>
            </a:pPr>
            <a:r>
              <a:rPr lang="en-GB" altLang="en-US" sz="9600" b="1">
                <a:gradFill>
                  <a:gsLst>
                    <a:gs pos="0">
                      <a:srgbClr val="007BD3"/>
                    </a:gs>
                    <a:gs pos="100000">
                      <a:srgbClr val="034373"/>
                    </a:gs>
                  </a:gsLst>
                  <a:lin scaled="0"/>
                </a:gradFill>
                <a:latin typeface="Times New Roman" panose="02020603050405020304" charset="0"/>
                <a:cs typeface="Times New Roman" panose="02020603050405020304" charset="0"/>
                <a:sym typeface="+mn-ea"/>
              </a:rPr>
              <a:t> </a:t>
            </a:r>
            <a:endParaRPr kumimoji="0" lang="en-US" altLang="en-GB" sz="6665" i="0" strike="noStrike" kern="1200" cap="none" spc="0" normalizeH="0" baseline="0" noProof="0" dirty="0">
              <a:ln>
                <a:noFill/>
              </a:ln>
              <a:solidFill>
                <a:schemeClr val="tx1"/>
              </a:solidFill>
              <a:effectLst/>
              <a:uLnTx/>
              <a:uFillTx/>
              <a:latin typeface="Times New Roman" panose="02020603050405020304" charset="0"/>
              <a:ea typeface="+mj-ea"/>
              <a:cs typeface="Times New Roman" panose="02020603050405020304" charset="0"/>
            </a:endParaRPr>
          </a:p>
        </p:txBody>
      </p:sp>
      <p:sp>
        <p:nvSpPr>
          <p:cNvPr id="3" name="Text Box 2"/>
          <p:cNvSpPr txBox="1"/>
          <p:nvPr/>
        </p:nvSpPr>
        <p:spPr>
          <a:xfrm>
            <a:off x="1981200" y="2419350"/>
            <a:ext cx="4872355" cy="645160"/>
          </a:xfrm>
          <a:prstGeom prst="rect">
            <a:avLst/>
          </a:prstGeom>
          <a:noFill/>
        </p:spPr>
        <p:txBody>
          <a:bodyPr wrap="square" rtlCol="0">
            <a:spAutoFit/>
          </a:bodyPr>
          <a:p>
            <a:pPr algn="ctr"/>
            <a:r>
              <a:rPr lang="en-GB" altLang="en-US" sz="3600" b="1" i="1">
                <a:solidFill>
                  <a:srgbClr val="0070C0"/>
                </a:solidFill>
                <a:latin typeface="Times New Roman" panose="02020603050405020304" charset="0"/>
                <a:cs typeface="Times New Roman" panose="02020603050405020304" charset="0"/>
              </a:rPr>
              <a:t>Thank  You</a:t>
            </a:r>
            <a:endParaRPr lang="en-GB" altLang="en-US" sz="3600" b="1" i="1">
              <a:solidFill>
                <a:srgbClr val="0070C0"/>
              </a:solidFill>
              <a:latin typeface="Times New Roman" panose="02020603050405020304" charset="0"/>
              <a:cs typeface="Times New Roman" panose="02020603050405020304" charset="0"/>
            </a:endParaRPr>
          </a:p>
        </p:txBody>
      </p:sp>
    </p:spTree>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671*277"/>
  <p:tag name="TABLE_ENDDRAG_RECT" val="24*100*671*277"/>
</p:tagLst>
</file>

<file path=ppt/tags/tag6.xml><?xml version="1.0" encoding="utf-8"?>
<p:tagLst xmlns:p="http://schemas.openxmlformats.org/presentationml/2006/main">
  <p:tag name="TABLE_ENDDRAG_ORIGIN_RECT" val="663*284"/>
  <p:tag name="TABLE_ENDDRAG_RECT" val="24*103*663*284"/>
</p:tagLst>
</file>

<file path=ppt/tags/tag7.xml><?xml version="1.0" encoding="utf-8"?>
<p:tagLst xmlns:p="http://schemas.openxmlformats.org/presentationml/2006/main">
  <p:tag name="TABLE_ENDDRAG_ORIGIN_RECT" val="649*275"/>
  <p:tag name="TABLE_ENDDRAG_RECT" val="30*106*649*275"/>
</p:tagLst>
</file>

<file path=ppt/tags/tag8.xml><?xml version="1.0" encoding="utf-8"?>
<p:tagLst xmlns:p="http://schemas.openxmlformats.org/presentationml/2006/main">
  <p:tag name="TABLE_ENDDRAG_ORIGIN_RECT" val="619*269"/>
  <p:tag name="TABLE_ENDDRAG_RECT" val="50*106*619*26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18317</Words>
  <Application>WPS Presentation</Application>
  <PresentationFormat>On-screen Show (16:9)</PresentationFormat>
  <Paragraphs>569</Paragraphs>
  <Slides>53</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53</vt:i4>
      </vt:variant>
    </vt:vector>
  </HeadingPairs>
  <TitlesOfParts>
    <vt:vector size="70" baseType="lpstr">
      <vt:lpstr>Arial</vt:lpstr>
      <vt:lpstr>SimSun</vt:lpstr>
      <vt:lpstr>Wingdings</vt:lpstr>
      <vt:lpstr>Times New Roman</vt:lpstr>
      <vt:lpstr>Wingdings</vt:lpstr>
      <vt:lpstr>Lato</vt:lpstr>
      <vt:lpstr>Segoe Print</vt:lpstr>
      <vt:lpstr>Nunito</vt:lpstr>
      <vt:lpstr>Calibri</vt:lpstr>
      <vt:lpstr>Microsoft YaHei</vt:lpstr>
      <vt:lpstr>Arial Unicode MS</vt:lpstr>
      <vt:lpstr>Arial</vt:lpstr>
      <vt:lpstr>Consolas</vt:lpstr>
      <vt:lpstr>Cascadia Code Light</vt:lpstr>
      <vt:lpstr>Tempus Sans ITC</vt:lpstr>
      <vt:lpstr>Google Sans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Mech</dc:creator>
  <cp:lastModifiedBy>sweta kahurke</cp:lastModifiedBy>
  <cp:revision>402</cp:revision>
  <dcterms:created xsi:type="dcterms:W3CDTF">2006-08-16T00:00:00Z</dcterms:created>
  <dcterms:modified xsi:type="dcterms:W3CDTF">2025-12-23T10:30:16Z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A781B5CC11734875BBD7237F126906BE_13</vt:lpwstr>
  </property>
  <property fmtid="{D5CDD505-2E9C-101B-9397-08002B2CF9AE}" pid="3" name="KSOProductBuildVer">
    <vt:lpwstr>1033-12.2.0.23155</vt:lpwstr>
  </property>
</Properties>
</file>