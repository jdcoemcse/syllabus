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331" r:id="rId3"/>
    <p:sldId id="371" r:id="rId5"/>
    <p:sldId id="404" r:id="rId6"/>
    <p:sldId id="405" r:id="rId7"/>
    <p:sldId id="406" r:id="rId8"/>
    <p:sldId id="407" r:id="rId9"/>
    <p:sldId id="408" r:id="rId10"/>
    <p:sldId id="409" r:id="rId11"/>
    <p:sldId id="410" r:id="rId12"/>
    <p:sldId id="411" r:id="rId13"/>
    <p:sldId id="412" r:id="rId14"/>
    <p:sldId id="413" r:id="rId15"/>
    <p:sldId id="414" r:id="rId16"/>
    <p:sldId id="416" r:id="rId17"/>
    <p:sldId id="415" r:id="rId18"/>
    <p:sldId id="417" r:id="rId19"/>
    <p:sldId id="418" r:id="rId20"/>
    <p:sldId id="419" r:id="rId21"/>
    <p:sldId id="420" r:id="rId22"/>
    <p:sldId id="421" r:id="rId23"/>
    <p:sldId id="422" r:id="rId24"/>
    <p:sldId id="423" r:id="rId25"/>
    <p:sldId id="424" r:id="rId26"/>
    <p:sldId id="425" r:id="rId27"/>
    <p:sldId id="426" r:id="rId28"/>
    <p:sldId id="427" r:id="rId29"/>
    <p:sldId id="430" r:id="rId30"/>
    <p:sldId id="429" r:id="rId31"/>
    <p:sldId id="431" r:id="rId32"/>
    <p:sldId id="432" r:id="rId33"/>
    <p:sldId id="433" r:id="rId34"/>
    <p:sldId id="434" r:id="rId35"/>
    <p:sldId id="435" r:id="rId36"/>
    <p:sldId id="436" r:id="rId37"/>
    <p:sldId id="437" r:id="rId38"/>
    <p:sldId id="438" r:id="rId39"/>
    <p:sldId id="439" r:id="rId40"/>
    <p:sldId id="440" r:id="rId41"/>
    <p:sldId id="441" r:id="rId42"/>
    <p:sldId id="442" r:id="rId43"/>
    <p:sldId id="443" r:id="rId44"/>
    <p:sldId id="444" r:id="rId45"/>
    <p:sldId id="445" r:id="rId46"/>
    <p:sldId id="446" r:id="rId47"/>
    <p:sldId id="447" r:id="rId48"/>
    <p:sldId id="448" r:id="rId49"/>
    <p:sldId id="449" r:id="rId50"/>
    <p:sldId id="450" r:id="rId51"/>
    <p:sldId id="451" r:id="rId52"/>
    <p:sldId id="452" r:id="rId53"/>
    <p:sldId id="453" r:id="rId54"/>
    <p:sldId id="454" r:id="rId55"/>
    <p:sldId id="455" r:id="rId56"/>
    <p:sldId id="456" r:id="rId57"/>
    <p:sldId id="457" r:id="rId58"/>
    <p:sldId id="458" r:id="rId59"/>
    <p:sldId id="459" r:id="rId60"/>
    <p:sldId id="460" r:id="rId61"/>
    <p:sldId id="461" r:id="rId62"/>
    <p:sldId id="462" r:id="rId63"/>
    <p:sldId id="463" r:id="rId64"/>
    <p:sldId id="464" r:id="rId65"/>
    <p:sldId id="465" r:id="rId66"/>
    <p:sldId id="466" r:id="rId67"/>
    <p:sldId id="467" r:id="rId68"/>
    <p:sldId id="468" r:id="rId69"/>
    <p:sldId id="469" r:id="rId70"/>
    <p:sldId id="470" r:id="rId71"/>
    <p:sldId id="471" r:id="rId72"/>
    <p:sldId id="472" r:id="rId73"/>
    <p:sldId id="473" r:id="rId74"/>
    <p:sldId id="474" r:id="rId75"/>
    <p:sldId id="475" r:id="rId76"/>
    <p:sldId id="477" r:id="rId77"/>
    <p:sldId id="478" r:id="rId78"/>
    <p:sldId id="476" r:id="rId79"/>
    <p:sldId id="480" r:id="rId80"/>
    <p:sldId id="479" r:id="rId81"/>
    <p:sldId id="481" r:id="rId82"/>
    <p:sldId id="482" r:id="rId83"/>
    <p:sldId id="483" r:id="rId84"/>
    <p:sldId id="484" r:id="rId85"/>
    <p:sldId id="485" r:id="rId86"/>
    <p:sldId id="486" r:id="rId87"/>
    <p:sldId id="487" r:id="rId88"/>
    <p:sldId id="488" r:id="rId89"/>
    <p:sldId id="489" r:id="rId90"/>
    <p:sldId id="490" r:id="rId91"/>
    <p:sldId id="491" r:id="rId92"/>
    <p:sldId id="492" r:id="rId93"/>
    <p:sldId id="493" r:id="rId94"/>
    <p:sldId id="494" r:id="rId95"/>
    <p:sldId id="495" r:id="rId96"/>
    <p:sldId id="496" r:id="rId97"/>
    <p:sldId id="497" r:id="rId98"/>
    <p:sldId id="498" r:id="rId99"/>
    <p:sldId id="499" r:id="rId100"/>
    <p:sldId id="500" r:id="rId101"/>
    <p:sldId id="501" r:id="rId102"/>
    <p:sldId id="502" r:id="rId103"/>
    <p:sldId id="503" r:id="rId104"/>
    <p:sldId id="504" r:id="rId105"/>
    <p:sldId id="505" r:id="rId106"/>
    <p:sldId id="506" r:id="rId107"/>
    <p:sldId id="507" r:id="rId108"/>
    <p:sldId id="508" r:id="rId109"/>
    <p:sldId id="509" r:id="rId110"/>
    <p:sldId id="510" r:id="rId111"/>
    <p:sldId id="511" r:id="rId112"/>
    <p:sldId id="512" r:id="rId113"/>
    <p:sldId id="513" r:id="rId114"/>
    <p:sldId id="347" r:id="rId11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pos="2880" userDrawn="1">
          <p15:clr>
            <a:srgbClr val="A4A3A4"/>
          </p15:clr>
        </p15:guide>
        <p15:guide id="3" orient="horz" pos="16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A3B"/>
    <a:srgbClr val="3E4E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0" d="100"/>
          <a:sy n="80" d="100"/>
        </p:scale>
        <p:origin x="480" y="84"/>
      </p:cViewPr>
      <p:guideLst>
        <p:guide orient="horz" pos="2104"/>
        <p:guide pos="2880"/>
        <p:guide orient="horz" pos="162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9" Type="http://schemas.openxmlformats.org/officeDocument/2006/relationships/commentAuthors" Target="commentAuthors.xml"/><Relationship Id="rId118" Type="http://schemas.openxmlformats.org/officeDocument/2006/relationships/tableStyles" Target="tableStyles.xml"/><Relationship Id="rId117" Type="http://schemas.openxmlformats.org/officeDocument/2006/relationships/viewProps" Target="viewProps.xml"/><Relationship Id="rId116" Type="http://schemas.openxmlformats.org/officeDocument/2006/relationships/presProps" Target="presProps.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3455F4-35DF-4934-841C-E4BBE4B4163A}" type="datetimeFigureOut">
              <a:rPr lang="en-US" smtClean="0"/>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2689BD6-91AE-4E67-9C26-BFED49EB51AE}"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2689BD6-91AE-4E67-9C26-BFED49EB51AE}"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dirty="0"/>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522000" y="357240"/>
            <a:ext cx="8100000" cy="594000"/>
          </a:xfrm>
        </p:spPr>
        <p:txBody>
          <a:bodyPr lIns="0" tIns="0" rIns="0" bIns="0" anchor="t" anchorCtr="0"/>
          <a:lstStyle>
            <a:lvl1pPr algn="l" fontAlgn="base">
              <a:defRPr sz="2400">
                <a:solidFill>
                  <a:schemeClr val="tx1">
                    <a:lumMod val="85000"/>
                    <a:lumOff val="15000"/>
                  </a:schemeClr>
                </a:solidFill>
                <a:latin typeface="+mj-lt"/>
              </a:defRPr>
            </a:lvl1pPr>
          </a:lstStyle>
          <a:p>
            <a:r>
              <a:rPr lang="en-US"/>
              <a:t>Click to add title</a:t>
            </a:r>
            <a:endParaRPr lang="en-US"/>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microsoft.com/office/2007/relationships/hdphoto" Target="../media/image2.wdp"/><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
        <p:nvSpPr>
          <p:cNvPr id="8" name="Rectangle 7"/>
          <p:cNvSpPr/>
          <p:nvPr userDrawn="1"/>
        </p:nvSpPr>
        <p:spPr>
          <a:xfrm>
            <a:off x="0" y="0"/>
            <a:ext cx="9144000" cy="548877"/>
          </a:xfrm>
          <a:prstGeom prst="rect">
            <a:avLst/>
          </a:prstGeom>
          <a:solidFill>
            <a:srgbClr val="3E4E70"/>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5486400" y="0"/>
            <a:ext cx="3657600" cy="666750"/>
          </a:xfrm>
          <a:custGeom>
            <a:avLst/>
            <a:gdLst>
              <a:gd name="connsiteX0" fmla="*/ 0 w 4572000"/>
              <a:gd name="connsiteY0" fmla="*/ 0 h 857250"/>
              <a:gd name="connsiteX1" fmla="*/ 4572000 w 4572000"/>
              <a:gd name="connsiteY1" fmla="*/ 0 h 857250"/>
              <a:gd name="connsiteX2" fmla="*/ 4572000 w 4572000"/>
              <a:gd name="connsiteY2" fmla="*/ 857250 h 857250"/>
              <a:gd name="connsiteX3" fmla="*/ 0 w 4572000"/>
              <a:gd name="connsiteY3" fmla="*/ 857250 h 857250"/>
              <a:gd name="connsiteX4" fmla="*/ 0 w 4572000"/>
              <a:gd name="connsiteY4" fmla="*/ 0 h 857250"/>
              <a:gd name="connsiteX0-1" fmla="*/ 0 w 4572000"/>
              <a:gd name="connsiteY0-2" fmla="*/ 0 h 857250"/>
              <a:gd name="connsiteX1-3" fmla="*/ 4572000 w 4572000"/>
              <a:gd name="connsiteY1-4" fmla="*/ 0 h 857250"/>
              <a:gd name="connsiteX2-5" fmla="*/ 4572000 w 4572000"/>
              <a:gd name="connsiteY2-6" fmla="*/ 857250 h 857250"/>
              <a:gd name="connsiteX3-7" fmla="*/ 394855 w 4572000"/>
              <a:gd name="connsiteY3-8" fmla="*/ 857250 h 857250"/>
              <a:gd name="connsiteX4-9" fmla="*/ 0 w 4572000"/>
              <a:gd name="connsiteY4-10" fmla="*/ 0 h 8572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572000" h="857250">
                <a:moveTo>
                  <a:pt x="0" y="0"/>
                </a:moveTo>
                <a:lnTo>
                  <a:pt x="4572000" y="0"/>
                </a:lnTo>
                <a:lnTo>
                  <a:pt x="4572000" y="857250"/>
                </a:lnTo>
                <a:lnTo>
                  <a:pt x="394855" y="857250"/>
                </a:lnTo>
                <a:lnTo>
                  <a:pt x="0" y="0"/>
                </a:lnTo>
                <a:close/>
              </a:path>
            </a:pathLst>
          </a:custGeom>
          <a:solidFill>
            <a:srgbClr val="1E2A3B"/>
          </a:solidFill>
          <a:ln>
            <a:noFill/>
          </a:ln>
          <a:effectLst>
            <a:outerShdw blurRad="50800" dist="38100" dir="10800000" algn="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descr="C:\Users\NEW DEAN ADMIN\Desktop\Asset 1.png"/>
          <p:cNvPicPr>
            <a:picLocks noChangeAspect="1" noChangeArrowheads="1"/>
          </p:cNvPicPr>
          <p:nvPr userDrawn="1"/>
        </p:nvPicPr>
        <p:blipFill rotWithShape="1">
          <a:blip r:embed="rId13">
            <a:extLst>
              <a:ext uri="{BEBA8EAE-BF5A-486C-A8C5-ECC9F3942E4B}">
                <a14:imgProps xmlns:a14="http://schemas.microsoft.com/office/drawing/2010/main">
                  <a14:imgLayer r:embed="rId14">
                    <a14:imgEffect>
                      <a14:backgroundRemoval t="21387" b="84393" l="14087" r="88986">
                        <a14:foregroundMark x1="55884" y1="31214" x2="85739" y2="57803"/>
                        <a14:foregroundMark x1="85739" y1="57803" x2="88986" y2="31792"/>
                        <a14:foregroundMark x1="62609" y1="73410" x2="80000" y2="57225"/>
                        <a14:foregroundMark x1="80000" y1="57225" x2="75884" y2="84393"/>
                        <a14:foregroundMark x1="75884" y1="84393" x2="70493" y2="66474"/>
                        <a14:foregroundMark x1="70493" y1="66474" x2="70377" y2="61850"/>
                        <a14:foregroundMark x1="55130" y1="68208" x2="53681" y2="23121"/>
                        <a14:foregroundMark x1="53681" y1="23121" x2="53681" y2="23121"/>
                        <a14:foregroundMark x1="55130" y1="65318" x2="55420" y2="72254"/>
                        <a14:foregroundMark x1="55246" y1="72832" x2="54841" y2="61272"/>
                        <a14:backgroundMark x1="11478" y1="45665" x2="16986" y2="42775"/>
                        <a14:backgroundMark x1="16986" y1="42775" x2="52058" y2="57803"/>
                        <a14:backgroundMark x1="52058" y1="57803" x2="52928" y2="69364"/>
                        <a14:backgroundMark x1="54609" y1="72832" x2="52058" y2="24855"/>
                        <a14:backgroundMark x1="52058" y1="24855" x2="53681" y2="67630"/>
                        <a14:backgroundMark x1="53681" y1="67630" x2="53739" y2="72254"/>
                      </a14:backgroundRemoval>
                    </a14:imgEffect>
                  </a14:imgLayer>
                </a14:imgProps>
              </a:ext>
            </a:extLst>
          </a:blip>
          <a:srcRect l="59566" t="15183" r="9943" b="21959"/>
          <a:stretch>
            <a:fillRect/>
          </a:stretch>
        </p:blipFill>
        <p:spPr bwMode="auto">
          <a:xfrm>
            <a:off x="5867400" y="-5057"/>
            <a:ext cx="3276600" cy="671807"/>
          </a:xfrm>
          <a:prstGeom prst="rect">
            <a:avLst/>
          </a:prstGeom>
          <a:noFill/>
          <a:effec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GIF"/></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4.GIF"/></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14.GIF"/></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4.GIF"/></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19.png"/><Relationship Id="rId1" Type="http://schemas.openxmlformats.org/officeDocument/2006/relationships/image" Target="../media/image14.GIF"/></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1.xml"/><Relationship Id="rId2" Type="http://schemas.openxmlformats.org/officeDocument/2006/relationships/image" Target="../media/image20.png"/><Relationship Id="rId1" Type="http://schemas.openxmlformats.org/officeDocument/2006/relationships/image" Target="../media/image14.GI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14.GIF"/></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14.GIF"/></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1.xml"/><Relationship Id="rId2" Type="http://schemas.openxmlformats.org/officeDocument/2006/relationships/image" Target="../media/image22.png"/><Relationship Id="rId1" Type="http://schemas.openxmlformats.org/officeDocument/2006/relationships/image" Target="../media/image14.GIF"/></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1.xml"/><Relationship Id="rId2" Type="http://schemas.openxmlformats.org/officeDocument/2006/relationships/image" Target="../media/image23.png"/><Relationship Id="rId1" Type="http://schemas.openxmlformats.org/officeDocument/2006/relationships/image" Target="../media/image14.GIF"/></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14.GIF"/></Relationships>
</file>

<file path=ppt/slides/_rels/slide39.xml.rels><?xml version="1.0" encoding="UTF-8" standalone="yes"?>
<Relationships xmlns="http://schemas.openxmlformats.org/package/2006/relationships"><Relationship Id="rId4" Type="http://schemas.openxmlformats.org/officeDocument/2006/relationships/notesSlide" Target="../notesSlides/notesSlide39.xml"/><Relationship Id="rId3" Type="http://schemas.openxmlformats.org/officeDocument/2006/relationships/slideLayout" Target="../slideLayouts/slideLayout1.xml"/><Relationship Id="rId2" Type="http://schemas.openxmlformats.org/officeDocument/2006/relationships/image" Target="../media/image25.png"/><Relationship Id="rId1" Type="http://schemas.openxmlformats.org/officeDocument/2006/relationships/image" Target="../media/image14.GIF"/></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26.png"/><Relationship Id="rId1" Type="http://schemas.openxmlformats.org/officeDocument/2006/relationships/image" Target="../media/image14.GIF"/></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14.GIF"/></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1.xml"/><Relationship Id="rId2" Type="http://schemas.openxmlformats.org/officeDocument/2006/relationships/image" Target="../media/image27.png"/><Relationship Id="rId1" Type="http://schemas.openxmlformats.org/officeDocument/2006/relationships/image" Target="../media/image14.GIF"/></Relationships>
</file>

<file path=ppt/slides/_rels/slide43.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14.GIF"/></Relationships>
</file>

<file path=ppt/slides/_rels/slide44.xml.rels><?xml version="1.0" encoding="UTF-8" standalone="yes"?>
<Relationships xmlns="http://schemas.openxmlformats.org/package/2006/relationships"><Relationship Id="rId4" Type="http://schemas.openxmlformats.org/officeDocument/2006/relationships/notesSlide" Target="../notesSlides/notesSlide44.xml"/><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14.GIF"/></Relationships>
</file>

<file path=ppt/slides/_rels/slide45.xml.rels><?xml version="1.0" encoding="UTF-8" standalone="yes"?>
<Relationships xmlns="http://schemas.openxmlformats.org/package/2006/relationships"><Relationship Id="rId5" Type="http://schemas.openxmlformats.org/officeDocument/2006/relationships/notesSlide" Target="../notesSlides/notesSlide45.xml"/><Relationship Id="rId4" Type="http://schemas.openxmlformats.org/officeDocument/2006/relationships/slideLayout" Target="../slideLayouts/slideLayout1.xml"/><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14.GIF"/></Relationships>
</file>

<file path=ppt/slides/_rels/slide46.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1.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14.GIF"/></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14.GIF"/></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xml"/><Relationship Id="rId1" Type="http://schemas.openxmlformats.org/officeDocument/2006/relationships/image" Target="../media/image3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36.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xml"/><Relationship Id="rId1" Type="http://schemas.openxmlformats.org/officeDocument/2006/relationships/image" Target="../media/image38.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xml"/><Relationship Id="rId1"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xml"/><Relationship Id="rId1" Type="http://schemas.openxmlformats.org/officeDocument/2006/relationships/image" Target="../media/image40.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4" Type="http://schemas.openxmlformats.org/officeDocument/2006/relationships/notesSlide" Target="../notesSlides/notesSlide56.xml"/><Relationship Id="rId3" Type="http://schemas.openxmlformats.org/officeDocument/2006/relationships/slideLayout" Target="../slideLayouts/slideLayout1.xml"/><Relationship Id="rId2" Type="http://schemas.openxmlformats.org/officeDocument/2006/relationships/image" Target="../media/image44.png"/><Relationship Id="rId1" Type="http://schemas.openxmlformats.org/officeDocument/2006/relationships/image" Target="../media/image43.png"/></Relationships>
</file>

<file path=ppt/slides/_rels/slide57.xml.rels><?xml version="1.0" encoding="UTF-8" standalone="yes"?>
<Relationships xmlns="http://schemas.openxmlformats.org/package/2006/relationships"><Relationship Id="rId4" Type="http://schemas.openxmlformats.org/officeDocument/2006/relationships/notesSlide" Target="../notesSlides/notesSlide57.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5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xml"/><Relationship Id="rId2" Type="http://schemas.openxmlformats.org/officeDocument/2006/relationships/image" Target="../media/image48.png"/><Relationship Id="rId1" Type="http://schemas.openxmlformats.org/officeDocument/2006/relationships/image" Target="../media/image47.png"/></Relationships>
</file>

<file path=ppt/slides/_rels/slide5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xml"/><Relationship Id="rId2" Type="http://schemas.openxmlformats.org/officeDocument/2006/relationships/image" Target="../media/image50.png"/><Relationship Id="rId1" Type="http://schemas.openxmlformats.org/officeDocument/2006/relationships/image" Target="../media/image49.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xml"/><Relationship Id="rId1" Type="http://schemas.openxmlformats.org/officeDocument/2006/relationships/image" Target="../media/image51.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xml"/><Relationship Id="rId1" Type="http://schemas.openxmlformats.org/officeDocument/2006/relationships/image" Target="../media/image52.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xml"/><Relationship Id="rId1" Type="http://schemas.openxmlformats.org/officeDocument/2006/relationships/image" Target="../media/image53.png"/></Relationships>
</file>

<file path=ppt/slides/_rels/slide6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xml"/><Relationship Id="rId2" Type="http://schemas.openxmlformats.org/officeDocument/2006/relationships/image" Target="../media/image55.png"/><Relationship Id="rId1" Type="http://schemas.openxmlformats.org/officeDocument/2006/relationships/image" Target="../media/image54.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xml"/><Relationship Id="rId1" Type="http://schemas.openxmlformats.org/officeDocument/2006/relationships/image" Target="../media/image56.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xml"/><Relationship Id="rId1" Type="http://schemas.openxmlformats.org/officeDocument/2006/relationships/image" Target="../media/image57.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4" Type="http://schemas.openxmlformats.org/officeDocument/2006/relationships/notesSlide" Target="../notesSlides/notesSlide70.xml"/><Relationship Id="rId3" Type="http://schemas.openxmlformats.org/officeDocument/2006/relationships/slideLayout" Target="../slideLayouts/slideLayout1.xml"/><Relationship Id="rId2" Type="http://schemas.openxmlformats.org/officeDocument/2006/relationships/image" Target="../media/image59.png"/><Relationship Id="rId1" Type="http://schemas.openxmlformats.org/officeDocument/2006/relationships/image" Target="../media/image58.png"/></Relationships>
</file>

<file path=ppt/slides/_rels/slide71.xml.rels><?xml version="1.0" encoding="UTF-8" standalone="yes"?>
<Relationships xmlns="http://schemas.openxmlformats.org/package/2006/relationships"><Relationship Id="rId4" Type="http://schemas.openxmlformats.org/officeDocument/2006/relationships/notesSlide" Target="../notesSlides/notesSlide71.xml"/><Relationship Id="rId3" Type="http://schemas.openxmlformats.org/officeDocument/2006/relationships/slideLayout" Target="../slideLayouts/slideLayout1.xml"/><Relationship Id="rId2" Type="http://schemas.openxmlformats.org/officeDocument/2006/relationships/image" Target="../media/image61.png"/><Relationship Id="rId1" Type="http://schemas.openxmlformats.org/officeDocument/2006/relationships/image" Target="../media/image60.pn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xml"/><Relationship Id="rId1" Type="http://schemas.openxmlformats.org/officeDocument/2006/relationships/image" Target="../media/image62.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xml"/><Relationship Id="rId1" Type="http://schemas.openxmlformats.org/officeDocument/2006/relationships/image" Target="../media/image63.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5" Type="http://schemas.openxmlformats.org/officeDocument/2006/relationships/notesSlide" Target="../notesSlides/notesSlide80.xml"/><Relationship Id="rId4" Type="http://schemas.openxmlformats.org/officeDocument/2006/relationships/slideLayout" Target="../slideLayouts/slideLayout1.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xml"/><Relationship Id="rId1" Type="http://schemas.openxmlformats.org/officeDocument/2006/relationships/image" Target="../media/image67.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xml"/><Relationship Id="rId1" Type="http://schemas.openxmlformats.org/officeDocument/2006/relationships/image" Target="../media/image68.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xml"/><Relationship Id="rId1" Type="http://schemas.openxmlformats.org/officeDocument/2006/relationships/image" Target="../media/image69.png"/></Relationships>
</file>

<file path=ppt/slides/_rels/slide94.xml.rels><?xml version="1.0" encoding="UTF-8" standalone="yes"?>
<Relationships xmlns="http://schemas.openxmlformats.org/package/2006/relationships"><Relationship Id="rId4" Type="http://schemas.openxmlformats.org/officeDocument/2006/relationships/notesSlide" Target="../notesSlides/notesSlide94.xml"/><Relationship Id="rId3" Type="http://schemas.openxmlformats.org/officeDocument/2006/relationships/slideLayout" Target="../slideLayouts/slideLayout1.xml"/><Relationship Id="rId2" Type="http://schemas.openxmlformats.org/officeDocument/2006/relationships/image" Target="../media/image71.png"/><Relationship Id="rId1" Type="http://schemas.openxmlformats.org/officeDocument/2006/relationships/image" Target="../media/image70.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4" Type="http://schemas.openxmlformats.org/officeDocument/2006/relationships/notesSlide" Target="../notesSlides/notesSlide97.xml"/><Relationship Id="rId3" Type="http://schemas.openxmlformats.org/officeDocument/2006/relationships/slideLayout" Target="../slideLayouts/slideLayout1.xml"/><Relationship Id="rId2" Type="http://schemas.openxmlformats.org/officeDocument/2006/relationships/image" Target="../media/image73.jpeg"/><Relationship Id="rId1" Type="http://schemas.openxmlformats.org/officeDocument/2006/relationships/image" Target="../media/image72.jpeg"/></Relationships>
</file>

<file path=ppt/slides/_rels/slide98.xml.rels><?xml version="1.0" encoding="UTF-8" standalone="yes"?>
<Relationships xmlns="http://schemas.openxmlformats.org/package/2006/relationships"><Relationship Id="rId4" Type="http://schemas.openxmlformats.org/officeDocument/2006/relationships/notesSlide" Target="../notesSlides/notesSlide98.xml"/><Relationship Id="rId3" Type="http://schemas.openxmlformats.org/officeDocument/2006/relationships/slideLayout" Target="../slideLayouts/slideLayout1.xml"/><Relationship Id="rId2" Type="http://schemas.openxmlformats.org/officeDocument/2006/relationships/image" Target="../media/image75.jpeg"/><Relationship Id="rId1" Type="http://schemas.openxmlformats.org/officeDocument/2006/relationships/image" Target="../media/image74.jpe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101.xml"/><Relationship Id="rId3" Type="http://schemas.openxmlformats.org/officeDocument/2006/relationships/slideLayout" Target="../slideLayouts/slideLayout1.xml"/><Relationship Id="rId2" Type="http://schemas.openxmlformats.org/officeDocument/2006/relationships/image" Target="../media/image77.jpeg"/><Relationship Id="rId1" Type="http://schemas.openxmlformats.org/officeDocument/2006/relationships/image" Target="../media/image76.jpeg"/></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xml"/><Relationship Id="rId1" Type="http://schemas.openxmlformats.org/officeDocument/2006/relationships/image" Target="../media/image78.png"/></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438150"/>
            <a:ext cx="8229600" cy="46863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en-GB" altLang="en-US" sz="240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a:t>
            </a:r>
            <a:r>
              <a:rPr kumimoji="0" lang="en-GB" altLang="en-US" sz="222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Soft</a:t>
            </a:r>
            <a:r>
              <a:rPr kumimoji="0" lang="en-US" altLang="en-GB" sz="222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rPr>
              <a:t> Computing</a:t>
            </a:r>
            <a:endParaRPr kumimoji="0" lang="en-US" altLang="en-GB" sz="2220" b="1" i="0" strike="noStrike" kern="1200" cap="none" spc="0" normalizeH="0" baseline="0" noProof="0" dirty="0">
              <a:ln>
                <a:noFill/>
              </a:ln>
              <a:gradFill>
                <a:gsLst>
                  <a:gs pos="0">
                    <a:srgbClr val="007BD3"/>
                  </a:gs>
                  <a:gs pos="100000">
                    <a:srgbClr val="034373"/>
                  </a:gs>
                </a:gsLst>
                <a:lin scaled="0"/>
              </a:gradFill>
              <a:effectLst/>
              <a:uLnTx/>
              <a:uFillTx/>
              <a:latin typeface="Times New Roman" panose="02020603050405020304" charset="0"/>
              <a:ea typeface="+mj-ea"/>
              <a:cs typeface="Times New Roman" panose="02020603050405020304" charset="0"/>
            </a:endParaRPr>
          </a:p>
        </p:txBody>
      </p:sp>
      <p:sp>
        <p:nvSpPr>
          <p:cNvPr id="2" name="Text Box 1"/>
          <p:cNvSpPr txBox="1"/>
          <p:nvPr/>
        </p:nvSpPr>
        <p:spPr>
          <a:xfrm>
            <a:off x="2133600" y="1076960"/>
            <a:ext cx="4572000" cy="337185"/>
          </a:xfrm>
          <a:prstGeom prst="rect">
            <a:avLst/>
          </a:prstGeom>
          <a:noFill/>
        </p:spPr>
        <p:txBody>
          <a:bodyPr wrap="square" rtlCol="0" anchor="t">
            <a:spAutoFit/>
          </a:bodyPr>
          <a:p>
            <a:pPr algn="ctr"/>
            <a:r>
              <a:rPr lang="en-GB" altLang="en-US" sz="1600" b="1">
                <a:latin typeface="Times New Roman" panose="02020603050405020304" charset="0"/>
                <a:cs typeface="Times New Roman" panose="02020603050405020304" charset="0"/>
                <a:sym typeface="+mn-ea"/>
              </a:rPr>
              <a:t>UNIT -2</a:t>
            </a:r>
            <a:endParaRPr lang="en-GB" altLang="en-US" sz="1600" b="1">
              <a:latin typeface="Times New Roman" panose="02020603050405020304" charset="0"/>
              <a:cs typeface="Times New Roman" panose="02020603050405020304" charset="0"/>
              <a:sym typeface="+mn-ea"/>
            </a:endParaRPr>
          </a:p>
        </p:txBody>
      </p:sp>
      <p:sp>
        <p:nvSpPr>
          <p:cNvPr id="4" name="Text Box 3"/>
          <p:cNvSpPr txBox="1"/>
          <p:nvPr/>
        </p:nvSpPr>
        <p:spPr>
          <a:xfrm>
            <a:off x="304800" y="895350"/>
            <a:ext cx="8695690" cy="3562350"/>
          </a:xfrm>
          <a:prstGeom prst="rect">
            <a:avLst/>
          </a:prstGeom>
          <a:noFill/>
        </p:spPr>
        <p:txBody>
          <a:bodyPr wrap="square" rtlCol="0">
            <a:noAutofit/>
          </a:bodyPr>
          <a:p>
            <a:endParaRPr lang="en-GB" altLang="en-US" sz="2000" b="1">
              <a:latin typeface="Times New Roman" panose="02020603050405020304" charset="0"/>
              <a:cs typeface="Times New Roman" panose="02020603050405020304" charset="0"/>
            </a:endParaRPr>
          </a:p>
          <a:p>
            <a:endParaRPr lang="en-GB" altLang="en-US" b="1">
              <a:latin typeface="Times New Roman" panose="02020603050405020304" charset="0"/>
              <a:cs typeface="Times New Roman" panose="02020603050405020304" charset="0"/>
            </a:endParaRPr>
          </a:p>
          <a:p>
            <a:r>
              <a:rPr lang="en-GB" altLang="en-US" b="1">
                <a:latin typeface="Times New Roman" panose="02020603050405020304" charset="0"/>
                <a:cs typeface="Times New Roman" panose="02020603050405020304" charset="0"/>
              </a:rPr>
              <a:t>Contents -</a:t>
            </a:r>
            <a:endParaRPr lang="en-US" altLang="en-US">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Fuzzy logic</a:t>
            </a:r>
            <a:r>
              <a:rPr lang="en-GB" altLang="en-US" sz="1600">
                <a:latin typeface="Times New Roman" panose="02020603050405020304" charset="0"/>
                <a:cs typeface="Times New Roman" panose="02020603050405020304" charset="0"/>
              </a:rPr>
              <a:t> :  </a:t>
            </a:r>
            <a:r>
              <a:rPr lang="en-US" altLang="en-GB" sz="1600">
                <a:latin typeface="Times New Roman" panose="02020603050405020304" charset="0"/>
                <a:cs typeface="Times New Roman" panose="02020603050405020304" charset="0"/>
              </a:rPr>
              <a:t>Introduction to Fuzzy logic</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Fuzzy sets and membership functions</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Operations on Fuzzy sets</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Fuzzy relations, rules, propositions, implications and inferences</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Defuzzification techniques</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Fuzzy logic</a:t>
            </a:r>
            <a:r>
              <a:rPr lang="en-GB" altLang="en-US" sz="1600">
                <a:latin typeface="Times New Roman" panose="02020603050405020304" charset="0"/>
                <a:cs typeface="Times New Roman" panose="02020603050405020304" charset="0"/>
              </a:rPr>
              <a:t> </a:t>
            </a:r>
            <a:r>
              <a:rPr lang="en-US" altLang="en-GB" sz="1600">
                <a:latin typeface="Times New Roman" panose="02020603050405020304" charset="0"/>
                <a:cs typeface="Times New Roman" panose="02020603050405020304" charset="0"/>
              </a:rPr>
              <a:t>controller design</a:t>
            </a: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US" altLang="en-GB" sz="1600">
              <a:latin typeface="Times New Roman" panose="02020603050405020304" charset="0"/>
              <a:cs typeface="Times New Roman" panose="02020603050405020304" charset="0"/>
            </a:endParaRPr>
          </a:p>
          <a:p>
            <a:pPr marL="285750" indent="-285750">
              <a:buFont typeface="Wingdings" panose="05000000000000000000" charset="0"/>
              <a:buChar char="Ø"/>
            </a:pPr>
            <a:r>
              <a:rPr lang="en-US" altLang="en-GB" sz="1600">
                <a:latin typeface="Times New Roman" panose="02020603050405020304" charset="0"/>
                <a:cs typeface="Times New Roman" panose="02020603050405020304" charset="0"/>
              </a:rPr>
              <a:t>Some applications of Fuzzy logic</a:t>
            </a:r>
            <a:r>
              <a:rPr lang="en-GB" altLang="en-US" sz="1600">
                <a:latin typeface="Times New Roman" panose="02020603050405020304" charset="0"/>
                <a:cs typeface="Times New Roman" panose="02020603050405020304" charset="0"/>
              </a:rPr>
              <a:t> </a:t>
            </a:r>
            <a:endParaRPr lang="en-GB" altLang="en-US" sz="1600">
              <a:latin typeface="Times New Roman" panose="02020603050405020304" charset="0"/>
              <a:cs typeface="Times New Roman" panose="02020603050405020304" charset="0"/>
            </a:endParaRPr>
          </a:p>
          <a:p>
            <a:pPr marL="285750" indent="-285750">
              <a:buFont typeface="Wingdings" panose="05000000000000000000" charset="0"/>
              <a:buChar char="Ø"/>
            </a:pPr>
            <a:endParaRPr lang="en-GB" altLang="en-US">
              <a:latin typeface="Times New Roman" panose="02020603050405020304" charset="0"/>
              <a:cs typeface="Times New Roman" panose="02020603050405020304" charset="0"/>
            </a:endParaRPr>
          </a:p>
          <a:p>
            <a:pPr marL="285750" indent="-285750">
              <a:buFont typeface="Wingdings" panose="05000000000000000000" charset="0"/>
              <a:buChar char="Ø"/>
            </a:pPr>
            <a:endParaRPr lang="en-GB" altLang="en-US">
              <a:latin typeface="Times New Roman" panose="02020603050405020304" charset="0"/>
              <a:cs typeface="Times New Roman" panose="02020603050405020304"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20850" y="744220"/>
            <a:ext cx="5702935" cy="470535"/>
          </a:xfrm>
          <a:prstGeom prst="rect">
            <a:avLst/>
          </a:prstGeom>
          <a:noFill/>
        </p:spPr>
        <p:txBody>
          <a:bodyPr wrap="square" rtlCol="0">
            <a:noAutofit/>
          </a:bodyPr>
          <a:p>
            <a:pPr algn="ctr"/>
            <a:r>
              <a:rPr lang="en-US" altLang="en-GB" sz="2200" b="1">
                <a:latin typeface="Times New Roman" panose="02020603050405020304" charset="0"/>
                <a:cs typeface="Times New Roman" panose="02020603050405020304" charset="0"/>
                <a:sym typeface="+mn-ea"/>
              </a:rPr>
              <a:t>Fuzzy logic</a:t>
            </a:r>
            <a:r>
              <a:rPr lang="en-GB" altLang="en-US" sz="2200" b="1">
                <a:latin typeface="Times New Roman" panose="02020603050405020304" charset="0"/>
                <a:cs typeface="Times New Roman" panose="02020603050405020304" charset="0"/>
                <a:sym typeface="+mn-ea"/>
              </a:rPr>
              <a:t> :  </a:t>
            </a:r>
            <a:r>
              <a:rPr lang="en-US" altLang="en-GB" sz="2200" b="1">
                <a:latin typeface="Times New Roman" panose="02020603050405020304" charset="0"/>
                <a:cs typeface="Times New Roman" panose="02020603050405020304" charset="0"/>
                <a:sym typeface="+mn-ea"/>
              </a:rPr>
              <a:t>Introduction to Fuzzy logic</a:t>
            </a:r>
            <a:endParaRPr lang="en-US" altLang="en-GB" sz="2200" b="1">
              <a:latin typeface="Times New Roman" panose="02020603050405020304" charset="0"/>
              <a:cs typeface="Times New Roman" panose="02020603050405020304" charset="0"/>
            </a:endParaRPr>
          </a:p>
          <a:p>
            <a:endParaRPr lang="en-GB" altLang="en-US" sz="2200" b="1"/>
          </a:p>
        </p:txBody>
      </p:sp>
      <p:sp>
        <p:nvSpPr>
          <p:cNvPr id="6" name="Text Box 5"/>
          <p:cNvSpPr txBox="1"/>
          <p:nvPr/>
        </p:nvSpPr>
        <p:spPr>
          <a:xfrm>
            <a:off x="228600" y="1428750"/>
            <a:ext cx="8700770" cy="3476625"/>
          </a:xfrm>
          <a:prstGeom prst="rect">
            <a:avLst/>
          </a:prstGeom>
        </p:spPr>
        <p:txBody>
          <a:bodyPr wrap="square">
            <a:spAutoFit/>
          </a:bodyPr>
          <a:p>
            <a:pPr indent="0" algn="just">
              <a:buFont typeface="Arial" panose="020B0604020202020204" pitchFamily="34" charset="0"/>
              <a:buNone/>
            </a:pPr>
            <a:r>
              <a:rPr sz="2000" b="0" i="0">
                <a:solidFill>
                  <a:srgbClr val="273239"/>
                </a:solidFill>
                <a:latin typeface="Times New Roman" panose="02020603050405020304" charset="0"/>
                <a:ea typeface="Nunito"/>
                <a:cs typeface="Times New Roman" panose="02020603050405020304" charset="0"/>
              </a:rPr>
              <a:t>Fuzzy Logic helps work with situations where the information is unclear or partly true. Instead of only 0 or 1 like traditional logic, it allows values between 0 and 1 to represent partial truth. This makes it useful in real-world decision-making where data is not exact.</a:t>
            </a:r>
            <a:endParaRPr sz="2000" b="0" i="0">
              <a:solidFill>
                <a:srgbClr val="273239"/>
              </a:solidFill>
              <a:latin typeface="Times New Roman" panose="02020603050405020304" charset="0"/>
              <a:ea typeface="Nunito"/>
              <a:cs typeface="Times New Roman" panose="02020603050405020304" charset="0"/>
            </a:endParaRPr>
          </a:p>
          <a:p>
            <a:pPr indent="0" algn="just">
              <a:buFont typeface="Arial" panose="020B0604020202020204" pitchFamily="34" charset="0"/>
              <a:buNone/>
            </a:pP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sz="2000">
                <a:solidFill>
                  <a:srgbClr val="273239"/>
                </a:solidFill>
                <a:latin typeface="Times New Roman" panose="02020603050405020304" charset="0"/>
                <a:ea typeface="Nunito"/>
                <a:cs typeface="Times New Roman" panose="02020603050405020304" charset="0"/>
                <a:sym typeface="+mn-ea"/>
              </a:rPr>
              <a:t>Handles uncertainty and vague information.</a:t>
            </a: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sz="2000">
                <a:solidFill>
                  <a:srgbClr val="273239"/>
                </a:solidFill>
                <a:latin typeface="Times New Roman" panose="02020603050405020304" charset="0"/>
                <a:ea typeface="Nunito"/>
                <a:cs typeface="Times New Roman" panose="02020603050405020304" charset="0"/>
                <a:sym typeface="+mn-ea"/>
              </a:rPr>
              <a:t> </a:t>
            </a:r>
            <a:r>
              <a:rPr sz="2000">
                <a:solidFill>
                  <a:srgbClr val="273239"/>
                </a:solidFill>
                <a:latin typeface="Times New Roman" panose="02020603050405020304" charset="0"/>
                <a:ea typeface="Nunito"/>
                <a:cs typeface="Times New Roman" panose="02020603050405020304" charset="0"/>
                <a:sym typeface="+mn-ea"/>
              </a:rPr>
              <a:t>Works with partial truth values between 0 and 1.</a:t>
            </a:r>
            <a:endParaRPr sz="2000" b="0" i="0">
              <a:solidFill>
                <a:srgbClr val="273239"/>
              </a:solidFill>
              <a:latin typeface="Times New Roman" panose="02020603050405020304" charset="0"/>
              <a:ea typeface="Nunito"/>
              <a:cs typeface="Times New Roman" panose="02020603050405020304" charset="0"/>
            </a:endParaRPr>
          </a:p>
          <a:p>
            <a:pPr indent="0" algn="just">
              <a:buFont typeface="Arial" panose="020B0604020202020204" pitchFamily="34" charset="0"/>
              <a:buNone/>
            </a:pPr>
            <a:endParaRPr sz="2000" b="0" i="0">
              <a:solidFill>
                <a:srgbClr val="273239"/>
              </a:solidFill>
              <a:latin typeface="Times New Roman" panose="02020603050405020304" charset="0"/>
              <a:ea typeface="Nunito"/>
              <a:cs typeface="Times New Roman" panose="02020603050405020304" charset="0"/>
            </a:endParaRPr>
          </a:p>
          <a:p>
            <a:pPr indent="0" algn="just">
              <a:buFont typeface="Arial" panose="020B0604020202020204" pitchFamily="34" charset="0"/>
              <a:buNone/>
            </a:pPr>
            <a:endParaRPr sz="2000" b="0" i="0">
              <a:solidFill>
                <a:srgbClr val="273239"/>
              </a:solidFill>
              <a:latin typeface="Times New Roman" panose="02020603050405020304" charset="0"/>
              <a:ea typeface="Nunito"/>
              <a:cs typeface="Times New Roman" panose="02020603050405020304" charset="0"/>
            </a:endParaRPr>
          </a:p>
          <a:p>
            <a:pPr indent="0" algn="just">
              <a:buFont typeface="Arial" panose="020B0604020202020204" pitchFamily="34" charset="0"/>
              <a:buNone/>
            </a:pPr>
            <a:endParaRPr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64490" y="1352550"/>
            <a:ext cx="8606155" cy="996950"/>
          </a:xfrm>
          <a:prstGeom prst="rect">
            <a:avLst/>
          </a:prstGeom>
        </p:spPr>
        <p:txBody>
          <a:bodyPr wrap="square">
            <a:noAutofit/>
          </a:bodyPr>
          <a:p>
            <a:pPr marL="342900" indent="-342900" algn="l" fontAlgn="base">
              <a:spcBef>
                <a:spcPct val="0"/>
              </a:spcBef>
              <a:spcAft>
                <a:spcPct val="0"/>
              </a:spcAft>
              <a:buFont typeface="Arial" panose="020B0604020202020204" pitchFamily="34" charset="0"/>
              <a:buChar char="•"/>
            </a:pPr>
            <a:r>
              <a:rPr sz="2000" b="0" i="0">
                <a:solidFill>
                  <a:srgbClr val="273239"/>
                </a:solidFill>
                <a:latin typeface="Times New Roman" panose="02020603050405020304" charset="0"/>
                <a:ea typeface="Nunito"/>
                <a:cs typeface="Times New Roman" panose="02020603050405020304" charset="0"/>
              </a:rPr>
              <a:t>Useful in control systems, medical diagnosis, AI and image processing.</a:t>
            </a: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sz="2000" b="0" i="0">
                <a:solidFill>
                  <a:srgbClr val="273239"/>
                </a:solidFill>
                <a:latin typeface="Times New Roman" panose="02020603050405020304" charset="0"/>
                <a:ea typeface="Nunito"/>
                <a:cs typeface="Times New Roman" panose="02020603050405020304" charset="0"/>
              </a:rPr>
              <a:t>    </a:t>
            </a:r>
            <a:r>
              <a:rPr sz="2000" b="0" i="0">
                <a:solidFill>
                  <a:srgbClr val="273239"/>
                </a:solidFill>
                <a:latin typeface="Times New Roman" panose="02020603050405020304" charset="0"/>
                <a:ea typeface="Nunito"/>
                <a:cs typeface="Times New Roman" panose="02020603050405020304" charset="0"/>
              </a:rPr>
              <a:t>Helps systems take flexible and human-like decisions.</a:t>
            </a:r>
            <a:endParaRPr sz="20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1520190" y="742950"/>
            <a:ext cx="6294755" cy="829945"/>
          </a:xfrm>
          <a:prstGeom prst="rect">
            <a:avLst/>
          </a:prstGeom>
          <a:noFill/>
        </p:spPr>
        <p:txBody>
          <a:bodyPr wrap="square" rtlCol="0" anchor="t">
            <a:spAutoFit/>
          </a:bodyPr>
          <a:p>
            <a:pPr algn="ctr"/>
            <a:r>
              <a:rPr lang="en-US" altLang="en-GB" sz="2400" b="1">
                <a:latin typeface="Times New Roman" panose="02020603050405020304" charset="0"/>
                <a:cs typeface="Times New Roman" panose="02020603050405020304" charset="0"/>
                <a:sym typeface="+mn-ea"/>
              </a:rPr>
              <a:t>Fuzzy logic</a:t>
            </a:r>
            <a:r>
              <a:rPr lang="en-GB" altLang="en-US" sz="2400" b="1">
                <a:latin typeface="Times New Roman" panose="02020603050405020304" charset="0"/>
                <a:cs typeface="Times New Roman" panose="02020603050405020304" charset="0"/>
                <a:sym typeface="+mn-ea"/>
              </a:rPr>
              <a:t> :  </a:t>
            </a:r>
            <a:r>
              <a:rPr lang="en-US" altLang="en-GB" sz="2400" b="1">
                <a:latin typeface="Times New Roman" panose="02020603050405020304" charset="0"/>
                <a:cs typeface="Times New Roman" panose="02020603050405020304" charset="0"/>
                <a:sym typeface="+mn-ea"/>
              </a:rPr>
              <a:t>Introduction to Fuzzy logic</a:t>
            </a:r>
            <a:endParaRPr lang="en-US" altLang="en-GB" sz="2400" b="1">
              <a:latin typeface="Times New Roman" panose="02020603050405020304" charset="0"/>
              <a:cs typeface="Times New Roman" panose="02020603050405020304" charset="0"/>
            </a:endParaRPr>
          </a:p>
          <a:p>
            <a:endParaRPr lang="en-US" altLang="en-GB" sz="2400" b="1">
              <a:latin typeface="Times New Roman" panose="02020603050405020304" charset="0"/>
              <a:cs typeface="Times New Roman" panose="02020603050405020304" charset="0"/>
            </a:endParaRPr>
          </a:p>
        </p:txBody>
      </p:sp>
      <p:pic>
        <p:nvPicPr>
          <p:cNvPr id="4" name="Picture 3"/>
          <p:cNvPicPr>
            <a:picLocks noChangeAspect="1"/>
          </p:cNvPicPr>
          <p:nvPr/>
        </p:nvPicPr>
        <p:blipFill>
          <a:blip r:embed="rId1"/>
          <a:stretch>
            <a:fillRect/>
          </a:stretch>
        </p:blipFill>
        <p:spPr>
          <a:xfrm>
            <a:off x="762000" y="2503805"/>
            <a:ext cx="7620000" cy="2312670"/>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57400" y="818833"/>
            <a:ext cx="5080000" cy="460375"/>
          </a:xfrm>
          <a:prstGeom prst="rect">
            <a:avLst/>
          </a:prstGeom>
        </p:spPr>
        <p:txBody>
          <a:bodyPr>
            <a:spAutoFit/>
          </a:bodyPr>
          <a:p>
            <a:pPr marL="0" indent="0" algn="ctr"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Key Concepts of Fuzzy Logic</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 y="1428750"/>
            <a:ext cx="8700770" cy="3476625"/>
          </a:xfrm>
          <a:prstGeom prst="rect">
            <a:avLst/>
          </a:prstGeom>
        </p:spPr>
        <p:txBody>
          <a:bodyPr wrap="square">
            <a:spAutoFit/>
          </a:bodyPr>
          <a:p>
            <a:pPr marL="0" indent="0" algn="l" fontAlgn="base">
              <a:spcBef>
                <a:spcPct val="0"/>
              </a:spcBef>
              <a:spcAft>
                <a:spcPct val="0"/>
              </a:spcAft>
              <a:buFont typeface="Arial" panose="020B0604020202020204"/>
              <a:buChar char="•"/>
            </a:pPr>
            <a:r>
              <a:rPr lang="en-GB" sz="2000" b="1" i="0">
                <a:solidFill>
                  <a:srgbClr val="273239"/>
                </a:solidFill>
                <a:latin typeface="Times New Roman" panose="02020603050405020304" charset="0"/>
                <a:ea typeface="Nunito"/>
                <a:cs typeface="Times New Roman" panose="02020603050405020304" charset="0"/>
              </a:rPr>
              <a:t>  </a:t>
            </a:r>
            <a:r>
              <a:rPr sz="2000" b="1" i="0">
                <a:solidFill>
                  <a:srgbClr val="273239"/>
                </a:solidFill>
                <a:latin typeface="Times New Roman" panose="02020603050405020304" charset="0"/>
                <a:ea typeface="Nunito"/>
                <a:cs typeface="Times New Roman" panose="02020603050405020304" charset="0"/>
              </a:rPr>
              <a:t>Membership Function</a:t>
            </a:r>
            <a:r>
              <a:rPr sz="2000" b="0" i="0">
                <a:solidFill>
                  <a:srgbClr val="273239"/>
                </a:solidFill>
                <a:latin typeface="Times New Roman" panose="02020603050405020304" charset="0"/>
                <a:ea typeface="Nunito"/>
                <a:cs typeface="Times New Roman" panose="02020603050405020304" charset="0"/>
              </a:rPr>
              <a:t>: </a:t>
            </a:r>
            <a:endParaRPr sz="20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r>
              <a:rPr sz="2000" b="0" i="0">
                <a:solidFill>
                  <a:srgbClr val="273239"/>
                </a:solidFill>
                <a:latin typeface="Times New Roman" panose="02020603050405020304" charset="0"/>
                <a:ea typeface="Nunito"/>
                <a:cs typeface="Times New Roman" panose="02020603050405020304" charset="0"/>
              </a:rPr>
              <a:t>It defines how much an input belongs to a particular category. For example, in a fuzzy temperature control system, a temperature of 70°F might belong 0.8 to the "warm" category and 0.2 to the "cool" category.</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endParaRPr sz="2000" b="0" i="0">
              <a:solidFill>
                <a:srgbClr val="273239"/>
              </a:solidFill>
              <a:latin typeface="Times New Roman" panose="02020603050405020304" charset="0"/>
              <a:ea typeface="Nunito"/>
              <a:cs typeface="Times New Roman" panose="02020603050405020304" charset="0"/>
            </a:endParaRPr>
          </a:p>
          <a:p>
            <a:pPr marL="342900" indent="-342900" algn="l" fontAlgn="base">
              <a:spcBef>
                <a:spcPct val="0"/>
              </a:spcBef>
              <a:spcAft>
                <a:spcPct val="0"/>
              </a:spcAft>
              <a:buFont typeface="Arial" panose="020B0604020202020204" pitchFamily="34" charset="0"/>
              <a:buChar char="•"/>
            </a:pPr>
            <a:r>
              <a:rPr lang="en-US" altLang="en-GB" sz="2000" b="1" i="0">
                <a:solidFill>
                  <a:srgbClr val="273239"/>
                </a:solidFill>
                <a:latin typeface="Times New Roman" panose="02020603050405020304" charset="0"/>
                <a:ea typeface="Nunito"/>
                <a:cs typeface="Times New Roman" panose="02020603050405020304" charset="0"/>
              </a:rPr>
              <a:t>Fuzzy Sets: </a:t>
            </a:r>
            <a:endParaRPr lang="en-US" altLang="en-GB" sz="2000"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lang="en-US" altLang="en-GB"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r>
              <a:rPr lang="en-US" altLang="en-GB" sz="2000" b="0" i="0">
                <a:solidFill>
                  <a:srgbClr val="273239"/>
                </a:solidFill>
                <a:latin typeface="Times New Roman" panose="02020603050405020304" charset="0"/>
                <a:ea typeface="Nunito"/>
                <a:cs typeface="Times New Roman" panose="02020603050405020304" charset="0"/>
              </a:rPr>
              <a:t>These are sets where elements have degrees of membership. For example, the "young" age group might include someone who is 30 with 0.7 membership (mostly young) and someone who is 50 with 0.3 membership (partly young).</a:t>
            </a:r>
            <a:endParaRPr lang="en-US" altLang="en-GB"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362200" y="895350"/>
            <a:ext cx="4572000" cy="460375"/>
          </a:xfrm>
          <a:prstGeom prst="rect">
            <a:avLst/>
          </a:prstGeom>
          <a:noFill/>
        </p:spPr>
        <p:txBody>
          <a:bodyPr wrap="square" rtlCol="0" anchor="t">
            <a:spAutoFit/>
          </a:bodyPr>
          <a:p>
            <a:pPr marL="0" indent="0" algn="ctr" fontAlgn="base">
              <a:spcBef>
                <a:spcPct val="0"/>
              </a:spcBef>
              <a:spcAft>
                <a:spcPct val="0"/>
              </a:spcAft>
            </a:pPr>
            <a:r>
              <a:rPr sz="2400" b="1">
                <a:solidFill>
                  <a:srgbClr val="273239"/>
                </a:solidFill>
                <a:latin typeface="Times New Roman" panose="02020603050405020304" charset="0"/>
                <a:ea typeface="Nunito"/>
                <a:cs typeface="Times New Roman" panose="02020603050405020304" charset="0"/>
                <a:sym typeface="+mn-ea"/>
              </a:rPr>
              <a:t>Key Concepts of Fuzzy Logic</a:t>
            </a:r>
            <a:endParaRPr lang="en-GB" altLang="en-US" sz="2400" b="1">
              <a:solidFill>
                <a:srgbClr val="273239"/>
              </a:solidFill>
              <a:latin typeface="Times New Roman" panose="02020603050405020304" charset="0"/>
              <a:ea typeface="Nunito"/>
              <a:cs typeface="Times New Roman" panose="02020603050405020304" charset="0"/>
              <a:sym typeface="+mn-ea"/>
            </a:endParaRPr>
          </a:p>
        </p:txBody>
      </p:sp>
      <p:sp>
        <p:nvSpPr>
          <p:cNvPr id="3" name="Text Box 2"/>
          <p:cNvSpPr txBox="1"/>
          <p:nvPr/>
        </p:nvSpPr>
        <p:spPr>
          <a:xfrm>
            <a:off x="228600" y="1733550"/>
            <a:ext cx="8797925" cy="1014730"/>
          </a:xfrm>
          <a:prstGeom prst="rect">
            <a:avLst/>
          </a:prstGeom>
        </p:spPr>
        <p:txBody>
          <a:bodyPr wrap="square">
            <a:spAutoFit/>
          </a:bodyPr>
          <a:p>
            <a:pPr marL="0" indent="0" algn="just" fontAlgn="base">
              <a:spcBef>
                <a:spcPct val="0"/>
              </a:spcBef>
              <a:spcAft>
                <a:spcPct val="0"/>
              </a:spcAft>
              <a:buFont typeface="Arial" panose="020B0604020202020204"/>
              <a:buChar char="•"/>
            </a:pPr>
            <a:r>
              <a:rPr lang="en-GB" sz="2000" b="1" i="0">
                <a:solidFill>
                  <a:srgbClr val="273239"/>
                </a:solidFill>
                <a:latin typeface="Times New Roman" panose="02020603050405020304" charset="0"/>
                <a:ea typeface="Nunito"/>
                <a:cs typeface="Times New Roman" panose="02020603050405020304" charset="0"/>
              </a:rPr>
              <a:t> </a:t>
            </a:r>
            <a:r>
              <a:rPr sz="2000" b="1" i="0">
                <a:solidFill>
                  <a:srgbClr val="273239"/>
                </a:solidFill>
                <a:latin typeface="Times New Roman" panose="02020603050405020304" charset="0"/>
                <a:ea typeface="Nunito"/>
                <a:cs typeface="Times New Roman" panose="02020603050405020304" charset="0"/>
              </a:rPr>
              <a:t>Linguistic Variables</a:t>
            </a:r>
            <a:r>
              <a:rPr sz="2000" b="0" i="0">
                <a:solidFill>
                  <a:srgbClr val="273239"/>
                </a:solidFill>
                <a:latin typeface="Times New Roman" panose="02020603050405020304" charset="0"/>
                <a:ea typeface="Nunito"/>
                <a:cs typeface="Times New Roman" panose="02020603050405020304" charset="0"/>
              </a:rPr>
              <a:t>: These are variables defined using terms rather than precise numbers. For example, "temperature" could be a linguistic variable with terms like "cold," "warm" and "hot."</a:t>
            </a:r>
            <a:endParaRPr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752600" y="895033"/>
            <a:ext cx="5080000" cy="460375"/>
          </a:xfrm>
          <a:prstGeom prst="rect">
            <a:avLst/>
          </a:prstGeom>
        </p:spPr>
        <p:txBody>
          <a:bodyPr>
            <a:spAutoFit/>
          </a:bodyPr>
          <a:p>
            <a:pPr marL="0" indent="0" algn="ctr"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Fuzzy Logic Architecture</a:t>
            </a:r>
            <a:endParaRPr sz="2400" b="1" i="0">
              <a:solidFill>
                <a:srgbClr val="273239"/>
              </a:solidFill>
              <a:latin typeface="Times New Roman" panose="02020603050405020304" charset="0"/>
              <a:ea typeface="Nunito"/>
              <a:cs typeface="Times New Roman" panose="02020603050405020304" charset="0"/>
            </a:endParaRPr>
          </a:p>
        </p:txBody>
      </p:sp>
      <p:pic>
        <p:nvPicPr>
          <p:cNvPr id="3" name="Picture 2"/>
          <p:cNvPicPr>
            <a:picLocks noChangeAspect="1"/>
          </p:cNvPicPr>
          <p:nvPr/>
        </p:nvPicPr>
        <p:blipFill>
          <a:blip r:embed="rId1"/>
          <a:stretch>
            <a:fillRect/>
          </a:stretch>
        </p:blipFill>
        <p:spPr>
          <a:xfrm>
            <a:off x="762000" y="1734820"/>
            <a:ext cx="7620000" cy="3121025"/>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1657350"/>
            <a:ext cx="8602345" cy="2553335"/>
          </a:xfrm>
          <a:prstGeom prst="rect">
            <a:avLst/>
          </a:prstGeom>
        </p:spPr>
        <p:txBody>
          <a:bodyPr wrap="square">
            <a:spAutoFit/>
          </a:bodyPr>
          <a:p>
            <a:pPr marL="0" indent="0" algn="just"/>
            <a:r>
              <a:rPr sz="2000" b="0" i="0">
                <a:solidFill>
                  <a:srgbClr val="273239"/>
                </a:solidFill>
                <a:latin typeface="Times New Roman" panose="02020603050405020304" charset="0"/>
                <a:ea typeface="Nunito"/>
                <a:cs typeface="Times New Roman" panose="02020603050405020304" charset="0"/>
              </a:rPr>
              <a:t>Fuzzy Logic systems are made up of four main components that work together to process imprecise or uncertain data:</a:t>
            </a:r>
            <a:endParaRPr sz="2000" b="0" i="0">
              <a:solidFill>
                <a:srgbClr val="273239"/>
              </a:solidFill>
              <a:latin typeface="Times New Roman" panose="02020603050405020304" charset="0"/>
              <a:ea typeface="Nunito"/>
              <a:cs typeface="Times New Roman" panose="02020603050405020304" charset="0"/>
            </a:endParaRPr>
          </a:p>
          <a:p>
            <a:pPr marL="0" indent="0" algn="just"/>
            <a:endParaRPr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r>
              <a:rPr lang="en-US" altLang="en-GB" sz="2000" b="1" i="0">
                <a:solidFill>
                  <a:srgbClr val="273239"/>
                </a:solidFill>
                <a:latin typeface="Times New Roman" panose="02020603050405020304" charset="0"/>
                <a:ea typeface="Nunito"/>
                <a:cs typeface="Times New Roman" panose="02020603050405020304" charset="0"/>
              </a:rPr>
              <a:t>Fuzzification: </a:t>
            </a:r>
            <a:endParaRPr lang="en-US" altLang="en-GB" sz="2000" b="1" i="0">
              <a:solidFill>
                <a:srgbClr val="273239"/>
              </a:solidFill>
              <a:latin typeface="Times New Roman" panose="02020603050405020304" charset="0"/>
              <a:ea typeface="Nunito"/>
              <a:cs typeface="Times New Roman" panose="02020603050405020304" charset="0"/>
            </a:endParaRPr>
          </a:p>
          <a:p>
            <a:pPr marL="0" indent="0" algn="just"/>
            <a:endParaRPr lang="en-US" altLang="en-GB" sz="2000" b="0" i="0">
              <a:solidFill>
                <a:srgbClr val="273239"/>
              </a:solidFill>
              <a:latin typeface="Times New Roman" panose="02020603050405020304" charset="0"/>
              <a:ea typeface="Nunito"/>
              <a:cs typeface="Times New Roman" panose="02020603050405020304" charset="0"/>
            </a:endParaRPr>
          </a:p>
          <a:p>
            <a:pPr marL="0" indent="0" algn="just"/>
            <a:r>
              <a:rPr lang="en-US" altLang="en-GB" sz="2000" b="0" i="0">
                <a:solidFill>
                  <a:srgbClr val="273239"/>
                </a:solidFill>
                <a:latin typeface="Times New Roman" panose="02020603050405020304" charset="0"/>
                <a:ea typeface="Nunito"/>
                <a:cs typeface="Times New Roman" panose="02020603050405020304" charset="0"/>
              </a:rPr>
              <a:t>It is the process of converting precise input values(such as temperature or pressure readings) into fuzzy sets. This step is important because real-world inputs like those from sensors aren’t perfect or exact.</a:t>
            </a:r>
            <a:endParaRPr lang="en-US" altLang="en-GB" sz="20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0" y="819150"/>
            <a:ext cx="4572000" cy="460375"/>
          </a:xfrm>
          <a:prstGeom prst="rect">
            <a:avLst/>
          </a:prstGeom>
          <a:noFill/>
        </p:spPr>
        <p:txBody>
          <a:bodyPr wrap="square" rtlCol="0" anchor="t">
            <a:spAutoFit/>
          </a:bodyPr>
          <a:p>
            <a:pPr marL="0" indent="0" algn="ctr" fontAlgn="base">
              <a:spcBef>
                <a:spcPct val="0"/>
              </a:spcBef>
              <a:spcAft>
                <a:spcPct val="0"/>
              </a:spcAft>
            </a:pPr>
            <a:r>
              <a:rPr sz="2400" b="1">
                <a:solidFill>
                  <a:srgbClr val="273239"/>
                </a:solidFill>
                <a:latin typeface="Times New Roman" panose="02020603050405020304" charset="0"/>
                <a:ea typeface="Nunito"/>
                <a:cs typeface="Times New Roman" panose="02020603050405020304" charset="0"/>
                <a:sym typeface="+mn-ea"/>
              </a:rPr>
              <a:t>Fuzzy Logic Architecture</a:t>
            </a:r>
            <a:endParaRPr lang="en-GB" altLang="en-US" sz="2400" b="1">
              <a:solidFill>
                <a:srgbClr val="273239"/>
              </a:solidFill>
              <a:latin typeface="Times New Roman" panose="02020603050405020304" charset="0"/>
              <a:ea typeface="Nunito"/>
              <a:cs typeface="Times New Roman" panose="02020603050405020304" charset="0"/>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438400" y="666750"/>
            <a:ext cx="4572000" cy="460375"/>
          </a:xfrm>
          <a:prstGeom prst="rect">
            <a:avLst/>
          </a:prstGeom>
          <a:noFill/>
        </p:spPr>
        <p:txBody>
          <a:bodyPr wrap="square" rtlCol="0" anchor="t">
            <a:spAutoFit/>
          </a:bodyPr>
          <a:p>
            <a:pPr marL="0" indent="0" algn="ctr" fontAlgn="base">
              <a:spcBef>
                <a:spcPct val="0"/>
              </a:spcBef>
              <a:spcAft>
                <a:spcPct val="0"/>
              </a:spcAft>
            </a:pPr>
            <a:r>
              <a:rPr sz="2400" b="1">
                <a:solidFill>
                  <a:srgbClr val="273239"/>
                </a:solidFill>
                <a:latin typeface="Times New Roman" panose="02020603050405020304" charset="0"/>
                <a:ea typeface="Nunito"/>
                <a:cs typeface="Times New Roman" panose="02020603050405020304" charset="0"/>
                <a:sym typeface="+mn-ea"/>
              </a:rPr>
              <a:t>Fuzzy Logic Architecture</a:t>
            </a:r>
            <a:endParaRPr lang="en-GB" altLang="en-US" sz="2400" b="1">
              <a:solidFill>
                <a:srgbClr val="273239"/>
              </a:solidFill>
              <a:latin typeface="Times New Roman" panose="02020603050405020304" charset="0"/>
              <a:ea typeface="Nunito"/>
              <a:cs typeface="Times New Roman" panose="02020603050405020304" charset="0"/>
              <a:sym typeface="+mn-ea"/>
            </a:endParaRPr>
          </a:p>
        </p:txBody>
      </p:sp>
      <p:sp>
        <p:nvSpPr>
          <p:cNvPr id="3" name="Text Box 2"/>
          <p:cNvSpPr txBox="1"/>
          <p:nvPr/>
        </p:nvSpPr>
        <p:spPr>
          <a:xfrm>
            <a:off x="304800" y="1428750"/>
            <a:ext cx="8642985" cy="3476625"/>
          </a:xfrm>
          <a:prstGeom prst="rect">
            <a:avLst/>
          </a:prstGeom>
        </p:spPr>
        <p:txBody>
          <a:bodyPr wrap="square">
            <a:spAutoFit/>
          </a:bodyPr>
          <a:p>
            <a:pPr marL="342900" indent="-342900" algn="just" fontAlgn="base">
              <a:spcBef>
                <a:spcPct val="0"/>
              </a:spcBef>
              <a:spcAft>
                <a:spcPct val="0"/>
              </a:spcAft>
              <a:buFont typeface="Arial" panose="020B0604020202020204" pitchFamily="34" charset="0"/>
              <a:buChar char="•"/>
            </a:pPr>
            <a:r>
              <a:rPr sz="2000" b="1" i="0">
                <a:solidFill>
                  <a:srgbClr val="273239"/>
                </a:solidFill>
                <a:latin typeface="Times New Roman" panose="02020603050405020304" charset="0"/>
                <a:ea typeface="Nunito"/>
                <a:cs typeface="Times New Roman" panose="02020603050405020304" charset="0"/>
              </a:rPr>
              <a:t>Rule Base</a:t>
            </a:r>
            <a:r>
              <a:rPr sz="2000" b="0" i="0">
                <a:solidFill>
                  <a:srgbClr val="273239"/>
                </a:solidFill>
                <a:latin typeface="Times New Roman" panose="02020603050405020304" charset="0"/>
                <a:ea typeface="Nunito"/>
                <a:cs typeface="Times New Roman" panose="02020603050405020304" charset="0"/>
              </a:rPr>
              <a:t>: </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r>
              <a:rPr sz="2000" b="0" i="0">
                <a:solidFill>
                  <a:srgbClr val="273239"/>
                </a:solidFill>
                <a:latin typeface="Times New Roman" panose="02020603050405020304" charset="0"/>
                <a:ea typeface="Nunito"/>
                <a:cs typeface="Times New Roman" panose="02020603050405020304" charset="0"/>
              </a:rPr>
              <a:t>A collection of "if-then" rules created by experts to guide the system's decisions. These rules use natural language terms (like "high," "low," "warm") to describe conditions and actions.</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sz="2000" b="0" i="0">
              <a:solidFill>
                <a:srgbClr val="273239"/>
              </a:solidFill>
              <a:latin typeface="Times New Roman" panose="02020603050405020304" charset="0"/>
              <a:ea typeface="Nunito"/>
              <a:cs typeface="Times New Roman" panose="02020603050405020304" charset="0"/>
            </a:endParaRPr>
          </a:p>
          <a:p>
            <a:pPr marL="342900" indent="-342900" algn="just" fontAlgn="base">
              <a:spcBef>
                <a:spcPct val="0"/>
              </a:spcBef>
              <a:spcAft>
                <a:spcPct val="0"/>
              </a:spcAft>
              <a:buFont typeface="Arial" panose="020B0604020202020204" pitchFamily="34" charset="0"/>
              <a:buChar char="•"/>
            </a:pPr>
            <a:r>
              <a:rPr lang="en-US" altLang="en-GB" sz="2000" b="1" i="0">
                <a:solidFill>
                  <a:srgbClr val="273239"/>
                </a:solidFill>
                <a:latin typeface="Times New Roman" panose="02020603050405020304" charset="0"/>
                <a:ea typeface="Nunito"/>
                <a:cs typeface="Times New Roman" panose="02020603050405020304" charset="0"/>
              </a:rPr>
              <a:t>Inference Engine: </a:t>
            </a:r>
            <a:endParaRPr lang="en-US" altLang="en-GB" sz="2000" b="1"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lang="en-US" altLang="en-GB"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r>
              <a:rPr lang="en-US" altLang="en-GB" sz="2000" b="0" i="0">
                <a:solidFill>
                  <a:srgbClr val="273239"/>
                </a:solidFill>
                <a:latin typeface="Times New Roman" panose="02020603050405020304" charset="0"/>
                <a:ea typeface="Nunito"/>
                <a:cs typeface="Times New Roman" panose="02020603050405020304" charset="0"/>
              </a:rPr>
              <a:t>It evaluates the fuzzified input data and applies the relevant rules from the rule base. It find which rules are most appropriate and then combines the results to generate a control action.</a:t>
            </a:r>
            <a:endParaRPr lang="en-US" altLang="en-GB"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09800" y="819150"/>
            <a:ext cx="4572000" cy="460375"/>
          </a:xfrm>
          <a:prstGeom prst="rect">
            <a:avLst/>
          </a:prstGeom>
          <a:noFill/>
        </p:spPr>
        <p:txBody>
          <a:bodyPr wrap="square" rtlCol="0" anchor="t">
            <a:spAutoFit/>
          </a:bodyPr>
          <a:p>
            <a:pPr marL="0" indent="0" algn="ctr" fontAlgn="base">
              <a:spcBef>
                <a:spcPct val="0"/>
              </a:spcBef>
              <a:spcAft>
                <a:spcPct val="0"/>
              </a:spcAft>
            </a:pPr>
            <a:r>
              <a:rPr sz="2400" b="1">
                <a:solidFill>
                  <a:srgbClr val="273239"/>
                </a:solidFill>
                <a:latin typeface="Times New Roman" panose="02020603050405020304" charset="0"/>
                <a:ea typeface="Nunito"/>
                <a:cs typeface="Times New Roman" panose="02020603050405020304" charset="0"/>
                <a:sym typeface="+mn-ea"/>
              </a:rPr>
              <a:t>Fuzzy Logic Architecture</a:t>
            </a:r>
            <a:endParaRPr lang="en-GB" altLang="en-US" sz="2400" b="1">
              <a:solidFill>
                <a:srgbClr val="273239"/>
              </a:solidFill>
              <a:latin typeface="Times New Roman" panose="02020603050405020304" charset="0"/>
              <a:ea typeface="Nunito"/>
              <a:cs typeface="Times New Roman" panose="02020603050405020304" charset="0"/>
              <a:sym typeface="+mn-ea"/>
            </a:endParaRPr>
          </a:p>
        </p:txBody>
      </p:sp>
      <p:sp>
        <p:nvSpPr>
          <p:cNvPr id="3" name="Text Box 2"/>
          <p:cNvSpPr txBox="1"/>
          <p:nvPr/>
        </p:nvSpPr>
        <p:spPr>
          <a:xfrm>
            <a:off x="228600" y="1787525"/>
            <a:ext cx="8663940" cy="1630045"/>
          </a:xfrm>
          <a:prstGeom prst="rect">
            <a:avLst/>
          </a:prstGeom>
        </p:spPr>
        <p:txBody>
          <a:bodyPr wrap="square">
            <a:spAutoFit/>
          </a:bodyPr>
          <a:p>
            <a:pPr marL="342900" indent="-342900" algn="just" fontAlgn="base">
              <a:spcBef>
                <a:spcPct val="0"/>
              </a:spcBef>
              <a:spcAft>
                <a:spcPct val="0"/>
              </a:spcAft>
              <a:buFont typeface="Arial" panose="020B0604020202020204" pitchFamily="34" charset="0"/>
              <a:buChar char="•"/>
            </a:pPr>
            <a:r>
              <a:rPr sz="2000" b="1" i="0">
                <a:solidFill>
                  <a:srgbClr val="273239"/>
                </a:solidFill>
                <a:latin typeface="Times New Roman" panose="02020603050405020304" charset="0"/>
                <a:ea typeface="Nunito"/>
                <a:cs typeface="Times New Roman" panose="02020603050405020304" charset="0"/>
              </a:rPr>
              <a:t>Defuzzification</a:t>
            </a:r>
            <a:r>
              <a:rPr sz="2000" b="0" i="0">
                <a:solidFill>
                  <a:srgbClr val="273239"/>
                </a:solidFill>
                <a:latin typeface="Times New Roman" panose="02020603050405020304" charset="0"/>
                <a:ea typeface="Nunito"/>
                <a:cs typeface="Times New Roman" panose="02020603050405020304" charset="0"/>
              </a:rPr>
              <a:t>: </a:t>
            </a: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endParaRPr sz="20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None/>
            </a:pPr>
            <a:r>
              <a:rPr sz="2000" b="0" i="0">
                <a:solidFill>
                  <a:srgbClr val="273239"/>
                </a:solidFill>
                <a:latin typeface="Times New Roman" panose="02020603050405020304" charset="0"/>
                <a:ea typeface="Nunito"/>
                <a:cs typeface="Times New Roman" panose="02020603050405020304" charset="0"/>
              </a:rPr>
              <a:t>Once the inference engine processes the rules and generates fuzzy outputs, it converts these fuzzy results back into a precise, crisp value. This final step ensures that the system can take clear actions based on the fuzzy logic outputs.</a:t>
            </a:r>
            <a:endParaRPr sz="20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32000" y="666433"/>
            <a:ext cx="5080000" cy="460375"/>
          </a:xfrm>
          <a:prstGeom prst="rect">
            <a:avLst/>
          </a:prstGeom>
        </p:spPr>
        <p:txBody>
          <a:bodyPr>
            <a:spAutoFit/>
          </a:bodyPr>
          <a:p>
            <a:pPr marL="0" indent="0" algn="ctr"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Membership Functions</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152400" y="1200150"/>
            <a:ext cx="8621395" cy="3661410"/>
          </a:xfrm>
          <a:prstGeom prst="rect">
            <a:avLst/>
          </a:prstGeom>
        </p:spPr>
        <p:txBody>
          <a:bodyPr wrap="square">
            <a:spAutoFit/>
          </a:bodyPr>
          <a:p>
            <a:pPr marL="0" indent="0" algn="just"/>
            <a:r>
              <a:rPr sz="2000" b="0" i="0">
                <a:solidFill>
                  <a:srgbClr val="273239"/>
                </a:solidFill>
                <a:latin typeface="Times New Roman" panose="02020603050405020304" charset="0"/>
                <a:ea typeface="Nunito"/>
                <a:cs typeface="Times New Roman" panose="02020603050405020304" charset="0"/>
              </a:rPr>
              <a:t>A membership function describes how much an input value belongs to a fuzzy set. It assigns a value between 0 and 1 to each point in the input space also called the </a:t>
            </a:r>
            <a:r>
              <a:rPr sz="2000" b="1" i="0">
                <a:solidFill>
                  <a:srgbClr val="273239"/>
                </a:solidFill>
                <a:latin typeface="Times New Roman" panose="02020603050405020304" charset="0"/>
                <a:ea typeface="Nunito"/>
                <a:cs typeface="Times New Roman" panose="02020603050405020304" charset="0"/>
              </a:rPr>
              <a:t>universe of discourse</a:t>
            </a:r>
            <a:r>
              <a:rPr lang="en-GB" sz="2000" b="1" i="0">
                <a:solidFill>
                  <a:srgbClr val="273239"/>
                </a:solidFill>
                <a:latin typeface="Times New Roman" panose="02020603050405020304" charset="0"/>
                <a:ea typeface="Nunito"/>
                <a:cs typeface="Times New Roman" panose="02020603050405020304" charset="0"/>
              </a:rPr>
              <a:t> </a:t>
            </a:r>
            <a:r>
              <a:rPr sz="2000" b="0" i="0">
                <a:solidFill>
                  <a:srgbClr val="273239"/>
                </a:solidFill>
                <a:latin typeface="Times New Roman" panose="02020603050405020304" charset="0"/>
                <a:ea typeface="Nunito"/>
                <a:cs typeface="Times New Roman" panose="02020603050405020304" charset="0"/>
              </a:rPr>
              <a:t>:</a:t>
            </a:r>
            <a:endParaRPr sz="2000" b="0" i="0">
              <a:solidFill>
                <a:srgbClr val="273239"/>
              </a:solidFill>
              <a:latin typeface="Times New Roman" panose="02020603050405020304" charset="0"/>
              <a:ea typeface="Nunito"/>
              <a:cs typeface="Times New Roman" panose="02020603050405020304" charset="0"/>
            </a:endParaRPr>
          </a:p>
          <a:p>
            <a:pPr marL="0" indent="0" algn="just"/>
            <a:endParaRPr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r>
              <a:rPr lang="en-US" altLang="en-GB" sz="2000" b="0" i="0">
                <a:solidFill>
                  <a:srgbClr val="273239"/>
                </a:solidFill>
                <a:latin typeface="Times New Roman" panose="02020603050405020304" charset="0"/>
                <a:ea typeface="Nunito"/>
                <a:cs typeface="Times New Roman" panose="02020603050405020304" charset="0"/>
              </a:rPr>
              <a:t>0 -&gt; the value does not belong to the set</a:t>
            </a:r>
            <a:endParaRPr lang="en-US" altLang="en-GB"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endParaRPr lang="en-US" altLang="en-GB"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r>
              <a:rPr lang="en-US" altLang="en-GB" sz="2000" b="0" i="0">
                <a:solidFill>
                  <a:srgbClr val="273239"/>
                </a:solidFill>
                <a:latin typeface="Times New Roman" panose="02020603050405020304" charset="0"/>
                <a:ea typeface="Nunito"/>
                <a:cs typeface="Times New Roman" panose="02020603050405020304" charset="0"/>
              </a:rPr>
              <a:t>1 -&gt; the value fully belongs to the set</a:t>
            </a:r>
            <a:endParaRPr lang="en-US" altLang="en-GB"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endParaRPr lang="en-US" altLang="en-GB"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r>
              <a:rPr lang="en-US" altLang="en-GB" sz="2000" b="0" i="0">
                <a:solidFill>
                  <a:srgbClr val="273239"/>
                </a:solidFill>
                <a:latin typeface="Times New Roman" panose="02020603050405020304" charset="0"/>
                <a:ea typeface="Nunito"/>
                <a:cs typeface="Times New Roman" panose="02020603050405020304" charset="0"/>
              </a:rPr>
              <a:t>Values in between -&gt; partial membership</a:t>
            </a:r>
            <a:endParaRPr lang="en-US" altLang="en-GB" sz="2000" b="0" i="0">
              <a:solidFill>
                <a:srgbClr val="273239"/>
              </a:solidFill>
              <a:latin typeface="Times New Roman" panose="02020603050405020304" charset="0"/>
              <a:ea typeface="Nunito"/>
              <a:cs typeface="Times New Roman" panose="02020603050405020304" charset="0"/>
            </a:endParaRPr>
          </a:p>
          <a:p>
            <a:pPr marL="342900" indent="-342900" algn="just">
              <a:buFont typeface="Arial" panose="020B0604020202020204" pitchFamily="34" charset="0"/>
              <a:buChar char="•"/>
            </a:pPr>
            <a:endParaRPr lang="en-US" altLang="en-GB" sz="2000" b="0" i="0">
              <a:solidFill>
                <a:srgbClr val="273239"/>
              </a:solidFill>
              <a:latin typeface="Times New Roman" panose="02020603050405020304" charset="0"/>
              <a:ea typeface="Nunito"/>
              <a:cs typeface="Times New Roman" panose="02020603050405020304" charset="0"/>
            </a:endParaRPr>
          </a:p>
          <a:p>
            <a:pPr indent="0" algn="just">
              <a:buFont typeface="Arial" panose="020B0604020202020204" pitchFamily="34" charset="0"/>
              <a:buNone/>
            </a:pPr>
            <a:r>
              <a:rPr lang="en-US" altLang="en-GB" sz="1600" b="1" i="0">
                <a:solidFill>
                  <a:srgbClr val="FF0000"/>
                </a:solidFill>
                <a:latin typeface="Times New Roman" panose="02020603050405020304" charset="0"/>
                <a:ea typeface="Nunito"/>
                <a:cs typeface="Times New Roman" panose="02020603050405020304" charset="0"/>
              </a:rPr>
              <a:t>These functions are a key part of fuzzification, helping translate precise real-world data into fuzzy values that can be processed by the system.</a:t>
            </a:r>
            <a:endParaRPr lang="en-US" altLang="en-GB" sz="1600" b="1" i="0">
              <a:solidFill>
                <a:srgbClr val="FF0000"/>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95033"/>
            <a:ext cx="5080000" cy="398780"/>
          </a:xfrm>
          <a:prstGeom prst="rect">
            <a:avLst/>
          </a:prstGeom>
        </p:spPr>
        <p:txBody>
          <a:bodyPr>
            <a:spAutoFit/>
          </a:bodyPr>
          <a:p>
            <a:pPr marL="0" indent="0" algn="l" fontAlgn="base">
              <a:spcBef>
                <a:spcPct val="0"/>
              </a:spcBef>
              <a:spcAft>
                <a:spcPct val="0"/>
              </a:spcAft>
            </a:pPr>
            <a:r>
              <a:rPr sz="2000" b="1" i="0">
                <a:solidFill>
                  <a:srgbClr val="273239"/>
                </a:solidFill>
                <a:latin typeface="Times New Roman" panose="02020603050405020304" charset="0"/>
                <a:ea typeface="Nunito"/>
                <a:cs typeface="Times New Roman" panose="02020603050405020304" charset="0"/>
              </a:rPr>
              <a:t>Common Types of membership functions:</a:t>
            </a:r>
            <a:endParaRPr sz="20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88290" y="1656715"/>
            <a:ext cx="8550910" cy="2553335"/>
          </a:xfrm>
          <a:prstGeom prst="rect">
            <a:avLst/>
          </a:prstGeom>
          <a:noFill/>
        </p:spPr>
        <p:txBody>
          <a:bodyPr wrap="square" rtlCol="0">
            <a:spAutoFit/>
          </a:bodyPr>
          <a:p>
            <a:pPr marL="342900" indent="-342900">
              <a:buFont typeface="Arial" panose="020B0604020202020204" pitchFamily="34" charset="0"/>
              <a:buChar char="•"/>
            </a:pPr>
            <a:r>
              <a:rPr lang="en-US" altLang="en-GB" sz="2000" b="1">
                <a:latin typeface="Times New Roman" panose="02020603050405020304" charset="0"/>
                <a:cs typeface="Times New Roman" panose="02020603050405020304" charset="0"/>
              </a:rPr>
              <a:t>Singleton: </a:t>
            </a:r>
            <a:endParaRPr lang="en-US" altLang="en-GB" sz="2000" b="1">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GB" sz="2000" b="1">
              <a:latin typeface="Times New Roman" panose="02020603050405020304" charset="0"/>
              <a:cs typeface="Times New Roman" panose="02020603050405020304" charset="0"/>
            </a:endParaRPr>
          </a:p>
          <a:p>
            <a:r>
              <a:rPr lang="en-US" altLang="en-GB" sz="2000">
                <a:latin typeface="Times New Roman" panose="02020603050405020304" charset="0"/>
                <a:cs typeface="Times New Roman" panose="02020603050405020304" charset="0"/>
              </a:rPr>
              <a:t>Represents a crisp value as a fuzzy value at one specific point.</a:t>
            </a:r>
            <a:endParaRPr lang="en-US" altLang="en-GB" sz="2000">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GB" sz="2000" b="1">
                <a:latin typeface="Times New Roman" panose="02020603050405020304" charset="0"/>
                <a:cs typeface="Times New Roman" panose="02020603050405020304" charset="0"/>
              </a:rPr>
              <a:t>Gaussian: </a:t>
            </a:r>
            <a:endParaRPr lang="en-US" altLang="en-GB" sz="2000" b="1">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a:p>
            <a:r>
              <a:rPr lang="en-US" altLang="en-GB" sz="2000">
                <a:latin typeface="Times New Roman" panose="02020603050405020304" charset="0"/>
                <a:cs typeface="Times New Roman" panose="02020603050405020304" charset="0"/>
              </a:rPr>
              <a:t>Based on the Gaussian curve, this allows smooth transitions between membership degrees.</a:t>
            </a:r>
            <a:endParaRPr lang="en-US" altLang="en-GB" sz="2000">
              <a:latin typeface="Times New Roman" panose="02020603050405020304" charset="0"/>
              <a:cs typeface="Times New Roman" panose="02020603050405020304" charset="0"/>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1047750"/>
            <a:ext cx="7490460" cy="398780"/>
          </a:xfrm>
          <a:prstGeom prst="rect">
            <a:avLst/>
          </a:prstGeom>
          <a:noFill/>
        </p:spPr>
        <p:txBody>
          <a:bodyPr wrap="square" rtlCol="0" anchor="t">
            <a:spAutoFit/>
          </a:bodyPr>
          <a:p>
            <a:pPr marL="0" indent="0" algn="l" fontAlgn="base">
              <a:spcBef>
                <a:spcPct val="0"/>
              </a:spcBef>
              <a:spcAft>
                <a:spcPct val="0"/>
              </a:spcAft>
            </a:pPr>
            <a:r>
              <a:rPr sz="2000" b="1">
                <a:solidFill>
                  <a:srgbClr val="273239"/>
                </a:solidFill>
                <a:latin typeface="Times New Roman" panose="02020603050405020304" charset="0"/>
                <a:ea typeface="Nunito"/>
                <a:cs typeface="Times New Roman" panose="02020603050405020304" charset="0"/>
                <a:sym typeface="+mn-ea"/>
              </a:rPr>
              <a:t>Common Types of membership functions:</a:t>
            </a:r>
            <a:endParaRPr lang="en-GB" altLang="en-US" sz="2000" b="1">
              <a:solidFill>
                <a:srgbClr val="273239"/>
              </a:solidFill>
              <a:latin typeface="Times New Roman" panose="02020603050405020304" charset="0"/>
              <a:ea typeface="Nunito"/>
              <a:cs typeface="Times New Roman" panose="02020603050405020304" charset="0"/>
              <a:sym typeface="+mn-ea"/>
            </a:endParaRPr>
          </a:p>
        </p:txBody>
      </p:sp>
      <p:sp>
        <p:nvSpPr>
          <p:cNvPr id="3" name="Text Box 2"/>
          <p:cNvSpPr txBox="1"/>
          <p:nvPr/>
        </p:nvSpPr>
        <p:spPr>
          <a:xfrm>
            <a:off x="302895" y="1814830"/>
            <a:ext cx="8688705" cy="2122805"/>
          </a:xfrm>
          <a:prstGeom prst="rect">
            <a:avLst/>
          </a:prstGeom>
          <a:noFill/>
        </p:spPr>
        <p:txBody>
          <a:bodyPr wrap="square" rtlCol="0">
            <a:spAutoFit/>
          </a:bodyPr>
          <a:p>
            <a:pPr marL="342900" indent="-342900">
              <a:buFont typeface="Arial" panose="020B0604020202020204" pitchFamily="34" charset="0"/>
              <a:buChar char="•"/>
            </a:pPr>
            <a:r>
              <a:rPr lang="en-US" altLang="en-GB" sz="2000" b="1">
                <a:latin typeface="Times New Roman" panose="02020603050405020304" charset="0"/>
                <a:cs typeface="Times New Roman" panose="02020603050405020304" charset="0"/>
              </a:rPr>
              <a:t>Trapezoidal or Triangular: </a:t>
            </a:r>
            <a:endParaRPr lang="en-US" altLang="en-GB" sz="2000" b="1">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a:p>
            <a:pPr algn="just"/>
            <a:r>
              <a:rPr lang="en-US" altLang="en-GB" sz="2000">
                <a:latin typeface="Times New Roman" panose="02020603050405020304" charset="0"/>
                <a:cs typeface="Times New Roman" panose="02020603050405020304" charset="0"/>
              </a:rPr>
              <a:t>It uses straight-line shapes to define how membership changes across a range of values.</a:t>
            </a:r>
            <a:endParaRPr lang="en-US" altLang="en-GB" sz="2000">
              <a:latin typeface="Times New Roman" panose="02020603050405020304" charset="0"/>
              <a:cs typeface="Times New Roman" panose="02020603050405020304" charset="0"/>
            </a:endParaRPr>
          </a:p>
          <a:p>
            <a:pPr algn="just"/>
            <a:endParaRPr lang="en-US" altLang="en-GB" sz="2000">
              <a:latin typeface="Times New Roman" panose="02020603050405020304" charset="0"/>
              <a:cs typeface="Times New Roman" panose="02020603050405020304" charset="0"/>
            </a:endParaRPr>
          </a:p>
          <a:p>
            <a:pPr algn="just"/>
            <a:r>
              <a:rPr lang="en-US" altLang="en-GB" sz="1600">
                <a:solidFill>
                  <a:srgbClr val="FF0000"/>
                </a:solidFill>
                <a:latin typeface="Times New Roman" panose="02020603050405020304" charset="0"/>
                <a:cs typeface="Times New Roman" panose="02020603050405020304" charset="0"/>
              </a:rPr>
              <a:t>By choosing the right membership function, we can represent uncertainty more naturally and make fuzzy logic systems respond in a way that feels closer to human reasoning.</a:t>
            </a:r>
            <a:endParaRPr lang="en-US" altLang="en-GB" sz="1600">
              <a:solidFill>
                <a:srgbClr val="FF0000"/>
              </a:solidFill>
              <a:latin typeface="Times New Roman" panose="02020603050405020304" charset="0"/>
              <a:cs typeface="Times New Roman" panose="0202060305040502030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895033"/>
            <a:ext cx="5080000" cy="460375"/>
          </a:xfrm>
          <a:prstGeom prst="rect">
            <a:avLst/>
          </a:prstGeom>
        </p:spPr>
        <p:txBody>
          <a:bodyPr>
            <a:spAutoFit/>
          </a:bodyPr>
          <a:p>
            <a:pPr marL="0" indent="0" algn="l"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Numerical Example</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04800" y="1581150"/>
            <a:ext cx="8697595" cy="1322070"/>
          </a:xfrm>
          <a:prstGeom prst="rect">
            <a:avLst/>
          </a:prstGeom>
        </p:spPr>
        <p:txBody>
          <a:bodyPr wrap="square">
            <a:spAutoFit/>
          </a:bodyPr>
          <a:p>
            <a:pPr marL="0" indent="0" algn="l" fontAlgn="base">
              <a:spcBef>
                <a:spcPct val="0"/>
              </a:spcBef>
              <a:spcAft>
                <a:spcPct val="0"/>
              </a:spcAft>
            </a:pPr>
            <a:r>
              <a:rPr sz="1600" b="1" i="0">
                <a:solidFill>
                  <a:srgbClr val="273239"/>
                </a:solidFill>
                <a:latin typeface="Times New Roman" panose="02020603050405020304" charset="0"/>
                <a:ea typeface="Nunito"/>
                <a:cs typeface="Times New Roman" panose="02020603050405020304" charset="0"/>
              </a:rPr>
              <a:t>Input:</a:t>
            </a:r>
            <a:endParaRPr sz="1600"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sz="1600" b="1"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r>
              <a:rPr sz="1600" b="0" i="0">
                <a:solidFill>
                  <a:srgbClr val="273239"/>
                </a:solidFill>
                <a:latin typeface="Times New Roman" panose="02020603050405020304" charset="0"/>
                <a:ea typeface="Nunito"/>
                <a:cs typeface="Times New Roman" panose="02020603050405020304" charset="0"/>
              </a:rPr>
              <a:t> Temperature = 32°C</a:t>
            </a: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pPr>
            <a:r>
              <a:rPr sz="1600" b="1" i="0">
                <a:solidFill>
                  <a:srgbClr val="273239"/>
                </a:solidFill>
                <a:latin typeface="Times New Roman" panose="02020603050405020304" charset="0"/>
                <a:ea typeface="Nunito"/>
                <a:cs typeface="Times New Roman" panose="02020603050405020304" charset="0"/>
              </a:rPr>
              <a:t>Goal:</a:t>
            </a:r>
            <a:r>
              <a:rPr sz="1600" b="0" i="0">
                <a:solidFill>
                  <a:srgbClr val="273239"/>
                </a:solidFill>
                <a:latin typeface="Times New Roman" panose="02020603050405020304" charset="0"/>
                <a:ea typeface="Nunito"/>
                <a:cs typeface="Times New Roman" panose="02020603050405020304" charset="0"/>
              </a:rPr>
              <a:t> Adjust fan speed (Low / Medium / High)</a:t>
            </a:r>
            <a:endParaRPr sz="1600" b="0" i="0">
              <a:solidFill>
                <a:srgbClr val="273239"/>
              </a:solidFill>
              <a:latin typeface="Times New Roman" panose="02020603050405020304" charset="0"/>
              <a:ea typeface="Nunito"/>
              <a:cs typeface="Times New Roman" panose="02020603050405020304" charset="0"/>
            </a:endParaRPr>
          </a:p>
        </p:txBody>
      </p:sp>
      <p:pic>
        <p:nvPicPr>
          <p:cNvPr id="4" name="Picture 3"/>
          <p:cNvPicPr>
            <a:picLocks noChangeAspect="1"/>
          </p:cNvPicPr>
          <p:nvPr/>
        </p:nvPicPr>
        <p:blipFill>
          <a:blip r:embed="rId1"/>
          <a:stretch>
            <a:fillRect/>
          </a:stretch>
        </p:blipFill>
        <p:spPr>
          <a:xfrm>
            <a:off x="4876800" y="1274445"/>
            <a:ext cx="4084320" cy="3339465"/>
          </a:xfrm>
          <a:prstGeom prst="rect">
            <a:avLst/>
          </a:prstGeo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04800" y="819150"/>
            <a:ext cx="3924300" cy="3063875"/>
          </a:xfrm>
          <a:prstGeom prst="rect">
            <a:avLst/>
          </a:prstGeom>
        </p:spPr>
      </p:pic>
      <p:pic>
        <p:nvPicPr>
          <p:cNvPr id="3" name="Picture 2"/>
          <p:cNvPicPr>
            <a:picLocks noChangeAspect="1"/>
          </p:cNvPicPr>
          <p:nvPr/>
        </p:nvPicPr>
        <p:blipFill>
          <a:blip r:embed="rId2"/>
          <a:stretch>
            <a:fillRect/>
          </a:stretch>
        </p:blipFill>
        <p:spPr>
          <a:xfrm>
            <a:off x="4724400" y="1200150"/>
            <a:ext cx="4180840" cy="3377565"/>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32000" y="818833"/>
            <a:ext cx="5080000" cy="460375"/>
          </a:xfrm>
          <a:prstGeom prst="rect">
            <a:avLst/>
          </a:prstGeom>
        </p:spPr>
        <p:txBody>
          <a:bodyPr>
            <a:spAutoFit/>
          </a:bodyPr>
          <a:p>
            <a:pPr marL="0" indent="0" algn="ctr"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Fuzzy Control</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81000" y="1581150"/>
            <a:ext cx="8472170" cy="3291840"/>
          </a:xfrm>
          <a:prstGeom prst="rect">
            <a:avLst/>
          </a:prstGeom>
        </p:spPr>
        <p:txBody>
          <a:bodyPr wrap="square">
            <a:spAutoFit/>
          </a:bodyPr>
          <a:p>
            <a:pPr marL="0" indent="0" algn="just"/>
            <a:r>
              <a:rPr sz="1600" b="0" i="0">
                <a:solidFill>
                  <a:srgbClr val="273239"/>
                </a:solidFill>
                <a:latin typeface="Times New Roman" panose="02020603050405020304" charset="0"/>
                <a:ea typeface="Nunito"/>
                <a:cs typeface="Times New Roman" panose="02020603050405020304" charset="0"/>
              </a:rPr>
              <a:t>Fuzzy control is a method of designing systems that make decisions in a way similar to human reasoning. Instead of depending only on exact values, it works with approximate information to produce results that are practical and acceptable, even if they aren’t perfectly precise. This approach is useful when dealing with uncertainty or incomplete data, situations where traditional control methods might fail.</a:t>
            </a:r>
            <a:endParaRPr sz="1600" b="0" i="0">
              <a:solidFill>
                <a:srgbClr val="273239"/>
              </a:solidFill>
              <a:latin typeface="Times New Roman" panose="02020603050405020304" charset="0"/>
              <a:ea typeface="Nunito"/>
              <a:cs typeface="Times New Roman" panose="02020603050405020304" charset="0"/>
            </a:endParaRPr>
          </a:p>
          <a:p>
            <a:pPr marL="0" indent="0" algn="just"/>
            <a:endParaRPr sz="1600" b="0" i="0">
              <a:solidFill>
                <a:srgbClr val="273239"/>
              </a:solidFill>
              <a:latin typeface="Times New Roman" panose="02020603050405020304" charset="0"/>
              <a:ea typeface="Nunito"/>
              <a:cs typeface="Times New Roman" panose="02020603050405020304" charset="0"/>
            </a:endParaRPr>
          </a:p>
          <a:p>
            <a:pPr marL="0" indent="0" algn="just"/>
            <a:endParaRPr sz="1600" b="0" i="0">
              <a:solidFill>
                <a:srgbClr val="273239"/>
              </a:solidFill>
              <a:latin typeface="Times New Roman" panose="02020603050405020304" charset="0"/>
              <a:ea typeface="Nunito"/>
              <a:cs typeface="Times New Roman" panose="02020603050405020304" charset="0"/>
            </a:endParaRPr>
          </a:p>
          <a:p>
            <a:pPr marL="0" indent="0" algn="just"/>
            <a:r>
              <a:rPr lang="en-US" altLang="en-GB" sz="1600" b="1" i="0">
                <a:solidFill>
                  <a:srgbClr val="273239"/>
                </a:solidFill>
                <a:latin typeface="Times New Roman" panose="02020603050405020304" charset="0"/>
                <a:ea typeface="Nunito"/>
                <a:cs typeface="Times New Roman" panose="02020603050405020304" charset="0"/>
              </a:rPr>
              <a:t>Example:</a:t>
            </a:r>
            <a:r>
              <a:rPr lang="en-US" altLang="en-GB" sz="1600" b="0" i="0">
                <a:solidFill>
                  <a:srgbClr val="273239"/>
                </a:solidFill>
                <a:latin typeface="Times New Roman" panose="02020603050405020304" charset="0"/>
                <a:ea typeface="Nunito"/>
                <a:cs typeface="Times New Roman" panose="02020603050405020304" charset="0"/>
              </a:rPr>
              <a:t> In an air conditioning system, fuzzy control can adjust the cooling not just as “on” or “off” but based on degrees like “slightly cool” or “very cool,” creating smoother and more comfortable temperature control.</a:t>
            </a:r>
            <a:endParaRPr lang="en-US" altLang="en-GB" sz="1600" b="0" i="0">
              <a:solidFill>
                <a:srgbClr val="273239"/>
              </a:solidFill>
              <a:latin typeface="Times New Roman" panose="02020603050405020304" charset="0"/>
              <a:ea typeface="Nunito"/>
              <a:cs typeface="Times New Roman" panose="02020603050405020304" charset="0"/>
            </a:endParaRPr>
          </a:p>
          <a:p>
            <a:pPr marL="0" indent="0" algn="just"/>
            <a:endParaRPr lang="en-US" altLang="en-GB" sz="1600" b="0" i="0">
              <a:solidFill>
                <a:srgbClr val="273239"/>
              </a:solidFill>
              <a:latin typeface="Times New Roman" panose="02020603050405020304" charset="0"/>
              <a:ea typeface="Nunito"/>
              <a:cs typeface="Times New Roman" panose="02020603050405020304" charset="0"/>
            </a:endParaRPr>
          </a:p>
          <a:p>
            <a:pPr marL="0" indent="0" algn="just"/>
            <a:r>
              <a:rPr lang="en-US" altLang="en-GB" sz="1600" b="0" i="0">
                <a:solidFill>
                  <a:srgbClr val="273239"/>
                </a:solidFill>
                <a:latin typeface="Times New Roman" panose="02020603050405020304" charset="0"/>
                <a:ea typeface="Nunito"/>
                <a:cs typeface="Times New Roman" panose="02020603050405020304" charset="0"/>
              </a:rPr>
              <a:t>By capturing the flexibility of human decision-making, it helps systems operate effectively in complex, unpredictable environments.</a:t>
            </a:r>
            <a:endParaRPr lang="en-US" altLang="en-GB"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04800" y="1276350"/>
            <a:ext cx="6950710" cy="3413760"/>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p:cNvSpPr txBox="1"/>
          <p:nvPr/>
        </p:nvSpPr>
        <p:spPr>
          <a:xfrm>
            <a:off x="152400" y="666750"/>
            <a:ext cx="5945505" cy="398780"/>
          </a:xfrm>
          <a:prstGeom prst="rect">
            <a:avLst/>
          </a:prstGeom>
        </p:spPr>
        <p:txBody>
          <a:bodyPr wrap="square">
            <a:spAutoFit/>
          </a:bodyPr>
          <a:p>
            <a:pPr marL="0" indent="0" algn="l" fontAlgn="base">
              <a:spcBef>
                <a:spcPct val="0"/>
              </a:spcBef>
              <a:spcAft>
                <a:spcPct val="0"/>
              </a:spcAft>
            </a:pPr>
            <a:r>
              <a:rPr sz="2000" b="1" i="0">
                <a:solidFill>
                  <a:srgbClr val="273239"/>
                </a:solidFill>
                <a:latin typeface="Times New Roman" panose="02020603050405020304" charset="0"/>
                <a:ea typeface="Nunito"/>
                <a:cs typeface="Times New Roman" panose="02020603050405020304" charset="0"/>
              </a:rPr>
              <a:t>Applications of Fuzzy Logic</a:t>
            </a:r>
            <a:endParaRPr sz="2000" b="1" i="0">
              <a:solidFill>
                <a:srgbClr val="273239"/>
              </a:solidFill>
              <a:latin typeface="Times New Roman" panose="02020603050405020304" charset="0"/>
              <a:ea typeface="Nunito"/>
              <a:cs typeface="Times New Roman" panose="02020603050405020304" charset="0"/>
            </a:endParaRPr>
          </a:p>
        </p:txBody>
      </p:sp>
      <p:sp>
        <p:nvSpPr>
          <p:cNvPr id="4" name="Text Box 3"/>
          <p:cNvSpPr txBox="1"/>
          <p:nvPr/>
        </p:nvSpPr>
        <p:spPr>
          <a:xfrm>
            <a:off x="228600" y="1174115"/>
            <a:ext cx="8550275" cy="3969385"/>
          </a:xfrm>
          <a:prstGeom prst="rect">
            <a:avLst/>
          </a:prstGeom>
          <a:noFill/>
        </p:spPr>
        <p:txBody>
          <a:bodyPr wrap="square" rtlCol="0">
            <a:spAutoFit/>
          </a:bodyPr>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Fuzzy logic is used in many fields where precision isn’t always possible:</a:t>
            </a: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Aerospace: Fuzzy logic is used in spacecraft and satellite altitude control systems.</a:t>
            </a: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Automotive: It's applied in speed control and traffic management systems.</a:t>
            </a: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Industrial: It is used for processes like pH control, drying and distillation in the chemical industry.</a:t>
            </a: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Artificial Intelligence: In areas like natural language processing and decision-making support systems.</a:t>
            </a: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endParaRPr lang="en-US" altLang="en-GB">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GB">
                <a:latin typeface="Times New Roman" panose="02020603050405020304" charset="0"/>
                <a:cs typeface="Times New Roman" panose="02020603050405020304" charset="0"/>
              </a:rPr>
              <a:t>Control Systems: It is integral to many modern control systems including expert systems and robotics.</a:t>
            </a:r>
            <a:endParaRPr lang="en-US" altLang="en-GB">
              <a:latin typeface="Times New Roman" panose="02020603050405020304" charset="0"/>
              <a:cs typeface="Times New Roman" panose="02020603050405020304" charset="0"/>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742633"/>
            <a:ext cx="5080000" cy="460375"/>
          </a:xfrm>
          <a:prstGeom prst="rect">
            <a:avLst/>
          </a:prstGeom>
        </p:spPr>
        <p:txBody>
          <a:bodyPr>
            <a:spAutoFit/>
          </a:bodyPr>
          <a:p>
            <a:pPr marL="0" indent="0" algn="l"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Advantages of Fuzzy Logic</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 y="1352550"/>
            <a:ext cx="8780780" cy="3046095"/>
          </a:xfrm>
          <a:prstGeom prst="rect">
            <a:avLst/>
          </a:prstGeom>
        </p:spPr>
        <p:txBody>
          <a:bodyPr wrap="square">
            <a:spAutoFit/>
          </a:bodyPr>
          <a:p>
            <a:pPr marL="0" indent="0" algn="l"/>
            <a:r>
              <a:rPr sz="1600" b="0" i="0">
                <a:solidFill>
                  <a:srgbClr val="273239"/>
                </a:solidFill>
                <a:latin typeface="Times New Roman" panose="02020603050405020304" charset="0"/>
                <a:ea typeface="Nunito"/>
                <a:cs typeface="Times New Roman" panose="02020603050405020304" charset="0"/>
              </a:rPr>
              <a:t>Fuzzy logic systems has several benefits which are as follows:</a:t>
            </a:r>
            <a:endParaRPr sz="1600" b="0" i="0">
              <a:solidFill>
                <a:srgbClr val="273239"/>
              </a:solidFill>
              <a:latin typeface="Times New Roman" panose="02020603050405020304" charset="0"/>
              <a:ea typeface="Nunito"/>
              <a:cs typeface="Times New Roman" panose="02020603050405020304" charset="0"/>
            </a:endParaRPr>
          </a:p>
          <a:p>
            <a:pPr marL="0" indent="0" algn="l"/>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1" i="0">
                <a:solidFill>
                  <a:srgbClr val="273239"/>
                </a:solidFill>
                <a:latin typeface="Times New Roman" panose="02020603050405020304" charset="0"/>
                <a:ea typeface="Nunito"/>
                <a:cs typeface="Times New Roman" panose="02020603050405020304" charset="0"/>
              </a:rPr>
              <a:t>Handles imprecise or noisy data:</a:t>
            </a:r>
            <a:r>
              <a:rPr lang="en-US" altLang="en-GB" sz="1600" b="0" i="0">
                <a:solidFill>
                  <a:srgbClr val="273239"/>
                </a:solidFill>
                <a:latin typeface="Times New Roman" panose="02020603050405020304" charset="0"/>
                <a:ea typeface="Nunito"/>
                <a:cs typeface="Times New Roman" panose="02020603050405020304" charset="0"/>
              </a:rPr>
              <a:t> Whether the data is distorted or not completely accurate, it can still make sense of it.</a:t>
            </a: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1" i="0">
                <a:solidFill>
                  <a:srgbClr val="273239"/>
                </a:solidFill>
                <a:latin typeface="Times New Roman" panose="02020603050405020304" charset="0"/>
                <a:ea typeface="Nunito"/>
                <a:cs typeface="Times New Roman" panose="02020603050405020304" charset="0"/>
              </a:rPr>
              <a:t>Easy to design and understand:</a:t>
            </a:r>
            <a:r>
              <a:rPr lang="en-US" altLang="en-GB" sz="1600" b="0" i="0">
                <a:solidFill>
                  <a:srgbClr val="273239"/>
                </a:solidFill>
                <a:latin typeface="Times New Roman" panose="02020603050405020304" charset="0"/>
                <a:ea typeface="Nunito"/>
                <a:cs typeface="Times New Roman" panose="02020603050405020304" charset="0"/>
              </a:rPr>
              <a:t> Unlike many complex algorithms, fuzzy logic systems are straightforward and simple to implement.</a:t>
            </a: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1" i="0">
                <a:solidFill>
                  <a:srgbClr val="273239"/>
                </a:solidFill>
                <a:latin typeface="Times New Roman" panose="02020603050405020304" charset="0"/>
                <a:ea typeface="Nunito"/>
                <a:cs typeface="Times New Roman" panose="02020603050405020304" charset="0"/>
              </a:rPr>
              <a:t>Efficient for complex problems:</a:t>
            </a:r>
            <a:r>
              <a:rPr lang="en-US" altLang="en-GB" sz="1600" b="0" i="0">
                <a:solidFill>
                  <a:srgbClr val="273239"/>
                </a:solidFill>
                <a:latin typeface="Times New Roman" panose="02020603050405020304" charset="0"/>
                <a:ea typeface="Nunito"/>
                <a:cs typeface="Times New Roman" panose="02020603050405020304" charset="0"/>
              </a:rPr>
              <a:t> Fuzzy logic mirrors human reasoning, so it’s great for solving problems in many areas like decision-making or control systems.</a:t>
            </a: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1" i="0">
                <a:solidFill>
                  <a:srgbClr val="273239"/>
                </a:solidFill>
                <a:latin typeface="Times New Roman" panose="02020603050405020304" charset="0"/>
                <a:ea typeface="Nunito"/>
                <a:cs typeface="Times New Roman" panose="02020603050405020304" charset="0"/>
              </a:rPr>
              <a:t>Low memory requirements: </a:t>
            </a:r>
            <a:r>
              <a:rPr lang="en-US" altLang="en-GB" sz="1600" b="0" i="0">
                <a:solidFill>
                  <a:srgbClr val="273239"/>
                </a:solidFill>
                <a:latin typeface="Times New Roman" panose="02020603050405020304" charset="0"/>
                <a:ea typeface="Nunito"/>
                <a:cs typeface="Times New Roman" panose="02020603050405020304" charset="0"/>
              </a:rPr>
              <a:t>The algorithms are simple and can operate with little data.</a:t>
            </a:r>
            <a:endParaRPr lang="en-US" altLang="en-GB"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7001510" cy="460375"/>
          </a:xfrm>
          <a:prstGeom prst="rect">
            <a:avLst/>
          </a:prstGeom>
        </p:spPr>
        <p:txBody>
          <a:bodyPr wrap="square">
            <a:spAutoFit/>
          </a:bodyPr>
          <a:p>
            <a:pPr marL="0" indent="0" algn="l" fontAlgn="base">
              <a:spcBef>
                <a:spcPct val="0"/>
              </a:spcBef>
              <a:spcAft>
                <a:spcPct val="0"/>
              </a:spcAft>
            </a:pPr>
            <a:r>
              <a:rPr sz="2400" b="1" i="0">
                <a:solidFill>
                  <a:srgbClr val="273239"/>
                </a:solidFill>
                <a:latin typeface="Times New Roman" panose="02020603050405020304" charset="0"/>
                <a:ea typeface="Nunito"/>
                <a:cs typeface="Times New Roman" panose="02020603050405020304" charset="0"/>
              </a:rPr>
              <a:t>Disadvantages of Fuzzy Logic</a:t>
            </a:r>
            <a:endParaRPr sz="24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304800" y="1504950"/>
            <a:ext cx="8618220" cy="2861310"/>
          </a:xfrm>
          <a:prstGeom prst="rect">
            <a:avLst/>
          </a:prstGeom>
        </p:spPr>
        <p:txBody>
          <a:bodyPr wrap="square">
            <a:spAutoFit/>
          </a:bodyPr>
          <a:p>
            <a:pPr marL="0" indent="0" algn="l"/>
            <a:r>
              <a:rPr b="0" i="0">
                <a:solidFill>
                  <a:srgbClr val="273239"/>
                </a:solidFill>
                <a:latin typeface="Times New Roman" panose="02020603050405020304" charset="0"/>
                <a:ea typeface="Nunito"/>
                <a:cs typeface="Times New Roman" panose="02020603050405020304" charset="0"/>
              </a:rPr>
              <a:t>While fuzzy logic has many strengths, it also comes with some challenges</a:t>
            </a:r>
            <a:r>
              <a:rPr lang="en-GB" b="0" i="0">
                <a:solidFill>
                  <a:srgbClr val="273239"/>
                </a:solidFill>
                <a:latin typeface="Times New Roman" panose="02020603050405020304" charset="0"/>
                <a:ea typeface="Nunito"/>
                <a:cs typeface="Times New Roman" panose="02020603050405020304" charset="0"/>
              </a:rPr>
              <a:t> </a:t>
            </a:r>
            <a:r>
              <a:rPr b="0" i="0">
                <a:solidFill>
                  <a:srgbClr val="273239"/>
                </a:solidFill>
                <a:latin typeface="Times New Roman" panose="02020603050405020304" charset="0"/>
                <a:ea typeface="Nunito"/>
                <a:cs typeface="Times New Roman" panose="02020603050405020304" charset="0"/>
              </a:rPr>
              <a:t>:</a:t>
            </a:r>
            <a:endParaRPr b="0" i="0">
              <a:solidFill>
                <a:srgbClr val="273239"/>
              </a:solidFill>
              <a:latin typeface="Times New Roman" panose="02020603050405020304" charset="0"/>
              <a:ea typeface="Nunito"/>
              <a:cs typeface="Times New Roman" panose="02020603050405020304" charset="0"/>
            </a:endParaRPr>
          </a:p>
          <a:p>
            <a:pPr marL="0" indent="0" algn="l"/>
            <a:endParaRPr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b="1" i="0">
                <a:solidFill>
                  <a:srgbClr val="273239"/>
                </a:solidFill>
                <a:latin typeface="Times New Roman" panose="02020603050405020304" charset="0"/>
                <a:ea typeface="Nunito"/>
                <a:cs typeface="Times New Roman" panose="02020603050405020304" charset="0"/>
              </a:rPr>
              <a:t>Ambiguity: </a:t>
            </a:r>
            <a:r>
              <a:rPr lang="en-US" altLang="en-GB" b="0" i="0">
                <a:solidFill>
                  <a:srgbClr val="273239"/>
                </a:solidFill>
                <a:latin typeface="Times New Roman" panose="02020603050405020304" charset="0"/>
                <a:ea typeface="Nunito"/>
                <a:cs typeface="Times New Roman" panose="02020603050405020304" charset="0"/>
              </a:rPr>
              <a:t>Different researchers may propose different solutions to the same problem, making the approach less systematic.</a:t>
            </a:r>
            <a:endParaRPr lang="en-US" altLang="en-GB"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b="1" i="0">
                <a:solidFill>
                  <a:srgbClr val="273239"/>
                </a:solidFill>
                <a:latin typeface="Times New Roman" panose="02020603050405020304" charset="0"/>
                <a:ea typeface="Nunito"/>
                <a:cs typeface="Times New Roman" panose="02020603050405020304" charset="0"/>
              </a:rPr>
              <a:t>Difficulty in proving correctness:</a:t>
            </a:r>
            <a:r>
              <a:rPr lang="en-US" altLang="en-GB" b="0" i="0">
                <a:solidFill>
                  <a:srgbClr val="273239"/>
                </a:solidFill>
                <a:latin typeface="Times New Roman" panose="02020603050405020304" charset="0"/>
                <a:ea typeface="Nunito"/>
                <a:cs typeface="Times New Roman" panose="02020603050405020304" charset="0"/>
              </a:rPr>
              <a:t> Since fuzzy logic deals with uncertainty, proving that a system works as expected can be tricky.</a:t>
            </a:r>
            <a:endParaRPr lang="en-US" altLang="en-GB"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b="1" i="0">
                <a:solidFill>
                  <a:srgbClr val="273239"/>
                </a:solidFill>
                <a:latin typeface="Times New Roman" panose="02020603050405020304" charset="0"/>
                <a:ea typeface="Nunito"/>
                <a:cs typeface="Times New Roman" panose="02020603050405020304" charset="0"/>
              </a:rPr>
              <a:t>Accuracy compromises:</a:t>
            </a:r>
            <a:r>
              <a:rPr lang="en-US" altLang="en-GB" b="0" i="0">
                <a:solidFill>
                  <a:srgbClr val="273239"/>
                </a:solidFill>
                <a:latin typeface="Times New Roman" panose="02020603050405020304" charset="0"/>
                <a:ea typeface="Nunito"/>
                <a:cs typeface="Times New Roman" panose="02020603050405020304" charset="0"/>
              </a:rPr>
              <a:t> Because fuzzy logic deals with both precise and imprecise data, the system might sacrifice some level of accuracy.</a:t>
            </a:r>
            <a:endParaRPr lang="en-US" altLang="en-GB"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676400" y="818833"/>
            <a:ext cx="5080000" cy="398780"/>
          </a:xfrm>
          <a:prstGeom prst="rect">
            <a:avLst/>
          </a:prstGeom>
        </p:spPr>
        <p:txBody>
          <a:bodyPr>
            <a:spAutoFit/>
          </a:bodyPr>
          <a:p>
            <a:pPr marL="0" indent="0" algn="ctr">
              <a:spcBef>
                <a:spcPct val="0"/>
              </a:spcBef>
              <a:spcAft>
                <a:spcPct val="0"/>
              </a:spcAft>
            </a:pPr>
            <a:r>
              <a:rPr sz="2000" b="1" i="0">
                <a:solidFill>
                  <a:srgbClr val="000000"/>
                </a:solidFill>
                <a:latin typeface="Times New Roman" panose="02020603050405020304" charset="0"/>
                <a:ea typeface="Lato"/>
                <a:cs typeface="Times New Roman" panose="02020603050405020304" charset="0"/>
              </a:rPr>
              <a:t>Fuzzy Logic - Classical Set Theory</a:t>
            </a:r>
            <a:endParaRPr sz="20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581150"/>
            <a:ext cx="8606155" cy="2799715"/>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A </a:t>
            </a:r>
            <a:r>
              <a:rPr sz="1600" b="1" i="0">
                <a:solidFill>
                  <a:srgbClr val="000000"/>
                </a:solidFill>
                <a:latin typeface="Times New Roman" panose="02020603050405020304" charset="0"/>
                <a:ea typeface="Verdana" panose="020B0604030504040204"/>
                <a:cs typeface="Times New Roman" panose="02020603050405020304" charset="0"/>
              </a:rPr>
              <a:t>set</a:t>
            </a:r>
            <a:r>
              <a:rPr sz="1600" b="0" i="0">
                <a:solidFill>
                  <a:srgbClr val="000000"/>
                </a:solidFill>
                <a:latin typeface="Times New Roman" panose="02020603050405020304" charset="0"/>
                <a:ea typeface="Verdana" panose="020B0604030504040204"/>
                <a:cs typeface="Times New Roman" panose="02020603050405020304" charset="0"/>
              </a:rPr>
              <a:t> is an unordered collection of different elements. It can be written explicitly by listing its elements using the set bracket. If the order of the elements is changed or any element of a set is repeated, it does not make any changes in the set.</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1" i="0">
                <a:solidFill>
                  <a:srgbClr val="000000"/>
                </a:solidFill>
                <a:latin typeface="Times New Roman" panose="02020603050405020304" charset="0"/>
                <a:ea typeface="Verdana" panose="020B0604030504040204"/>
                <a:cs typeface="Times New Roman" panose="02020603050405020304" charset="0"/>
              </a:rPr>
              <a:t>Example</a:t>
            </a:r>
            <a:r>
              <a:rPr lang="en-GB" altLang="en-US" sz="1600" b="1" i="0">
                <a:solidFill>
                  <a:srgbClr val="000000"/>
                </a:solidFill>
                <a:latin typeface="Times New Roman" panose="02020603050405020304" charset="0"/>
                <a:ea typeface="Verdana" panose="020B0604030504040204"/>
                <a:cs typeface="Times New Roman" panose="02020603050405020304" charset="0"/>
              </a:rPr>
              <a:t> - </a:t>
            </a: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lang="en-US" altLang="en-GB" sz="1600" b="0" i="0">
                <a:solidFill>
                  <a:srgbClr val="000000"/>
                </a:solidFill>
                <a:latin typeface="Times New Roman" panose="02020603050405020304" charset="0"/>
                <a:ea typeface="Verdana" panose="020B0604030504040204"/>
                <a:cs typeface="Times New Roman" panose="02020603050405020304" charset="0"/>
              </a:rPr>
              <a:t>A set of all positive integers.</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lang="en-US" altLang="en-GB" sz="1600" b="0" i="0">
                <a:solidFill>
                  <a:srgbClr val="000000"/>
                </a:solidFill>
                <a:latin typeface="Times New Roman" panose="02020603050405020304" charset="0"/>
                <a:ea typeface="Verdana" panose="020B0604030504040204"/>
                <a:cs typeface="Times New Roman" panose="02020603050405020304" charset="0"/>
              </a:rPr>
              <a:t>A set of all the planets in the solar system.</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lang="en-US" altLang="en-GB" sz="1600" b="0" i="0">
                <a:solidFill>
                  <a:srgbClr val="000000"/>
                </a:solidFill>
                <a:latin typeface="Times New Roman" panose="02020603050405020304" charset="0"/>
                <a:ea typeface="Verdana" panose="020B0604030504040204"/>
                <a:cs typeface="Times New Roman" panose="02020603050405020304" charset="0"/>
              </a:rPr>
              <a:t>A set of all the states in India.</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lang="en-US" altLang="en-GB" sz="1600" b="0" i="0">
                <a:solidFill>
                  <a:srgbClr val="000000"/>
                </a:solidFill>
                <a:latin typeface="Times New Roman" panose="02020603050405020304" charset="0"/>
                <a:ea typeface="Verdana" panose="020B0604030504040204"/>
                <a:cs typeface="Times New Roman" panose="02020603050405020304" charset="0"/>
              </a:rPr>
              <a:t>A set of all the lowercase letters of the alphabet.</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828800" y="819467"/>
            <a:ext cx="5080000" cy="321945"/>
          </a:xfrm>
          <a:prstGeom prst="rect">
            <a:avLst/>
          </a:prstGeom>
        </p:spPr>
        <p:txBody>
          <a:bodyPr>
            <a:spAutoFit/>
          </a:bodyPr>
          <a:p>
            <a:pPr marL="0" indent="0" algn="ctr">
              <a:lnSpc>
                <a:spcPts val="1800"/>
              </a:lnSpc>
              <a:spcAft>
                <a:spcPct val="60000"/>
              </a:spcAft>
            </a:pPr>
            <a:r>
              <a:rPr sz="2000" b="1" i="0">
                <a:solidFill>
                  <a:srgbClr val="000000"/>
                </a:solidFill>
                <a:latin typeface="Times New Roman" panose="02020603050405020304" charset="0"/>
                <a:ea typeface="Lato"/>
                <a:cs typeface="Times New Roman" panose="02020603050405020304" charset="0"/>
              </a:rPr>
              <a:t>Mathematical Representation of a Set</a:t>
            </a:r>
            <a:endParaRPr sz="20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428750"/>
            <a:ext cx="8599805" cy="2967990"/>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Sets can be represented in two ways −</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endParaRPr sz="1600" b="0" i="0">
              <a:solidFill>
                <a:srgbClr val="000000"/>
              </a:solidFill>
              <a:latin typeface="Verdana" panose="020B0604030504040204"/>
              <a:ea typeface="Verdana" panose="020B0604030504040204"/>
            </a:endParaRPr>
          </a:p>
          <a:p>
            <a:pPr marL="342900" indent="-342900" algn="l">
              <a:lnSpc>
                <a:spcPts val="1800"/>
              </a:lnSpc>
              <a:spcAft>
                <a:spcPct val="60000"/>
              </a:spcAft>
              <a:buFont typeface="Wingdings" panose="05000000000000000000" charset="0"/>
              <a:buChar char="v"/>
            </a:pPr>
            <a:r>
              <a:rPr b="1" i="0">
                <a:latin typeface="Times New Roman" panose="02020603050405020304" charset="0"/>
                <a:ea typeface="Verdana" panose="020B0604030504040204"/>
                <a:cs typeface="Times New Roman" panose="02020603050405020304" charset="0"/>
              </a:rPr>
              <a:t>Roster or Tabular Form</a:t>
            </a:r>
            <a:r>
              <a:rPr lang="en-GB" b="1" i="0">
                <a:latin typeface="Times New Roman" panose="02020603050405020304" charset="0"/>
                <a:ea typeface="Verdana" panose="020B0604030504040204"/>
                <a:cs typeface="Times New Roman" panose="02020603050405020304" charset="0"/>
              </a:rPr>
              <a:t> - </a:t>
            </a:r>
            <a:endParaRPr b="1" i="0">
              <a:latin typeface="Times New Roman" panose="02020603050405020304" charset="0"/>
              <a:ea typeface="Verdana" panose="020B0604030504040204"/>
              <a:cs typeface="Times New Roman" panose="02020603050405020304" charset="0"/>
            </a:endParaRPr>
          </a:p>
          <a:p>
            <a:pPr marL="0" indent="0" algn="just"/>
            <a:r>
              <a:rPr sz="1600" b="0" i="0">
                <a:solidFill>
                  <a:srgbClr val="000000"/>
                </a:solidFill>
                <a:latin typeface="Times New Roman" panose="02020603050405020304" charset="0"/>
                <a:ea typeface="Verdana" panose="020B0604030504040204"/>
                <a:cs typeface="Times New Roman" panose="02020603050405020304" charset="0"/>
              </a:rPr>
              <a:t>In this form, a set is represented by listing all the elements comprising it. The elements are enclosed within braces and separated by commas.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sz="1600" b="0" i="0">
                <a:solidFill>
                  <a:srgbClr val="000000"/>
                </a:solidFill>
                <a:latin typeface="Times New Roman" panose="02020603050405020304" charset="0"/>
                <a:ea typeface="Verdana" panose="020B0604030504040204"/>
                <a:cs typeface="Times New Roman" panose="02020603050405020304" charset="0"/>
              </a:rPr>
              <a:t>Following are the examples of set in Roster or Tabular Form −</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0" i="0">
                <a:solidFill>
                  <a:srgbClr val="000000"/>
                </a:solidFill>
                <a:latin typeface="Times New Roman" panose="02020603050405020304" charset="0"/>
                <a:ea typeface="Verdana" panose="020B0604030504040204"/>
                <a:cs typeface="Times New Roman" panose="02020603050405020304" charset="0"/>
              </a:rPr>
              <a:t>Set of vowels in English alphabet, A = {a,e,i,o,u}</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0" i="0">
                <a:solidFill>
                  <a:srgbClr val="000000"/>
                </a:solidFill>
                <a:latin typeface="Times New Roman" panose="02020603050405020304" charset="0"/>
                <a:ea typeface="Verdana" panose="020B0604030504040204"/>
                <a:cs typeface="Times New Roman" panose="02020603050405020304" charset="0"/>
              </a:rPr>
              <a:t>Set of odd numbers less than 10, B = {1,3,5,7,9}</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4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v"/>
            </a:pPr>
            <a:r>
              <a:rPr b="1" i="0">
                <a:latin typeface="Times New Roman" panose="02020603050405020304" charset="0"/>
                <a:ea typeface="Verdana" panose="020B0604030504040204"/>
                <a:cs typeface="Times New Roman" panose="02020603050405020304" charset="0"/>
              </a:rPr>
              <a:t>Set Builder Notation</a:t>
            </a:r>
            <a:endParaRPr b="1" i="0">
              <a:latin typeface="Times New Roman" panose="02020603050405020304" charset="0"/>
              <a:ea typeface="Verdana" panose="020B0604030504040204"/>
              <a:cs typeface="Times New Roman" panose="02020603050405020304" charset="0"/>
            </a:endParaRPr>
          </a:p>
        </p:txBody>
      </p:sp>
      <p:sp>
        <p:nvSpPr>
          <p:cNvPr id="3" name="Text Box 2"/>
          <p:cNvSpPr txBox="1"/>
          <p:nvPr/>
        </p:nvSpPr>
        <p:spPr>
          <a:xfrm>
            <a:off x="228600" y="1428750"/>
            <a:ext cx="8693150" cy="3415030"/>
          </a:xfrm>
          <a:prstGeom prst="rect">
            <a:avLst/>
          </a:prstGeom>
        </p:spPr>
        <p:txBody>
          <a:bodyPr wrap="square">
            <a:sp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In this form, the set is defined by specifying a property that elements of the set have in common. </a:t>
            </a:r>
            <a:endParaRPr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b="0" i="0">
                <a:solidFill>
                  <a:srgbClr val="000000"/>
                </a:solidFill>
                <a:latin typeface="Times New Roman" panose="02020603050405020304" charset="0"/>
                <a:ea typeface="Verdana" panose="020B0604030504040204"/>
                <a:cs typeface="Times New Roman" panose="02020603050405020304" charset="0"/>
              </a:rPr>
              <a:t>The set is described as A = {x:p(x)}</a:t>
            </a:r>
            <a:endParaRPr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b="1" i="0">
                <a:solidFill>
                  <a:srgbClr val="000000"/>
                </a:solidFill>
                <a:latin typeface="Times New Roman" panose="02020603050405020304" charset="0"/>
                <a:ea typeface="Verdana" panose="020B0604030504040204"/>
                <a:cs typeface="Times New Roman" panose="02020603050405020304" charset="0"/>
              </a:rPr>
              <a:t>Example 1</a:t>
            </a:r>
            <a:r>
              <a:rPr lang="en-US" altLang="en-GB" b="0" i="0">
                <a:solidFill>
                  <a:srgbClr val="000000"/>
                </a:solidFill>
                <a:latin typeface="Times New Roman" panose="02020603050405020304" charset="0"/>
                <a:ea typeface="Verdana" panose="020B0604030504040204"/>
                <a:cs typeface="Times New Roman" panose="02020603050405020304" charset="0"/>
              </a:rPr>
              <a:t> − The set {a,e,i,o,u} is written as</a:t>
            </a:r>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b="0" i="0">
                <a:solidFill>
                  <a:srgbClr val="000000"/>
                </a:solidFill>
                <a:latin typeface="Times New Roman" panose="02020603050405020304" charset="0"/>
                <a:ea typeface="Verdana" panose="020B0604030504040204"/>
                <a:cs typeface="Times New Roman" panose="02020603050405020304" charset="0"/>
              </a:rPr>
              <a:t>A = {x:x is a vowel in English alphabet}</a:t>
            </a:r>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b="1" i="0">
                <a:solidFill>
                  <a:srgbClr val="000000"/>
                </a:solidFill>
                <a:latin typeface="Times New Roman" panose="02020603050405020304" charset="0"/>
                <a:ea typeface="Verdana" panose="020B0604030504040204"/>
                <a:cs typeface="Times New Roman" panose="02020603050405020304" charset="0"/>
              </a:rPr>
              <a:t>Example 2</a:t>
            </a:r>
            <a:r>
              <a:rPr lang="en-US" altLang="en-GB" b="0" i="0">
                <a:solidFill>
                  <a:srgbClr val="000000"/>
                </a:solidFill>
                <a:latin typeface="Times New Roman" panose="02020603050405020304" charset="0"/>
                <a:ea typeface="Verdana" panose="020B0604030504040204"/>
                <a:cs typeface="Times New Roman" panose="02020603050405020304" charset="0"/>
              </a:rPr>
              <a:t> − The set {1,3,5,7,9} is written as</a:t>
            </a:r>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b="0" i="0">
                <a:solidFill>
                  <a:srgbClr val="000000"/>
                </a:solidFill>
                <a:latin typeface="Times New Roman" panose="02020603050405020304" charset="0"/>
                <a:ea typeface="Verdana" panose="020B0604030504040204"/>
                <a:cs typeface="Times New Roman" panose="02020603050405020304" charset="0"/>
              </a:rPr>
              <a:t>B = {x:1 ≤ x &lt; 10 and (x%2) ≠ 0}</a:t>
            </a:r>
            <a:endParaRPr lang="en-US" altLang="en-GB"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95350"/>
            <a:ext cx="8714740" cy="4184650"/>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If an element x is a member of any set S, it is denoted by x∈S and if an element y is not a member of set S, it is denoted by y</a:t>
            </a: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r>
              <a:rPr sz="1600" b="0" i="0">
                <a:solidFill>
                  <a:srgbClr val="000000"/>
                </a:solidFill>
                <a:latin typeface="Times New Roman" panose="02020603050405020304" charset="0"/>
                <a:ea typeface="Verdana" panose="020B0604030504040204"/>
                <a:cs typeface="Times New Roman" panose="02020603050405020304" charset="0"/>
              </a:rPr>
              <a:t> − If S = {1,1.2,1.7,2},1 ∈ S but 1.5 ∉ 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342900" indent="-342900" algn="just">
              <a:spcBef>
                <a:spcPct val="0"/>
              </a:spcBef>
              <a:spcAft>
                <a:spcPct val="0"/>
              </a:spcAft>
              <a:buFont typeface="Wingdings" panose="05000000000000000000" charset="0"/>
              <a:buChar char="Ø"/>
            </a:pPr>
            <a:r>
              <a:rPr lang="en-US" altLang="en-GB" sz="2000" b="1" i="0">
                <a:solidFill>
                  <a:srgbClr val="000000"/>
                </a:solidFill>
                <a:latin typeface="Times New Roman" panose="02020603050405020304" charset="0"/>
                <a:ea typeface="Verdana" panose="020B0604030504040204"/>
                <a:cs typeface="Times New Roman" panose="02020603050405020304" charset="0"/>
              </a:rPr>
              <a:t>Cardinality of a Set</a:t>
            </a:r>
            <a:endParaRPr lang="en-US" altLang="en-GB" sz="2000" b="1" i="0">
              <a:solidFill>
                <a:srgbClr val="000000"/>
              </a:solidFill>
              <a:latin typeface="Times New Roman" panose="02020603050405020304" charset="0"/>
              <a:ea typeface="Verdana" panose="020B0604030504040204"/>
              <a:cs typeface="Times New Roman" panose="02020603050405020304" charset="0"/>
            </a:endParaRPr>
          </a:p>
          <a:p>
            <a:pPr marL="342900" indent="-342900" algn="just">
              <a:spcBef>
                <a:spcPct val="0"/>
              </a:spcBef>
              <a:spcAft>
                <a:spcPct val="0"/>
              </a:spcAft>
              <a:buFont typeface="Wingdings" panose="05000000000000000000" charset="0"/>
              <a:buChar char="Ø"/>
            </a:pPr>
            <a:endParaRPr lang="en-US" altLang="en-GB" sz="2000" b="1" i="0">
              <a:solidFill>
                <a:srgbClr val="000000"/>
              </a:solidFill>
              <a:latin typeface="Times New Roman" panose="02020603050405020304" charset="0"/>
              <a:ea typeface="Verdana" panose="020B0604030504040204"/>
              <a:cs typeface="Times New Roman" panose="02020603050405020304" charset="0"/>
            </a:endParaRPr>
          </a:p>
          <a:p>
            <a:pPr indent="0" algn="just">
              <a:spcBef>
                <a:spcPct val="0"/>
              </a:spcBef>
              <a:spcAft>
                <a:spcPct val="0"/>
              </a:spcAft>
              <a:buFont typeface="Wingdings" panose="05000000000000000000" charset="0"/>
              <a:buNone/>
            </a:pPr>
            <a:r>
              <a:rPr lang="en-US" altLang="en-GB" i="0">
                <a:solidFill>
                  <a:srgbClr val="000000"/>
                </a:solidFill>
                <a:latin typeface="Times New Roman" panose="02020603050405020304" charset="0"/>
                <a:ea typeface="Verdana" panose="020B0604030504040204"/>
                <a:cs typeface="Times New Roman" panose="02020603050405020304" charset="0"/>
              </a:rPr>
              <a:t>Cardinality of a set S, denoted by |S||S|, is the number of elements of the set. The number is also referred as the cardinal number. If a set has an infinite number of elements, its cardinality is ∞∞.</a:t>
            </a:r>
            <a:endParaRPr lang="en-US" altLang="en-GB" i="0">
              <a:solidFill>
                <a:srgbClr val="000000"/>
              </a:solidFill>
              <a:latin typeface="Times New Roman" panose="02020603050405020304" charset="0"/>
              <a:ea typeface="Verdana" panose="020B0604030504040204"/>
              <a:cs typeface="Times New Roman" panose="02020603050405020304" charset="0"/>
            </a:endParaRPr>
          </a:p>
          <a:p>
            <a:pPr indent="0" algn="just">
              <a:spcBef>
                <a:spcPct val="0"/>
              </a:spcBef>
              <a:spcAft>
                <a:spcPct val="0"/>
              </a:spcAft>
              <a:buFont typeface="Wingdings" panose="05000000000000000000" charset="0"/>
              <a:buNone/>
            </a:pPr>
            <a:endParaRPr lang="en-US" altLang="en-GB" i="0">
              <a:solidFill>
                <a:srgbClr val="000000"/>
              </a:solidFill>
              <a:latin typeface="Times New Roman" panose="02020603050405020304" charset="0"/>
              <a:ea typeface="Verdana" panose="020B0604030504040204"/>
              <a:cs typeface="Times New Roman" panose="02020603050405020304" charset="0"/>
            </a:endParaRPr>
          </a:p>
          <a:p>
            <a:pPr indent="0" algn="just">
              <a:spcBef>
                <a:spcPct val="0"/>
              </a:spcBef>
              <a:spcAft>
                <a:spcPct val="0"/>
              </a:spcAft>
              <a:buFont typeface="Wingdings" panose="05000000000000000000" charset="0"/>
              <a:buNone/>
            </a:pPr>
            <a:r>
              <a:rPr lang="en-US" altLang="en-GB" b="1" i="0">
                <a:solidFill>
                  <a:srgbClr val="000000"/>
                </a:solidFill>
                <a:latin typeface="Times New Roman" panose="02020603050405020304" charset="0"/>
                <a:ea typeface="Verdana" panose="020B0604030504040204"/>
                <a:cs typeface="Times New Roman" panose="02020603050405020304" charset="0"/>
              </a:rPr>
              <a:t>Example −</a:t>
            </a:r>
            <a:r>
              <a:rPr lang="en-US" altLang="en-GB" i="0">
                <a:solidFill>
                  <a:srgbClr val="000000"/>
                </a:solidFill>
                <a:latin typeface="Times New Roman" panose="02020603050405020304" charset="0"/>
                <a:ea typeface="Verdana" panose="020B0604030504040204"/>
                <a:cs typeface="Times New Roman" panose="02020603050405020304" charset="0"/>
              </a:rPr>
              <a:t> |{1,4,3,5}| = 4,|{1,2,3,4,5,}| = ∞</a:t>
            </a:r>
            <a:endParaRPr lang="en-US" altLang="en-GB"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lang="en-US" altLang="en-GB" sz="2000" b="1"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lang="en-US" altLang="en-GB" sz="2000" b="1"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95350"/>
            <a:ext cx="8602345" cy="3969385"/>
          </a:xfrm>
          <a:prstGeom prst="rect">
            <a:avLst/>
          </a:prstGeom>
        </p:spPr>
        <p:txBody>
          <a:bodyPr wrap="square">
            <a:spAutoFit/>
          </a:bodyPr>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If there are two sets X and Y, </a:t>
            </a:r>
            <a:r>
              <a:rPr b="0" i="1">
                <a:solidFill>
                  <a:srgbClr val="000000"/>
                </a:solidFill>
                <a:latin typeface="Times New Roman" panose="02020603050405020304" charset="0"/>
                <a:ea typeface="Verdana" panose="020B0604030504040204"/>
                <a:cs typeface="Times New Roman" panose="02020603050405020304" charset="0"/>
              </a:rPr>
              <a:t>|X| = |Y|</a:t>
            </a:r>
            <a:r>
              <a:rPr b="0" i="0">
                <a:solidFill>
                  <a:srgbClr val="000000"/>
                </a:solidFill>
                <a:latin typeface="Times New Roman" panose="02020603050405020304" charset="0"/>
                <a:ea typeface="Verdana" panose="020B0604030504040204"/>
                <a:cs typeface="Times New Roman" panose="02020603050405020304" charset="0"/>
              </a:rPr>
              <a:t> denotes two sets X and Y having same cardinality. It occurs when the number of elements in X is exactly equal to the number of elements in Y. In this case, there exists a </a:t>
            </a:r>
            <a:r>
              <a:rPr b="1" i="0">
                <a:solidFill>
                  <a:srgbClr val="000000"/>
                </a:solidFill>
                <a:latin typeface="Times New Roman" panose="02020603050405020304" charset="0"/>
                <a:ea typeface="Verdana" panose="020B0604030504040204"/>
                <a:cs typeface="Times New Roman" panose="02020603050405020304" charset="0"/>
              </a:rPr>
              <a:t>bijective </a:t>
            </a:r>
            <a:r>
              <a:rPr b="0" i="0">
                <a:solidFill>
                  <a:srgbClr val="000000"/>
                </a:solidFill>
                <a:latin typeface="Times New Roman" panose="02020603050405020304" charset="0"/>
                <a:ea typeface="Verdana" panose="020B0604030504040204"/>
                <a:cs typeface="Times New Roman" panose="02020603050405020304" charset="0"/>
              </a:rPr>
              <a:t>function f from X to Y.</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ü"/>
            </a:pPr>
            <a:r>
              <a:rPr b="0" i="1">
                <a:solidFill>
                  <a:srgbClr val="000000"/>
                </a:solidFill>
                <a:latin typeface="Times New Roman" panose="02020603050405020304" charset="0"/>
                <a:ea typeface="Verdana" panose="020B0604030504040204"/>
                <a:cs typeface="Times New Roman" panose="02020603050405020304" charset="0"/>
              </a:rPr>
              <a:t>|X| ≤ |Y|</a:t>
            </a:r>
            <a:r>
              <a:rPr b="0" i="0">
                <a:solidFill>
                  <a:srgbClr val="000000"/>
                </a:solidFill>
                <a:latin typeface="Times New Roman" panose="02020603050405020304" charset="0"/>
                <a:ea typeface="Verdana" panose="020B0604030504040204"/>
                <a:cs typeface="Times New Roman" panose="02020603050405020304" charset="0"/>
              </a:rPr>
              <a:t> denotes that set Xs cardinality is less than or equal to set Ys cardinality. It occurs when the number of elements in X is less than or equal to that of Y. Here, there exists an </a:t>
            </a:r>
            <a:r>
              <a:rPr b="1" i="0">
                <a:solidFill>
                  <a:srgbClr val="000000"/>
                </a:solidFill>
                <a:latin typeface="Times New Roman" panose="02020603050405020304" charset="0"/>
                <a:ea typeface="Verdana" panose="020B0604030504040204"/>
                <a:cs typeface="Times New Roman" panose="02020603050405020304" charset="0"/>
              </a:rPr>
              <a:t>injective</a:t>
            </a:r>
            <a:r>
              <a:rPr b="0" i="0">
                <a:solidFill>
                  <a:srgbClr val="000000"/>
                </a:solidFill>
                <a:latin typeface="Times New Roman" panose="02020603050405020304" charset="0"/>
                <a:ea typeface="Verdana" panose="020B0604030504040204"/>
                <a:cs typeface="Times New Roman" panose="02020603050405020304" charset="0"/>
              </a:rPr>
              <a:t> function f from X to Y.</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ü"/>
            </a:pPr>
            <a:r>
              <a:rPr b="0" i="1">
                <a:solidFill>
                  <a:srgbClr val="000000"/>
                </a:solidFill>
                <a:latin typeface="Times New Roman" panose="02020603050405020304" charset="0"/>
                <a:ea typeface="Verdana" panose="020B0604030504040204"/>
                <a:cs typeface="Times New Roman" panose="02020603050405020304" charset="0"/>
              </a:rPr>
              <a:t>|X| &lt; |Y|</a:t>
            </a:r>
            <a:r>
              <a:rPr b="0" i="0">
                <a:solidFill>
                  <a:srgbClr val="000000"/>
                </a:solidFill>
                <a:latin typeface="Times New Roman" panose="02020603050405020304" charset="0"/>
                <a:ea typeface="Verdana" panose="020B0604030504040204"/>
                <a:cs typeface="Times New Roman" panose="02020603050405020304" charset="0"/>
              </a:rPr>
              <a:t> denotes that set Xs cardinality is less than set Ys cardinality. It occurs when the number of elements in X is less than that of Y. Here, the function f from X to Y is injective function but not </a:t>
            </a:r>
            <a:r>
              <a:rPr b="1" i="0">
                <a:solidFill>
                  <a:srgbClr val="000000"/>
                </a:solidFill>
                <a:latin typeface="Times New Roman" panose="02020603050405020304" charset="0"/>
                <a:ea typeface="Verdana" panose="020B0604030504040204"/>
                <a:cs typeface="Times New Roman" panose="02020603050405020304" charset="0"/>
              </a:rPr>
              <a:t>bijective.</a:t>
            </a:r>
            <a:endParaRPr b="1"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ü"/>
            </a:pPr>
            <a:r>
              <a:rPr lang="en-US" altLang="en-GB" b="0" i="0">
                <a:solidFill>
                  <a:srgbClr val="000000"/>
                </a:solidFill>
                <a:latin typeface="Times New Roman" panose="02020603050405020304" charset="0"/>
                <a:ea typeface="Verdana" panose="020B0604030504040204"/>
                <a:cs typeface="Times New Roman" panose="02020603050405020304" charset="0"/>
              </a:rPr>
              <a:t>If |X| ≤ |Y| and |X| ≤ |Y| then |X| = |Y|. The sets X and Y are commonly referred as </a:t>
            </a:r>
            <a:r>
              <a:rPr lang="en-US" altLang="en-GB" b="1" i="0">
                <a:solidFill>
                  <a:srgbClr val="000000"/>
                </a:solidFill>
                <a:latin typeface="Times New Roman" panose="02020603050405020304" charset="0"/>
                <a:ea typeface="Verdana" panose="020B0604030504040204"/>
                <a:cs typeface="Times New Roman" panose="02020603050405020304" charset="0"/>
              </a:rPr>
              <a:t>equivalent sets.</a:t>
            </a:r>
            <a:endParaRPr lang="en-US" altLang="en-GB" b="1"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304800" y="666750"/>
            <a:ext cx="6835140" cy="1636395"/>
          </a:xfrm>
          <a:prstGeom prst="rect">
            <a:avLst/>
          </a:prstGeom>
        </p:spPr>
      </p:pic>
      <p:pic>
        <p:nvPicPr>
          <p:cNvPr id="3" name="Picture 2"/>
          <p:cNvPicPr>
            <a:picLocks noChangeAspect="1"/>
          </p:cNvPicPr>
          <p:nvPr/>
        </p:nvPicPr>
        <p:blipFill>
          <a:blip r:embed="rId2"/>
          <a:stretch>
            <a:fillRect/>
          </a:stretch>
        </p:blipFill>
        <p:spPr>
          <a:xfrm>
            <a:off x="379095" y="2541270"/>
            <a:ext cx="7185025" cy="2179320"/>
          </a:xfrm>
          <a:prstGeom prst="rect">
            <a:avLst/>
          </a:prstGeom>
        </p:spPr>
      </p:pic>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742950"/>
            <a:ext cx="8765540" cy="1763395"/>
          </a:xfrm>
          <a:prstGeom prst="rect">
            <a:avLst/>
          </a:prstGeom>
        </p:spPr>
        <p:txBody>
          <a:bodyPr wrap="square">
            <a:noAutofit/>
          </a:bodyPr>
          <a:p>
            <a:pPr marL="285750" indent="-285750" algn="just">
              <a:buFont typeface="Wingdings" panose="05000000000000000000" charset="0"/>
              <a:buChar char="ü"/>
            </a:pPr>
            <a:r>
              <a:rPr b="0" i="0">
                <a:solidFill>
                  <a:srgbClr val="0A0A0A"/>
                </a:solidFill>
                <a:latin typeface="Times New Roman" panose="02020603050405020304" charset="0"/>
                <a:ea typeface="Google Sans"/>
                <a:cs typeface="Times New Roman" panose="02020603050405020304" charset="0"/>
              </a:rPr>
              <a:t>In set theory, </a:t>
            </a:r>
            <a:r>
              <a:rPr>
                <a:latin typeface="Times New Roman" panose="02020603050405020304" charset="0"/>
                <a:cs typeface="Times New Roman" panose="02020603050405020304" charset="0"/>
              </a:rPr>
              <a:t>an </a:t>
            </a:r>
            <a:r>
              <a:rPr b="0">
                <a:latin typeface="Times New Roman" panose="02020603050405020304" charset="0"/>
                <a:cs typeface="Times New Roman" panose="02020603050405020304" charset="0"/>
              </a:rPr>
              <a:t>injective function</a:t>
            </a:r>
            <a:r>
              <a:rPr>
                <a:latin typeface="Times New Roman" panose="02020603050405020304" charset="0"/>
                <a:cs typeface="Times New Roman" panose="02020603050405020304" charset="0"/>
              </a:rPr>
              <a:t> (one-to-one) maps distinct inputs to distinct outputs, ensuring no output is shared by multiple inputs (at most one preimage). </a:t>
            </a:r>
            <a:endParaRPr>
              <a:latin typeface="Times New Roman" panose="02020603050405020304" charset="0"/>
              <a:cs typeface="Times New Roman" panose="02020603050405020304" charset="0"/>
            </a:endParaRPr>
          </a:p>
          <a:p>
            <a:pPr marL="285750" indent="-285750" algn="just">
              <a:buFont typeface="Wingdings" panose="05000000000000000000" charset="0"/>
              <a:buChar char="ü"/>
            </a:pPr>
            <a:endParaRPr>
              <a:latin typeface="Times New Roman" panose="02020603050405020304" charset="0"/>
              <a:cs typeface="Times New Roman" panose="02020603050405020304" charset="0"/>
            </a:endParaRPr>
          </a:p>
          <a:p>
            <a:pPr marL="285750" indent="-285750" algn="just">
              <a:buFont typeface="Wingdings" panose="05000000000000000000" charset="0"/>
              <a:buChar char="ü"/>
            </a:pPr>
            <a:r>
              <a:rPr>
                <a:latin typeface="Times New Roman" panose="02020603050405020304" charset="0"/>
                <a:cs typeface="Times New Roman" panose="02020603050405020304" charset="0"/>
              </a:rPr>
              <a:t>A </a:t>
            </a:r>
            <a:r>
              <a:rPr b="0">
                <a:latin typeface="Times New Roman" panose="02020603050405020304" charset="0"/>
                <a:cs typeface="Times New Roman" panose="02020603050405020304" charset="0"/>
              </a:rPr>
              <a:t>bijective function</a:t>
            </a:r>
            <a:r>
              <a:rPr>
                <a:latin typeface="Times New Roman" panose="02020603050405020304" charset="0"/>
                <a:cs typeface="Times New Roman" panose="02020603050405020304" charset="0"/>
              </a:rPr>
              <a:t> (one-to-one correspondence) is both </a:t>
            </a:r>
            <a:r>
              <a:rPr b="0">
                <a:latin typeface="Times New Roman" panose="02020603050405020304" charset="0"/>
                <a:cs typeface="Times New Roman" panose="02020603050405020304" charset="0"/>
              </a:rPr>
              <a:t>injective</a:t>
            </a:r>
            <a:r>
              <a:rPr>
                <a:latin typeface="Times New Roman" panose="02020603050405020304" charset="0"/>
                <a:cs typeface="Times New Roman" panose="02020603050405020304" charset="0"/>
              </a:rPr>
              <a:t> and </a:t>
            </a:r>
            <a:r>
              <a:rPr b="0">
                <a:latin typeface="Times New Roman" panose="02020603050405020304" charset="0"/>
                <a:cs typeface="Times New Roman" panose="02020603050405020304" charset="0"/>
              </a:rPr>
              <a:t>surjective</a:t>
            </a:r>
            <a:r>
              <a:rPr>
                <a:latin typeface="Times New Roman" panose="02020603050405020304" charset="0"/>
                <a:cs typeface="Times New Roman" panose="02020603050405020304" charset="0"/>
              </a:rPr>
              <a:t>, meaning every input maps uniquely to an output, and every output is hit by exactly one input, creating a perfect pairing between sets</a:t>
            </a:r>
            <a:r>
              <a:rPr b="0" i="0">
                <a:solidFill>
                  <a:srgbClr val="0A0A0A"/>
                </a:solidFill>
                <a:latin typeface="Times New Roman" panose="02020603050405020304" charset="0"/>
                <a:ea typeface="Google Sans"/>
                <a:cs typeface="Times New Roman" panose="02020603050405020304" charset="0"/>
              </a:rPr>
              <a:t>. </a:t>
            </a:r>
            <a:endParaRPr b="0" i="0">
              <a:solidFill>
                <a:srgbClr val="0A0A0A"/>
              </a:solidFill>
              <a:latin typeface="Times New Roman" panose="02020603050405020304" charset="0"/>
              <a:ea typeface="Google Sans"/>
              <a:cs typeface="Times New Roman" panose="02020603050405020304" charset="0"/>
            </a:endParaRPr>
          </a:p>
          <a:p>
            <a:pPr marL="285750" indent="-285750" algn="just">
              <a:buFont typeface="Wingdings" panose="05000000000000000000" charset="0"/>
              <a:buChar char="ü"/>
            </a:pPr>
            <a:endParaRPr b="0" i="0">
              <a:solidFill>
                <a:srgbClr val="0A0A0A"/>
              </a:solidFill>
              <a:latin typeface="Times New Roman" panose="02020603050405020304" charset="0"/>
              <a:ea typeface="Google Sans"/>
              <a:cs typeface="Times New Roman" panose="02020603050405020304" charset="0"/>
            </a:endParaRPr>
          </a:p>
          <a:p>
            <a:pPr marL="285750" indent="-285750" algn="just">
              <a:buFont typeface="Wingdings" panose="05000000000000000000" charset="0"/>
              <a:buChar char="ü"/>
            </a:pPr>
            <a:r>
              <a:rPr lang="en-US" altLang="en-GB" b="1" i="0">
                <a:solidFill>
                  <a:srgbClr val="0A0A0A"/>
                </a:solidFill>
                <a:latin typeface="Times New Roman" panose="02020603050405020304" charset="0"/>
                <a:ea typeface="Google Sans"/>
                <a:cs typeface="Times New Roman" panose="02020603050405020304" charset="0"/>
              </a:rPr>
              <a:t>Injective (One-to-One) Function</a:t>
            </a:r>
            <a:r>
              <a:rPr lang="en-US" altLang="en-US" b="1" i="0">
                <a:solidFill>
                  <a:srgbClr val="0A0A0A"/>
                </a:solidFill>
                <a:latin typeface="Times New Roman" panose="02020603050405020304" charset="0"/>
                <a:ea typeface="Google Sans"/>
                <a:cs typeface="Times New Roman" panose="02020603050405020304" charset="0"/>
              </a:rPr>
              <a:t> </a:t>
            </a:r>
            <a:r>
              <a:rPr lang="en-US" altLang="en-GB" b="1" i="0">
                <a:solidFill>
                  <a:srgbClr val="0A0A0A"/>
                </a:solidFill>
                <a:latin typeface="Times New Roman" panose="02020603050405020304" charset="0"/>
                <a:ea typeface="Google Sans"/>
                <a:cs typeface="Times New Roman" panose="02020603050405020304" charset="0"/>
              </a:rPr>
              <a:t>Definition: </a:t>
            </a:r>
            <a:endParaRPr lang="en-US" altLang="en-GB" b="1" i="0">
              <a:solidFill>
                <a:srgbClr val="0A0A0A"/>
              </a:solidFill>
              <a:latin typeface="Times New Roman" panose="02020603050405020304" charset="0"/>
              <a:ea typeface="Google Sans"/>
              <a:cs typeface="Times New Roman" panose="02020603050405020304" charset="0"/>
            </a:endParaRPr>
          </a:p>
          <a:p>
            <a:pPr marL="285750" indent="-285750" algn="just">
              <a:buFont typeface="Wingdings" panose="05000000000000000000" charset="0"/>
              <a:buChar char="ü"/>
            </a:pPr>
            <a:endParaRPr lang="en-US" altLang="en-GB" b="1" i="0">
              <a:solidFill>
                <a:srgbClr val="0A0A0A"/>
              </a:solidFill>
              <a:latin typeface="Times New Roman" panose="02020603050405020304" charset="0"/>
              <a:ea typeface="Google Sans"/>
              <a:cs typeface="Times New Roman" panose="02020603050405020304" charset="0"/>
            </a:endParaRPr>
          </a:p>
          <a:p>
            <a:pPr indent="0" algn="just">
              <a:buFont typeface="Wingdings" panose="05000000000000000000" charset="0"/>
              <a:buNone/>
            </a:pPr>
            <a:endParaRPr lang="en-US" altLang="en-GB" b="1" i="0">
              <a:solidFill>
                <a:srgbClr val="0A0A0A"/>
              </a:solidFill>
              <a:latin typeface="Times New Roman" panose="02020603050405020304" charset="0"/>
              <a:ea typeface="Google Sans"/>
              <a:cs typeface="Times New Roman" panose="02020603050405020304" charset="0"/>
            </a:endParaRPr>
          </a:p>
          <a:p>
            <a:pPr marL="285750" indent="-285750" algn="just">
              <a:buFont typeface="Wingdings" panose="05000000000000000000" charset="0"/>
              <a:buChar char="ü"/>
            </a:pPr>
            <a:endParaRPr lang="en-US" altLang="en-US" b="0" i="0">
              <a:solidFill>
                <a:srgbClr val="0A0A0A"/>
              </a:solidFill>
              <a:latin typeface="Times New Roman" panose="02020603050405020304" charset="0"/>
              <a:ea typeface="Google Sans"/>
              <a:cs typeface="Times New Roman" panose="02020603050405020304" charset="0"/>
            </a:endParaRPr>
          </a:p>
          <a:p>
            <a:pPr indent="0" algn="just">
              <a:buFont typeface="Wingdings" panose="05000000000000000000" charset="0"/>
              <a:buNone/>
            </a:pPr>
            <a:endParaRPr lang="en-US" altLang="en-US" b="0" i="0">
              <a:solidFill>
                <a:srgbClr val="0A0A0A"/>
              </a:solidFill>
              <a:latin typeface="Times New Roman" panose="02020603050405020304" charset="0"/>
              <a:ea typeface="Google Sans"/>
              <a:cs typeface="Times New Roman" panose="02020603050405020304" charset="0"/>
            </a:endParaRPr>
          </a:p>
        </p:txBody>
      </p:sp>
      <p:pic>
        <p:nvPicPr>
          <p:cNvPr id="4" name="Picture 3"/>
          <p:cNvPicPr>
            <a:picLocks noChangeAspect="1"/>
          </p:cNvPicPr>
          <p:nvPr/>
        </p:nvPicPr>
        <p:blipFill>
          <a:blip r:embed="rId1"/>
          <a:stretch>
            <a:fillRect/>
          </a:stretch>
        </p:blipFill>
        <p:spPr>
          <a:xfrm>
            <a:off x="533400" y="3333750"/>
            <a:ext cx="8385175" cy="1057910"/>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304800" y="819150"/>
            <a:ext cx="6263640" cy="838200"/>
          </a:xfrm>
          <a:prstGeom prst="rect">
            <a:avLst/>
          </a:prstGeom>
        </p:spPr>
      </p:pic>
      <p:pic>
        <p:nvPicPr>
          <p:cNvPr id="3" name="Picture 2"/>
          <p:cNvPicPr>
            <a:picLocks noChangeAspect="1"/>
          </p:cNvPicPr>
          <p:nvPr/>
        </p:nvPicPr>
        <p:blipFill>
          <a:blip r:embed="rId2"/>
          <a:stretch>
            <a:fillRect/>
          </a:stretch>
        </p:blipFill>
        <p:spPr>
          <a:xfrm>
            <a:off x="914400" y="1885950"/>
            <a:ext cx="1760220" cy="190500"/>
          </a:xfrm>
          <a:prstGeom prst="rect">
            <a:avLst/>
          </a:prstGeom>
        </p:spPr>
      </p:pic>
      <p:sp>
        <p:nvSpPr>
          <p:cNvPr id="4" name="Text Box 3"/>
          <p:cNvSpPr txBox="1"/>
          <p:nvPr/>
        </p:nvSpPr>
        <p:spPr>
          <a:xfrm>
            <a:off x="228600" y="2419350"/>
            <a:ext cx="8609965" cy="2338070"/>
          </a:xfrm>
          <a:prstGeom prst="rect">
            <a:avLst/>
          </a:prstGeom>
        </p:spPr>
        <p:txBody>
          <a:bodyPr wrap="square">
            <a:spAutoFit/>
          </a:bodyPr>
          <a:p>
            <a:pPr marL="285750" indent="-285750" algn="just">
              <a:buFont typeface="Wingdings" panose="05000000000000000000" charset="0"/>
              <a:buChar char="ü"/>
            </a:pPr>
            <a:r>
              <a:rPr b="1" i="0">
                <a:solidFill>
                  <a:srgbClr val="001D35"/>
                </a:solidFill>
                <a:latin typeface="Times New Roman" panose="02020603050405020304" charset="0"/>
                <a:ea typeface="Google Sans"/>
                <a:cs typeface="Times New Roman" panose="02020603050405020304" charset="0"/>
              </a:rPr>
              <a:t>Bijective (One-to-One Correspondence) Function</a:t>
            </a:r>
            <a:endParaRPr b="1" i="0">
              <a:solidFill>
                <a:srgbClr val="001D35"/>
              </a:solidFill>
              <a:latin typeface="Times New Roman" panose="02020603050405020304" charset="0"/>
              <a:ea typeface="Google Sans"/>
              <a:cs typeface="Times New Roman" panose="02020603050405020304" charset="0"/>
            </a:endParaRPr>
          </a:p>
          <a:p>
            <a:pPr marL="0" indent="0" algn="just"/>
            <a:endParaRPr sz="1600" i="0">
              <a:solidFill>
                <a:srgbClr val="001D35"/>
              </a:solidFill>
              <a:latin typeface="Times New Roman" panose="02020603050405020304" charset="0"/>
              <a:ea typeface="Google Sans"/>
              <a:cs typeface="Times New Roman" panose="02020603050405020304" charset="0"/>
            </a:endParaRPr>
          </a:p>
          <a:p>
            <a:pPr marL="0" indent="0" algn="just"/>
            <a:r>
              <a:rPr lang="en-US" altLang="en-GB" sz="1600" b="1" i="0">
                <a:solidFill>
                  <a:srgbClr val="001D35"/>
                </a:solidFill>
                <a:latin typeface="Times New Roman" panose="02020603050405020304" charset="0"/>
                <a:ea typeface="Google Sans"/>
                <a:cs typeface="Times New Roman" panose="02020603050405020304" charset="0"/>
              </a:rPr>
              <a:t>Definition:</a:t>
            </a:r>
            <a:r>
              <a:rPr lang="en-US" altLang="en-GB" sz="1600" i="0">
                <a:solidFill>
                  <a:srgbClr val="001D35"/>
                </a:solidFill>
                <a:latin typeface="Times New Roman" panose="02020603050405020304" charset="0"/>
                <a:ea typeface="Google Sans"/>
                <a:cs typeface="Times New Roman" panose="02020603050405020304" charset="0"/>
              </a:rPr>
              <a:t> A function is bijective if it is both injective and surjective (onto).</a:t>
            </a:r>
            <a:endParaRPr lang="en-US" altLang="en-GB" sz="1600" i="0">
              <a:solidFill>
                <a:srgbClr val="001D35"/>
              </a:solidFill>
              <a:latin typeface="Times New Roman" panose="02020603050405020304" charset="0"/>
              <a:ea typeface="Google Sans"/>
              <a:cs typeface="Times New Roman" panose="02020603050405020304" charset="0"/>
            </a:endParaRPr>
          </a:p>
          <a:p>
            <a:pPr marL="0" indent="0" algn="just"/>
            <a:endParaRPr lang="en-US" altLang="en-GB" sz="1600" i="0">
              <a:solidFill>
                <a:srgbClr val="001D35"/>
              </a:solidFill>
              <a:latin typeface="Times New Roman" panose="02020603050405020304" charset="0"/>
              <a:ea typeface="Google Sans"/>
              <a:cs typeface="Times New Roman" panose="02020603050405020304" charset="0"/>
            </a:endParaRPr>
          </a:p>
          <a:p>
            <a:pPr marL="0" indent="0" algn="just"/>
            <a:r>
              <a:rPr lang="en-US" altLang="en-GB" sz="1600" b="1" i="0">
                <a:solidFill>
                  <a:srgbClr val="001D35"/>
                </a:solidFill>
                <a:latin typeface="Times New Roman" panose="02020603050405020304" charset="0"/>
                <a:ea typeface="Google Sans"/>
                <a:cs typeface="Times New Roman" panose="02020603050405020304" charset="0"/>
              </a:rPr>
              <a:t>Surjective (Onto) Property:</a:t>
            </a:r>
            <a:r>
              <a:rPr lang="en-US" altLang="en-GB" sz="1600" i="0">
                <a:solidFill>
                  <a:srgbClr val="001D35"/>
                </a:solidFill>
                <a:latin typeface="Times New Roman" panose="02020603050405020304" charset="0"/>
                <a:ea typeface="Google Sans"/>
                <a:cs typeface="Times New Roman" panose="02020603050405020304" charset="0"/>
              </a:rPr>
              <a:t> Every element in the codomain (\(B\)) has at least one corresponding element in the domain (\(A\)).</a:t>
            </a:r>
            <a:endParaRPr lang="en-US" altLang="en-GB" sz="1600" i="0">
              <a:solidFill>
                <a:srgbClr val="001D35"/>
              </a:solidFill>
              <a:latin typeface="Times New Roman" panose="02020603050405020304" charset="0"/>
              <a:ea typeface="Google Sans"/>
              <a:cs typeface="Times New Roman" panose="02020603050405020304" charset="0"/>
            </a:endParaRPr>
          </a:p>
          <a:p>
            <a:pPr marL="0" indent="0" algn="just"/>
            <a:endParaRPr lang="en-US" altLang="en-GB" sz="1600" i="0">
              <a:solidFill>
                <a:srgbClr val="001D35"/>
              </a:solidFill>
              <a:latin typeface="Times New Roman" panose="02020603050405020304" charset="0"/>
              <a:ea typeface="Google Sans"/>
              <a:cs typeface="Times New Roman" panose="02020603050405020304" charset="0"/>
            </a:endParaRPr>
          </a:p>
          <a:p>
            <a:pPr marL="0" indent="0" algn="just"/>
            <a:r>
              <a:rPr lang="en-US" altLang="en-GB" sz="1600" b="1" i="0">
                <a:solidFill>
                  <a:srgbClr val="001D35"/>
                </a:solidFill>
                <a:latin typeface="Times New Roman" panose="02020603050405020304" charset="0"/>
                <a:ea typeface="Google Sans"/>
                <a:cs typeface="Times New Roman" panose="02020603050405020304" charset="0"/>
              </a:rPr>
              <a:t>Bijective Meaning: </a:t>
            </a:r>
            <a:r>
              <a:rPr lang="en-US" altLang="en-GB" sz="1600" i="0">
                <a:solidFill>
                  <a:srgbClr val="001D35"/>
                </a:solidFill>
                <a:latin typeface="Times New Roman" panose="02020603050405020304" charset="0"/>
                <a:ea typeface="Google Sans"/>
                <a:cs typeface="Times New Roman" panose="02020603050405020304" charset="0"/>
              </a:rPr>
              <a:t>Every element in the domain maps to exactly one unique element in the codomain, and vice versa, creating a perfect pairing.</a:t>
            </a:r>
            <a:endParaRPr lang="en-US" altLang="en-GB" sz="1600" i="0">
              <a:solidFill>
                <a:srgbClr val="001D35"/>
              </a:solidFill>
              <a:latin typeface="Times New Roman" panose="02020603050405020304" charset="0"/>
              <a:ea typeface="Google Sans"/>
              <a:cs typeface="Times New Roman" panose="02020603050405020304" charset="0"/>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639175" cy="1691005"/>
          </a:xfrm>
          <a:prstGeom prst="rect">
            <a:avLst/>
          </a:prstGeom>
        </p:spPr>
        <p:txBody>
          <a:bodyPr>
            <a:noAutofit/>
          </a:bodyPr>
          <a:p>
            <a:pPr algn="just"/>
            <a:r>
              <a:rPr b="1">
                <a:latin typeface="Times New Roman" panose="02020603050405020304" charset="0"/>
                <a:cs typeface="Times New Roman" panose="02020603050405020304" charset="0"/>
              </a:rPr>
              <a:t>Key Implication: </a:t>
            </a:r>
            <a:r>
              <a:rPr>
                <a:latin typeface="Times New Roman" panose="02020603050405020304" charset="0"/>
                <a:cs typeface="Times New Roman" panose="02020603050405020304" charset="0"/>
              </a:rPr>
              <a:t>For a bijection, the number of elements in the domain and codomain must be equal (sets are the same size).</a:t>
            </a:r>
            <a:endParaRPr>
              <a:latin typeface="Times New Roman" panose="02020603050405020304" charset="0"/>
              <a:cs typeface="Times New Roman" panose="02020603050405020304" charset="0"/>
            </a:endParaRPr>
          </a:p>
          <a:p>
            <a:pPr algn="just"/>
            <a:endParaRPr>
              <a:latin typeface="Times New Roman" panose="02020603050405020304" charset="0"/>
              <a:cs typeface="Times New Roman" panose="02020603050405020304" charset="0"/>
            </a:endParaRPr>
          </a:p>
          <a:p>
            <a:pPr algn="just"/>
            <a:endParaRPr>
              <a:latin typeface="Times New Roman" panose="02020603050405020304" charset="0"/>
              <a:cs typeface="Times New Roman" panose="02020603050405020304" charset="0"/>
            </a:endParaRPr>
          </a:p>
        </p:txBody>
      </p:sp>
      <p:pic>
        <p:nvPicPr>
          <p:cNvPr id="3" name="Picture 2"/>
          <p:cNvPicPr/>
          <p:nvPr/>
        </p:nvPicPr>
        <p:blipFill>
          <a:blip r:embed="rId1"/>
          <a:stretch>
            <a:fillRect/>
          </a:stretch>
        </p:blipFill>
        <p:spPr>
          <a:xfrm>
            <a:off x="228600" y="2141220"/>
            <a:ext cx="76200" cy="76200"/>
          </a:xfrm>
          <a:prstGeom prst="rect">
            <a:avLst/>
          </a:prstGeom>
        </p:spPr>
      </p:pic>
      <p:pic>
        <p:nvPicPr>
          <p:cNvPr id="6" name="Picture 5"/>
          <p:cNvPicPr>
            <a:picLocks noChangeAspect="1"/>
          </p:cNvPicPr>
          <p:nvPr/>
        </p:nvPicPr>
        <p:blipFill>
          <a:blip r:embed="rId2"/>
          <a:stretch>
            <a:fillRect/>
          </a:stretch>
        </p:blipFill>
        <p:spPr>
          <a:xfrm>
            <a:off x="228600" y="1722120"/>
            <a:ext cx="8705850" cy="495300"/>
          </a:xfrm>
          <a:prstGeom prst="rect">
            <a:avLst/>
          </a:prstGeom>
        </p:spPr>
      </p:pic>
      <p:sp>
        <p:nvSpPr>
          <p:cNvPr id="7" name="Text Box 6"/>
          <p:cNvSpPr txBox="1"/>
          <p:nvPr/>
        </p:nvSpPr>
        <p:spPr>
          <a:xfrm>
            <a:off x="457200" y="2387283"/>
            <a:ext cx="5080000" cy="368300"/>
          </a:xfrm>
          <a:prstGeom prst="rect">
            <a:avLst/>
          </a:prstGeom>
        </p:spPr>
        <p:txBody>
          <a:bodyPr>
            <a:spAutoFit/>
          </a:bodyPr>
          <a:p>
            <a:pPr marL="0" indent="0"/>
            <a:r>
              <a:rPr b="0" i="0">
                <a:solidFill>
                  <a:srgbClr val="0A0A0A"/>
                </a:solidFill>
                <a:latin typeface="Times New Roman" panose="02020603050405020304" charset="0"/>
                <a:ea typeface="Google Sans"/>
                <a:cs typeface="Times New Roman" panose="02020603050405020304" charset="0"/>
              </a:rPr>
              <a:t>real numbers.</a:t>
            </a:r>
            <a:endParaRPr b="0" i="0">
              <a:solidFill>
                <a:srgbClr val="0A0A0A"/>
              </a:solidFill>
              <a:latin typeface="Times New Roman" panose="02020603050405020304" charset="0"/>
              <a:ea typeface="Google Sans"/>
              <a:cs typeface="Times New Roman" panose="02020603050405020304" charset="0"/>
            </a:endParaRPr>
          </a:p>
        </p:txBody>
      </p:sp>
      <p:pic>
        <p:nvPicPr>
          <p:cNvPr id="8" name="Picture 7"/>
          <p:cNvPicPr>
            <a:picLocks noChangeAspect="1"/>
          </p:cNvPicPr>
          <p:nvPr/>
        </p:nvPicPr>
        <p:blipFill>
          <a:blip r:embed="rId3"/>
          <a:stretch>
            <a:fillRect/>
          </a:stretch>
        </p:blipFill>
        <p:spPr>
          <a:xfrm>
            <a:off x="381000" y="3581400"/>
            <a:ext cx="7853680" cy="986790"/>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4" name="Text Box 3"/>
          <p:cNvSpPr txBox="1"/>
          <p:nvPr/>
        </p:nvSpPr>
        <p:spPr>
          <a:xfrm>
            <a:off x="304800" y="819150"/>
            <a:ext cx="8593455" cy="321945"/>
          </a:xfrm>
          <a:prstGeom prst="rect">
            <a:avLst/>
          </a:prstGeom>
        </p:spPr>
        <p:txBody>
          <a:bodyPr wrap="square">
            <a:spAutoFit/>
          </a:bodyPr>
          <a:p>
            <a:pPr marL="0" indent="0" algn="ctr">
              <a:lnSpc>
                <a:spcPts val="1800"/>
              </a:lnSpc>
              <a:spcAft>
                <a:spcPct val="60000"/>
              </a:spcAft>
            </a:pPr>
            <a:r>
              <a:rPr sz="2400" b="0" i="0">
                <a:solidFill>
                  <a:srgbClr val="000000"/>
                </a:solidFill>
                <a:latin typeface="Times New Roman" panose="02020603050405020304" charset="0"/>
                <a:ea typeface="Lato"/>
                <a:cs typeface="Times New Roman" panose="02020603050405020304" charset="0"/>
              </a:rPr>
              <a:t>Types of Sets</a:t>
            </a:r>
            <a:endParaRPr sz="2400" b="0" i="0">
              <a:solidFill>
                <a:srgbClr val="000000"/>
              </a:solidFill>
              <a:latin typeface="Times New Roman" panose="02020603050405020304" charset="0"/>
              <a:ea typeface="Lato"/>
              <a:cs typeface="Times New Roman" panose="02020603050405020304" charset="0"/>
            </a:endParaRPr>
          </a:p>
        </p:txBody>
      </p:sp>
      <p:sp>
        <p:nvSpPr>
          <p:cNvPr id="5" name="Text Box 4"/>
          <p:cNvSpPr txBox="1"/>
          <p:nvPr/>
        </p:nvSpPr>
        <p:spPr>
          <a:xfrm>
            <a:off x="304800" y="1276350"/>
            <a:ext cx="8686165" cy="2061210"/>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Sets can be classified into many types; some of which are finite, infinite, subset, universal, proper, singleton set, etc.</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Ø"/>
            </a:pPr>
            <a:r>
              <a:rPr lang="en-US" altLang="en-GB" sz="1600" b="1" i="0">
                <a:solidFill>
                  <a:srgbClr val="000000"/>
                </a:solidFill>
                <a:latin typeface="Times New Roman" panose="02020603050405020304" charset="0"/>
                <a:ea typeface="Verdana" panose="020B0604030504040204"/>
                <a:cs typeface="Times New Roman" panose="02020603050405020304" charset="0"/>
              </a:rPr>
              <a:t>Finite Set</a:t>
            </a: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0" i="0">
                <a:solidFill>
                  <a:srgbClr val="000000"/>
                </a:solidFill>
                <a:latin typeface="Times New Roman" panose="02020603050405020304" charset="0"/>
                <a:ea typeface="Verdana" panose="020B0604030504040204"/>
                <a:cs typeface="Times New Roman" panose="02020603050405020304" charset="0"/>
              </a:rPr>
              <a:t>A set which contains a definite number of elements is called a finite set.</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9" name="Picture 8"/>
          <p:cNvPicPr>
            <a:picLocks noChangeAspect="1"/>
          </p:cNvPicPr>
          <p:nvPr/>
        </p:nvPicPr>
        <p:blipFill>
          <a:blip r:embed="rId2"/>
          <a:stretch>
            <a:fillRect/>
          </a:stretch>
        </p:blipFill>
        <p:spPr>
          <a:xfrm>
            <a:off x="381000" y="2952750"/>
            <a:ext cx="3375660" cy="320040"/>
          </a:xfrm>
          <a:prstGeom prst="rect">
            <a:avLst/>
          </a:prstGeom>
        </p:spPr>
      </p:pic>
      <p:sp>
        <p:nvSpPr>
          <p:cNvPr id="10" name="Text Box 9"/>
          <p:cNvSpPr txBox="1"/>
          <p:nvPr/>
        </p:nvSpPr>
        <p:spPr>
          <a:xfrm>
            <a:off x="304800" y="34864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Infinite Set</a:t>
            </a:r>
            <a:endParaRPr sz="1600" b="1" i="0">
              <a:latin typeface="Times New Roman" panose="02020603050405020304" charset="0"/>
              <a:ea typeface="Verdana" panose="020B0604030504040204"/>
              <a:cs typeface="Times New Roman" panose="02020603050405020304" charset="0"/>
            </a:endParaRPr>
          </a:p>
        </p:txBody>
      </p:sp>
      <p:sp>
        <p:nvSpPr>
          <p:cNvPr id="11" name="Text Box 10"/>
          <p:cNvSpPr txBox="1"/>
          <p:nvPr/>
        </p:nvSpPr>
        <p:spPr>
          <a:xfrm>
            <a:off x="304800" y="3916680"/>
            <a:ext cx="8322310" cy="337185"/>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A set which contains infinite number of elements is called an infinite set.</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12" name="Picture 11"/>
          <p:cNvPicPr>
            <a:picLocks noChangeAspect="1"/>
          </p:cNvPicPr>
          <p:nvPr/>
        </p:nvPicPr>
        <p:blipFill>
          <a:blip r:embed="rId3"/>
          <a:stretch>
            <a:fillRect/>
          </a:stretch>
        </p:blipFill>
        <p:spPr>
          <a:xfrm>
            <a:off x="381000" y="4476750"/>
            <a:ext cx="3139440" cy="32004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2860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480502"/>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Subset</a:t>
            </a:r>
            <a:endParaRPr sz="1600" b="1" i="0">
              <a:latin typeface="Times New Roman" panose="02020603050405020304" charset="0"/>
              <a:ea typeface="Verdana" panose="020B0604030504040204"/>
              <a:cs typeface="Times New Roman" panose="02020603050405020304" charset="0"/>
            </a:endParaRPr>
          </a:p>
        </p:txBody>
      </p:sp>
      <p:sp>
        <p:nvSpPr>
          <p:cNvPr id="5" name="Text Box 4"/>
          <p:cNvSpPr txBox="1"/>
          <p:nvPr/>
        </p:nvSpPr>
        <p:spPr>
          <a:xfrm>
            <a:off x="228600" y="1962150"/>
            <a:ext cx="8705215" cy="1814830"/>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A set X is a subset of set Y (Written as X ⊆ Y) if every element of X is an element of set Y.</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1" i="0">
                <a:solidFill>
                  <a:srgbClr val="000000"/>
                </a:solidFill>
                <a:latin typeface="Times New Roman" panose="02020603050405020304" charset="0"/>
                <a:ea typeface="Verdana" panose="020B0604030504040204"/>
                <a:cs typeface="Times New Roman" panose="02020603050405020304" charset="0"/>
              </a:rPr>
              <a:t>Example 1 </a:t>
            </a:r>
            <a:r>
              <a:rPr lang="en-US" altLang="en-GB" sz="1600" b="0" i="0">
                <a:solidFill>
                  <a:srgbClr val="000000"/>
                </a:solidFill>
                <a:latin typeface="Times New Roman" panose="02020603050405020304" charset="0"/>
                <a:ea typeface="Verdana" panose="020B0604030504040204"/>
                <a:cs typeface="Times New Roman" panose="02020603050405020304" charset="0"/>
              </a:rPr>
              <a:t>− Let, X = {1,2,3,4,5,6} and Y = {1,2}. Here set Y is a subset of set X as all the elements of set Y is in set X. Hence, we can write Y⊆X.</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sz="1600" b="1" i="0">
                <a:solidFill>
                  <a:srgbClr val="000000"/>
                </a:solidFill>
                <a:latin typeface="Times New Roman" panose="02020603050405020304" charset="0"/>
                <a:ea typeface="Verdana" panose="020B0604030504040204"/>
                <a:cs typeface="Times New Roman" panose="02020603050405020304" charset="0"/>
              </a:rPr>
              <a:t>Example 2 </a:t>
            </a:r>
            <a:r>
              <a:rPr lang="en-US" altLang="en-GB" sz="1600" b="0" i="0">
                <a:solidFill>
                  <a:srgbClr val="000000"/>
                </a:solidFill>
                <a:latin typeface="Times New Roman" panose="02020603050405020304" charset="0"/>
                <a:ea typeface="Verdana" panose="020B0604030504040204"/>
                <a:cs typeface="Times New Roman" panose="02020603050405020304" charset="0"/>
              </a:rPr>
              <a:t>− Let, X = {1,2,3} and Y = {1,2,3}. Here set Y is a subset (not a proper subset) of set X as all the elements of set Y is in set X. Hence, we can write Y⊆X.</a:t>
            </a:r>
            <a:endParaRPr lang="en-US" altLang="en-GB"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3622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304800" y="13528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Proper Subset</a:t>
            </a:r>
            <a:endParaRPr sz="1600" b="1" i="0">
              <a:latin typeface="Times New Roman" panose="02020603050405020304" charset="0"/>
              <a:ea typeface="Verdana" panose="020B0604030504040204"/>
              <a:cs typeface="Times New Roman" panose="02020603050405020304" charset="0"/>
            </a:endParaRPr>
          </a:p>
        </p:txBody>
      </p:sp>
      <p:sp>
        <p:nvSpPr>
          <p:cNvPr id="5" name="Text Box 4"/>
          <p:cNvSpPr txBox="1"/>
          <p:nvPr/>
        </p:nvSpPr>
        <p:spPr>
          <a:xfrm>
            <a:off x="228600" y="1885950"/>
            <a:ext cx="8712835" cy="2799715"/>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The term proper subset can be defined as subset of but not equal to. A Set X is a proper subset of set Y (Written as X ⊂ Y) if every element of X is an element of set Y and |X| &lt; |Y|.</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r>
              <a:rPr sz="1600" b="0" i="0">
                <a:solidFill>
                  <a:srgbClr val="000000"/>
                </a:solidFill>
                <a:latin typeface="Times New Roman" panose="02020603050405020304" charset="0"/>
                <a:ea typeface="Verdana" panose="020B0604030504040204"/>
                <a:cs typeface="Times New Roman" panose="02020603050405020304" charset="0"/>
              </a:rPr>
              <a:t> − Let, X = {1,2,3,4,5,6} and Y = {1,2}. Here set Y ⊂ X, since all elements in Y are contained in X too and X has at least one element which is more than set Y.</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spcBef>
                <a:spcPct val="0"/>
              </a:spcBef>
              <a:spcAft>
                <a:spcPct val="0"/>
              </a:spcAft>
              <a:buFont typeface="Wingdings" panose="05000000000000000000" charset="0"/>
              <a:buChar char="Ø"/>
            </a:pPr>
            <a:r>
              <a:rPr lang="en-US" altLang="en-GB" sz="1600" b="1" i="0">
                <a:solidFill>
                  <a:srgbClr val="000000"/>
                </a:solidFill>
                <a:latin typeface="Times New Roman" panose="02020603050405020304" charset="0"/>
                <a:ea typeface="Verdana" panose="020B0604030504040204"/>
                <a:cs typeface="Times New Roman" panose="02020603050405020304" charset="0"/>
              </a:rPr>
              <a:t>Universal Set</a:t>
            </a: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indent="0" algn="just">
              <a:spcBef>
                <a:spcPct val="0"/>
              </a:spcBef>
              <a:spcAft>
                <a:spcPct val="0"/>
              </a:spcAft>
              <a:buFont typeface="Wingdings" panose="05000000000000000000" charset="0"/>
              <a:buNone/>
            </a:pP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indent="0" algn="just">
              <a:spcBef>
                <a:spcPct val="0"/>
              </a:spcBef>
              <a:spcAft>
                <a:spcPct val="0"/>
              </a:spcAft>
              <a:buFont typeface="Wingdings" panose="05000000000000000000" charset="0"/>
              <a:buNone/>
            </a:pPr>
            <a:r>
              <a:rPr lang="en-US" altLang="en-GB" sz="1600" i="0">
                <a:solidFill>
                  <a:srgbClr val="000000"/>
                </a:solidFill>
                <a:latin typeface="Times New Roman" panose="02020603050405020304" charset="0"/>
                <a:ea typeface="Verdana" panose="020B0604030504040204"/>
                <a:cs typeface="Times New Roman" panose="02020603050405020304" charset="0"/>
              </a:rPr>
              <a:t>It is a collection of all elements in a particular context or application. All the sets in that context or application are essentially subsets of this universal set. Universal sets are represented as U.</a:t>
            </a:r>
            <a:endParaRPr lang="en-US" altLang="en-GB" sz="160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428750"/>
            <a:ext cx="8696960" cy="2799715"/>
          </a:xfrm>
          <a:prstGeom prst="rect">
            <a:avLst/>
          </a:prstGeom>
        </p:spPr>
        <p:txBody>
          <a:bodyPr wrap="square">
            <a:spAutoFit/>
          </a:bodyPr>
          <a:p>
            <a:pPr marL="0" indent="0" algn="just">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pP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lgn="just"/>
            <a:r>
              <a:rPr sz="1600" b="0" i="0">
                <a:solidFill>
                  <a:srgbClr val="000000"/>
                </a:solidFill>
                <a:latin typeface="Times New Roman" panose="02020603050405020304" charset="0"/>
                <a:ea typeface="Verdana" panose="020B0604030504040204"/>
                <a:cs typeface="Times New Roman" panose="02020603050405020304" charset="0"/>
              </a:rPr>
              <a:t> − We may define U as the set of all animals on earth. In this case, a set of all mammals is a subset of U, a set of all fishes is a subset of U, a set of all insects is a subset of U, and so on.</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sz="1600"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Ø"/>
            </a:pPr>
            <a:r>
              <a:rPr lang="en-US" altLang="en-GB" sz="1600" b="1" i="0">
                <a:solidFill>
                  <a:srgbClr val="000000"/>
                </a:solidFill>
                <a:latin typeface="Times New Roman" panose="02020603050405020304" charset="0"/>
                <a:ea typeface="Verdana" panose="020B0604030504040204"/>
                <a:cs typeface="Times New Roman" panose="02020603050405020304" charset="0"/>
              </a:rPr>
              <a:t>Empty Set or Null Set</a:t>
            </a: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Ø"/>
            </a:pPr>
            <a:endParaRPr lang="en-US" altLang="en-GB" sz="1600" b="1" i="0">
              <a:solidFill>
                <a:srgbClr val="000000"/>
              </a:solidFill>
              <a:latin typeface="Times New Roman" panose="02020603050405020304" charset="0"/>
              <a:ea typeface="Verdana" panose="020B0604030504040204"/>
              <a:cs typeface="Times New Roman" panose="02020603050405020304" charset="0"/>
            </a:endParaRPr>
          </a:p>
          <a:p>
            <a:pPr indent="0" algn="just">
              <a:buFont typeface="Wingdings" panose="05000000000000000000" charset="0"/>
              <a:buNone/>
            </a:pPr>
            <a:r>
              <a:rPr lang="en-US" altLang="en-GB" sz="1600" i="0">
                <a:solidFill>
                  <a:srgbClr val="000000"/>
                </a:solidFill>
                <a:latin typeface="Times New Roman" panose="02020603050405020304" charset="0"/>
                <a:ea typeface="Verdana" panose="020B0604030504040204"/>
                <a:cs typeface="Times New Roman" panose="02020603050405020304" charset="0"/>
              </a:rPr>
              <a:t>An empty set contains no elements. It is denoted by Φ. As the number of elements in an empty set is finite, empty set is a finite set. The cardinality of empty set or null set is zero.</a:t>
            </a:r>
            <a:endParaRPr lang="en-US" altLang="en-GB" sz="1600" i="0">
              <a:solidFill>
                <a:srgbClr val="000000"/>
              </a:solidFill>
              <a:latin typeface="Times New Roman" panose="02020603050405020304" charset="0"/>
              <a:ea typeface="Verdana" panose="020B0604030504040204"/>
              <a:cs typeface="Times New Roman" panose="02020603050405020304" charset="0"/>
            </a:endParaRPr>
          </a:p>
          <a:p>
            <a:pPr indent="0" algn="just">
              <a:buFont typeface="Wingdings" panose="05000000000000000000" charset="0"/>
              <a:buNone/>
            </a:pPr>
            <a:endParaRPr lang="en-US" altLang="en-GB" sz="1600" i="0">
              <a:solidFill>
                <a:srgbClr val="000000"/>
              </a:solidFill>
              <a:latin typeface="Times New Roman" panose="02020603050405020304" charset="0"/>
              <a:ea typeface="Verdana" panose="020B0604030504040204"/>
              <a:cs typeface="Times New Roman" panose="02020603050405020304" charset="0"/>
            </a:endParaRPr>
          </a:p>
          <a:p>
            <a:pPr indent="0" algn="just">
              <a:buFont typeface="Wingdings" panose="05000000000000000000" charset="0"/>
              <a:buNone/>
            </a:pPr>
            <a:endParaRPr lang="en-US" altLang="en-GB" sz="1600" i="0">
              <a:solidFill>
                <a:srgbClr val="000000"/>
              </a:solidFill>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381000" y="3790950"/>
            <a:ext cx="3482340" cy="26670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2098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428750"/>
            <a:ext cx="8756650" cy="110934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Singleton Set or Unit Set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A Singleton set or Unit set contains only one element. A singleton set is denoted by {s}.</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457200" y="2266950"/>
            <a:ext cx="3543300" cy="320040"/>
          </a:xfrm>
          <a:prstGeom prst="rect">
            <a:avLst/>
          </a:prstGeom>
        </p:spPr>
      </p:pic>
      <p:sp>
        <p:nvSpPr>
          <p:cNvPr id="6" name="Text Box 5"/>
          <p:cNvSpPr txBox="1"/>
          <p:nvPr/>
        </p:nvSpPr>
        <p:spPr>
          <a:xfrm>
            <a:off x="228600" y="2876550"/>
            <a:ext cx="8756015" cy="134048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Equal Set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If two sets contain the same elements, they are said to be equal.</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Example − If A = {1,2,6} and B = {6,1,2}, they are equal as every element of set A is an element of set B and every element of set B is an element of set A.</a:t>
            </a:r>
            <a:endParaRPr lang="en-US" altLang="en-GB" sz="1600" i="0">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2098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428750"/>
            <a:ext cx="8789035" cy="330898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Equivalent Set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If the cardinalities of two sets are same, they are called equivalent sets.</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Example − If A = {1,2,6} and B = {16,17,22}, they are equivalent as cardinality of A is equal to the cardinality of B. i.e. |A| = |B| = 3</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a:p>
            <a:pPr marL="285750" indent="-285750" algn="l">
              <a:lnSpc>
                <a:spcPts val="1800"/>
              </a:lnSpc>
              <a:spcAft>
                <a:spcPct val="60000"/>
              </a:spcAft>
              <a:buFont typeface="Wingdings" panose="05000000000000000000" charset="0"/>
              <a:buChar char="Ø"/>
            </a:pPr>
            <a:r>
              <a:rPr lang="en-US" altLang="en-GB" sz="1600" b="1" i="0">
                <a:latin typeface="Times New Roman" panose="02020603050405020304" charset="0"/>
                <a:ea typeface="Verdana" panose="020B0604030504040204"/>
                <a:cs typeface="Times New Roman" panose="02020603050405020304" charset="0"/>
              </a:rPr>
              <a:t>Overlapping Set</a:t>
            </a:r>
            <a:endParaRPr lang="en-US" altLang="en-GB"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Two sets that have at least one common element are called overlapping sets. In case of overlapping sets −</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b="1" i="0">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18288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pic>
        <p:nvPicPr>
          <p:cNvPr id="4" name="Picture 3"/>
          <p:cNvPicPr>
            <a:picLocks noChangeAspect="1"/>
          </p:cNvPicPr>
          <p:nvPr/>
        </p:nvPicPr>
        <p:blipFill>
          <a:blip r:embed="rId2"/>
          <a:stretch>
            <a:fillRect/>
          </a:stretch>
        </p:blipFill>
        <p:spPr>
          <a:xfrm>
            <a:off x="152400" y="1394460"/>
            <a:ext cx="5141595" cy="1316355"/>
          </a:xfrm>
          <a:prstGeom prst="rect">
            <a:avLst/>
          </a:prstGeom>
        </p:spPr>
      </p:pic>
      <p:sp>
        <p:nvSpPr>
          <p:cNvPr id="5" name="Text Box 4"/>
          <p:cNvSpPr txBox="1"/>
          <p:nvPr/>
        </p:nvSpPr>
        <p:spPr>
          <a:xfrm>
            <a:off x="213995" y="3257550"/>
            <a:ext cx="8696960" cy="1076325"/>
          </a:xfrm>
          <a:prstGeom prst="rect">
            <a:avLst/>
          </a:prstGeom>
        </p:spPr>
        <p:txBody>
          <a:bodyPr wrap="square">
            <a:spAutoFit/>
          </a:bodyPr>
          <a:p>
            <a:pPr marL="0" indent="0">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spcBef>
                <a:spcPct val="0"/>
              </a:spcBef>
              <a:spcAft>
                <a:spcPct val="0"/>
              </a:spcAft>
            </a:pP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r>
              <a:rPr sz="1600" b="0" i="0">
                <a:solidFill>
                  <a:srgbClr val="000000"/>
                </a:solidFill>
                <a:latin typeface="Times New Roman" panose="02020603050405020304" charset="0"/>
                <a:ea typeface="Verdana" panose="020B0604030504040204"/>
                <a:cs typeface="Times New Roman" panose="02020603050405020304" charset="0"/>
              </a:rPr>
              <a:t> − </a:t>
            </a: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Let, A = {1,2,6} and B = {6,12,42}. There is a common element 6, hence these sets are overlapping sets.</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21945"/>
          </a:xfrm>
          <a:prstGeom prst="rect">
            <a:avLst/>
          </a:prstGeom>
          <a:noFill/>
        </p:spPr>
        <p:txBody>
          <a:bodyPr wrap="square" rtlCol="0" anchor="t">
            <a:spAutoFit/>
          </a:bodyPr>
          <a:p>
            <a:pPr marL="0" indent="0" algn="ctr">
              <a:lnSpc>
                <a:spcPts val="1800"/>
              </a:lnSpc>
              <a:spcAft>
                <a:spcPct val="60000"/>
              </a:spcAft>
            </a:pPr>
            <a:r>
              <a:rPr sz="2400">
                <a:solidFill>
                  <a:srgbClr val="000000"/>
                </a:solidFill>
                <a:latin typeface="Times New Roman" panose="02020603050405020304" charset="0"/>
                <a:ea typeface="Lato"/>
                <a:cs typeface="Times New Roman" panose="02020603050405020304" charset="0"/>
                <a:sym typeface="+mn-ea"/>
              </a:rPr>
              <a:t>Types of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381000" y="1352550"/>
            <a:ext cx="8554720" cy="134048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Disjoint Set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Two sets A and B are called disjoint sets if they do not have even one element in common. Therefore, disjoint sets have the following properties −</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2971800" y="2266950"/>
            <a:ext cx="2865120" cy="838200"/>
          </a:xfrm>
          <a:prstGeom prst="rect">
            <a:avLst/>
          </a:prstGeom>
        </p:spPr>
      </p:pic>
      <p:sp>
        <p:nvSpPr>
          <p:cNvPr id="6" name="Text Box 5"/>
          <p:cNvSpPr txBox="1"/>
          <p:nvPr/>
        </p:nvSpPr>
        <p:spPr>
          <a:xfrm>
            <a:off x="228600" y="3257550"/>
            <a:ext cx="8707120" cy="1076325"/>
          </a:xfrm>
          <a:prstGeom prst="rect">
            <a:avLst/>
          </a:prstGeom>
        </p:spPr>
        <p:txBody>
          <a:bodyPr wrap="square">
            <a:spAutoFit/>
          </a:bodyPr>
          <a:p>
            <a:pPr marL="0" indent="0">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spcBef>
                <a:spcPct val="0"/>
              </a:spcBef>
              <a:spcAft>
                <a:spcPct val="0"/>
              </a:spcAft>
            </a:pP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lgn="just"/>
            <a:r>
              <a:rPr sz="1600" b="0" i="0">
                <a:solidFill>
                  <a:srgbClr val="000000"/>
                </a:solidFill>
                <a:latin typeface="Times New Roman" panose="02020603050405020304" charset="0"/>
                <a:ea typeface="Verdana" panose="020B0604030504040204"/>
                <a:cs typeface="Times New Roman" panose="02020603050405020304" charset="0"/>
              </a:rPr>
              <a:t> − Let, A = {1,2,6} and B = {7,9,14}, there is not a single common element, hence these sets are overlapping sets.</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21945"/>
          </a:xfrm>
          <a:prstGeom prst="rect">
            <a:avLst/>
          </a:prstGeom>
          <a:noFill/>
        </p:spPr>
        <p:txBody>
          <a:bodyPr wrap="square" rtlCol="0" anchor="t">
            <a:sp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US" altLang="en-GB" sz="2400">
              <a:solidFill>
                <a:srgbClr val="000000"/>
              </a:solidFill>
              <a:latin typeface="Times New Roman" panose="02020603050405020304" charset="0"/>
              <a:ea typeface="Lato"/>
              <a:cs typeface="Times New Roman" panose="02020603050405020304" charset="0"/>
              <a:sym typeface="+mn-ea"/>
            </a:endParaRPr>
          </a:p>
        </p:txBody>
      </p:sp>
      <p:sp>
        <p:nvSpPr>
          <p:cNvPr id="7" name="Text Box 6"/>
          <p:cNvSpPr txBox="1"/>
          <p:nvPr/>
        </p:nvSpPr>
        <p:spPr>
          <a:xfrm>
            <a:off x="228600" y="1428750"/>
            <a:ext cx="8689340" cy="583565"/>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Set Operations include Set Union, Set Intersection, Set Difference, Complement of Set, and Cartesian Product.</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
        <p:nvSpPr>
          <p:cNvPr id="8" name="Text Box 7"/>
          <p:cNvSpPr txBox="1"/>
          <p:nvPr/>
        </p:nvSpPr>
        <p:spPr>
          <a:xfrm>
            <a:off x="304800" y="2266950"/>
            <a:ext cx="8613775" cy="1967230"/>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Union</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The union of sets A and B (denoted by A ∪ BA ∪ B) is the set of elements which are in A, in B, or in both A and B. Hence, A ∪ B = {x|x ∈ A OR x ∈ B}.</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Example − If A = {10,11,12,13} and B = {13,14,15}, then A ∪ B = {10,11,12,13,14,15} The common element occurs only once.</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p:txBody>
      </p:sp>
      <p:pic>
        <p:nvPicPr>
          <p:cNvPr id="9" name="Picture 8"/>
          <p:cNvPicPr>
            <a:picLocks noChangeAspect="1"/>
          </p:cNvPicPr>
          <p:nvPr/>
        </p:nvPicPr>
        <p:blipFill>
          <a:blip r:embed="rId2"/>
          <a:stretch>
            <a:fillRect/>
          </a:stretch>
        </p:blipFill>
        <p:spPr>
          <a:xfrm>
            <a:off x="3886200" y="3867785"/>
            <a:ext cx="1836420" cy="1050925"/>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21945"/>
          </a:xfrm>
          <a:prstGeom prst="rect">
            <a:avLst/>
          </a:prstGeom>
          <a:noFill/>
        </p:spPr>
        <p:txBody>
          <a:bodyPr wrap="square" rtlCol="0" anchor="t">
            <a:sp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352550"/>
            <a:ext cx="8719820" cy="134302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Intersection</a:t>
            </a:r>
            <a:endParaRPr sz="1600" b="1" i="0">
              <a:latin typeface="Times New Roman" panose="02020603050405020304" charset="0"/>
              <a:ea typeface="Verdana" panose="020B0604030504040204"/>
              <a:cs typeface="Times New Roman" panose="02020603050405020304" charset="0"/>
            </a:endParaRPr>
          </a:p>
          <a:p>
            <a:pPr indent="0" algn="just">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The intersection of sets A and B (denoted by A ∩ B) is the set of elements which are in both A and B. Hence, A ∩ B = {x|x ∈ A AND x ∈ B}.</a:t>
            </a:r>
            <a:endParaRPr lang="en-US" altLang="en-GB" sz="1600" i="0">
              <a:latin typeface="Times New Roman" panose="02020603050405020304" charset="0"/>
              <a:ea typeface="Verdana" panose="020B0604030504040204"/>
              <a:cs typeface="Times New Roman" panose="02020603050405020304" charset="0"/>
            </a:endParaRPr>
          </a:p>
          <a:p>
            <a:pPr indent="0" algn="just">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3657600" y="2343150"/>
            <a:ext cx="1927860" cy="1052195"/>
          </a:xfrm>
          <a:prstGeom prst="rect">
            <a:avLst/>
          </a:prstGeom>
        </p:spPr>
      </p:pic>
      <p:sp>
        <p:nvSpPr>
          <p:cNvPr id="6" name="Text Box 5"/>
          <p:cNvSpPr txBox="1"/>
          <p:nvPr/>
        </p:nvSpPr>
        <p:spPr>
          <a:xfrm>
            <a:off x="381000" y="3562350"/>
            <a:ext cx="8567420" cy="946785"/>
          </a:xfrm>
          <a:prstGeom prst="rect">
            <a:avLst/>
          </a:prstGeom>
        </p:spPr>
        <p:txBody>
          <a:bodyPr wrap="square">
            <a:spAutoFit/>
          </a:bodyPr>
          <a:p>
            <a:pPr marL="0" indent="0" algn="l">
              <a:lnSpc>
                <a:spcPts val="1800"/>
              </a:lnSpc>
              <a:spcAft>
                <a:spcPct val="60000"/>
              </a:spcAft>
            </a:pPr>
            <a:r>
              <a:rPr sz="1600" b="1" i="0">
                <a:latin typeface="Times New Roman" panose="02020603050405020304" charset="0"/>
                <a:ea typeface="Verdana" panose="020B0604030504040204"/>
                <a:cs typeface="Times New Roman" panose="02020603050405020304" charset="0"/>
              </a:rPr>
              <a:t>Difference/ Relative Complement</a:t>
            </a:r>
            <a:endParaRPr sz="1600" b="1" i="0">
              <a:latin typeface="Times New Roman" panose="02020603050405020304" charset="0"/>
              <a:ea typeface="Verdana" panose="020B0604030504040204"/>
              <a:cs typeface="Times New Roman" panose="02020603050405020304" charset="0"/>
            </a:endParaRPr>
          </a:p>
          <a:p>
            <a:pPr marL="0" indent="0" algn="l">
              <a:lnSpc>
                <a:spcPts val="1800"/>
              </a:lnSpc>
              <a:spcAft>
                <a:spcPct val="60000"/>
              </a:spcAft>
            </a:pPr>
            <a:r>
              <a:rPr lang="en-US" altLang="en-GB" sz="1600" i="0">
                <a:latin typeface="Times New Roman" panose="02020603050405020304" charset="0"/>
                <a:ea typeface="Verdana" panose="020B0604030504040204"/>
                <a:cs typeface="Times New Roman" panose="02020603050405020304" charset="0"/>
              </a:rPr>
              <a:t>The set difference of sets A and B (denoted by AB) is the set of elements which are only in A but not in B. Hence, A B = {x|x ∈ A AND x ∉ B}.</a:t>
            </a:r>
            <a:endParaRPr lang="en-US" altLang="en-GB" sz="1600" i="0">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4" name="Text Box 3"/>
          <p:cNvSpPr txBox="1"/>
          <p:nvPr/>
        </p:nvSpPr>
        <p:spPr>
          <a:xfrm>
            <a:off x="304800" y="971550"/>
            <a:ext cx="8677910" cy="583565"/>
          </a:xfrm>
          <a:prstGeom prst="rect">
            <a:avLst/>
          </a:prstGeom>
        </p:spPr>
        <p:txBody>
          <a:bodyPr wrap="square">
            <a:spAutoFit/>
          </a:bodyPr>
          <a:p>
            <a:pPr marL="0" indent="0" algn="just">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r>
              <a:rPr sz="1600" b="0" i="0">
                <a:solidFill>
                  <a:srgbClr val="000000"/>
                </a:solidFill>
                <a:latin typeface="Times New Roman" panose="02020603050405020304" charset="0"/>
                <a:ea typeface="Verdana" panose="020B0604030504040204"/>
                <a:cs typeface="Times New Roman" panose="02020603050405020304" charset="0"/>
              </a:rPr>
              <a:t> − If A = {10,11,12,13} and B = {13,14,15}, then (A B) = {10,11,12} and (B A) = {14,15}. Here, we can see (A B) ≠ (B A)</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2362200" y="1718945"/>
            <a:ext cx="4358640" cy="921385"/>
          </a:xfrm>
          <a:prstGeom prst="rect">
            <a:avLst/>
          </a:prstGeom>
        </p:spPr>
      </p:pic>
      <p:sp>
        <p:nvSpPr>
          <p:cNvPr id="2" name="Text Box 1"/>
          <p:cNvSpPr txBox="1"/>
          <p:nvPr/>
        </p:nvSpPr>
        <p:spPr>
          <a:xfrm>
            <a:off x="228600" y="3105150"/>
            <a:ext cx="8698865" cy="173672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Complement of a Set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The complement of a set A (denoted by A) is the set of elements which are not in set A. Hence, A′ = {x|x ∉ A}.</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More specifically, A′ = (UA) where U is a universal set which contains all objects.</a:t>
            </a:r>
            <a:endParaRPr lang="en-US" altLang="en-GB" sz="1600"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sz="1600" i="0">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276350"/>
            <a:ext cx="8842375" cy="963295"/>
          </a:xfrm>
          <a:prstGeom prst="rect">
            <a:avLst/>
          </a:prstGeom>
        </p:spPr>
        <p:txBody>
          <a:bodyPr wrap="square">
            <a:noAutofit/>
          </a:bodyPr>
          <a:p>
            <a:pPr marL="0" indent="0">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r>
              <a:rPr lang="en-GB" sz="1600" b="1" i="0">
                <a:solidFill>
                  <a:srgbClr val="000000"/>
                </a:solidFill>
                <a:latin typeface="Times New Roman" panose="02020603050405020304" charset="0"/>
                <a:ea typeface="Verdana" panose="020B0604030504040204"/>
                <a:cs typeface="Times New Roman" panose="02020603050405020304" charset="0"/>
              </a:rPr>
              <a:t> -</a:t>
            </a: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spcBef>
                <a:spcPct val="0"/>
              </a:spcBef>
              <a:spcAft>
                <a:spcPct val="0"/>
              </a:spcAft>
            </a:pPr>
            <a:endParaRPr sz="1600" b="1" i="0">
              <a:solidFill>
                <a:srgbClr val="000000"/>
              </a:solidFill>
              <a:latin typeface="Times New Roman" panose="02020603050405020304" charset="0"/>
              <a:ea typeface="Verdana" panose="020B0604030504040204"/>
              <a:cs typeface="Times New Roman" panose="02020603050405020304" charset="0"/>
            </a:endParaRPr>
          </a:p>
          <a:p>
            <a:pPr marL="0" indent="0"/>
            <a:r>
              <a:rPr sz="1600" b="0" i="0">
                <a:solidFill>
                  <a:srgbClr val="000000"/>
                </a:solidFill>
                <a:latin typeface="Times New Roman" panose="02020603050405020304" charset="0"/>
                <a:ea typeface="Verdana" panose="020B0604030504040204"/>
                <a:cs typeface="Times New Roman" panose="02020603050405020304" charset="0"/>
              </a:rPr>
              <a:t> − If A = {x|x belongs to set of add integers} then A′ = {y|y does not belong to set of odd integers}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6" name="Picture 5"/>
          <p:cNvPicPr>
            <a:picLocks noChangeAspect="1"/>
          </p:cNvPicPr>
          <p:nvPr/>
        </p:nvPicPr>
        <p:blipFill>
          <a:blip r:embed="rId2"/>
          <a:stretch>
            <a:fillRect/>
          </a:stretch>
        </p:blipFill>
        <p:spPr>
          <a:xfrm>
            <a:off x="3590290" y="2266950"/>
            <a:ext cx="1734185" cy="1283335"/>
          </a:xfrm>
          <a:prstGeom prst="rect">
            <a:avLst/>
          </a:prstGeom>
        </p:spPr>
      </p:pic>
      <p:sp>
        <p:nvSpPr>
          <p:cNvPr id="7" name="Text Box 6"/>
          <p:cNvSpPr txBox="1"/>
          <p:nvPr/>
        </p:nvSpPr>
        <p:spPr>
          <a:xfrm>
            <a:off x="228600" y="3790950"/>
            <a:ext cx="8768080" cy="94678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sz="1600" b="1" i="0">
                <a:latin typeface="Times New Roman" panose="02020603050405020304" charset="0"/>
                <a:ea typeface="Verdana" panose="020B0604030504040204"/>
                <a:cs typeface="Times New Roman" panose="02020603050405020304" charset="0"/>
              </a:rPr>
              <a:t>Cartesian Product / Cross Product</a:t>
            </a:r>
            <a:endParaRPr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sz="1600" i="0">
                <a:latin typeface="Times New Roman" panose="02020603050405020304" charset="0"/>
                <a:ea typeface="Verdana" panose="020B0604030504040204"/>
                <a:cs typeface="Times New Roman" panose="02020603050405020304" charset="0"/>
              </a:rPr>
              <a:t>The Cartesian product of n number of sets A1,A2,An denoted as A1 </a:t>
            </a:r>
            <a:r>
              <a:rPr lang="en-US" altLang="en-US" sz="1600" i="0">
                <a:latin typeface="Times New Roman" panose="02020603050405020304" charset="0"/>
                <a:ea typeface="Verdana" panose="020B0604030504040204"/>
                <a:cs typeface="Times New Roman" panose="02020603050405020304" charset="0"/>
              </a:rPr>
              <a:t>×</a:t>
            </a:r>
            <a:r>
              <a:rPr lang="en-US" altLang="en-GB" sz="1600" i="0">
                <a:latin typeface="Times New Roman" panose="02020603050405020304" charset="0"/>
                <a:ea typeface="Verdana" panose="020B0604030504040204"/>
                <a:cs typeface="Times New Roman" panose="02020603050405020304" charset="0"/>
              </a:rPr>
              <a:t> A2...</a:t>
            </a:r>
            <a:r>
              <a:rPr lang="en-US" altLang="en-US" sz="1600" i="0">
                <a:latin typeface="Times New Roman" panose="02020603050405020304" charset="0"/>
                <a:ea typeface="Verdana" panose="020B0604030504040204"/>
                <a:cs typeface="Times New Roman" panose="02020603050405020304" charset="0"/>
              </a:rPr>
              <a:t>×</a:t>
            </a:r>
            <a:r>
              <a:rPr lang="en-US" altLang="en-GB" sz="1600" i="0">
                <a:latin typeface="Times New Roman" panose="02020603050405020304" charset="0"/>
                <a:ea typeface="Verdana" panose="020B0604030504040204"/>
                <a:cs typeface="Times New Roman" panose="02020603050405020304" charset="0"/>
              </a:rPr>
              <a:t> An can be defined as all possible ordered pairs (x1,x2,xn) where x1 ∈ A1,x2 ∈ A2,xn ∈ An</a:t>
            </a:r>
            <a:endParaRPr lang="en-US" altLang="en-GB" sz="1600" i="0">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152400" y="1504950"/>
            <a:ext cx="8801735" cy="1322070"/>
          </a:xfrm>
          <a:prstGeom prst="rect">
            <a:avLst/>
          </a:prstGeom>
        </p:spPr>
        <p:txBody>
          <a:bodyPr wrap="square">
            <a:spAutoFit/>
          </a:bodyPr>
          <a:p>
            <a:pPr marL="0" indent="0">
              <a:spcBef>
                <a:spcPct val="0"/>
              </a:spcBef>
              <a:spcAft>
                <a:spcPct val="0"/>
              </a:spcAft>
            </a:pPr>
            <a:r>
              <a:rPr sz="1600" b="1" i="0">
                <a:solidFill>
                  <a:srgbClr val="000000"/>
                </a:solidFill>
                <a:latin typeface="Times New Roman" panose="02020603050405020304" charset="0"/>
                <a:ea typeface="Verdana" panose="020B0604030504040204"/>
                <a:cs typeface="Times New Roman" panose="02020603050405020304" charset="0"/>
              </a:rPr>
              <a:t>Example</a:t>
            </a:r>
            <a:r>
              <a:rPr sz="1600" b="0" i="0">
                <a:solidFill>
                  <a:srgbClr val="000000"/>
                </a:solidFill>
                <a:latin typeface="Times New Roman" panose="02020603050405020304" charset="0"/>
                <a:ea typeface="Verdana" panose="020B0604030504040204"/>
                <a:cs typeface="Times New Roman" panose="02020603050405020304" charset="0"/>
              </a:rPr>
              <a:t> − If we take two sets A = {a,b} and B = {1,2},</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spcBef>
                <a:spcPct val="0"/>
              </a:spcBef>
              <a:spcAft>
                <a:spcPct val="0"/>
              </a:spcAft>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r>
              <a:rPr sz="1600" b="0" i="0">
                <a:solidFill>
                  <a:srgbClr val="000000"/>
                </a:solidFill>
                <a:latin typeface="Times New Roman" panose="02020603050405020304" charset="0"/>
                <a:ea typeface="Verdana" panose="020B0604030504040204"/>
                <a:cs typeface="Times New Roman" panose="02020603050405020304" charset="0"/>
              </a:rPr>
              <a:t>The Cartesian product of A and B is written as A × B = {(a,1),(a,2),(b,1),(b,2)}</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r>
              <a:rPr sz="1600" b="0" i="0">
                <a:solidFill>
                  <a:srgbClr val="000000"/>
                </a:solidFill>
                <a:latin typeface="Times New Roman" panose="02020603050405020304" charset="0"/>
                <a:ea typeface="Verdana" panose="020B0604030504040204"/>
                <a:cs typeface="Times New Roman" panose="02020603050405020304" charset="0"/>
              </a:rPr>
              <a:t>And, the Cartesian product of B and A is written as B × A = {(1,a),(1,b),(2,a),(2,b)}</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Properties of Classical Sets</a:t>
            </a:r>
            <a:endParaRPr lang="en-US" altLang="en-GB"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276350"/>
            <a:ext cx="8790940" cy="645160"/>
          </a:xfrm>
          <a:prstGeom prst="rect">
            <a:avLst/>
          </a:prstGeom>
        </p:spPr>
        <p:txBody>
          <a:bodyPr wrap="square">
            <a:sp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Properties on sets play an important role for obtaining the solution. Following are the different properties of classical sets −</a:t>
            </a:r>
            <a:endParaRPr b="0" i="0">
              <a:solidFill>
                <a:srgbClr val="000000"/>
              </a:solidFill>
              <a:latin typeface="Times New Roman" panose="02020603050405020304" charset="0"/>
              <a:ea typeface="Verdana" panose="020B0604030504040204"/>
              <a:cs typeface="Times New Roman" panose="02020603050405020304" charset="0"/>
            </a:endParaRPr>
          </a:p>
        </p:txBody>
      </p:sp>
      <p:sp>
        <p:nvSpPr>
          <p:cNvPr id="5" name="Text Box 4"/>
          <p:cNvSpPr txBox="1"/>
          <p:nvPr/>
        </p:nvSpPr>
        <p:spPr>
          <a:xfrm>
            <a:off x="304800" y="2038350"/>
            <a:ext cx="8608695" cy="1151890"/>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Commutative Property</a:t>
            </a:r>
            <a:endParaRPr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r>
              <a:rPr lang="en-US" altLang="en-GB" i="0">
                <a:latin typeface="Times New Roman" panose="02020603050405020304" charset="0"/>
                <a:ea typeface="Verdana" panose="020B0604030504040204"/>
                <a:cs typeface="Times New Roman" panose="02020603050405020304" charset="0"/>
              </a:rPr>
              <a:t>Having two sets A and B, this property states −</a:t>
            </a:r>
            <a:endParaRPr lang="en-US" altLang="en-GB"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Wingdings" panose="05000000000000000000" charset="0"/>
              <a:buNone/>
            </a:pPr>
            <a:endParaRPr lang="en-US" altLang="en-GB" i="0">
              <a:latin typeface="Times New Roman" panose="02020603050405020304" charset="0"/>
              <a:ea typeface="Verdana" panose="020B0604030504040204"/>
              <a:cs typeface="Times New Roman" panose="02020603050405020304" charset="0"/>
            </a:endParaRPr>
          </a:p>
        </p:txBody>
      </p:sp>
      <p:pic>
        <p:nvPicPr>
          <p:cNvPr id="6" name="Picture 5"/>
          <p:cNvPicPr>
            <a:picLocks noChangeAspect="1"/>
          </p:cNvPicPr>
          <p:nvPr/>
        </p:nvPicPr>
        <p:blipFill>
          <a:blip r:embed="rId2"/>
          <a:stretch>
            <a:fillRect/>
          </a:stretch>
        </p:blipFill>
        <p:spPr>
          <a:xfrm>
            <a:off x="3276600" y="3028950"/>
            <a:ext cx="1752600" cy="777240"/>
          </a:xfrm>
          <a:prstGeom prst="rect">
            <a:avLst/>
          </a:prstGeom>
        </p:spPr>
      </p:pic>
      <p:sp>
        <p:nvSpPr>
          <p:cNvPr id="7" name="Text Box 6"/>
          <p:cNvSpPr txBox="1"/>
          <p:nvPr/>
        </p:nvSpPr>
        <p:spPr>
          <a:xfrm>
            <a:off x="228600" y="3867150"/>
            <a:ext cx="8684895" cy="32194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Associative Property</a:t>
            </a:r>
            <a:endParaRPr b="1" i="0">
              <a:latin typeface="Times New Roman" panose="02020603050405020304" charset="0"/>
              <a:ea typeface="Verdana" panose="020B0604030504040204"/>
              <a:cs typeface="Times New Roman" panose="02020603050405020304" charset="0"/>
            </a:endParaRPr>
          </a:p>
        </p:txBody>
      </p:sp>
      <p:sp>
        <p:nvSpPr>
          <p:cNvPr id="8" name="Text Box 7"/>
          <p:cNvSpPr txBox="1"/>
          <p:nvPr/>
        </p:nvSpPr>
        <p:spPr>
          <a:xfrm>
            <a:off x="304800" y="4476750"/>
            <a:ext cx="8601710"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Having three sets </a:t>
            </a:r>
            <a:r>
              <a:rPr b="1" i="0">
                <a:solidFill>
                  <a:srgbClr val="000000"/>
                </a:solidFill>
                <a:latin typeface="Times New Roman" panose="02020603050405020304" charset="0"/>
                <a:ea typeface="Verdana" panose="020B0604030504040204"/>
                <a:cs typeface="Times New Roman" panose="02020603050405020304" charset="0"/>
              </a:rPr>
              <a:t>A</a:t>
            </a:r>
            <a:r>
              <a:rPr b="0" i="0">
                <a:solidFill>
                  <a:srgbClr val="000000"/>
                </a:solidFill>
                <a:latin typeface="Times New Roman" panose="02020603050405020304" charset="0"/>
                <a:ea typeface="Verdana" panose="020B0604030504040204"/>
                <a:cs typeface="Times New Roman" panose="02020603050405020304" charset="0"/>
              </a:rPr>
              <a:t>, </a:t>
            </a:r>
            <a:r>
              <a:rPr b="1" i="0">
                <a:solidFill>
                  <a:srgbClr val="000000"/>
                </a:solidFill>
                <a:latin typeface="Times New Roman" panose="02020603050405020304" charset="0"/>
                <a:ea typeface="Verdana" panose="020B0604030504040204"/>
                <a:cs typeface="Times New Roman" panose="02020603050405020304" charset="0"/>
              </a:rPr>
              <a:t>B</a:t>
            </a:r>
            <a:r>
              <a:rPr b="0" i="0">
                <a:solidFill>
                  <a:srgbClr val="000000"/>
                </a:solidFill>
                <a:latin typeface="Times New Roman" panose="02020603050405020304" charset="0"/>
                <a:ea typeface="Verdana" panose="020B0604030504040204"/>
                <a:cs typeface="Times New Roman" panose="02020603050405020304" charset="0"/>
              </a:rPr>
              <a:t> and </a:t>
            </a:r>
            <a:r>
              <a:rPr b="1" i="0">
                <a:solidFill>
                  <a:srgbClr val="000000"/>
                </a:solidFill>
                <a:latin typeface="Times New Roman" panose="02020603050405020304" charset="0"/>
                <a:ea typeface="Verdana" panose="020B0604030504040204"/>
                <a:cs typeface="Times New Roman" panose="02020603050405020304" charset="0"/>
              </a:rPr>
              <a:t>C</a:t>
            </a:r>
            <a:r>
              <a:rPr b="0" i="0">
                <a:solidFill>
                  <a:srgbClr val="000000"/>
                </a:solidFill>
                <a:latin typeface="Times New Roman" panose="02020603050405020304" charset="0"/>
                <a:ea typeface="Verdana" panose="020B0604030504040204"/>
                <a:cs typeface="Times New Roman" panose="02020603050405020304" charset="0"/>
              </a:rPr>
              <a:t>, this property states −</a:t>
            </a:r>
            <a:endParaRPr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pic>
        <p:nvPicPr>
          <p:cNvPr id="4" name="Picture 3"/>
          <p:cNvPicPr>
            <a:picLocks noChangeAspect="1"/>
          </p:cNvPicPr>
          <p:nvPr/>
        </p:nvPicPr>
        <p:blipFill>
          <a:blip r:embed="rId2"/>
          <a:stretch>
            <a:fillRect/>
          </a:stretch>
        </p:blipFill>
        <p:spPr>
          <a:xfrm>
            <a:off x="3276600" y="1531620"/>
            <a:ext cx="2491740" cy="685800"/>
          </a:xfrm>
          <a:prstGeom prst="rect">
            <a:avLst/>
          </a:prstGeom>
        </p:spPr>
      </p:pic>
      <p:sp>
        <p:nvSpPr>
          <p:cNvPr id="5" name="Text Box 4"/>
          <p:cNvSpPr txBox="1"/>
          <p:nvPr/>
        </p:nvSpPr>
        <p:spPr>
          <a:xfrm>
            <a:off x="304800" y="2495550"/>
            <a:ext cx="8689340" cy="32194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Distributive Property</a:t>
            </a:r>
            <a:endParaRPr b="1" i="0">
              <a:latin typeface="Times New Roman" panose="02020603050405020304" charset="0"/>
              <a:ea typeface="Verdana" panose="020B0604030504040204"/>
              <a:cs typeface="Times New Roman" panose="02020603050405020304" charset="0"/>
            </a:endParaRPr>
          </a:p>
        </p:txBody>
      </p:sp>
      <p:sp>
        <p:nvSpPr>
          <p:cNvPr id="6" name="Text Box 5"/>
          <p:cNvSpPr txBox="1"/>
          <p:nvPr/>
        </p:nvSpPr>
        <p:spPr>
          <a:xfrm>
            <a:off x="228600" y="3028950"/>
            <a:ext cx="8765540"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Having three sets </a:t>
            </a:r>
            <a:r>
              <a:rPr b="1" i="0">
                <a:solidFill>
                  <a:srgbClr val="000000"/>
                </a:solidFill>
                <a:latin typeface="Times New Roman" panose="02020603050405020304" charset="0"/>
                <a:ea typeface="Verdana" panose="020B0604030504040204"/>
                <a:cs typeface="Times New Roman" panose="02020603050405020304" charset="0"/>
              </a:rPr>
              <a:t>A</a:t>
            </a:r>
            <a:r>
              <a:rPr b="0" i="0">
                <a:solidFill>
                  <a:srgbClr val="000000"/>
                </a:solidFill>
                <a:latin typeface="Times New Roman" panose="02020603050405020304" charset="0"/>
                <a:ea typeface="Verdana" panose="020B0604030504040204"/>
                <a:cs typeface="Times New Roman" panose="02020603050405020304" charset="0"/>
              </a:rPr>
              <a:t>, </a:t>
            </a:r>
            <a:r>
              <a:rPr b="1" i="0">
                <a:solidFill>
                  <a:srgbClr val="000000"/>
                </a:solidFill>
                <a:latin typeface="Times New Roman" panose="02020603050405020304" charset="0"/>
                <a:ea typeface="Verdana" panose="020B0604030504040204"/>
                <a:cs typeface="Times New Roman" panose="02020603050405020304" charset="0"/>
              </a:rPr>
              <a:t>B</a:t>
            </a:r>
            <a:r>
              <a:rPr b="0" i="0">
                <a:solidFill>
                  <a:srgbClr val="000000"/>
                </a:solidFill>
                <a:latin typeface="Times New Roman" panose="02020603050405020304" charset="0"/>
                <a:ea typeface="Verdana" panose="020B0604030504040204"/>
                <a:cs typeface="Times New Roman" panose="02020603050405020304" charset="0"/>
              </a:rPr>
              <a:t> and </a:t>
            </a:r>
            <a:r>
              <a:rPr b="1" i="0">
                <a:solidFill>
                  <a:srgbClr val="000000"/>
                </a:solidFill>
                <a:latin typeface="Times New Roman" panose="02020603050405020304" charset="0"/>
                <a:ea typeface="Verdana" panose="020B0604030504040204"/>
                <a:cs typeface="Times New Roman" panose="02020603050405020304" charset="0"/>
              </a:rPr>
              <a:t>C</a:t>
            </a:r>
            <a:r>
              <a:rPr b="0" i="0">
                <a:solidFill>
                  <a:srgbClr val="000000"/>
                </a:solidFill>
                <a:latin typeface="Times New Roman" panose="02020603050405020304" charset="0"/>
                <a:ea typeface="Verdana" panose="020B0604030504040204"/>
                <a:cs typeface="Times New Roman" panose="02020603050405020304" charset="0"/>
              </a:rPr>
              <a:t>, this property states −</a:t>
            </a:r>
            <a:endParaRPr b="0" i="0">
              <a:solidFill>
                <a:srgbClr val="000000"/>
              </a:solidFill>
              <a:latin typeface="Times New Roman" panose="02020603050405020304" charset="0"/>
              <a:ea typeface="Verdana" panose="020B0604030504040204"/>
              <a:cs typeface="Times New Roman" panose="02020603050405020304" charset="0"/>
            </a:endParaRPr>
          </a:p>
        </p:txBody>
      </p:sp>
      <p:pic>
        <p:nvPicPr>
          <p:cNvPr id="7" name="Picture 6"/>
          <p:cNvPicPr>
            <a:picLocks noChangeAspect="1"/>
          </p:cNvPicPr>
          <p:nvPr/>
        </p:nvPicPr>
        <p:blipFill>
          <a:blip r:embed="rId3"/>
          <a:stretch>
            <a:fillRect/>
          </a:stretch>
        </p:blipFill>
        <p:spPr>
          <a:xfrm>
            <a:off x="2857500" y="3608705"/>
            <a:ext cx="2910840" cy="746760"/>
          </a:xfrm>
          <a:prstGeom prst="rect">
            <a:avLst/>
          </a:prstGeom>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pic>
        <p:nvPicPr>
          <p:cNvPr id="4" name="Picture 3"/>
          <p:cNvPicPr/>
          <p:nvPr/>
        </p:nvPicPr>
        <p:blipFill>
          <a:blip r:embed="rId1"/>
          <a:stretch>
            <a:fillRect/>
          </a:stretch>
        </p:blipFill>
        <p:spPr>
          <a:xfrm>
            <a:off x="355600" y="2268220"/>
            <a:ext cx="76200" cy="76200"/>
          </a:xfrm>
          <a:prstGeom prst="rect">
            <a:avLst/>
          </a:prstGeom>
        </p:spPr>
      </p:pic>
      <p:sp>
        <p:nvSpPr>
          <p:cNvPr id="6" name="Text Box 5"/>
          <p:cNvSpPr txBox="1"/>
          <p:nvPr/>
        </p:nvSpPr>
        <p:spPr>
          <a:xfrm>
            <a:off x="228600" y="1489075"/>
            <a:ext cx="8790940" cy="321945"/>
          </a:xfrm>
          <a:prstGeom prst="rect">
            <a:avLst/>
          </a:prstGeom>
        </p:spPr>
        <p:txBody>
          <a:bodyPr wrap="square">
            <a:spAutoFit/>
          </a:bodyPr>
          <a:p>
            <a:pPr marL="342900" indent="-34290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Idempotency Property</a:t>
            </a:r>
            <a:endParaRPr b="1" i="0">
              <a:latin typeface="Times New Roman" panose="02020603050405020304" charset="0"/>
              <a:ea typeface="Verdana" panose="020B0604030504040204"/>
              <a:cs typeface="Times New Roman" panose="02020603050405020304" charset="0"/>
            </a:endParaRPr>
          </a:p>
        </p:txBody>
      </p:sp>
      <p:sp>
        <p:nvSpPr>
          <p:cNvPr id="7" name="Text Box 6"/>
          <p:cNvSpPr txBox="1"/>
          <p:nvPr/>
        </p:nvSpPr>
        <p:spPr>
          <a:xfrm>
            <a:off x="152400" y="2011045"/>
            <a:ext cx="8814435" cy="337185"/>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For any set </a:t>
            </a:r>
            <a:r>
              <a:rPr sz="1600" b="1" i="0">
                <a:solidFill>
                  <a:srgbClr val="000000"/>
                </a:solidFill>
                <a:latin typeface="Times New Roman" panose="02020603050405020304" charset="0"/>
                <a:ea typeface="Verdana" panose="020B0604030504040204"/>
                <a:cs typeface="Times New Roman" panose="02020603050405020304" charset="0"/>
              </a:rPr>
              <a:t>A</a:t>
            </a:r>
            <a:r>
              <a:rPr sz="1600" b="0" i="0">
                <a:solidFill>
                  <a:srgbClr val="000000"/>
                </a:solidFill>
                <a:latin typeface="Times New Roman" panose="02020603050405020304" charset="0"/>
                <a:ea typeface="Verdana" panose="020B0604030504040204"/>
                <a:cs typeface="Times New Roman" panose="02020603050405020304" charset="0"/>
              </a:rPr>
              <a:t>, this property states −</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8" name="Picture 7"/>
          <p:cNvPicPr>
            <a:picLocks noChangeAspect="1"/>
          </p:cNvPicPr>
          <p:nvPr/>
        </p:nvPicPr>
        <p:blipFill>
          <a:blip r:embed="rId2"/>
          <a:stretch>
            <a:fillRect/>
          </a:stretch>
        </p:blipFill>
        <p:spPr>
          <a:xfrm>
            <a:off x="2362200" y="2495550"/>
            <a:ext cx="1120140" cy="762000"/>
          </a:xfrm>
          <a:prstGeom prst="rect">
            <a:avLst/>
          </a:prstGeom>
        </p:spPr>
      </p:pic>
      <p:sp>
        <p:nvSpPr>
          <p:cNvPr id="9" name="Text Box 8"/>
          <p:cNvSpPr txBox="1"/>
          <p:nvPr/>
        </p:nvSpPr>
        <p:spPr>
          <a:xfrm>
            <a:off x="304800" y="36388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Identity Property</a:t>
            </a:r>
            <a:endParaRPr b="1" i="0">
              <a:latin typeface="Times New Roman" panose="02020603050405020304" charset="0"/>
              <a:ea typeface="Verdana" panose="020B0604030504040204"/>
              <a:cs typeface="Times New Roman" panose="02020603050405020304" charset="0"/>
            </a:endParaRPr>
          </a:p>
        </p:txBody>
      </p:sp>
      <p:sp>
        <p:nvSpPr>
          <p:cNvPr id="10" name="Text Box 9"/>
          <p:cNvSpPr txBox="1"/>
          <p:nvPr/>
        </p:nvSpPr>
        <p:spPr>
          <a:xfrm>
            <a:off x="228600" y="4171950"/>
            <a:ext cx="8672830" cy="337185"/>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For set </a:t>
            </a:r>
            <a:r>
              <a:rPr sz="1600" b="1" i="0">
                <a:solidFill>
                  <a:srgbClr val="000000"/>
                </a:solidFill>
                <a:latin typeface="Times New Roman" panose="02020603050405020304" charset="0"/>
                <a:ea typeface="Verdana" panose="020B0604030504040204"/>
                <a:cs typeface="Times New Roman" panose="02020603050405020304" charset="0"/>
              </a:rPr>
              <a:t>A</a:t>
            </a:r>
            <a:r>
              <a:rPr sz="1600" b="0" i="0">
                <a:solidFill>
                  <a:srgbClr val="000000"/>
                </a:solidFill>
                <a:latin typeface="Times New Roman" panose="02020603050405020304" charset="0"/>
                <a:ea typeface="Verdana" panose="020B0604030504040204"/>
                <a:cs typeface="Times New Roman" panose="02020603050405020304" charset="0"/>
              </a:rPr>
              <a:t> and universal set </a:t>
            </a:r>
            <a:r>
              <a:rPr sz="1600" b="1" i="0">
                <a:solidFill>
                  <a:srgbClr val="000000"/>
                </a:solidFill>
                <a:latin typeface="Times New Roman" panose="02020603050405020304" charset="0"/>
                <a:ea typeface="Verdana" panose="020B0604030504040204"/>
                <a:cs typeface="Times New Roman" panose="02020603050405020304" charset="0"/>
              </a:rPr>
              <a:t>X</a:t>
            </a:r>
            <a:r>
              <a:rPr sz="1600" b="0" i="0">
                <a:solidFill>
                  <a:srgbClr val="000000"/>
                </a:solidFill>
                <a:latin typeface="Times New Roman" panose="02020603050405020304" charset="0"/>
                <a:ea typeface="Verdana" panose="020B0604030504040204"/>
                <a:cs typeface="Times New Roman" panose="02020603050405020304" charset="0"/>
              </a:rPr>
              <a:t>, this property states −</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pic>
        <p:nvPicPr>
          <p:cNvPr id="4" name="Picture 3"/>
          <p:cNvPicPr>
            <a:picLocks noChangeAspect="1"/>
          </p:cNvPicPr>
          <p:nvPr/>
        </p:nvPicPr>
        <p:blipFill>
          <a:blip r:embed="rId2"/>
          <a:stretch>
            <a:fillRect/>
          </a:stretch>
        </p:blipFill>
        <p:spPr>
          <a:xfrm>
            <a:off x="1066800" y="1352550"/>
            <a:ext cx="1295400" cy="1493520"/>
          </a:xfrm>
          <a:prstGeom prst="rect">
            <a:avLst/>
          </a:prstGeom>
        </p:spPr>
      </p:pic>
      <p:sp>
        <p:nvSpPr>
          <p:cNvPr id="5" name="Text Box 4"/>
          <p:cNvSpPr txBox="1"/>
          <p:nvPr/>
        </p:nvSpPr>
        <p:spPr>
          <a:xfrm>
            <a:off x="228600" y="3028950"/>
            <a:ext cx="8747760" cy="32194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Transitive Property</a:t>
            </a:r>
            <a:endParaRPr b="1" i="0">
              <a:latin typeface="Times New Roman" panose="02020603050405020304" charset="0"/>
              <a:ea typeface="Verdana" panose="020B0604030504040204"/>
              <a:cs typeface="Times New Roman" panose="02020603050405020304" charset="0"/>
            </a:endParaRPr>
          </a:p>
        </p:txBody>
      </p:sp>
      <p:sp>
        <p:nvSpPr>
          <p:cNvPr id="6" name="Text Box 5"/>
          <p:cNvSpPr txBox="1"/>
          <p:nvPr/>
        </p:nvSpPr>
        <p:spPr>
          <a:xfrm>
            <a:off x="228600" y="3562350"/>
            <a:ext cx="8749030"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Having three sets </a:t>
            </a:r>
            <a:r>
              <a:rPr b="1" i="0">
                <a:solidFill>
                  <a:srgbClr val="000000"/>
                </a:solidFill>
                <a:latin typeface="Times New Roman" panose="02020603050405020304" charset="0"/>
                <a:ea typeface="Verdana" panose="020B0604030504040204"/>
                <a:cs typeface="Times New Roman" panose="02020603050405020304" charset="0"/>
              </a:rPr>
              <a:t>A</a:t>
            </a:r>
            <a:r>
              <a:rPr b="0" i="0">
                <a:solidFill>
                  <a:srgbClr val="000000"/>
                </a:solidFill>
                <a:latin typeface="Times New Roman" panose="02020603050405020304" charset="0"/>
                <a:ea typeface="Verdana" panose="020B0604030504040204"/>
                <a:cs typeface="Times New Roman" panose="02020603050405020304" charset="0"/>
              </a:rPr>
              <a:t>, </a:t>
            </a:r>
            <a:r>
              <a:rPr b="1" i="0">
                <a:solidFill>
                  <a:srgbClr val="000000"/>
                </a:solidFill>
                <a:latin typeface="Times New Roman" panose="02020603050405020304" charset="0"/>
                <a:ea typeface="Verdana" panose="020B0604030504040204"/>
                <a:cs typeface="Times New Roman" panose="02020603050405020304" charset="0"/>
              </a:rPr>
              <a:t>B</a:t>
            </a:r>
            <a:r>
              <a:rPr b="0" i="0">
                <a:solidFill>
                  <a:srgbClr val="000000"/>
                </a:solidFill>
                <a:latin typeface="Times New Roman" panose="02020603050405020304" charset="0"/>
                <a:ea typeface="Verdana" panose="020B0604030504040204"/>
                <a:cs typeface="Times New Roman" panose="02020603050405020304" charset="0"/>
              </a:rPr>
              <a:t> and </a:t>
            </a:r>
            <a:r>
              <a:rPr b="1" i="0">
                <a:solidFill>
                  <a:srgbClr val="000000"/>
                </a:solidFill>
                <a:latin typeface="Times New Roman" panose="02020603050405020304" charset="0"/>
                <a:ea typeface="Verdana" panose="020B0604030504040204"/>
                <a:cs typeface="Times New Roman" panose="02020603050405020304" charset="0"/>
              </a:rPr>
              <a:t>C</a:t>
            </a:r>
            <a:r>
              <a:rPr b="0" i="0">
                <a:solidFill>
                  <a:srgbClr val="000000"/>
                </a:solidFill>
                <a:latin typeface="Times New Roman" panose="02020603050405020304" charset="0"/>
                <a:ea typeface="Verdana" panose="020B0604030504040204"/>
                <a:cs typeface="Times New Roman" panose="02020603050405020304" charset="0"/>
              </a:rPr>
              <a:t>, the property states −</a:t>
            </a:r>
            <a:endParaRPr b="0" i="0">
              <a:solidFill>
                <a:srgbClr val="000000"/>
              </a:solidFill>
              <a:latin typeface="Times New Roman" panose="02020603050405020304" charset="0"/>
              <a:ea typeface="Verdana" panose="020B0604030504040204"/>
              <a:cs typeface="Times New Roman" panose="02020603050405020304" charset="0"/>
            </a:endParaRPr>
          </a:p>
        </p:txBody>
      </p:sp>
      <p:pic>
        <p:nvPicPr>
          <p:cNvPr id="7" name="Picture 6"/>
          <p:cNvPicPr>
            <a:picLocks noChangeAspect="1"/>
          </p:cNvPicPr>
          <p:nvPr/>
        </p:nvPicPr>
        <p:blipFill>
          <a:blip r:embed="rId3"/>
          <a:stretch>
            <a:fillRect/>
          </a:stretch>
        </p:blipFill>
        <p:spPr>
          <a:xfrm>
            <a:off x="1066800" y="4248150"/>
            <a:ext cx="2377440" cy="32004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Operations on Classical Sets</a:t>
            </a:r>
            <a:endParaRPr lang="en-GB" altLang="en-US"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152400" y="1428750"/>
            <a:ext cx="8772525" cy="321945"/>
          </a:xfrm>
          <a:prstGeom prst="rect">
            <a:avLst/>
          </a:prstGeom>
        </p:spPr>
        <p:txBody>
          <a:bodyPr wrap="square">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Involution Property</a:t>
            </a:r>
            <a:endParaRPr b="1" i="0">
              <a:latin typeface="Times New Roman" panose="02020603050405020304" charset="0"/>
              <a:ea typeface="Verdana" panose="020B0604030504040204"/>
              <a:cs typeface="Times New Roman" panose="02020603050405020304" charset="0"/>
            </a:endParaRPr>
          </a:p>
        </p:txBody>
      </p:sp>
      <p:sp>
        <p:nvSpPr>
          <p:cNvPr id="5" name="Text Box 4"/>
          <p:cNvSpPr txBox="1"/>
          <p:nvPr/>
        </p:nvSpPr>
        <p:spPr>
          <a:xfrm>
            <a:off x="152400" y="1962150"/>
            <a:ext cx="8848090" cy="337185"/>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For any set </a:t>
            </a:r>
            <a:r>
              <a:rPr sz="1600" b="1" i="0">
                <a:solidFill>
                  <a:srgbClr val="000000"/>
                </a:solidFill>
                <a:latin typeface="Times New Roman" panose="02020603050405020304" charset="0"/>
                <a:ea typeface="Verdana" panose="020B0604030504040204"/>
                <a:cs typeface="Times New Roman" panose="02020603050405020304" charset="0"/>
              </a:rPr>
              <a:t>A</a:t>
            </a:r>
            <a:r>
              <a:rPr sz="1600" b="0" i="0">
                <a:solidFill>
                  <a:srgbClr val="000000"/>
                </a:solidFill>
                <a:latin typeface="Times New Roman" panose="02020603050405020304" charset="0"/>
                <a:ea typeface="Verdana" panose="020B0604030504040204"/>
                <a:cs typeface="Times New Roman" panose="02020603050405020304" charset="0"/>
              </a:rPr>
              <a:t>, this property states −</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6" name="Picture 5"/>
          <p:cNvPicPr>
            <a:picLocks noChangeAspect="1"/>
          </p:cNvPicPr>
          <p:nvPr/>
        </p:nvPicPr>
        <p:blipFill>
          <a:blip r:embed="rId2"/>
          <a:stretch>
            <a:fillRect/>
          </a:stretch>
        </p:blipFill>
        <p:spPr>
          <a:xfrm>
            <a:off x="2438400" y="2297430"/>
            <a:ext cx="853440" cy="548640"/>
          </a:xfrm>
          <a:prstGeom prst="rect">
            <a:avLst/>
          </a:prstGeom>
        </p:spPr>
      </p:pic>
      <p:sp>
        <p:nvSpPr>
          <p:cNvPr id="7" name="Text Box 6"/>
          <p:cNvSpPr txBox="1"/>
          <p:nvPr/>
        </p:nvSpPr>
        <p:spPr>
          <a:xfrm>
            <a:off x="152400" y="29530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De Morgans Law</a:t>
            </a:r>
            <a:endParaRPr b="1" i="0">
              <a:latin typeface="Times New Roman" panose="02020603050405020304" charset="0"/>
              <a:ea typeface="Verdana" panose="020B0604030504040204"/>
              <a:cs typeface="Times New Roman" panose="02020603050405020304" charset="0"/>
            </a:endParaRPr>
          </a:p>
        </p:txBody>
      </p:sp>
      <p:sp>
        <p:nvSpPr>
          <p:cNvPr id="8" name="Text Box 7"/>
          <p:cNvSpPr txBox="1"/>
          <p:nvPr/>
        </p:nvSpPr>
        <p:spPr>
          <a:xfrm>
            <a:off x="152400" y="3409950"/>
            <a:ext cx="8848090" cy="337185"/>
          </a:xfrm>
          <a:prstGeom prst="rect">
            <a:avLst/>
          </a:prstGeom>
        </p:spPr>
        <p:txBody>
          <a:bodyPr wrap="square">
            <a:spAutoFit/>
          </a:bodyPr>
          <a:p>
            <a:pPr marL="0" indent="0"/>
            <a:r>
              <a:rPr sz="1600" b="0" i="0">
                <a:solidFill>
                  <a:srgbClr val="000000"/>
                </a:solidFill>
                <a:latin typeface="Times New Roman" panose="02020603050405020304" charset="0"/>
                <a:ea typeface="Verdana" panose="020B0604030504040204"/>
                <a:cs typeface="Times New Roman" panose="02020603050405020304" charset="0"/>
              </a:rPr>
              <a:t>It is a very important law and supports in proving tautologies and contradiction. This law states −</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9" name="Picture 8"/>
          <p:cNvPicPr>
            <a:picLocks noChangeAspect="1"/>
          </p:cNvPicPr>
          <p:nvPr/>
        </p:nvPicPr>
        <p:blipFill>
          <a:blip r:embed="rId3"/>
          <a:stretch>
            <a:fillRect/>
          </a:stretch>
        </p:blipFill>
        <p:spPr>
          <a:xfrm>
            <a:off x="2362200" y="3790950"/>
            <a:ext cx="1684020" cy="929640"/>
          </a:xfrm>
          <a:prstGeom prst="rect">
            <a:avLst/>
          </a:prstGeom>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228600" y="2141220"/>
            <a:ext cx="76200" cy="76200"/>
          </a:xfrm>
          <a:prstGeom prst="rect">
            <a:avLst/>
          </a:prstGeom>
        </p:spPr>
      </p:pic>
      <p:sp>
        <p:nvSpPr>
          <p:cNvPr id="2" name="Text Box 1"/>
          <p:cNvSpPr txBox="1"/>
          <p:nvPr/>
        </p:nvSpPr>
        <p:spPr>
          <a:xfrm>
            <a:off x="2057400" y="819150"/>
            <a:ext cx="4572000" cy="339090"/>
          </a:xfrm>
          <a:prstGeom prst="rect">
            <a:avLst/>
          </a:prstGeom>
          <a:noFill/>
        </p:spPr>
        <p:txBody>
          <a:bodyPr wrap="square" rtlCol="0" anchor="t">
            <a:no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Fuzzy Logic - Set Theory</a:t>
            </a:r>
            <a:endParaRPr lang="en-US" altLang="en-GB" sz="2400">
              <a:solidFill>
                <a:srgbClr val="000000"/>
              </a:solidFill>
              <a:latin typeface="Times New Roman" panose="02020603050405020304" charset="0"/>
              <a:ea typeface="Lato"/>
              <a:cs typeface="Times New Roman" panose="02020603050405020304" charset="0"/>
              <a:sym typeface="+mn-ea"/>
            </a:endParaRPr>
          </a:p>
          <a:p>
            <a:pPr marL="0" indent="0" algn="ctr">
              <a:lnSpc>
                <a:spcPts val="1800"/>
              </a:lnSpc>
              <a:spcAft>
                <a:spcPct val="60000"/>
              </a:spcAft>
            </a:pPr>
            <a:endParaRPr lang="en-GB" altLang="en-US" sz="2400">
              <a:solidFill>
                <a:srgbClr val="000000"/>
              </a:solidFill>
              <a:latin typeface="Times New Roman" panose="02020603050405020304" charset="0"/>
              <a:ea typeface="Lato"/>
              <a:cs typeface="Times New Roman" panose="02020603050405020304" charset="0"/>
              <a:sym typeface="+mn-ea"/>
            </a:endParaRPr>
          </a:p>
        </p:txBody>
      </p:sp>
      <p:sp>
        <p:nvSpPr>
          <p:cNvPr id="4" name="Text Box 3"/>
          <p:cNvSpPr txBox="1"/>
          <p:nvPr/>
        </p:nvSpPr>
        <p:spPr>
          <a:xfrm>
            <a:off x="228600" y="1428750"/>
            <a:ext cx="8679180" cy="3415030"/>
          </a:xfrm>
          <a:prstGeom prst="rect">
            <a:avLst/>
          </a:prstGeom>
        </p:spPr>
        <p:txBody>
          <a:bodyPr wrap="square">
            <a:spAutoFit/>
          </a:bodyPr>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Fuzzy sets can be considered as an extension and gross oversimplification of classical sets.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It can be best understood in the context of set membership.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Basically it allows partial membership which means that it contain elements that have varying degrees of membership in the set.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From this, we can understand the difference between classical set and fuzzy set.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Wingdings" panose="05000000000000000000" charset="0"/>
              <a:buChar char="ü"/>
            </a:pPr>
            <a:r>
              <a:rPr b="0" i="0">
                <a:solidFill>
                  <a:srgbClr val="000000"/>
                </a:solidFill>
                <a:latin typeface="Times New Roman" panose="02020603050405020304" charset="0"/>
                <a:ea typeface="Verdana" panose="020B0604030504040204"/>
                <a:cs typeface="Times New Roman" panose="02020603050405020304" charset="0"/>
              </a:rPr>
              <a:t>Classical set contains elements that satisfy precise properties of membership while fuzzy set contains elements that satisfy imprecise properties of membership.</a:t>
            </a:r>
            <a:endParaRPr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1"/>
          <a:stretch>
            <a:fillRect/>
          </a:stretch>
        </p:blipFill>
        <p:spPr>
          <a:xfrm>
            <a:off x="2133600" y="1657350"/>
            <a:ext cx="4899660" cy="2072640"/>
          </a:xfrm>
          <a:prstGeom prst="rect">
            <a:avLst/>
          </a:prstGeom>
        </p:spPr>
      </p:pic>
      <p:sp>
        <p:nvSpPr>
          <p:cNvPr id="10" name="Text Box 9"/>
          <p:cNvSpPr txBox="1"/>
          <p:nvPr/>
        </p:nvSpPr>
        <p:spPr>
          <a:xfrm>
            <a:off x="2286000" y="971550"/>
            <a:ext cx="4572000" cy="321945"/>
          </a:xfrm>
          <a:prstGeom prst="rect">
            <a:avLst/>
          </a:prstGeom>
          <a:noFill/>
        </p:spPr>
        <p:txBody>
          <a:bodyPr wrap="square" rtlCol="0" anchor="t">
            <a:spAutoFit/>
          </a:bodyPr>
          <a:p>
            <a:pPr marL="0" indent="0" algn="ctr">
              <a:lnSpc>
                <a:spcPts val="1800"/>
              </a:lnSpc>
              <a:spcAft>
                <a:spcPct val="60000"/>
              </a:spcAft>
            </a:pPr>
            <a:r>
              <a:rPr lang="en-US" altLang="en-GB" sz="2400">
                <a:solidFill>
                  <a:srgbClr val="000000"/>
                </a:solidFill>
                <a:latin typeface="Times New Roman" panose="02020603050405020304" charset="0"/>
                <a:ea typeface="Lato"/>
                <a:cs typeface="Times New Roman" panose="02020603050405020304" charset="0"/>
                <a:sym typeface="+mn-ea"/>
              </a:rPr>
              <a:t>Fuzzy Logic - Set Theory</a:t>
            </a:r>
            <a:endParaRPr lang="en-US" altLang="en-GB" sz="2400">
              <a:solidFill>
                <a:srgbClr val="000000"/>
              </a:solidFill>
              <a:latin typeface="Times New Roman" panose="02020603050405020304" charset="0"/>
              <a:ea typeface="Lato"/>
              <a:cs typeface="Times New Roman" panose="02020603050405020304" charset="0"/>
              <a:sym typeface="+mn-ea"/>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32000" y="819467"/>
            <a:ext cx="5080000" cy="321945"/>
          </a:xfrm>
          <a:prstGeom prst="rect">
            <a:avLst/>
          </a:prstGeom>
        </p:spPr>
        <p:txBody>
          <a:bodyPr>
            <a:spAutoFit/>
          </a:bodyPr>
          <a:p>
            <a:pPr marL="0" indent="0" algn="ctr">
              <a:lnSpc>
                <a:spcPts val="1800"/>
              </a:lnSpc>
              <a:spcAft>
                <a:spcPct val="60000"/>
              </a:spcAft>
            </a:pPr>
            <a:r>
              <a:rPr sz="2400" b="0" i="0">
                <a:solidFill>
                  <a:srgbClr val="000000"/>
                </a:solidFill>
                <a:latin typeface="Times New Roman" panose="02020603050405020304" charset="0"/>
                <a:ea typeface="Lato"/>
                <a:cs typeface="Times New Roman" panose="02020603050405020304" charset="0"/>
              </a:rPr>
              <a:t>Mathematical Concept</a:t>
            </a:r>
            <a:endParaRPr sz="2400" b="0" i="0">
              <a:solidFill>
                <a:srgbClr val="000000"/>
              </a:solidFill>
              <a:latin typeface="Times New Roman" panose="02020603050405020304" charset="0"/>
              <a:ea typeface="Lato"/>
              <a:cs typeface="Times New Roman" panose="02020603050405020304" charset="0"/>
            </a:endParaRPr>
          </a:p>
        </p:txBody>
      </p:sp>
      <p:pic>
        <p:nvPicPr>
          <p:cNvPr id="3" name="Picture 2"/>
          <p:cNvPicPr>
            <a:picLocks noChangeAspect="1"/>
          </p:cNvPicPr>
          <p:nvPr/>
        </p:nvPicPr>
        <p:blipFill>
          <a:blip r:embed="rId1"/>
          <a:stretch>
            <a:fillRect/>
          </a:stretch>
        </p:blipFill>
        <p:spPr>
          <a:xfrm>
            <a:off x="228600" y="1657350"/>
            <a:ext cx="8668385" cy="1645920"/>
          </a:xfrm>
          <a:prstGeom prst="rect">
            <a:avLst/>
          </a:prstGeom>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05000" y="667067"/>
            <a:ext cx="5080000" cy="321945"/>
          </a:xfrm>
          <a:prstGeom prst="rect">
            <a:avLst/>
          </a:prstGeom>
        </p:spPr>
        <p:txBody>
          <a:bodyPr>
            <a:spAutoFit/>
          </a:bodyPr>
          <a:p>
            <a:pPr marL="0" indent="0" algn="ctr">
              <a:lnSpc>
                <a:spcPts val="1800"/>
              </a:lnSpc>
              <a:spcAft>
                <a:spcPct val="60000"/>
              </a:spcAft>
            </a:pPr>
            <a:r>
              <a:rPr sz="2400" b="0" i="0">
                <a:solidFill>
                  <a:srgbClr val="000000"/>
                </a:solidFill>
                <a:latin typeface="Times New Roman" panose="02020603050405020304" charset="0"/>
                <a:ea typeface="Lato"/>
                <a:cs typeface="Times New Roman" panose="02020603050405020304" charset="0"/>
              </a:rPr>
              <a:t>Representation of fuzzy set</a:t>
            </a:r>
            <a:endParaRPr sz="2400" b="0"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228600" y="1047750"/>
            <a:ext cx="8708390" cy="495935"/>
          </a:xfrm>
          <a:prstGeom prst="rect">
            <a:avLst/>
          </a:prstGeom>
        </p:spPr>
        <p:txBody>
          <a:bodyPr wrap="square">
            <a:no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Let us now consider two cases of universe of information and understand how a fuzzy set can be represented.</a:t>
            </a:r>
            <a:endParaRPr b="0" i="0">
              <a:solidFill>
                <a:srgbClr val="000000"/>
              </a:solidFill>
              <a:latin typeface="Times New Roman" panose="02020603050405020304" charset="0"/>
              <a:ea typeface="Verdana" panose="020B0604030504040204"/>
              <a:cs typeface="Times New Roman" panose="02020603050405020304" charset="0"/>
            </a:endParaRPr>
          </a:p>
        </p:txBody>
      </p:sp>
      <p:pic>
        <p:nvPicPr>
          <p:cNvPr id="4" name="Picture 3"/>
          <p:cNvPicPr>
            <a:picLocks noChangeAspect="1"/>
          </p:cNvPicPr>
          <p:nvPr/>
        </p:nvPicPr>
        <p:blipFill>
          <a:blip r:embed="rId1"/>
          <a:stretch>
            <a:fillRect/>
          </a:stretch>
        </p:blipFill>
        <p:spPr>
          <a:xfrm>
            <a:off x="2209800" y="1504950"/>
            <a:ext cx="6438900" cy="2787015"/>
          </a:xfrm>
          <a:prstGeom prst="rect">
            <a:avLst/>
          </a:prstGeom>
        </p:spPr>
      </p:pic>
      <p:sp>
        <p:nvSpPr>
          <p:cNvPr id="5" name="Text Box 4"/>
          <p:cNvSpPr txBox="1"/>
          <p:nvPr/>
        </p:nvSpPr>
        <p:spPr>
          <a:xfrm>
            <a:off x="304800" y="4552950"/>
            <a:ext cx="8704580"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In the above representation, the summation symbol represents the collection of each element.</a:t>
            </a:r>
            <a:endParaRPr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81200" y="819467"/>
            <a:ext cx="5080000" cy="321945"/>
          </a:xfrm>
          <a:prstGeom prst="rect">
            <a:avLst/>
          </a:prstGeom>
        </p:spPr>
        <p:txBody>
          <a:bodyPr>
            <a:spAutoFit/>
          </a:bodyPr>
          <a:p>
            <a:pPr marL="0" indent="0" algn="ctr">
              <a:lnSpc>
                <a:spcPts val="1800"/>
              </a:lnSpc>
              <a:spcAft>
                <a:spcPct val="60000"/>
              </a:spcAft>
            </a:pPr>
            <a:r>
              <a:rPr sz="2400" b="0" i="0">
                <a:solidFill>
                  <a:srgbClr val="000000"/>
                </a:solidFill>
                <a:latin typeface="Times New Roman" panose="02020603050405020304" charset="0"/>
                <a:ea typeface="Lato"/>
                <a:cs typeface="Times New Roman" panose="02020603050405020304" charset="0"/>
              </a:rPr>
              <a:t>Operations on Fuzzy Sets</a:t>
            </a:r>
            <a:endParaRPr sz="2400" b="0" i="0">
              <a:solidFill>
                <a:srgbClr val="000000"/>
              </a:solidFill>
              <a:latin typeface="Times New Roman" panose="02020603050405020304" charset="0"/>
              <a:ea typeface="Lato"/>
              <a:cs typeface="Times New Roman" panose="02020603050405020304" charset="0"/>
            </a:endParaRPr>
          </a:p>
        </p:txBody>
      </p:sp>
      <p:pic>
        <p:nvPicPr>
          <p:cNvPr id="3" name="Picture 2"/>
          <p:cNvPicPr>
            <a:picLocks noChangeAspect="1"/>
          </p:cNvPicPr>
          <p:nvPr/>
        </p:nvPicPr>
        <p:blipFill>
          <a:blip r:embed="rId1"/>
          <a:stretch>
            <a:fillRect/>
          </a:stretch>
        </p:blipFill>
        <p:spPr>
          <a:xfrm>
            <a:off x="381000" y="1581150"/>
            <a:ext cx="8629015" cy="2813685"/>
          </a:xfrm>
          <a:prstGeom prst="rect">
            <a:avLst/>
          </a:prstGeom>
        </p:spPr>
      </p:pic>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1352550"/>
            <a:ext cx="8635365"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Here ∨ represents the max operation.</a:t>
            </a:r>
            <a:endParaRPr b="0" i="0">
              <a:solidFill>
                <a:srgbClr val="000000"/>
              </a:solidFill>
              <a:latin typeface="Times New Roman" panose="02020603050405020304" charset="0"/>
              <a:ea typeface="Verdana" panose="020B0604030504040204"/>
              <a:cs typeface="Times New Roman" panose="02020603050405020304" charset="0"/>
            </a:endParaRPr>
          </a:p>
        </p:txBody>
      </p:sp>
      <p:sp>
        <p:nvSpPr>
          <p:cNvPr id="3" name="Text Box 2"/>
          <p:cNvSpPr txBox="1"/>
          <p:nvPr/>
        </p:nvSpPr>
        <p:spPr>
          <a:xfrm>
            <a:off x="228600" y="7432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Union/Fuzzy OR</a:t>
            </a:r>
            <a:endParaRPr b="1" i="0">
              <a:latin typeface="Times New Roman" panose="02020603050405020304" charset="0"/>
              <a:ea typeface="Verdana" panose="020B0604030504040204"/>
              <a:cs typeface="Times New Roman" panose="02020603050405020304" charset="0"/>
            </a:endParaRPr>
          </a:p>
        </p:txBody>
      </p:sp>
      <p:pic>
        <p:nvPicPr>
          <p:cNvPr id="4" name="Picture 3"/>
          <p:cNvPicPr>
            <a:picLocks noChangeAspect="1"/>
          </p:cNvPicPr>
          <p:nvPr/>
        </p:nvPicPr>
        <p:blipFill>
          <a:blip r:embed="rId1"/>
          <a:stretch>
            <a:fillRect/>
          </a:stretch>
        </p:blipFill>
        <p:spPr>
          <a:xfrm>
            <a:off x="1676400" y="2190750"/>
            <a:ext cx="5715000" cy="1895475"/>
          </a:xfrm>
          <a:prstGeom prst="rect">
            <a:avLst/>
          </a:prstGeom>
        </p:spPr>
      </p:pic>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467"/>
            <a:ext cx="5080000" cy="321945"/>
          </a:xfrm>
          <a:prstGeom prst="rect">
            <a:avLst/>
          </a:prstGeom>
        </p:spPr>
        <p:txBody>
          <a:bodyPr>
            <a:spAutoFit/>
          </a:bodyPr>
          <a:p>
            <a:pPr marL="342900" indent="-342900" algn="l">
              <a:lnSpc>
                <a:spcPts val="1800"/>
              </a:lnSpc>
              <a:spcAft>
                <a:spcPct val="60000"/>
              </a:spcAft>
              <a:buFont typeface="Wingdings" panose="05000000000000000000" charset="0"/>
              <a:buChar char="Ø"/>
            </a:pPr>
            <a:r>
              <a:rPr sz="2000" b="1" i="0">
                <a:latin typeface="Times New Roman" panose="02020603050405020304" charset="0"/>
                <a:ea typeface="Verdana" panose="020B0604030504040204"/>
                <a:cs typeface="Times New Roman" panose="02020603050405020304" charset="0"/>
              </a:rPr>
              <a:t>Intersection/Fuzzy AND</a:t>
            </a:r>
            <a:endParaRPr sz="20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457200" y="1352550"/>
            <a:ext cx="8305800" cy="3177540"/>
          </a:xfrm>
          <a:prstGeom prst="rect">
            <a:avLst/>
          </a:prstGeom>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819467"/>
            <a:ext cx="5080000" cy="321945"/>
          </a:xfrm>
          <a:prstGeom prst="rect">
            <a:avLst/>
          </a:prstGeom>
        </p:spPr>
        <p:txBody>
          <a:bodyPr>
            <a:spAutoFit/>
          </a:bodyPr>
          <a:p>
            <a:pPr marL="285750" indent="-285750" algn="l">
              <a:lnSpc>
                <a:spcPts val="1800"/>
              </a:lnSpc>
              <a:spcAft>
                <a:spcPct val="60000"/>
              </a:spcAft>
              <a:buFont typeface="Wingdings" panose="05000000000000000000" charset="0"/>
              <a:buChar char="Ø"/>
            </a:pPr>
            <a:r>
              <a:rPr b="1" i="0">
                <a:latin typeface="Times New Roman" panose="02020603050405020304" charset="0"/>
                <a:ea typeface="Verdana" panose="020B0604030504040204"/>
                <a:cs typeface="Times New Roman" panose="02020603050405020304" charset="0"/>
              </a:rPr>
              <a:t>Complement/Fuzzy NOT</a:t>
            </a:r>
            <a:endParaRPr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381000" y="1428750"/>
            <a:ext cx="7978140" cy="3032760"/>
          </a:xfrm>
          <a:prstGeom prst="rect">
            <a:avLst/>
          </a:prstGeom>
        </p:spPr>
      </p:pic>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828800" y="819467"/>
            <a:ext cx="5080000" cy="321945"/>
          </a:xfrm>
          <a:prstGeom prst="rect">
            <a:avLst/>
          </a:prstGeom>
        </p:spPr>
        <p:txBody>
          <a:bodyPr>
            <a:spAutoFit/>
          </a:bodyPr>
          <a:p>
            <a:pPr marL="0" indent="0" algn="ctr">
              <a:lnSpc>
                <a:spcPts val="1800"/>
              </a:lnSpc>
              <a:spcAft>
                <a:spcPct val="60000"/>
              </a:spcAft>
            </a:pPr>
            <a:r>
              <a:rPr sz="2400" b="1" i="0">
                <a:solidFill>
                  <a:srgbClr val="000000"/>
                </a:solidFill>
                <a:latin typeface="Times New Roman" panose="02020603050405020304" charset="0"/>
                <a:ea typeface="Lato"/>
                <a:cs typeface="Times New Roman" panose="02020603050405020304" charset="0"/>
              </a:rPr>
              <a:t>Properties of Fuzzy Sets</a:t>
            </a:r>
            <a:endParaRPr sz="24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428750"/>
            <a:ext cx="8606155" cy="337185"/>
          </a:xfrm>
          <a:prstGeom prst="rect">
            <a:avLst/>
          </a:prstGeom>
        </p:spPr>
        <p:txBody>
          <a:bodyPr wrap="square">
            <a:spAutoFit/>
          </a:bodyPr>
          <a:p>
            <a:pPr marL="0" indent="0"/>
            <a:r>
              <a:rPr lang="en-GB" sz="1600" b="1" i="0">
                <a:solidFill>
                  <a:srgbClr val="000000"/>
                </a:solidFill>
                <a:latin typeface="Times New Roman" panose="02020603050405020304" charset="0"/>
                <a:ea typeface="Verdana" panose="020B0604030504040204"/>
                <a:cs typeface="Times New Roman" panose="02020603050405020304" charset="0"/>
              </a:rPr>
              <a:t>T</a:t>
            </a:r>
            <a:r>
              <a:rPr sz="1600" b="1" i="0">
                <a:solidFill>
                  <a:srgbClr val="000000"/>
                </a:solidFill>
                <a:latin typeface="Times New Roman" panose="02020603050405020304" charset="0"/>
                <a:ea typeface="Verdana" panose="020B0604030504040204"/>
                <a:cs typeface="Times New Roman" panose="02020603050405020304" charset="0"/>
              </a:rPr>
              <a:t>he different properties of fuzzy sets</a:t>
            </a:r>
            <a:r>
              <a:rPr lang="en-GB" sz="1600" b="1" i="0">
                <a:solidFill>
                  <a:srgbClr val="000000"/>
                </a:solidFill>
                <a:latin typeface="Times New Roman" panose="02020603050405020304" charset="0"/>
                <a:ea typeface="Verdana" panose="020B0604030504040204"/>
                <a:cs typeface="Times New Roman" panose="02020603050405020304" charset="0"/>
              </a:rPr>
              <a:t> are -</a:t>
            </a:r>
            <a:endParaRPr lang="en-GB" sz="1600" b="1" i="0">
              <a:solidFill>
                <a:srgbClr val="000000"/>
              </a:solidFill>
              <a:latin typeface="Times New Roman" panose="02020603050405020304" charset="0"/>
              <a:ea typeface="Verdana" panose="020B0604030504040204"/>
              <a:cs typeface="Times New Roman" panose="02020603050405020304" charset="0"/>
            </a:endParaRPr>
          </a:p>
        </p:txBody>
      </p:sp>
      <p:sp>
        <p:nvSpPr>
          <p:cNvPr id="4" name="Text Box 3"/>
          <p:cNvSpPr txBox="1"/>
          <p:nvPr/>
        </p:nvSpPr>
        <p:spPr>
          <a:xfrm>
            <a:off x="381000" y="2053590"/>
            <a:ext cx="8530590" cy="321945"/>
          </a:xfrm>
          <a:prstGeom prst="rect">
            <a:avLst/>
          </a:prstGeom>
        </p:spPr>
        <p:txBody>
          <a:bodyPr wrap="square">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Commutative Property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1"/>
          <a:stretch>
            <a:fillRect/>
          </a:stretch>
        </p:blipFill>
        <p:spPr>
          <a:xfrm>
            <a:off x="1143000" y="2663190"/>
            <a:ext cx="4663440" cy="1257300"/>
          </a:xfrm>
          <a:prstGeom prst="rect">
            <a:avLst/>
          </a:prstGeom>
        </p:spPr>
      </p:pic>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7432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Associative Property</a:t>
            </a:r>
            <a:endParaRPr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490220" y="1200150"/>
            <a:ext cx="4861560" cy="320040"/>
          </a:xfrm>
          <a:prstGeom prst="rect">
            <a:avLst/>
          </a:prstGeom>
        </p:spPr>
      </p:pic>
      <p:pic>
        <p:nvPicPr>
          <p:cNvPr id="4" name="Picture 3"/>
          <p:cNvPicPr>
            <a:picLocks noChangeAspect="1"/>
          </p:cNvPicPr>
          <p:nvPr/>
        </p:nvPicPr>
        <p:blipFill>
          <a:blip r:embed="rId2"/>
          <a:stretch>
            <a:fillRect/>
          </a:stretch>
        </p:blipFill>
        <p:spPr>
          <a:xfrm>
            <a:off x="1014095" y="1892300"/>
            <a:ext cx="7070725" cy="2980690"/>
          </a:xfrm>
          <a:prstGeom prst="rect">
            <a:avLst/>
          </a:prstGeom>
        </p:spPr>
      </p:pic>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8194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Distributive Property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762000" y="1276350"/>
            <a:ext cx="5372100" cy="1386840"/>
          </a:xfrm>
          <a:prstGeom prst="rect">
            <a:avLst/>
          </a:prstGeom>
        </p:spPr>
      </p:pic>
      <p:sp>
        <p:nvSpPr>
          <p:cNvPr id="4" name="Text Box 3"/>
          <p:cNvSpPr txBox="1"/>
          <p:nvPr/>
        </p:nvSpPr>
        <p:spPr>
          <a:xfrm>
            <a:off x="381000" y="28768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Idempotency Property</a:t>
            </a:r>
            <a:r>
              <a:rPr lang="en-GB" sz="1600" b="1" i="0">
                <a:latin typeface="Times New Roman" panose="02020603050405020304" charset="0"/>
                <a:ea typeface="Verdana" panose="020B0604030504040204"/>
                <a:cs typeface="Times New Roman" panose="02020603050405020304" charset="0"/>
              </a:rPr>
              <a:t> -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838200" y="3562350"/>
            <a:ext cx="4770120" cy="1272540"/>
          </a:xfrm>
          <a:prstGeom prst="rect">
            <a:avLst/>
          </a:prstGeom>
        </p:spPr>
      </p:pic>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4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Identity Property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533400" y="1276350"/>
            <a:ext cx="5280660" cy="1958340"/>
          </a:xfrm>
          <a:prstGeom prst="rect">
            <a:avLst/>
          </a:prstGeom>
        </p:spPr>
      </p:pic>
      <p:sp>
        <p:nvSpPr>
          <p:cNvPr id="4" name="Text Box 3"/>
          <p:cNvSpPr txBox="1"/>
          <p:nvPr/>
        </p:nvSpPr>
        <p:spPr>
          <a:xfrm>
            <a:off x="457200" y="3410267"/>
            <a:ext cx="5080000" cy="7156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Transitive Property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Arial" panose="020B0604020202020204" pitchFamily="34" charset="0"/>
              <a:buNone/>
            </a:pP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1143000" y="4019550"/>
            <a:ext cx="5234940" cy="731520"/>
          </a:xfrm>
          <a:prstGeom prst="rect">
            <a:avLst/>
          </a:prstGeom>
        </p:spPr>
      </p:pic>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32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Involution Property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533400" y="1123950"/>
            <a:ext cx="4305300" cy="922020"/>
          </a:xfrm>
          <a:prstGeom prst="rect">
            <a:avLst/>
          </a:prstGeom>
        </p:spPr>
      </p:pic>
      <p:sp>
        <p:nvSpPr>
          <p:cNvPr id="4" name="Text Box 3"/>
          <p:cNvSpPr txBox="1"/>
          <p:nvPr/>
        </p:nvSpPr>
        <p:spPr>
          <a:xfrm>
            <a:off x="304800" y="24958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De Morgans Law</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609600" y="3181350"/>
            <a:ext cx="6789420" cy="1341120"/>
          </a:xfrm>
          <a:prstGeom prst="rect">
            <a:avLst/>
          </a:prstGeom>
        </p:spPr>
      </p:pic>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81200" y="818833"/>
            <a:ext cx="5080000" cy="460375"/>
          </a:xfrm>
          <a:prstGeom prst="rect">
            <a:avLst/>
          </a:prstGeom>
        </p:spPr>
        <p:txBody>
          <a:bodyPr>
            <a:spAutoFit/>
          </a:bodyPr>
          <a:p>
            <a:pPr marL="0" indent="0" algn="ctr">
              <a:spcAft>
                <a:spcPct val="60000"/>
              </a:spcAft>
            </a:pPr>
            <a:r>
              <a:rPr sz="2400" b="1" i="0">
                <a:solidFill>
                  <a:srgbClr val="000000"/>
                </a:solidFill>
                <a:latin typeface="Times New Roman" panose="02020603050405020304" charset="0"/>
                <a:ea typeface="Lato"/>
                <a:cs typeface="Times New Roman" panose="02020603050405020304" charset="0"/>
              </a:rPr>
              <a:t>Fuzzy Logic - Membership Function</a:t>
            </a:r>
            <a:endParaRPr sz="24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504950"/>
            <a:ext cx="8566785" cy="829945"/>
          </a:xfrm>
          <a:prstGeom prst="rect">
            <a:avLst/>
          </a:prstGeom>
        </p:spPr>
        <p:txBody>
          <a:bodyPr wrap="square">
            <a:spAutoFit/>
          </a:bodyPr>
          <a:p>
            <a:pPr marL="0" indent="0" algn="just"/>
            <a:r>
              <a:rPr sz="1600" b="0" i="0">
                <a:solidFill>
                  <a:srgbClr val="000000"/>
                </a:solidFill>
                <a:latin typeface="Times New Roman" panose="02020603050405020304" charset="0"/>
                <a:ea typeface="Verdana" panose="020B0604030504040204"/>
                <a:cs typeface="Times New Roman" panose="02020603050405020304" charset="0"/>
              </a:rPr>
              <a:t>We already know that fuzzy logic is not logic that is fuzzy but logic that is used to describe fuzziness. This fuzziness is best characterized by its membership function. In other words, we can say that membership function represents the degree of truth in fuzzy logic.</a:t>
            </a:r>
            <a:endParaRPr sz="1600" b="0" i="0">
              <a:solidFill>
                <a:srgbClr val="000000"/>
              </a:solidFill>
              <a:latin typeface="Times New Roman" panose="02020603050405020304" charset="0"/>
              <a:ea typeface="Verdana" panose="020B0604030504040204"/>
              <a:cs typeface="Times New Roman" panose="02020603050405020304" charset="0"/>
            </a:endParaRPr>
          </a:p>
        </p:txBody>
      </p:sp>
      <p:pic>
        <p:nvPicPr>
          <p:cNvPr id="4" name="Picture 3"/>
          <p:cNvPicPr>
            <a:picLocks noChangeAspect="1"/>
          </p:cNvPicPr>
          <p:nvPr/>
        </p:nvPicPr>
        <p:blipFill>
          <a:blip r:embed="rId1"/>
          <a:stretch>
            <a:fillRect/>
          </a:stretch>
        </p:blipFill>
        <p:spPr>
          <a:xfrm>
            <a:off x="2712720" y="2495550"/>
            <a:ext cx="3718560" cy="1950720"/>
          </a:xfrm>
          <a:prstGeom prst="rect">
            <a:avLst/>
          </a:prstGeom>
        </p:spPr>
      </p:pic>
      <p:sp>
        <p:nvSpPr>
          <p:cNvPr id="5" name="Text Box 4"/>
          <p:cNvSpPr txBox="1"/>
          <p:nvPr/>
        </p:nvSpPr>
        <p:spPr>
          <a:xfrm>
            <a:off x="228600" y="4552950"/>
            <a:ext cx="8689340" cy="337185"/>
          </a:xfrm>
          <a:prstGeom prst="rect">
            <a:avLst/>
          </a:prstGeom>
        </p:spPr>
        <p:txBody>
          <a:bodyPr wrap="square">
            <a:spAutoFit/>
          </a:bodyPr>
          <a:p>
            <a:pPr marL="0" indent="0"/>
            <a:r>
              <a:rPr sz="1600" b="1" i="0">
                <a:solidFill>
                  <a:srgbClr val="000000"/>
                </a:solidFill>
                <a:latin typeface="Times New Roman" panose="02020603050405020304" charset="0"/>
                <a:ea typeface="Verdana" panose="020B0604030504040204"/>
                <a:cs typeface="Times New Roman" panose="02020603050405020304" charset="0"/>
              </a:rPr>
              <a:t>Following are a few important points relating to the membership function −</a:t>
            </a:r>
            <a:endParaRPr sz="1600" b="1"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81000" y="819150"/>
            <a:ext cx="8542020" cy="3046095"/>
          </a:xfrm>
          <a:prstGeom prst="rect">
            <a:avLst/>
          </a:prstGeom>
        </p:spPr>
        <p:txBody>
          <a:bodyPr wrap="square">
            <a:spAutoFit/>
          </a:bodyPr>
          <a:p>
            <a:pPr marL="0" indent="0" algn="just">
              <a:spcBef>
                <a:spcPct val="0"/>
              </a:spcBef>
              <a:spcAft>
                <a:spcPct val="0"/>
              </a:spcAft>
              <a:buFont typeface="Arial" panose="020B0604020202020204"/>
              <a:buChar char="•"/>
            </a:pPr>
            <a:r>
              <a:rPr lang="en-GB" sz="1600" b="0" i="0">
                <a:solidFill>
                  <a:srgbClr val="000000"/>
                </a:solidFill>
                <a:latin typeface="Verdana" panose="020B0604030504040204"/>
                <a:ea typeface="Verdana" panose="020B0604030504040204"/>
              </a:rPr>
              <a:t>  </a:t>
            </a:r>
            <a:r>
              <a:rPr sz="1600" b="0" i="0">
                <a:solidFill>
                  <a:srgbClr val="000000"/>
                </a:solidFill>
                <a:latin typeface="Times New Roman" panose="02020603050405020304" charset="0"/>
                <a:ea typeface="Verdana" panose="020B0604030504040204"/>
                <a:cs typeface="Times New Roman" panose="02020603050405020304" charset="0"/>
              </a:rPr>
              <a:t>Membership functions were first introduced in 1965 by Lofti A. Zadeh in his first research paper fuzzy sets.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None/>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Char char="•"/>
            </a:pP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Membership functions characterize fuzziness (i.e., all the information in fuzzy set), whether the elements in fuzzy sets are discrete or continuous.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None/>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Char char="•"/>
            </a:pP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Membership functions can be defined as a technique to solve practical problems by experience rather than knowledge.</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None/>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Char char="•"/>
            </a:pP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Membership functions are represented by graphical forms.</a:t>
            </a: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None/>
            </a:pPr>
            <a:endParaRPr sz="1600" b="0" i="0">
              <a:solidFill>
                <a:srgbClr val="000000"/>
              </a:solidFill>
              <a:latin typeface="Times New Roman" panose="02020603050405020304" charset="0"/>
              <a:ea typeface="Verdana" panose="020B0604030504040204"/>
              <a:cs typeface="Times New Roman" panose="02020603050405020304" charset="0"/>
            </a:endParaRPr>
          </a:p>
          <a:p>
            <a:pPr marL="0" indent="0" algn="just">
              <a:spcBef>
                <a:spcPct val="0"/>
              </a:spcBef>
              <a:spcAft>
                <a:spcPct val="0"/>
              </a:spcAft>
              <a:buFont typeface="Arial" panose="020B0604020202020204"/>
              <a:buChar char="•"/>
            </a:pPr>
            <a:r>
              <a:rPr lang="en-GB" sz="1600" b="0" i="0">
                <a:solidFill>
                  <a:srgbClr val="000000"/>
                </a:solidFill>
                <a:latin typeface="Times New Roman" panose="02020603050405020304" charset="0"/>
                <a:ea typeface="Verdana" panose="020B0604030504040204"/>
                <a:cs typeface="Times New Roman" panose="02020603050405020304" charset="0"/>
              </a:rPr>
              <a:t>  </a:t>
            </a:r>
            <a:r>
              <a:rPr sz="1600" b="0" i="0">
                <a:solidFill>
                  <a:srgbClr val="000000"/>
                </a:solidFill>
                <a:latin typeface="Times New Roman" panose="02020603050405020304" charset="0"/>
                <a:ea typeface="Verdana" panose="020B0604030504040204"/>
                <a:cs typeface="Times New Roman" panose="02020603050405020304" charset="0"/>
              </a:rPr>
              <a:t>Rules for defining fuzziness are fuzzy too.</a:t>
            </a:r>
            <a:endParaRPr sz="1600"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467"/>
            <a:ext cx="5080000" cy="321945"/>
          </a:xfrm>
          <a:prstGeom prst="rect">
            <a:avLst/>
          </a:prstGeom>
        </p:spPr>
        <p:txBody>
          <a:bodyPr>
            <a:spAutoFit/>
          </a:bodyPr>
          <a:p>
            <a:pPr marL="0" indent="0">
              <a:lnSpc>
                <a:spcPts val="1800"/>
              </a:lnSpc>
              <a:spcAft>
                <a:spcPct val="60000"/>
              </a:spcAft>
            </a:pPr>
            <a:r>
              <a:rPr sz="2000" b="1" i="0">
                <a:solidFill>
                  <a:srgbClr val="000000"/>
                </a:solidFill>
                <a:latin typeface="Times New Roman" panose="02020603050405020304" charset="0"/>
                <a:ea typeface="Lato"/>
                <a:cs typeface="Times New Roman" panose="02020603050405020304" charset="0"/>
              </a:rPr>
              <a:t>Mathematical Notation</a:t>
            </a:r>
            <a:endParaRPr sz="2000" b="1" i="0">
              <a:solidFill>
                <a:srgbClr val="000000"/>
              </a:solidFill>
              <a:latin typeface="Times New Roman" panose="02020603050405020304" charset="0"/>
              <a:ea typeface="Lato"/>
              <a:cs typeface="Times New Roman" panose="02020603050405020304" charset="0"/>
            </a:endParaRPr>
          </a:p>
        </p:txBody>
      </p:sp>
      <p:pic>
        <p:nvPicPr>
          <p:cNvPr id="3" name="Picture 2"/>
          <p:cNvPicPr>
            <a:picLocks noChangeAspect="1"/>
          </p:cNvPicPr>
          <p:nvPr/>
        </p:nvPicPr>
        <p:blipFill>
          <a:blip r:embed="rId1"/>
          <a:stretch>
            <a:fillRect/>
          </a:stretch>
        </p:blipFill>
        <p:spPr>
          <a:xfrm>
            <a:off x="381000" y="1428750"/>
            <a:ext cx="8232140" cy="2531110"/>
          </a:xfrm>
          <a:prstGeom prst="rect">
            <a:avLst/>
          </a:prstGeom>
        </p:spPr>
      </p:pic>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467"/>
            <a:ext cx="5080000" cy="321945"/>
          </a:xfrm>
          <a:prstGeom prst="rect">
            <a:avLst/>
          </a:prstGeom>
        </p:spPr>
        <p:txBody>
          <a:bodyPr>
            <a:spAutoFit/>
          </a:bodyPr>
          <a:p>
            <a:pPr marL="0" indent="0">
              <a:lnSpc>
                <a:spcPts val="1800"/>
              </a:lnSpc>
              <a:spcAft>
                <a:spcPct val="60000"/>
              </a:spcAft>
            </a:pPr>
            <a:r>
              <a:rPr sz="2000" b="1" i="0">
                <a:solidFill>
                  <a:srgbClr val="000000"/>
                </a:solidFill>
                <a:latin typeface="Times New Roman" panose="02020603050405020304" charset="0"/>
                <a:ea typeface="Lato"/>
                <a:cs typeface="Times New Roman" panose="02020603050405020304" charset="0"/>
              </a:rPr>
              <a:t>Features of Membership Functions</a:t>
            </a:r>
            <a:endParaRPr sz="20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428750"/>
            <a:ext cx="8621395" cy="368300"/>
          </a:xfrm>
          <a:prstGeom prst="rect">
            <a:avLst/>
          </a:prstGeom>
        </p:spPr>
        <p:txBody>
          <a:bodyPr wrap="square">
            <a:spAutoFit/>
          </a:bodyPr>
          <a:p>
            <a:pPr marL="0" indent="0"/>
            <a:r>
              <a:rPr lang="en-GB" b="1" i="0">
                <a:solidFill>
                  <a:srgbClr val="000000"/>
                </a:solidFill>
                <a:latin typeface="Times New Roman" panose="02020603050405020304" charset="0"/>
                <a:ea typeface="Verdana" panose="020B0604030504040204"/>
                <a:cs typeface="Times New Roman" panose="02020603050405020304" charset="0"/>
              </a:rPr>
              <a:t>T</a:t>
            </a:r>
            <a:r>
              <a:rPr b="1" i="0">
                <a:solidFill>
                  <a:srgbClr val="000000"/>
                </a:solidFill>
                <a:latin typeface="Times New Roman" panose="02020603050405020304" charset="0"/>
                <a:ea typeface="Verdana" panose="020B0604030504040204"/>
                <a:cs typeface="Times New Roman" panose="02020603050405020304" charset="0"/>
              </a:rPr>
              <a:t>he different features of Membership Functions</a:t>
            </a:r>
            <a:r>
              <a:rPr lang="en-GB" b="1" i="0">
                <a:solidFill>
                  <a:srgbClr val="000000"/>
                </a:solidFill>
                <a:latin typeface="Times New Roman" panose="02020603050405020304" charset="0"/>
                <a:ea typeface="Verdana" panose="020B0604030504040204"/>
                <a:cs typeface="Times New Roman" panose="02020603050405020304" charset="0"/>
              </a:rPr>
              <a:t> -</a:t>
            </a:r>
            <a:endParaRPr lang="en-GB" b="1" i="0">
              <a:solidFill>
                <a:srgbClr val="000000"/>
              </a:solidFill>
              <a:latin typeface="Times New Roman" panose="02020603050405020304" charset="0"/>
              <a:ea typeface="Verdana" panose="020B0604030504040204"/>
              <a:cs typeface="Times New Roman" panose="02020603050405020304" charset="0"/>
            </a:endParaRPr>
          </a:p>
        </p:txBody>
      </p:sp>
      <p:sp>
        <p:nvSpPr>
          <p:cNvPr id="4" name="Text Box 3"/>
          <p:cNvSpPr txBox="1"/>
          <p:nvPr/>
        </p:nvSpPr>
        <p:spPr>
          <a:xfrm>
            <a:off x="381000" y="20386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Core</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1"/>
          <a:stretch>
            <a:fillRect/>
          </a:stretch>
        </p:blipFill>
        <p:spPr>
          <a:xfrm>
            <a:off x="457200" y="2495550"/>
            <a:ext cx="8547100" cy="1226820"/>
          </a:xfrm>
          <a:prstGeom prst="rect">
            <a:avLst/>
          </a:prstGeom>
        </p:spPr>
      </p:pic>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4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Support</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341630" y="1352550"/>
            <a:ext cx="8524875" cy="1188720"/>
          </a:xfrm>
          <a:prstGeom prst="rect">
            <a:avLst/>
          </a:prstGeom>
        </p:spPr>
      </p:pic>
      <p:sp>
        <p:nvSpPr>
          <p:cNvPr id="4" name="Text Box 3"/>
          <p:cNvSpPr txBox="1"/>
          <p:nvPr/>
        </p:nvSpPr>
        <p:spPr>
          <a:xfrm>
            <a:off x="341630" y="30292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Boundary</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533400" y="3562350"/>
            <a:ext cx="8442960" cy="1272540"/>
          </a:xfrm>
          <a:prstGeom prst="rect">
            <a:avLst/>
          </a:prstGeom>
        </p:spPr>
      </p:pic>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725930" y="895350"/>
            <a:ext cx="5692140" cy="2756535"/>
          </a:xfrm>
          <a:prstGeom prst="rect">
            <a:avLst/>
          </a:prstGeom>
        </p:spPr>
      </p:pic>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828800" y="743267"/>
            <a:ext cx="5080000" cy="321945"/>
          </a:xfrm>
          <a:prstGeom prst="rect">
            <a:avLst/>
          </a:prstGeom>
        </p:spPr>
        <p:txBody>
          <a:bodyPr>
            <a:spAutoFit/>
          </a:bodyPr>
          <a:p>
            <a:pPr marL="0" indent="0" algn="ctr">
              <a:lnSpc>
                <a:spcPts val="1800"/>
              </a:lnSpc>
              <a:spcAft>
                <a:spcPct val="60000"/>
              </a:spcAft>
            </a:pPr>
            <a:r>
              <a:rPr sz="2400" b="1" i="0">
                <a:solidFill>
                  <a:srgbClr val="000000"/>
                </a:solidFill>
                <a:latin typeface="Times New Roman" panose="02020603050405020304" charset="0"/>
                <a:ea typeface="Lato"/>
                <a:cs typeface="Times New Roman" panose="02020603050405020304" charset="0"/>
              </a:rPr>
              <a:t>Fuzzification</a:t>
            </a:r>
            <a:endParaRPr sz="24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304800" y="1352550"/>
            <a:ext cx="8465185" cy="922020"/>
          </a:xfrm>
          <a:prstGeom prst="rect">
            <a:avLst/>
          </a:prstGeom>
        </p:spPr>
        <p:txBody>
          <a:bodyPr wrap="square">
            <a:sp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It may be defined as the process of transforming a crisp set to a fuzzy set or a fuzzy set to fuzzier set. Basically, this operation translates accurate crisp input values into linguistic variables.</a:t>
            </a:r>
            <a:endParaRPr b="0" i="0">
              <a:solidFill>
                <a:srgbClr val="000000"/>
              </a:solidFill>
              <a:latin typeface="Times New Roman" panose="02020603050405020304" charset="0"/>
              <a:ea typeface="Verdana" panose="020B0604030504040204"/>
              <a:cs typeface="Times New Roman" panose="02020603050405020304" charset="0"/>
            </a:endParaRPr>
          </a:p>
        </p:txBody>
      </p:sp>
      <p:sp>
        <p:nvSpPr>
          <p:cNvPr id="4" name="Text Box 3"/>
          <p:cNvSpPr txBox="1"/>
          <p:nvPr/>
        </p:nvSpPr>
        <p:spPr>
          <a:xfrm>
            <a:off x="304800" y="2562225"/>
            <a:ext cx="8595995"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Following are the two important methods of fuzzification −</a:t>
            </a:r>
            <a:endParaRPr b="0" i="0">
              <a:solidFill>
                <a:srgbClr val="000000"/>
              </a:solidFill>
              <a:latin typeface="Times New Roman" panose="02020603050405020304" charset="0"/>
              <a:ea typeface="Verdana" panose="020B0604030504040204"/>
              <a:cs typeface="Times New Roman" panose="02020603050405020304" charset="0"/>
            </a:endParaRPr>
          </a:p>
        </p:txBody>
      </p:sp>
      <p:sp>
        <p:nvSpPr>
          <p:cNvPr id="5" name="Text Box 4"/>
          <p:cNvSpPr txBox="1"/>
          <p:nvPr/>
        </p:nvSpPr>
        <p:spPr>
          <a:xfrm>
            <a:off x="228600" y="3218180"/>
            <a:ext cx="8551545" cy="321945"/>
          </a:xfrm>
          <a:prstGeom prst="rect">
            <a:avLst/>
          </a:prstGeom>
        </p:spPr>
        <p:txBody>
          <a:bodyPr wrap="square">
            <a:spAutoFit/>
          </a:bodyPr>
          <a:p>
            <a:pPr marL="285750" indent="-285750" algn="l">
              <a:lnSpc>
                <a:spcPts val="1800"/>
              </a:lnSpc>
              <a:spcAft>
                <a:spcPct val="60000"/>
              </a:spcAft>
              <a:buFont typeface="Arial" panose="020B0604020202020204" pitchFamily="34" charset="0"/>
              <a:buChar char="•"/>
            </a:pPr>
            <a:r>
              <a:rPr b="1" i="0">
                <a:latin typeface="Times New Roman" panose="02020603050405020304" charset="0"/>
                <a:ea typeface="Verdana" panose="020B0604030504040204"/>
                <a:cs typeface="Times New Roman" panose="02020603050405020304" charset="0"/>
              </a:rPr>
              <a:t>Support Fuzzification(s-fuzzification) Method</a:t>
            </a:r>
            <a:r>
              <a:rPr lang="en-GB" b="1" i="0">
                <a:latin typeface="Times New Roman" panose="02020603050405020304" charset="0"/>
                <a:ea typeface="Verdana" panose="020B0604030504040204"/>
                <a:cs typeface="Times New Roman" panose="02020603050405020304" charset="0"/>
              </a:rPr>
              <a:t> -</a:t>
            </a:r>
            <a:endParaRPr lang="en-GB" b="1" i="0">
              <a:latin typeface="Times New Roman" panose="02020603050405020304" charset="0"/>
              <a:ea typeface="Verdana" panose="020B0604030504040204"/>
              <a:cs typeface="Times New Roman" panose="02020603050405020304" charset="0"/>
            </a:endParaRPr>
          </a:p>
        </p:txBody>
      </p:sp>
      <p:sp>
        <p:nvSpPr>
          <p:cNvPr id="6" name="Text Box 5"/>
          <p:cNvSpPr txBox="1"/>
          <p:nvPr/>
        </p:nvSpPr>
        <p:spPr>
          <a:xfrm>
            <a:off x="228600" y="3771900"/>
            <a:ext cx="8619490" cy="368300"/>
          </a:xfrm>
          <a:prstGeom prst="rect">
            <a:avLst/>
          </a:prstGeom>
        </p:spPr>
        <p:txBody>
          <a:bodyPr wrap="square">
            <a:spAutoFit/>
          </a:bodyPr>
          <a:p>
            <a:pPr marL="0" indent="0"/>
            <a:r>
              <a:rPr b="0" i="0">
                <a:solidFill>
                  <a:srgbClr val="000000"/>
                </a:solidFill>
                <a:latin typeface="Times New Roman" panose="02020603050405020304" charset="0"/>
                <a:ea typeface="Verdana" panose="020B0604030504040204"/>
                <a:cs typeface="Times New Roman" panose="02020603050405020304" charset="0"/>
              </a:rPr>
              <a:t>In this method, the fuzzified set can be expressed with the help of the following relation −</a:t>
            </a:r>
            <a:endParaRPr b="0" i="0">
              <a:solidFill>
                <a:srgbClr val="000000"/>
              </a:solidFill>
              <a:latin typeface="Times New Roman" panose="02020603050405020304" charset="0"/>
              <a:ea typeface="Verdana" panose="020B0604030504040204"/>
              <a:cs typeface="Times New Roman" panose="02020603050405020304" charset="0"/>
            </a:endParaRPr>
          </a:p>
        </p:txBody>
      </p:sp>
      <p:pic>
        <p:nvPicPr>
          <p:cNvPr id="7" name="Picture 6"/>
          <p:cNvPicPr>
            <a:picLocks noChangeAspect="1"/>
          </p:cNvPicPr>
          <p:nvPr/>
        </p:nvPicPr>
        <p:blipFill>
          <a:blip r:embed="rId1"/>
          <a:stretch>
            <a:fillRect/>
          </a:stretch>
        </p:blipFill>
        <p:spPr>
          <a:xfrm>
            <a:off x="2438400" y="4324350"/>
            <a:ext cx="3749040" cy="441960"/>
          </a:xfrm>
          <a:prstGeom prst="rect">
            <a:avLst/>
          </a:prstGeom>
        </p:spPr>
      </p:pic>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689340" cy="645160"/>
          </a:xfrm>
          <a:prstGeom prst="rect">
            <a:avLst/>
          </a:prstGeom>
        </p:spPr>
        <p:txBody>
          <a:bodyPr wrap="square">
            <a:sp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Here the fuzzy set </a:t>
            </a:r>
            <a:r>
              <a:rPr b="0" i="0">
                <a:solidFill>
                  <a:srgbClr val="000000"/>
                </a:solidFill>
                <a:latin typeface="Times New Roman" panose="02020603050405020304" charset="0"/>
                <a:ea typeface="MathJax_Math-italic"/>
                <a:cs typeface="Times New Roman" panose="02020603050405020304" charset="0"/>
              </a:rPr>
              <a:t>Q</a:t>
            </a:r>
            <a:r>
              <a:rPr b="0" i="0">
                <a:solidFill>
                  <a:srgbClr val="000000"/>
                </a:solidFill>
                <a:latin typeface="Times New Roman" panose="02020603050405020304" charset="0"/>
                <a:ea typeface="MathJax_Main"/>
                <a:cs typeface="Times New Roman" panose="02020603050405020304" charset="0"/>
              </a:rPr>
              <a:t>(</a:t>
            </a:r>
            <a:r>
              <a:rPr b="0" i="0">
                <a:solidFill>
                  <a:srgbClr val="000000"/>
                </a:solidFill>
                <a:latin typeface="Times New Roman" panose="02020603050405020304" charset="0"/>
                <a:ea typeface="MathJax_Math-italic"/>
                <a:cs typeface="Times New Roman" panose="02020603050405020304" charset="0"/>
              </a:rPr>
              <a:t>x</a:t>
            </a:r>
            <a:r>
              <a:rPr lang="en-GB" b="0" i="0" baseline="-25000">
                <a:solidFill>
                  <a:srgbClr val="000000"/>
                </a:solidFill>
                <a:latin typeface="Times New Roman" panose="02020603050405020304" charset="0"/>
                <a:ea typeface="MathJax_Math-italic"/>
                <a:cs typeface="Times New Roman" panose="02020603050405020304" charset="0"/>
              </a:rPr>
              <a:t>i</a:t>
            </a:r>
            <a:r>
              <a:rPr b="0" i="0">
                <a:solidFill>
                  <a:srgbClr val="000000"/>
                </a:solidFill>
                <a:latin typeface="Times New Roman" panose="02020603050405020304" charset="0"/>
                <a:ea typeface="MathJax_Main"/>
                <a:cs typeface="Times New Roman" panose="02020603050405020304" charset="0"/>
              </a:rPr>
              <a:t>)</a:t>
            </a:r>
            <a:r>
              <a:rPr b="0" i="0">
                <a:solidFill>
                  <a:srgbClr val="000000"/>
                </a:solidFill>
                <a:latin typeface="Times New Roman" panose="02020603050405020304" charset="0"/>
                <a:ea typeface="Verdana" panose="020B0604030504040204"/>
                <a:cs typeface="Times New Roman" panose="02020603050405020304" charset="0"/>
              </a:rPr>
              <a:t> is called as kernel of fuzzification. This method is implemented by keeping </a:t>
            </a:r>
            <a:r>
              <a:rPr b="0" i="0">
                <a:solidFill>
                  <a:srgbClr val="000000"/>
                </a:solidFill>
                <a:latin typeface="Times New Roman" panose="02020603050405020304" charset="0"/>
                <a:ea typeface="MathJax_Math-italic"/>
                <a:cs typeface="Times New Roman" panose="02020603050405020304" charset="0"/>
              </a:rPr>
              <a:t>μ</a:t>
            </a:r>
            <a:r>
              <a:rPr lang="en-GB" b="0" i="0" baseline="-25000">
                <a:solidFill>
                  <a:srgbClr val="000000"/>
                </a:solidFill>
                <a:latin typeface="Times New Roman" panose="02020603050405020304" charset="0"/>
                <a:ea typeface="MathJax_Math-italic"/>
                <a:cs typeface="Times New Roman" panose="02020603050405020304" charset="0"/>
              </a:rPr>
              <a:t>i</a:t>
            </a:r>
            <a:r>
              <a:rPr b="0" i="0" baseline="-25000">
                <a:solidFill>
                  <a:srgbClr val="000000"/>
                </a:solidFill>
                <a:latin typeface="Times New Roman" panose="02020603050405020304" charset="0"/>
                <a:ea typeface="Verdana" panose="020B0604030504040204"/>
                <a:cs typeface="Times New Roman" panose="02020603050405020304" charset="0"/>
              </a:rPr>
              <a:t> </a:t>
            </a:r>
            <a:r>
              <a:rPr b="0" i="0">
                <a:solidFill>
                  <a:srgbClr val="000000"/>
                </a:solidFill>
                <a:latin typeface="Times New Roman" panose="02020603050405020304" charset="0"/>
                <a:ea typeface="Verdana" panose="020B0604030504040204"/>
                <a:cs typeface="Times New Roman" panose="02020603050405020304" charset="0"/>
              </a:rPr>
              <a:t>constant and </a:t>
            </a:r>
            <a:r>
              <a:rPr lang="en-GB" b="0" i="0">
                <a:solidFill>
                  <a:srgbClr val="000000"/>
                </a:solidFill>
                <a:latin typeface="Times New Roman" panose="02020603050405020304" charset="0"/>
                <a:ea typeface="Verdana" panose="020B0604030504040204"/>
                <a:cs typeface="Times New Roman" panose="02020603050405020304" charset="0"/>
              </a:rPr>
              <a:t>x</a:t>
            </a:r>
            <a:r>
              <a:rPr b="0" i="0" baseline="-25000">
                <a:solidFill>
                  <a:srgbClr val="000000"/>
                </a:solidFill>
                <a:latin typeface="Times New Roman" panose="02020603050405020304" charset="0"/>
                <a:ea typeface="MathJax_Math-italic"/>
                <a:cs typeface="Times New Roman" panose="02020603050405020304" charset="0"/>
              </a:rPr>
              <a:t>i</a:t>
            </a:r>
            <a:r>
              <a:rPr b="0" i="0" baseline="-25000">
                <a:solidFill>
                  <a:srgbClr val="000000"/>
                </a:solidFill>
                <a:latin typeface="Times New Roman" panose="02020603050405020304" charset="0"/>
                <a:ea typeface="Verdana" panose="020B0604030504040204"/>
                <a:cs typeface="Times New Roman" panose="02020603050405020304" charset="0"/>
              </a:rPr>
              <a:t> </a:t>
            </a:r>
            <a:r>
              <a:rPr b="0" i="0">
                <a:solidFill>
                  <a:srgbClr val="000000"/>
                </a:solidFill>
                <a:latin typeface="Times New Roman" panose="02020603050405020304" charset="0"/>
                <a:ea typeface="Verdana" panose="020B0604030504040204"/>
                <a:cs typeface="Times New Roman" panose="02020603050405020304" charset="0"/>
              </a:rPr>
              <a:t>being transformed to a fuzzy set </a:t>
            </a:r>
            <a:r>
              <a:rPr b="0" i="0">
                <a:solidFill>
                  <a:srgbClr val="000000"/>
                </a:solidFill>
                <a:latin typeface="Times New Roman" panose="02020603050405020304" charset="0"/>
                <a:ea typeface="MathJax_Math-italic"/>
                <a:cs typeface="Times New Roman" panose="02020603050405020304" charset="0"/>
              </a:rPr>
              <a:t>Q</a:t>
            </a:r>
            <a:r>
              <a:rPr b="0" i="0">
                <a:solidFill>
                  <a:srgbClr val="000000"/>
                </a:solidFill>
                <a:latin typeface="Times New Roman" panose="02020603050405020304" charset="0"/>
                <a:ea typeface="MathJax_Main"/>
                <a:cs typeface="Times New Roman" panose="02020603050405020304" charset="0"/>
              </a:rPr>
              <a:t>(</a:t>
            </a:r>
            <a:r>
              <a:rPr b="0" i="0">
                <a:solidFill>
                  <a:srgbClr val="000000"/>
                </a:solidFill>
                <a:latin typeface="Times New Roman" panose="02020603050405020304" charset="0"/>
                <a:ea typeface="MathJax_Math-italic"/>
                <a:cs typeface="Times New Roman" panose="02020603050405020304" charset="0"/>
              </a:rPr>
              <a:t>x</a:t>
            </a:r>
            <a:r>
              <a:rPr lang="en-GB" b="0" i="0" baseline="-25000">
                <a:solidFill>
                  <a:srgbClr val="000000"/>
                </a:solidFill>
                <a:latin typeface="Times New Roman" panose="02020603050405020304" charset="0"/>
                <a:ea typeface="MathJax_Math-italic"/>
                <a:cs typeface="Times New Roman" panose="02020603050405020304" charset="0"/>
              </a:rPr>
              <a:t>i</a:t>
            </a:r>
            <a:r>
              <a:rPr b="0" i="0">
                <a:solidFill>
                  <a:srgbClr val="000000"/>
                </a:solidFill>
                <a:latin typeface="Times New Roman" panose="02020603050405020304" charset="0"/>
                <a:ea typeface="MathJax_Main"/>
                <a:cs typeface="Times New Roman" panose="02020603050405020304" charset="0"/>
              </a:rPr>
              <a:t>)</a:t>
            </a:r>
            <a:r>
              <a:rPr b="0" i="0">
                <a:solidFill>
                  <a:srgbClr val="000000"/>
                </a:solidFill>
                <a:latin typeface="Times New Roman" panose="02020603050405020304" charset="0"/>
                <a:ea typeface="Verdana" panose="020B0604030504040204"/>
                <a:cs typeface="Times New Roman" panose="02020603050405020304" charset="0"/>
              </a:rPr>
              <a:t>.</a:t>
            </a:r>
            <a:endParaRPr b="0" i="0">
              <a:solidFill>
                <a:srgbClr val="000000"/>
              </a:solidFill>
              <a:latin typeface="Times New Roman" panose="02020603050405020304" charset="0"/>
              <a:ea typeface="Verdana" panose="020B0604030504040204"/>
              <a:cs typeface="Times New Roman" panose="02020603050405020304" charset="0"/>
            </a:endParaRPr>
          </a:p>
        </p:txBody>
      </p:sp>
      <p:sp>
        <p:nvSpPr>
          <p:cNvPr id="3" name="Text Box 2"/>
          <p:cNvSpPr txBox="1"/>
          <p:nvPr/>
        </p:nvSpPr>
        <p:spPr>
          <a:xfrm>
            <a:off x="228600" y="1733550"/>
            <a:ext cx="8442960" cy="321945"/>
          </a:xfrm>
          <a:prstGeom prst="rect">
            <a:avLst/>
          </a:prstGeom>
        </p:spPr>
        <p:txBody>
          <a:bodyPr wrap="square">
            <a:spAutoFit/>
          </a:bodyPr>
          <a:p>
            <a:pPr marL="285750" indent="-285750" algn="l">
              <a:lnSpc>
                <a:spcPts val="1800"/>
              </a:lnSpc>
              <a:spcAft>
                <a:spcPct val="60000"/>
              </a:spcAft>
              <a:buFont typeface="Arial" panose="020B0604020202020204" pitchFamily="34" charset="0"/>
              <a:buChar char="•"/>
            </a:pPr>
            <a:r>
              <a:rPr b="1" i="0">
                <a:latin typeface="Times New Roman" panose="02020603050405020304" charset="0"/>
                <a:ea typeface="Verdana" panose="020B0604030504040204"/>
                <a:cs typeface="Times New Roman" panose="02020603050405020304" charset="0"/>
              </a:rPr>
              <a:t>Grade Fuzzification (g-fuzzification) Method</a:t>
            </a:r>
            <a:endParaRPr b="1" i="0">
              <a:latin typeface="Times New Roman" panose="02020603050405020304" charset="0"/>
              <a:ea typeface="Verdana" panose="020B0604030504040204"/>
              <a:cs typeface="Times New Roman" panose="02020603050405020304" charset="0"/>
            </a:endParaRPr>
          </a:p>
        </p:txBody>
      </p:sp>
      <p:sp>
        <p:nvSpPr>
          <p:cNvPr id="4" name="Text Box 3"/>
          <p:cNvSpPr txBox="1"/>
          <p:nvPr/>
        </p:nvSpPr>
        <p:spPr>
          <a:xfrm>
            <a:off x="228600" y="2324735"/>
            <a:ext cx="8689340" cy="2030095"/>
          </a:xfrm>
          <a:prstGeom prst="rect">
            <a:avLst/>
          </a:prstGeom>
        </p:spPr>
        <p:txBody>
          <a:bodyPr wrap="square">
            <a:spAutoFit/>
          </a:bodyPr>
          <a:p>
            <a:pPr marL="0" indent="0" algn="just"/>
            <a:r>
              <a:rPr b="0" i="0">
                <a:solidFill>
                  <a:srgbClr val="000000"/>
                </a:solidFill>
                <a:latin typeface="Times New Roman" panose="02020603050405020304" charset="0"/>
                <a:ea typeface="Verdana" panose="020B0604030504040204"/>
                <a:cs typeface="Times New Roman" panose="02020603050405020304" charset="0"/>
              </a:rPr>
              <a:t>It is quite similar to the above method but the main difference is that it kept </a:t>
            </a:r>
            <a:r>
              <a:rPr lang="en-GB" b="0" i="0">
                <a:solidFill>
                  <a:srgbClr val="000000"/>
                </a:solidFill>
                <a:latin typeface="Times New Roman" panose="02020603050405020304" charset="0"/>
                <a:ea typeface="Verdana" panose="020B0604030504040204"/>
                <a:cs typeface="Times New Roman" panose="02020603050405020304" charset="0"/>
              </a:rPr>
              <a:t>x</a:t>
            </a:r>
            <a:r>
              <a:rPr b="0" i="0" baseline="-25000">
                <a:solidFill>
                  <a:srgbClr val="000000"/>
                </a:solidFill>
                <a:latin typeface="Times New Roman" panose="02020603050405020304" charset="0"/>
                <a:ea typeface="MathJax_Math-italic"/>
                <a:cs typeface="Times New Roman" panose="02020603050405020304" charset="0"/>
              </a:rPr>
              <a:t>i</a:t>
            </a:r>
            <a:r>
              <a:rPr b="0" i="0" baseline="-25000">
                <a:solidFill>
                  <a:srgbClr val="000000"/>
                </a:solidFill>
                <a:latin typeface="Times New Roman" panose="02020603050405020304" charset="0"/>
                <a:ea typeface="Verdana" panose="020B0604030504040204"/>
                <a:cs typeface="Times New Roman" panose="02020603050405020304" charset="0"/>
              </a:rPr>
              <a:t> </a:t>
            </a:r>
            <a:r>
              <a:rPr b="0" i="0">
                <a:solidFill>
                  <a:srgbClr val="000000"/>
                </a:solidFill>
                <a:latin typeface="Times New Roman" panose="02020603050405020304" charset="0"/>
                <a:ea typeface="Verdana" panose="020B0604030504040204"/>
                <a:cs typeface="Times New Roman" panose="02020603050405020304" charset="0"/>
              </a:rPr>
              <a:t>constant and </a:t>
            </a:r>
            <a:r>
              <a:rPr b="0" i="0">
                <a:solidFill>
                  <a:srgbClr val="000000"/>
                </a:solidFill>
                <a:latin typeface="Times New Roman" panose="02020603050405020304" charset="0"/>
                <a:ea typeface="MathJax_Math-italic"/>
                <a:cs typeface="Times New Roman" panose="02020603050405020304" charset="0"/>
              </a:rPr>
              <a:t>μ</a:t>
            </a:r>
            <a:r>
              <a:rPr b="0" i="0" baseline="-25000">
                <a:solidFill>
                  <a:srgbClr val="000000"/>
                </a:solidFill>
                <a:latin typeface="Times New Roman" panose="02020603050405020304" charset="0"/>
                <a:ea typeface="MathJax_Math-italic"/>
                <a:cs typeface="Times New Roman" panose="02020603050405020304" charset="0"/>
              </a:rPr>
              <a:t>i</a:t>
            </a:r>
            <a:r>
              <a:rPr b="0" i="0" baseline="-25000">
                <a:solidFill>
                  <a:srgbClr val="000000"/>
                </a:solidFill>
                <a:latin typeface="Times New Roman" panose="02020603050405020304" charset="0"/>
                <a:ea typeface="Verdana" panose="020B0604030504040204"/>
                <a:cs typeface="Times New Roman" panose="02020603050405020304" charset="0"/>
              </a:rPr>
              <a:t> </a:t>
            </a:r>
            <a:r>
              <a:rPr b="0" i="0">
                <a:solidFill>
                  <a:srgbClr val="000000"/>
                </a:solidFill>
                <a:latin typeface="Times New Roman" panose="02020603050405020304" charset="0"/>
                <a:ea typeface="Verdana" panose="020B0604030504040204"/>
                <a:cs typeface="Times New Roman" panose="02020603050405020304" charset="0"/>
              </a:rPr>
              <a:t>is expressed as a fuzzy set.</a:t>
            </a:r>
            <a:endParaRPr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GB" b="0" i="0">
                <a:solidFill>
                  <a:srgbClr val="000000"/>
                </a:solidFill>
                <a:latin typeface="Times New Roman" panose="02020603050405020304" charset="0"/>
                <a:ea typeface="Verdana" panose="020B0604030504040204"/>
                <a:cs typeface="Times New Roman" panose="02020603050405020304" charset="0"/>
              </a:rPr>
              <a:t>                                                                       OR</a:t>
            </a:r>
            <a:endParaRPr 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endParaRPr lang="en-GB" b="0" i="0">
              <a:solidFill>
                <a:srgbClr val="000000"/>
              </a:solidFill>
              <a:latin typeface="Times New Roman" panose="02020603050405020304" charset="0"/>
              <a:ea typeface="Verdana" panose="020B0604030504040204"/>
              <a:cs typeface="Times New Roman" panose="02020603050405020304" charset="0"/>
            </a:endParaRPr>
          </a:p>
          <a:p>
            <a:pPr marL="0" indent="0" algn="just"/>
            <a:r>
              <a:rPr lang="en-US" altLang="en-GB" b="0" i="0">
                <a:solidFill>
                  <a:srgbClr val="000000"/>
                </a:solidFill>
                <a:latin typeface="Times New Roman" panose="02020603050405020304" charset="0"/>
                <a:ea typeface="Verdana" panose="020B0604030504040204"/>
                <a:cs typeface="Times New Roman" panose="02020603050405020304" charset="0"/>
              </a:rPr>
              <a:t>Grade Fuzzification (g-fuzzification) is a method that converts crisp input data into fuzzy sets by keeping the input values </a:t>
            </a:r>
            <a:r>
              <a:rPr lang="en-GB" altLang="en-US" b="0" i="0">
                <a:solidFill>
                  <a:srgbClr val="000000"/>
                </a:solidFill>
                <a:latin typeface="Times New Roman" panose="02020603050405020304" charset="0"/>
                <a:ea typeface="Verdana" panose="020B0604030504040204"/>
                <a:cs typeface="Times New Roman" panose="02020603050405020304" charset="0"/>
              </a:rPr>
              <a:t>(x</a:t>
            </a:r>
            <a:r>
              <a:rPr lang="en-GB" altLang="en-US" b="0" i="0" baseline="-25000">
                <a:solidFill>
                  <a:srgbClr val="000000"/>
                </a:solidFill>
                <a:latin typeface="Times New Roman" panose="02020603050405020304" charset="0"/>
                <a:ea typeface="Verdana" panose="020B0604030504040204"/>
                <a:cs typeface="Times New Roman" panose="02020603050405020304" charset="0"/>
              </a:rPr>
              <a:t>i</a:t>
            </a:r>
            <a:r>
              <a:rPr lang="en-GB" altLang="en-US" b="0" i="0">
                <a:solidFill>
                  <a:srgbClr val="000000"/>
                </a:solidFill>
                <a:latin typeface="Times New Roman" panose="02020603050405020304" charset="0"/>
                <a:ea typeface="Verdana" panose="020B0604030504040204"/>
                <a:cs typeface="Times New Roman" panose="02020603050405020304" charset="0"/>
              </a:rPr>
              <a:t>)</a:t>
            </a:r>
            <a:r>
              <a:rPr lang="en-US" altLang="en-GB" b="0" i="0">
                <a:solidFill>
                  <a:srgbClr val="000000"/>
                </a:solidFill>
                <a:latin typeface="Times New Roman" panose="02020603050405020304" charset="0"/>
                <a:ea typeface="Verdana" panose="020B0604030504040204"/>
                <a:cs typeface="Times New Roman" panose="02020603050405020304" charset="0"/>
              </a:rPr>
              <a:t>constant while representing their corresponding membership values (</a:t>
            </a:r>
            <a:r>
              <a:rPr>
                <a:solidFill>
                  <a:srgbClr val="000000"/>
                </a:solidFill>
                <a:latin typeface="Times New Roman" panose="02020603050405020304" charset="0"/>
                <a:ea typeface="MathJax_Math-italic"/>
                <a:cs typeface="Times New Roman" panose="02020603050405020304" charset="0"/>
                <a:sym typeface="+mn-ea"/>
              </a:rPr>
              <a:t>μ</a:t>
            </a:r>
            <a:r>
              <a:rPr baseline="-25000">
                <a:solidFill>
                  <a:srgbClr val="000000"/>
                </a:solidFill>
                <a:latin typeface="Times New Roman" panose="02020603050405020304" charset="0"/>
                <a:ea typeface="MathJax_Math-italic"/>
                <a:cs typeface="Times New Roman" panose="02020603050405020304" charset="0"/>
                <a:sym typeface="+mn-ea"/>
              </a:rPr>
              <a:t>i</a:t>
            </a:r>
            <a:r>
              <a:rPr lang="en-US" altLang="en-GB" b="0" i="0">
                <a:solidFill>
                  <a:srgbClr val="000000"/>
                </a:solidFill>
                <a:latin typeface="Times New Roman" panose="02020603050405020304" charset="0"/>
                <a:ea typeface="Verdana" panose="020B0604030504040204"/>
                <a:cs typeface="Times New Roman" panose="02020603050405020304" charset="0"/>
              </a:rPr>
              <a:t>) as fuzzy sets or fuzzy numbers. </a:t>
            </a:r>
            <a:endParaRPr lang="en-US" altLang="en-GB"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p:nvPr/>
        </p:nvSpPr>
        <p:spPr>
          <a:xfrm>
            <a:off x="228600" y="742950"/>
            <a:ext cx="8712835" cy="4276725"/>
          </a:xfrm>
          <a:prstGeom prst="rect">
            <a:avLst/>
          </a:prstGeom>
        </p:spPr>
        <p:txBody>
          <a:bodyPr wrap="square">
            <a:spAutoFit/>
          </a:bodyPr>
          <a:p>
            <a:pPr marL="0" indent="0"/>
            <a:r>
              <a:rPr sz="1600" b="0" i="0">
                <a:solidFill>
                  <a:srgbClr val="0A0A0A"/>
                </a:solidFill>
                <a:latin typeface="Times New Roman" panose="02020603050405020304" charset="0"/>
                <a:ea typeface="Google Sans"/>
                <a:cs typeface="Times New Roman" panose="02020603050405020304" charset="0"/>
              </a:rPr>
              <a:t>Unlike support fuzzification, which spreads out the input</a:t>
            </a:r>
            <a:r>
              <a:rPr lang="en-GB" sz="1600" b="0" i="0">
                <a:solidFill>
                  <a:srgbClr val="0A0A0A"/>
                </a:solidFill>
                <a:latin typeface="Times New Roman" panose="02020603050405020304" charset="0"/>
                <a:ea typeface="Google Sans"/>
                <a:cs typeface="Times New Roman" panose="02020603050405020304" charset="0"/>
              </a:rPr>
              <a:t> </a:t>
            </a:r>
            <a:r>
              <a:rPr lang="en-GB" altLang="en-US" sz="1600">
                <a:solidFill>
                  <a:srgbClr val="000000"/>
                </a:solidFill>
                <a:latin typeface="Times New Roman" panose="02020603050405020304" charset="0"/>
                <a:ea typeface="Verdana" panose="020B0604030504040204"/>
                <a:cs typeface="Times New Roman" panose="02020603050405020304" charset="0"/>
                <a:sym typeface="+mn-ea"/>
              </a:rPr>
              <a:t>x</a:t>
            </a:r>
            <a:r>
              <a:rPr lang="en-GB" altLang="en-US" sz="1600" baseline="-25000">
                <a:solidFill>
                  <a:srgbClr val="000000"/>
                </a:solidFill>
                <a:latin typeface="Times New Roman" panose="02020603050405020304" charset="0"/>
                <a:ea typeface="Verdana" panose="020B0604030504040204"/>
                <a:cs typeface="Times New Roman" panose="02020603050405020304" charset="0"/>
                <a:sym typeface="+mn-ea"/>
              </a:rPr>
              <a:t>i , </a:t>
            </a:r>
            <a:r>
              <a:rPr lang="en-GB" altLang="en-US" sz="1600" baseline="30000">
                <a:solidFill>
                  <a:srgbClr val="000000"/>
                </a:solidFill>
                <a:latin typeface="Times New Roman" panose="02020603050405020304" charset="0"/>
                <a:ea typeface="Verdana" panose="020B0604030504040204"/>
                <a:cs typeface="Times New Roman" panose="02020603050405020304" charset="0"/>
                <a:sym typeface="+mn-ea"/>
              </a:rPr>
              <a:t> </a:t>
            </a:r>
            <a:r>
              <a:rPr lang="en-GB" altLang="en-US" sz="1600">
                <a:solidFill>
                  <a:srgbClr val="000000"/>
                </a:solidFill>
                <a:latin typeface="Times New Roman" panose="02020603050405020304" charset="0"/>
                <a:ea typeface="Verdana" panose="020B0604030504040204"/>
                <a:cs typeface="Times New Roman" panose="02020603050405020304" charset="0"/>
                <a:sym typeface="+mn-ea"/>
              </a:rPr>
              <a:t>  </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g-fuzzification focuses on fuzzifying the grade of membership itself, often to model uncertainty in measurement or</a:t>
            </a:r>
            <a:r>
              <a:rPr lang="en-GB" altLang="en-US" sz="1600" b="0" i="0">
                <a:solidFill>
                  <a:srgbClr val="000000"/>
                </a:solidFill>
                <a:latin typeface="Times New Roman" panose="02020603050405020304" charset="0"/>
                <a:ea typeface="Verdana" panose="020B0604030504040204"/>
                <a:cs typeface="Times New Roman" panose="02020603050405020304" charset="0"/>
                <a:sym typeface="+mn-ea"/>
              </a:rPr>
              <a:t> </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interpretation. </a:t>
            </a: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0" indent="0"/>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0" indent="0"/>
            <a:r>
              <a:rPr lang="en-US" altLang="en-GB" sz="1600" b="1" i="0">
                <a:solidFill>
                  <a:srgbClr val="000000"/>
                </a:solidFill>
                <a:latin typeface="Times New Roman" panose="02020603050405020304" charset="0"/>
                <a:ea typeface="Verdana" panose="020B0604030504040204"/>
                <a:cs typeface="Times New Roman" panose="02020603050405020304" charset="0"/>
                <a:sym typeface="+mn-ea"/>
              </a:rPr>
              <a:t>Key Characteristics of Grade Fuzzification:</a:t>
            </a:r>
            <a:r>
              <a:rPr lang="en-US" altLang="en-US" sz="1600" b="1" i="0">
                <a:solidFill>
                  <a:srgbClr val="000000"/>
                </a:solidFill>
                <a:latin typeface="Times New Roman" panose="02020603050405020304" charset="0"/>
                <a:ea typeface="Verdana" panose="020B0604030504040204"/>
                <a:cs typeface="Times New Roman" panose="02020603050405020304" charset="0"/>
                <a:sym typeface="+mn-ea"/>
              </a:rPr>
              <a:t> </a:t>
            </a:r>
            <a:r>
              <a:rPr lang="en-GB" sz="1600" b="1" i="0">
                <a:solidFill>
                  <a:srgbClr val="000000"/>
                </a:solidFill>
                <a:latin typeface="Times New Roman" panose="02020603050405020304" charset="0"/>
                <a:ea typeface="Verdana" panose="020B0604030504040204"/>
                <a:cs typeface="Times New Roman" panose="02020603050405020304" charset="0"/>
                <a:sym typeface="+mn-ea"/>
              </a:rPr>
              <a:t>-</a:t>
            </a:r>
            <a:endParaRPr lang="en-US" altLang="en-US" sz="1600" b="1" i="0">
              <a:solidFill>
                <a:srgbClr val="000000"/>
              </a:solidFill>
              <a:latin typeface="Times New Roman" panose="02020603050405020304" charset="0"/>
              <a:ea typeface="Verdana" panose="020B0604030504040204"/>
              <a:cs typeface="Times New Roman" panose="02020603050405020304" charset="0"/>
              <a:sym typeface="+mn-ea"/>
            </a:endParaRPr>
          </a:p>
          <a:p>
            <a:pPr marL="0" indent="0"/>
            <a:endParaRPr lang="en-US" altLang="en-US"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r>
              <a:rPr lang="en-US" altLang="en-GB" sz="1600" b="1" i="0">
                <a:solidFill>
                  <a:srgbClr val="000000"/>
                </a:solidFill>
                <a:latin typeface="Times New Roman" panose="02020603050405020304" charset="0"/>
                <a:ea typeface="Verdana" panose="020B0604030504040204"/>
                <a:cs typeface="Times New Roman" panose="02020603050405020304" charset="0"/>
                <a:sym typeface="+mn-ea"/>
              </a:rPr>
              <a:t>Constant Input: </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The crisp input value </a:t>
            </a:r>
            <a:r>
              <a:rPr lang="en-GB" altLang="en-US" sz="1600" b="0" i="0">
                <a:solidFill>
                  <a:srgbClr val="000000"/>
                </a:solidFill>
                <a:latin typeface="Times New Roman" panose="02020603050405020304" charset="0"/>
                <a:ea typeface="Verdana" panose="020B0604030504040204"/>
                <a:cs typeface="Times New Roman" panose="02020603050405020304" charset="0"/>
                <a:sym typeface="+mn-ea"/>
              </a:rPr>
              <a:t>(</a:t>
            </a:r>
            <a:r>
              <a:rPr lang="en-GB" altLang="en-US" sz="1600">
                <a:solidFill>
                  <a:srgbClr val="000000"/>
                </a:solidFill>
                <a:latin typeface="Times New Roman" panose="02020603050405020304" charset="0"/>
                <a:ea typeface="Verdana" panose="020B0604030504040204"/>
                <a:cs typeface="Times New Roman" panose="02020603050405020304" charset="0"/>
                <a:sym typeface="+mn-ea"/>
              </a:rPr>
              <a:t>x</a:t>
            </a:r>
            <a:r>
              <a:rPr lang="en-GB" altLang="en-US" sz="1600" baseline="-25000">
                <a:solidFill>
                  <a:srgbClr val="000000"/>
                </a:solidFill>
                <a:latin typeface="Times New Roman" panose="02020603050405020304" charset="0"/>
                <a:ea typeface="Verdana" panose="020B0604030504040204"/>
                <a:cs typeface="Times New Roman" panose="02020603050405020304" charset="0"/>
                <a:sym typeface="+mn-ea"/>
              </a:rPr>
              <a:t>i</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remains fixed, rather than being transformed into a wider range.</a:t>
            </a: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r>
              <a:rPr lang="en-US" altLang="en-GB" sz="1600" b="1" i="0">
                <a:solidFill>
                  <a:srgbClr val="000000"/>
                </a:solidFill>
                <a:latin typeface="Times New Roman" panose="02020603050405020304" charset="0"/>
                <a:ea typeface="Verdana" panose="020B0604030504040204"/>
                <a:cs typeface="Times New Roman" panose="02020603050405020304" charset="0"/>
                <a:sym typeface="+mn-ea"/>
              </a:rPr>
              <a:t>Fuzzy Membership:</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The membership value </a:t>
            </a:r>
            <a:r>
              <a:rPr lang="en-GB" altLang="en-US" sz="1600" b="0" i="0">
                <a:solidFill>
                  <a:srgbClr val="000000"/>
                </a:solidFill>
                <a:latin typeface="Times New Roman" panose="02020603050405020304" charset="0"/>
                <a:ea typeface="Verdana" panose="020B0604030504040204"/>
                <a:cs typeface="Times New Roman" panose="02020603050405020304" charset="0"/>
                <a:sym typeface="+mn-ea"/>
              </a:rPr>
              <a:t>(</a:t>
            </a:r>
            <a:r>
              <a:rPr sz="1600">
                <a:solidFill>
                  <a:srgbClr val="000000"/>
                </a:solidFill>
                <a:latin typeface="Times New Roman" panose="02020603050405020304" charset="0"/>
                <a:ea typeface="MathJax_Math-italic"/>
                <a:cs typeface="Times New Roman" panose="02020603050405020304" charset="0"/>
                <a:sym typeface="+mn-ea"/>
              </a:rPr>
              <a:t>μ</a:t>
            </a:r>
            <a:r>
              <a:rPr sz="1600" baseline="-25000">
                <a:solidFill>
                  <a:srgbClr val="000000"/>
                </a:solidFill>
                <a:latin typeface="Times New Roman" panose="02020603050405020304" charset="0"/>
                <a:ea typeface="MathJax_Math-italic"/>
                <a:cs typeface="Times New Roman" panose="02020603050405020304" charset="0"/>
                <a:sym typeface="+mn-ea"/>
              </a:rPr>
              <a:t>i</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is treated as a fuzzy variable, allowing the "grade" or "degree" of belonging to be expressed as a range or a distribution.</a:t>
            </a: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r>
              <a:rPr lang="en-US" altLang="en-GB" sz="1600" b="1" i="0">
                <a:solidFill>
                  <a:srgbClr val="000000"/>
                </a:solidFill>
                <a:latin typeface="Times New Roman" panose="02020603050405020304" charset="0"/>
                <a:ea typeface="Verdana" panose="020B0604030504040204"/>
                <a:cs typeface="Times New Roman" panose="02020603050405020304" charset="0"/>
                <a:sym typeface="+mn-ea"/>
              </a:rPr>
              <a:t>Applications:</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It is used in situations where the exact degree of membership (e.g., exactly 0.8) is uncertain, such as in subjective evaluations or noisy sensor data.</a:t>
            </a: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a:p>
            <a:pPr marL="285750" indent="-285750" algn="just">
              <a:buFont typeface="Wingdings" panose="05000000000000000000" charset="0"/>
              <a:buChar char="ü"/>
            </a:pPr>
            <a:r>
              <a:rPr lang="en-US" altLang="en-GB" sz="1600" b="1" i="0">
                <a:solidFill>
                  <a:srgbClr val="000000"/>
                </a:solidFill>
                <a:latin typeface="Times New Roman" panose="02020603050405020304" charset="0"/>
                <a:ea typeface="Verdana" panose="020B0604030504040204"/>
                <a:cs typeface="Times New Roman" panose="02020603050405020304" charset="0"/>
                <a:sym typeface="+mn-ea"/>
              </a:rPr>
              <a:t>Contrast with Support Fuzzification: </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Support fuzzification maps a singleton </a:t>
            </a:r>
            <a:r>
              <a:rPr lang="en-GB" altLang="en-US" sz="1600" b="0" i="0">
                <a:solidFill>
                  <a:srgbClr val="000000"/>
                </a:solidFill>
                <a:latin typeface="Times New Roman" panose="02020603050405020304" charset="0"/>
                <a:ea typeface="Verdana" panose="020B0604030504040204"/>
                <a:cs typeface="Times New Roman" panose="02020603050405020304" charset="0"/>
                <a:sym typeface="+mn-ea"/>
              </a:rPr>
              <a:t>(</a:t>
            </a:r>
            <a:r>
              <a:rPr lang="en-GB" altLang="en-US" sz="1600">
                <a:solidFill>
                  <a:srgbClr val="000000"/>
                </a:solidFill>
                <a:latin typeface="Times New Roman" panose="02020603050405020304" charset="0"/>
                <a:ea typeface="Verdana" panose="020B0604030504040204"/>
                <a:cs typeface="Times New Roman" panose="02020603050405020304" charset="0"/>
                <a:sym typeface="+mn-ea"/>
              </a:rPr>
              <a:t>x</a:t>
            </a:r>
            <a:r>
              <a:rPr lang="en-GB" altLang="en-US" sz="1600" baseline="-25000">
                <a:solidFill>
                  <a:srgbClr val="000000"/>
                </a:solidFill>
                <a:latin typeface="Times New Roman" panose="02020603050405020304" charset="0"/>
                <a:ea typeface="Verdana" panose="020B0604030504040204"/>
                <a:cs typeface="Times New Roman" panose="02020603050405020304" charset="0"/>
                <a:sym typeface="+mn-ea"/>
              </a:rPr>
              <a:t>i</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to a fuzzy set on the universe of discourse, whereas g-fuzzification assigns a fuzzy subset of the unit interval </a:t>
            </a:r>
            <a:r>
              <a:rPr lang="en-GB" altLang="en-US" sz="1600" b="0" i="0">
                <a:solidFill>
                  <a:srgbClr val="000000"/>
                </a:solidFill>
                <a:latin typeface="Times New Roman" panose="02020603050405020304" charset="0"/>
                <a:ea typeface="Verdana" panose="020B0604030504040204"/>
                <a:cs typeface="Times New Roman" panose="02020603050405020304" charset="0"/>
                <a:sym typeface="+mn-ea"/>
              </a:rPr>
              <a:t>[0,1]</a:t>
            </a:r>
            <a:r>
              <a:rPr lang="en-US" altLang="en-GB" sz="1600" b="0" i="0">
                <a:solidFill>
                  <a:srgbClr val="000000"/>
                </a:solidFill>
                <a:latin typeface="Times New Roman" panose="02020603050405020304" charset="0"/>
                <a:ea typeface="Verdana" panose="020B0604030504040204"/>
                <a:cs typeface="Times New Roman" panose="02020603050405020304" charset="0"/>
                <a:sym typeface="+mn-ea"/>
              </a:rPr>
              <a:t> to the membership value.</a:t>
            </a:r>
            <a:endParaRPr lang="en-US" altLang="en-GB" sz="1600" b="0" i="0">
              <a:solidFill>
                <a:srgbClr val="000000"/>
              </a:solidFill>
              <a:latin typeface="Times New Roman" panose="02020603050405020304" charset="0"/>
              <a:ea typeface="Verdana" panose="020B0604030504040204"/>
              <a:cs typeface="Times New Roman" panose="02020603050405020304" charset="0"/>
              <a:sym typeface="+mn-ea"/>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57400" y="743267"/>
            <a:ext cx="5080000" cy="321945"/>
          </a:xfrm>
          <a:prstGeom prst="rect">
            <a:avLst/>
          </a:prstGeom>
        </p:spPr>
        <p:txBody>
          <a:bodyPr>
            <a:spAutoFit/>
          </a:bodyPr>
          <a:p>
            <a:pPr marL="0" indent="0" algn="ctr">
              <a:lnSpc>
                <a:spcPts val="1800"/>
              </a:lnSpc>
              <a:spcAft>
                <a:spcPct val="60000"/>
              </a:spcAft>
            </a:pPr>
            <a:r>
              <a:rPr sz="2400" b="1" i="0">
                <a:solidFill>
                  <a:srgbClr val="000000"/>
                </a:solidFill>
                <a:latin typeface="Times New Roman" panose="02020603050405020304" charset="0"/>
                <a:ea typeface="Lato"/>
                <a:cs typeface="Times New Roman" panose="02020603050405020304" charset="0"/>
              </a:rPr>
              <a:t>Defuzzification</a:t>
            </a:r>
            <a:endParaRPr sz="2400" b="1" i="0">
              <a:solidFill>
                <a:srgbClr val="000000"/>
              </a:solidFill>
              <a:latin typeface="Times New Roman" panose="02020603050405020304" charset="0"/>
              <a:ea typeface="Lato"/>
              <a:cs typeface="Times New Roman" panose="02020603050405020304" charset="0"/>
            </a:endParaRPr>
          </a:p>
        </p:txBody>
      </p:sp>
      <p:sp>
        <p:nvSpPr>
          <p:cNvPr id="3" name="Text Box 2"/>
          <p:cNvSpPr txBox="1"/>
          <p:nvPr/>
        </p:nvSpPr>
        <p:spPr>
          <a:xfrm>
            <a:off x="228600" y="1200150"/>
            <a:ext cx="8589010" cy="3415030"/>
          </a:xfrm>
          <a:prstGeom prst="rect">
            <a:avLst/>
          </a:prstGeom>
        </p:spPr>
        <p:txBody>
          <a:bodyPr wrap="square">
            <a:spAutoFit/>
          </a:bodyPr>
          <a:p>
            <a:pPr marL="285750" indent="-285750" algn="just">
              <a:buFont typeface="Arial" panose="020B0604020202020204" pitchFamily="34" charset="0"/>
              <a:buChar char="•"/>
            </a:pPr>
            <a:r>
              <a:rPr b="0" i="0">
                <a:solidFill>
                  <a:srgbClr val="000000"/>
                </a:solidFill>
                <a:latin typeface="Times New Roman" panose="02020603050405020304" charset="0"/>
                <a:ea typeface="Verdana" panose="020B0604030504040204"/>
                <a:cs typeface="Times New Roman" panose="02020603050405020304" charset="0"/>
              </a:rPr>
              <a:t>It may be defined as the process of reducing a fuzzy set into a crisp set or to convert a fuzzy member into a crisp member.</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b="0" i="0">
                <a:solidFill>
                  <a:srgbClr val="000000"/>
                </a:solidFill>
                <a:latin typeface="Times New Roman" panose="02020603050405020304" charset="0"/>
                <a:ea typeface="Verdana" panose="020B0604030504040204"/>
                <a:cs typeface="Times New Roman" panose="02020603050405020304" charset="0"/>
              </a:rPr>
              <a:t>We have already studied that the fuzzification process involves conversion from crisp quantities to fuzzy quantities.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b="0" i="0">
                <a:solidFill>
                  <a:srgbClr val="000000"/>
                </a:solidFill>
                <a:latin typeface="Times New Roman" panose="02020603050405020304" charset="0"/>
                <a:ea typeface="Verdana" panose="020B0604030504040204"/>
                <a:cs typeface="Times New Roman" panose="02020603050405020304" charset="0"/>
              </a:rPr>
              <a:t>In a number of engineering applications, it is necessary to defuzzify the result or rather fuzzy result so that it must be converted to crisp result. </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b="0" i="0">
                <a:solidFill>
                  <a:srgbClr val="000000"/>
                </a:solidFill>
                <a:latin typeface="Times New Roman" panose="02020603050405020304" charset="0"/>
                <a:ea typeface="Verdana" panose="020B0604030504040204"/>
                <a:cs typeface="Times New Roman" panose="02020603050405020304" charset="0"/>
              </a:rPr>
              <a:t>Mathematically, the process of Defuzzification is also called rounding it off.</a:t>
            </a: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endParaRPr b="0" i="0">
              <a:solidFill>
                <a:srgbClr val="000000"/>
              </a:solidFill>
              <a:latin typeface="Times New Roman" panose="02020603050405020304" charset="0"/>
              <a:ea typeface="Verdana" panose="020B0604030504040204"/>
              <a:cs typeface="Times New Roman" panose="02020603050405020304" charset="0"/>
            </a:endParaRPr>
          </a:p>
          <a:p>
            <a:pPr marL="285750" indent="-285750" algn="just">
              <a:buFont typeface="Arial" panose="020B0604020202020204" pitchFamily="34" charset="0"/>
              <a:buChar char="•"/>
            </a:pPr>
            <a:r>
              <a:rPr b="0" i="0">
                <a:solidFill>
                  <a:srgbClr val="000000"/>
                </a:solidFill>
                <a:latin typeface="Times New Roman" panose="02020603050405020304" charset="0"/>
                <a:ea typeface="Verdana" panose="020B0604030504040204"/>
                <a:cs typeface="Times New Roman" panose="02020603050405020304" charset="0"/>
              </a:rPr>
              <a:t>The different methods of Defuzzification are described below −</a:t>
            </a:r>
            <a:endParaRPr b="0" i="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827770" cy="715645"/>
          </a:xfrm>
          <a:prstGeom prst="rect">
            <a:avLst/>
          </a:prstGeom>
        </p:spPr>
        <p:txBody>
          <a:bodyPr wrap="square">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Max-Membership Method</a:t>
            </a:r>
            <a:r>
              <a:rPr lang="en-GB" sz="1600" b="1" i="0">
                <a:latin typeface="Times New Roman" panose="02020603050405020304" charset="0"/>
                <a:ea typeface="Verdana" panose="020B0604030504040204"/>
                <a:cs typeface="Times New Roman" panose="02020603050405020304" charset="0"/>
              </a:rPr>
              <a:t> -</a:t>
            </a:r>
            <a:endParaRPr lang="en-GB" sz="1600" b="1" i="0">
              <a:latin typeface="Times New Roman" panose="02020603050405020304" charset="0"/>
              <a:ea typeface="Verdana" panose="020B0604030504040204"/>
              <a:cs typeface="Times New Roman" panose="02020603050405020304" charset="0"/>
            </a:endParaRPr>
          </a:p>
          <a:p>
            <a:pPr indent="0" algn="l">
              <a:lnSpc>
                <a:spcPts val="1800"/>
              </a:lnSpc>
              <a:spcAft>
                <a:spcPct val="60000"/>
              </a:spcAft>
              <a:buFont typeface="Arial" panose="020B0604020202020204" pitchFamily="34" charset="0"/>
              <a:buNone/>
            </a:pPr>
            <a:endParaRPr lang="en-GB" sz="1600"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685800" y="1352550"/>
            <a:ext cx="5151120" cy="739140"/>
          </a:xfrm>
          <a:prstGeom prst="rect">
            <a:avLst/>
          </a:prstGeom>
        </p:spPr>
      </p:pic>
      <p:sp>
        <p:nvSpPr>
          <p:cNvPr id="4" name="Text Box 3"/>
          <p:cNvSpPr txBox="1"/>
          <p:nvPr/>
        </p:nvSpPr>
        <p:spPr>
          <a:xfrm>
            <a:off x="228600" y="24196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sz="1600" b="1" i="0">
                <a:latin typeface="Times New Roman" panose="02020603050405020304" charset="0"/>
                <a:ea typeface="Verdana" panose="020B0604030504040204"/>
                <a:cs typeface="Times New Roman" panose="02020603050405020304" charset="0"/>
              </a:rPr>
              <a:t>Centroid Method</a:t>
            </a:r>
            <a:r>
              <a:rPr lang="en-GB" sz="1600" b="1" i="0">
                <a:latin typeface="Times New Roman" panose="02020603050405020304" charset="0"/>
                <a:ea typeface="Verdana" panose="020B0604030504040204"/>
                <a:cs typeface="Times New Roman" panose="02020603050405020304" charset="0"/>
              </a:rPr>
              <a:t> - </a:t>
            </a:r>
            <a:endParaRPr lang="en-GB" sz="1600"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609600" y="2876550"/>
            <a:ext cx="6537960" cy="1333500"/>
          </a:xfrm>
          <a:prstGeom prst="rect">
            <a:avLst/>
          </a:prstGeom>
        </p:spPr>
      </p:pic>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4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b="1" i="0">
                <a:latin typeface="Times New Roman" panose="02020603050405020304" charset="0"/>
                <a:ea typeface="Verdana" panose="020B0604030504040204"/>
                <a:cs typeface="Times New Roman" panose="02020603050405020304" charset="0"/>
              </a:rPr>
              <a:t>Weighted Average Method</a:t>
            </a:r>
            <a:r>
              <a:rPr lang="en-GB" b="1" i="0">
                <a:latin typeface="Times New Roman" panose="02020603050405020304" charset="0"/>
                <a:ea typeface="Verdana" panose="020B0604030504040204"/>
                <a:cs typeface="Times New Roman" panose="02020603050405020304" charset="0"/>
              </a:rPr>
              <a:t> -</a:t>
            </a:r>
            <a:endParaRPr lang="en-GB" b="1" i="0">
              <a:latin typeface="Times New Roman" panose="02020603050405020304" charset="0"/>
              <a:ea typeface="Verdana" panose="020B0604030504040204"/>
              <a:cs typeface="Times New Roman" panose="02020603050405020304" charset="0"/>
            </a:endParaRPr>
          </a:p>
        </p:txBody>
      </p:sp>
      <p:pic>
        <p:nvPicPr>
          <p:cNvPr id="3" name="Picture 2"/>
          <p:cNvPicPr>
            <a:picLocks noChangeAspect="1"/>
          </p:cNvPicPr>
          <p:nvPr/>
        </p:nvPicPr>
        <p:blipFill>
          <a:blip r:embed="rId1"/>
          <a:stretch>
            <a:fillRect/>
          </a:stretch>
        </p:blipFill>
        <p:spPr>
          <a:xfrm>
            <a:off x="584835" y="1200150"/>
            <a:ext cx="7246620" cy="1303020"/>
          </a:xfrm>
          <a:prstGeom prst="rect">
            <a:avLst/>
          </a:prstGeom>
        </p:spPr>
      </p:pic>
      <p:sp>
        <p:nvSpPr>
          <p:cNvPr id="4" name="Text Box 3"/>
          <p:cNvSpPr txBox="1"/>
          <p:nvPr/>
        </p:nvSpPr>
        <p:spPr>
          <a:xfrm>
            <a:off x="228600" y="2876867"/>
            <a:ext cx="5080000" cy="321945"/>
          </a:xfrm>
          <a:prstGeom prst="rect">
            <a:avLst/>
          </a:prstGeom>
        </p:spPr>
        <p:txBody>
          <a:bodyPr>
            <a:spAutoFit/>
          </a:bodyPr>
          <a:p>
            <a:pPr marL="285750" indent="-285750" algn="l">
              <a:lnSpc>
                <a:spcPts val="1800"/>
              </a:lnSpc>
              <a:spcAft>
                <a:spcPct val="60000"/>
              </a:spcAft>
              <a:buFont typeface="Arial" panose="020B0604020202020204" pitchFamily="34" charset="0"/>
              <a:buChar char="•"/>
            </a:pPr>
            <a:r>
              <a:rPr b="1" i="0">
                <a:latin typeface="Times New Roman" panose="02020603050405020304" charset="0"/>
                <a:ea typeface="Verdana" panose="020B0604030504040204"/>
                <a:cs typeface="Times New Roman" panose="02020603050405020304" charset="0"/>
              </a:rPr>
              <a:t>Mean-Max Membership</a:t>
            </a:r>
            <a:r>
              <a:rPr lang="en-GB" b="1" i="0">
                <a:latin typeface="Times New Roman" panose="02020603050405020304" charset="0"/>
                <a:ea typeface="Verdana" panose="020B0604030504040204"/>
                <a:cs typeface="Times New Roman" panose="02020603050405020304" charset="0"/>
              </a:rPr>
              <a:t> - </a:t>
            </a:r>
            <a:endParaRPr lang="en-GB" b="1" i="0">
              <a:latin typeface="Times New Roman" panose="02020603050405020304" charset="0"/>
              <a:ea typeface="Verdana" panose="020B0604030504040204"/>
              <a:cs typeface="Times New Roman" panose="02020603050405020304" charset="0"/>
            </a:endParaRPr>
          </a:p>
        </p:txBody>
      </p:sp>
      <p:pic>
        <p:nvPicPr>
          <p:cNvPr id="5" name="Picture 4"/>
          <p:cNvPicPr>
            <a:picLocks noChangeAspect="1"/>
          </p:cNvPicPr>
          <p:nvPr/>
        </p:nvPicPr>
        <p:blipFill>
          <a:blip r:embed="rId2"/>
          <a:stretch>
            <a:fillRect/>
          </a:stretch>
        </p:blipFill>
        <p:spPr>
          <a:xfrm>
            <a:off x="762000" y="3333750"/>
            <a:ext cx="7139940" cy="1607820"/>
          </a:xfrm>
          <a:prstGeom prst="rect">
            <a:avLst/>
          </a:prstGeom>
        </p:spPr>
      </p:pic>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666750"/>
            <a:ext cx="8851900" cy="796290"/>
          </a:xfrm>
          <a:prstGeom prst="rect">
            <a:avLst/>
          </a:prstGeom>
        </p:spPr>
        <p:txBody>
          <a:bodyPr wrap="square">
            <a:spAutoFit/>
          </a:bodyPr>
          <a:p>
            <a:pPr marL="0" indent="0">
              <a:lnSpc>
                <a:spcPts val="2100"/>
              </a:lnSpc>
              <a:spcBef>
                <a:spcPts val="1300"/>
              </a:spcBef>
              <a:spcAft>
                <a:spcPct val="0"/>
              </a:spcAft>
            </a:pPr>
            <a:r>
              <a:rPr sz="2000" b="1" i="0">
                <a:solidFill>
                  <a:srgbClr val="273239"/>
                </a:solidFill>
                <a:latin typeface="Times New Roman" panose="02020603050405020304" charset="0"/>
                <a:ea typeface="Source Sans 3"/>
                <a:cs typeface="Times New Roman" panose="02020603050405020304" charset="0"/>
              </a:rPr>
              <a:t>Difference between Fuzzification and Defuzzification</a:t>
            </a:r>
            <a:endParaRPr sz="2000" b="1" i="0">
              <a:solidFill>
                <a:srgbClr val="273239"/>
              </a:solidFill>
              <a:latin typeface="Times New Roman" panose="02020603050405020304" charset="0"/>
              <a:ea typeface="Source Sans 3"/>
              <a:cs typeface="Times New Roman" panose="02020603050405020304" charset="0"/>
            </a:endParaRPr>
          </a:p>
          <a:p>
            <a:pPr marL="0" indent="0">
              <a:lnSpc>
                <a:spcPts val="2100"/>
              </a:lnSpc>
              <a:spcBef>
                <a:spcPts val="1300"/>
              </a:spcBef>
              <a:spcAft>
                <a:spcPct val="0"/>
              </a:spcAft>
            </a:pPr>
            <a:endParaRPr sz="2000" b="1" i="0">
              <a:solidFill>
                <a:srgbClr val="273239"/>
              </a:solidFill>
              <a:latin typeface="Times New Roman" panose="02020603050405020304" charset="0"/>
              <a:ea typeface="Source Sans 3"/>
              <a:cs typeface="Times New Roman" panose="02020603050405020304" charset="0"/>
            </a:endParaRPr>
          </a:p>
        </p:txBody>
      </p:sp>
      <p:pic>
        <p:nvPicPr>
          <p:cNvPr id="3" name="Picture 2"/>
          <p:cNvPicPr>
            <a:picLocks noChangeAspect="1"/>
          </p:cNvPicPr>
          <p:nvPr/>
        </p:nvPicPr>
        <p:blipFill>
          <a:blip r:embed="rId1"/>
          <a:stretch>
            <a:fillRect/>
          </a:stretch>
        </p:blipFill>
        <p:spPr>
          <a:xfrm>
            <a:off x="255905" y="1130300"/>
            <a:ext cx="8638540" cy="3739515"/>
          </a:xfrm>
          <a:prstGeom prst="rect">
            <a:avLst/>
          </a:prstGeom>
        </p:spPr>
      </p:pic>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981200" y="742633"/>
            <a:ext cx="5080000" cy="460375"/>
          </a:xfrm>
          <a:prstGeom prst="rect">
            <a:avLst/>
          </a:prstGeom>
        </p:spPr>
        <p:txBody>
          <a:bodyPr>
            <a:spAutoFit/>
          </a:bodyPr>
          <a:p>
            <a:pPr marL="0" indent="0" algn="ctr" fontAlgn="base">
              <a:spcBef>
                <a:spcPts val="500"/>
              </a:spcBef>
              <a:spcAft>
                <a:spcPts val="200"/>
              </a:spcAft>
            </a:pPr>
            <a:r>
              <a:rPr sz="2400" b="1" i="0">
                <a:solidFill>
                  <a:srgbClr val="090A0B"/>
                </a:solidFill>
                <a:latin typeface="Times New Roman" panose="02020603050405020304" charset="0"/>
                <a:ea typeface="-apple-system"/>
                <a:cs typeface="Times New Roman" panose="02020603050405020304" charset="0"/>
              </a:rPr>
              <a:t>Fuzzy Relations</a:t>
            </a:r>
            <a:endParaRPr sz="2400" b="1" i="0">
              <a:solidFill>
                <a:srgbClr val="090A0B"/>
              </a:solidFill>
              <a:latin typeface="Times New Roman" panose="02020603050405020304" charset="0"/>
              <a:ea typeface="-apple-system"/>
              <a:cs typeface="Times New Roman" panose="02020603050405020304" charset="0"/>
            </a:endParaRPr>
          </a:p>
        </p:txBody>
      </p:sp>
      <p:sp>
        <p:nvSpPr>
          <p:cNvPr id="3" name="Text Box 2"/>
          <p:cNvSpPr txBox="1"/>
          <p:nvPr/>
        </p:nvSpPr>
        <p:spPr>
          <a:xfrm>
            <a:off x="381000" y="1428750"/>
            <a:ext cx="8514715" cy="3476625"/>
          </a:xfrm>
          <a:prstGeom prst="rect">
            <a:avLst/>
          </a:prstGeom>
        </p:spPr>
        <p:txBody>
          <a:bodyPr wrap="square">
            <a:spAutoFit/>
          </a:bodyPr>
          <a:p>
            <a:pPr marL="0" indent="0" algn="just"/>
            <a:r>
              <a:rPr sz="2000" b="0" i="0">
                <a:solidFill>
                  <a:srgbClr val="3C484E"/>
                </a:solidFill>
                <a:latin typeface="Times New Roman" panose="02020603050405020304" charset="0"/>
                <a:ea typeface="Arial" panose="020B0604020202020204"/>
                <a:cs typeface="Times New Roman" panose="02020603050405020304" charset="0"/>
              </a:rPr>
              <a:t>A fuzzy relation is defined as the cartesian product of fuzzy sets. If we have two fuzzy sets, on different universes of discourse, say:</a:t>
            </a:r>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r>
              <a:rPr sz="2000" b="0" i="0">
                <a:solidFill>
                  <a:srgbClr val="3C484E"/>
                </a:solidFill>
                <a:latin typeface="Times New Roman" panose="02020603050405020304" charset="0"/>
                <a:ea typeface="Arial" panose="020B0604020202020204"/>
                <a:cs typeface="Times New Roman" panose="02020603050405020304" charset="0"/>
              </a:rPr>
              <a:t>A, on universe of discourse X, with μA(x) | x ∈ X</a:t>
            </a:r>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r>
              <a:rPr sz="2000" b="0" i="0">
                <a:solidFill>
                  <a:srgbClr val="3C484E"/>
                </a:solidFill>
                <a:latin typeface="Times New Roman" panose="02020603050405020304" charset="0"/>
                <a:ea typeface="Arial" panose="020B0604020202020204"/>
                <a:cs typeface="Times New Roman" panose="02020603050405020304" charset="0"/>
              </a:rPr>
              <a:t>B, on universe of discourse Y, with μB(y) | y ∈ Y</a:t>
            </a:r>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r>
              <a:rPr sz="2000" b="0" i="0">
                <a:solidFill>
                  <a:srgbClr val="3C484E"/>
                </a:solidFill>
                <a:latin typeface="Times New Roman" panose="02020603050405020304" charset="0"/>
                <a:ea typeface="Arial" panose="020B0604020202020204"/>
                <a:cs typeface="Times New Roman" panose="02020603050405020304" charset="0"/>
              </a:rPr>
              <a:t>Then, R = (A × B) ⊂ (X × Y), where the membership function of R is given by:</a:t>
            </a:r>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r>
              <a:rPr sz="2000" b="0" i="0">
                <a:solidFill>
                  <a:srgbClr val="3C484E"/>
                </a:solidFill>
                <a:latin typeface="Times New Roman" panose="02020603050405020304" charset="0"/>
                <a:ea typeface="Arial" panose="020B0604020202020204"/>
                <a:cs typeface="Times New Roman" panose="02020603050405020304" charset="0"/>
              </a:rPr>
              <a:t>μR(x,y) = µA×B(x,y) = min {µA(x),µB(y)}</a:t>
            </a:r>
            <a:endParaRPr sz="20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20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83955" cy="1014730"/>
          </a:xfrm>
          <a:prstGeom prst="rect">
            <a:avLst/>
          </a:prstGeom>
        </p:spPr>
        <p:txBody>
          <a:bodyPr wrap="square">
            <a:spAutoFit/>
          </a:bodyPr>
          <a:p>
            <a:pPr marL="0" indent="0" algn="just"/>
            <a:r>
              <a:rPr sz="2000" b="0" i="0">
                <a:solidFill>
                  <a:srgbClr val="3C484E"/>
                </a:solidFill>
                <a:latin typeface="Times New Roman" panose="02020603050405020304" charset="0"/>
                <a:ea typeface="Arial" panose="020B0604020202020204"/>
                <a:cs typeface="Times New Roman" panose="02020603050405020304" charset="0"/>
              </a:rPr>
              <a:t>In other words, the degree of membership of each element of the newly obtained relation is the minimum degree of membership of its corresponding elements in the two fuzzy sets. To understand this better, let us take a look at an example.</a:t>
            </a:r>
            <a:endParaRPr sz="2000" b="0" i="0">
              <a:solidFill>
                <a:srgbClr val="3C484E"/>
              </a:solidFill>
              <a:latin typeface="Times New Roman" panose="02020603050405020304" charset="0"/>
              <a:ea typeface="Arial" panose="020B0604020202020204"/>
              <a:cs typeface="Times New Roman" panose="02020603050405020304" charset="0"/>
            </a:endParaRPr>
          </a:p>
        </p:txBody>
      </p:sp>
      <p:sp>
        <p:nvSpPr>
          <p:cNvPr id="3" name="Text Box 2"/>
          <p:cNvSpPr txBox="1"/>
          <p:nvPr/>
        </p:nvSpPr>
        <p:spPr>
          <a:xfrm>
            <a:off x="304800" y="2038350"/>
            <a:ext cx="8614410" cy="2030095"/>
          </a:xfrm>
          <a:prstGeom prst="rect">
            <a:avLst/>
          </a:prstGeom>
        </p:spPr>
        <p:txBody>
          <a:bodyPr wrap="square">
            <a:spAutoFit/>
          </a:bodyPr>
          <a:p>
            <a:pPr marL="0" indent="0"/>
            <a:r>
              <a:rPr b="0" i="0">
                <a:solidFill>
                  <a:srgbClr val="3C484E"/>
                </a:solidFill>
                <a:latin typeface="Times New Roman" panose="02020603050405020304" charset="0"/>
                <a:ea typeface="Arial" panose="020B0604020202020204"/>
                <a:cs typeface="Times New Roman" panose="02020603050405020304" charset="0"/>
              </a:rPr>
              <a:t>If we have:</a:t>
            </a:r>
            <a:endParaRPr b="0" i="0">
              <a:solidFill>
                <a:srgbClr val="3C484E"/>
              </a:solidFill>
              <a:latin typeface="Times New Roman" panose="02020603050405020304" charset="0"/>
              <a:ea typeface="Arial" panose="020B0604020202020204"/>
              <a:cs typeface="Times New Roman" panose="02020603050405020304" charset="0"/>
            </a:endParaRPr>
          </a:p>
          <a:p>
            <a:pPr marL="0" indent="0"/>
            <a:endParaRPr b="0" i="0">
              <a:solidFill>
                <a:srgbClr val="3C484E"/>
              </a:solidFill>
              <a:latin typeface="Times New Roman" panose="02020603050405020304" charset="0"/>
              <a:ea typeface="Arial" panose="020B0604020202020204"/>
              <a:cs typeface="Times New Roman" panose="02020603050405020304" charset="0"/>
            </a:endParaRPr>
          </a:p>
          <a:p>
            <a:pPr marL="0" indent="0"/>
            <a:r>
              <a:rPr b="0" i="0">
                <a:solidFill>
                  <a:srgbClr val="3C484E"/>
                </a:solidFill>
                <a:latin typeface="Times New Roman" panose="02020603050405020304" charset="0"/>
                <a:ea typeface="Arial" panose="020B0604020202020204"/>
                <a:cs typeface="Times New Roman" panose="02020603050405020304" charset="0"/>
              </a:rPr>
              <a:t>A = {(a1, 0.2), (a2, 0.7), (a3, 0.4)}</a:t>
            </a:r>
            <a:endParaRPr b="0" i="0">
              <a:solidFill>
                <a:srgbClr val="3C484E"/>
              </a:solidFill>
              <a:latin typeface="Times New Roman" panose="02020603050405020304" charset="0"/>
              <a:ea typeface="Arial" panose="020B0604020202020204"/>
              <a:cs typeface="Times New Roman" panose="02020603050405020304" charset="0"/>
            </a:endParaRPr>
          </a:p>
          <a:p>
            <a:pPr marL="0" indent="0"/>
            <a:endParaRPr b="0" i="0">
              <a:solidFill>
                <a:srgbClr val="3C484E"/>
              </a:solidFill>
              <a:latin typeface="Times New Roman" panose="02020603050405020304" charset="0"/>
              <a:ea typeface="Arial" panose="020B0604020202020204"/>
              <a:cs typeface="Times New Roman" panose="02020603050405020304" charset="0"/>
            </a:endParaRPr>
          </a:p>
          <a:p>
            <a:pPr marL="0" indent="0"/>
            <a:r>
              <a:rPr b="0" i="0">
                <a:solidFill>
                  <a:srgbClr val="3C484E"/>
                </a:solidFill>
                <a:latin typeface="Times New Roman" panose="02020603050405020304" charset="0"/>
                <a:ea typeface="Arial" panose="020B0604020202020204"/>
                <a:cs typeface="Times New Roman" panose="02020603050405020304" charset="0"/>
              </a:rPr>
              <a:t>B = {(b1, 0.5), (b2, 0.6)}</a:t>
            </a:r>
            <a:endParaRPr b="0" i="0">
              <a:solidFill>
                <a:srgbClr val="3C484E"/>
              </a:solidFill>
              <a:latin typeface="Times New Roman" panose="02020603050405020304" charset="0"/>
              <a:ea typeface="Arial" panose="020B0604020202020204"/>
              <a:cs typeface="Times New Roman" panose="02020603050405020304" charset="0"/>
            </a:endParaRPr>
          </a:p>
          <a:p>
            <a:pPr marL="0" indent="0"/>
            <a:endParaRPr b="0" i="0">
              <a:solidFill>
                <a:srgbClr val="3C484E"/>
              </a:solidFill>
              <a:latin typeface="Times New Roman" panose="02020603050405020304" charset="0"/>
              <a:ea typeface="Arial" panose="020B0604020202020204"/>
              <a:cs typeface="Times New Roman" panose="02020603050405020304" charset="0"/>
            </a:endParaRPr>
          </a:p>
          <a:p>
            <a:pPr marL="0" indent="0"/>
            <a:r>
              <a:rPr b="0" i="0">
                <a:solidFill>
                  <a:srgbClr val="3C484E"/>
                </a:solidFill>
                <a:latin typeface="Times New Roman" panose="02020603050405020304" charset="0"/>
                <a:ea typeface="Arial" panose="020B0604020202020204"/>
                <a:cs typeface="Times New Roman" panose="02020603050405020304" charset="0"/>
              </a:rPr>
              <a:t>Then, the relation R (AxB) would be:</a:t>
            </a:r>
            <a:endParaRPr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3107055" y="819150"/>
            <a:ext cx="2554605" cy="1146810"/>
          </a:xfrm>
          <a:prstGeom prst="rect">
            <a:avLst/>
          </a:prstGeom>
        </p:spPr>
      </p:pic>
      <p:sp>
        <p:nvSpPr>
          <p:cNvPr id="3" name="Text Box 2"/>
          <p:cNvSpPr txBox="1"/>
          <p:nvPr/>
        </p:nvSpPr>
        <p:spPr>
          <a:xfrm>
            <a:off x="381000" y="2266950"/>
            <a:ext cx="8554720" cy="1198880"/>
          </a:xfrm>
          <a:prstGeom prst="rect">
            <a:avLst/>
          </a:prstGeom>
        </p:spPr>
        <p:txBody>
          <a:bodyPr wrap="square">
            <a:spAutoFit/>
          </a:bodyPr>
          <a:p>
            <a:pPr marL="0" indent="0" algn="just"/>
            <a:r>
              <a:rPr b="0" i="0">
                <a:solidFill>
                  <a:srgbClr val="3C484E"/>
                </a:solidFill>
                <a:latin typeface="Times New Roman" panose="02020603050405020304" charset="0"/>
                <a:ea typeface="Arial" panose="020B0604020202020204"/>
                <a:cs typeface="Times New Roman" panose="02020603050405020304" charset="0"/>
              </a:rPr>
              <a:t>When comparing a1 in set A and b1 in set B, we find that 0.2 is a smaller value than 0.5, which is why in the relation R, the degree of membership of the element corresponding to a1 and b1 is equal to 0.2. Similarly, we can find the degrees of membership of the rest of the elements.</a:t>
            </a:r>
            <a:endParaRPr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8833"/>
            <a:ext cx="5080000" cy="398780"/>
          </a:xfrm>
          <a:prstGeom prst="rect">
            <a:avLst/>
          </a:prstGeom>
        </p:spPr>
        <p:txBody>
          <a:bodyPr>
            <a:spAutoFit/>
          </a:bodyPr>
          <a:p>
            <a:pPr marL="0" indent="0" fontAlgn="base">
              <a:spcBef>
                <a:spcPts val="500"/>
              </a:spcBef>
              <a:spcAft>
                <a:spcPts val="200"/>
              </a:spcAft>
            </a:pPr>
            <a:r>
              <a:rPr sz="2000" b="1" i="0">
                <a:solidFill>
                  <a:srgbClr val="090A0B"/>
                </a:solidFill>
                <a:latin typeface="Times New Roman" panose="02020603050405020304" charset="0"/>
                <a:ea typeface="-apple-system"/>
                <a:cs typeface="Times New Roman" panose="02020603050405020304" charset="0"/>
              </a:rPr>
              <a:t>Operations on Fuzzy Relations</a:t>
            </a:r>
            <a:endParaRPr sz="2000" b="1" i="0">
              <a:solidFill>
                <a:srgbClr val="090A0B"/>
              </a:solidFill>
              <a:latin typeface="Times New Roman" panose="02020603050405020304" charset="0"/>
              <a:ea typeface="-apple-system"/>
              <a:cs typeface="Times New Roman" panose="02020603050405020304" charset="0"/>
            </a:endParaRPr>
          </a:p>
        </p:txBody>
      </p:sp>
      <p:sp>
        <p:nvSpPr>
          <p:cNvPr id="3" name="Text Box 2"/>
          <p:cNvSpPr txBox="1"/>
          <p:nvPr/>
        </p:nvSpPr>
        <p:spPr>
          <a:xfrm>
            <a:off x="304800" y="1504950"/>
            <a:ext cx="8669655" cy="2953385"/>
          </a:xfrm>
          <a:prstGeom prst="rect">
            <a:avLst/>
          </a:prstGeom>
        </p:spPr>
        <p:txBody>
          <a:bodyPr wrap="square">
            <a:spAutoFit/>
          </a:bodyPr>
          <a:p>
            <a:pPr marL="0" indent="0" algn="just"/>
            <a:r>
              <a:rPr b="0" i="0">
                <a:solidFill>
                  <a:srgbClr val="3C484E"/>
                </a:solidFill>
                <a:latin typeface="Times New Roman" panose="02020603050405020304" charset="0"/>
                <a:ea typeface="Arial" panose="020B0604020202020204"/>
                <a:cs typeface="Times New Roman" panose="02020603050405020304" charset="0"/>
              </a:rPr>
              <a:t>Let us assume that R and S are two fuzzy relations on A x B. Listed below are a few operations that can be performed on R and S.</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r>
              <a:rPr lang="en-US" altLang="en-GB" b="1" i="0">
                <a:solidFill>
                  <a:srgbClr val="3C484E"/>
                </a:solidFill>
                <a:latin typeface="Times New Roman" panose="02020603050405020304" charset="0"/>
                <a:ea typeface="Arial" panose="020B0604020202020204"/>
                <a:cs typeface="Times New Roman" panose="02020603050405020304" charset="0"/>
              </a:rPr>
              <a:t>Union</a:t>
            </a:r>
            <a:r>
              <a:rPr lang="en-GB" altLang="en-US" b="1" i="0">
                <a:solidFill>
                  <a:srgbClr val="3C484E"/>
                </a:solidFill>
                <a:latin typeface="Times New Roman" panose="02020603050405020304" charset="0"/>
                <a:ea typeface="Arial" panose="020B0604020202020204"/>
                <a:cs typeface="Times New Roman" panose="02020603050405020304" charset="0"/>
              </a:rPr>
              <a:t> -</a:t>
            </a:r>
            <a:endParaRPr lang="en-GB" altLang="en-US" b="1"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GB" altLang="en-US" b="1"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R∪S(a,b) = max {</a:t>
            </a:r>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R(a,b), </a:t>
            </a:r>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S(a,b)}</a:t>
            </a:r>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sz="1600" i="0">
                <a:solidFill>
                  <a:srgbClr val="3C484E"/>
                </a:solidFill>
                <a:latin typeface="Times New Roman" panose="02020603050405020304" charset="0"/>
                <a:ea typeface="Arial" panose="020B0604020202020204"/>
                <a:cs typeface="Times New Roman" panose="02020603050405020304" charset="0"/>
              </a:rPr>
              <a:t>The union operation can only be performed if the relational matrices R and S are of the same order. Here, the degree of membership of each element of R∪S is the maximum degree of membership of its corresponding elements in R and S.</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488680" cy="2666365"/>
          </a:xfrm>
          <a:prstGeom prst="rect">
            <a:avLst/>
          </a:prstGeom>
        </p:spPr>
        <p:txBody>
          <a:bodyPr wrap="square">
            <a:spAutoFit/>
          </a:bodyPr>
          <a:p>
            <a:pPr marL="285750" indent="-285750" fontAlgn="base">
              <a:spcBef>
                <a:spcPts val="500"/>
              </a:spcBef>
              <a:spcAft>
                <a:spcPts val="200"/>
              </a:spcAft>
              <a:buFont typeface="Arial" panose="020B0604020202020204" pitchFamily="34" charset="0"/>
              <a:buChar char="•"/>
            </a:pPr>
            <a:r>
              <a:rPr b="1" i="0">
                <a:solidFill>
                  <a:srgbClr val="090A0B"/>
                </a:solidFill>
                <a:latin typeface="Times New Roman" panose="02020603050405020304" charset="0"/>
                <a:ea typeface="-apple-system"/>
                <a:cs typeface="Times New Roman" panose="02020603050405020304" charset="0"/>
              </a:rPr>
              <a:t>Intersection</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a:p>
            <a:pPr indent="0" fontAlgn="base">
              <a:spcBef>
                <a:spcPts val="500"/>
              </a:spcBef>
              <a:spcAft>
                <a:spcPts val="200"/>
              </a:spcAft>
              <a:buFont typeface="Arial" panose="020B0604020202020204" pitchFamily="34" charset="0"/>
              <a:buNone/>
            </a:pPr>
            <a:endParaRPr b="1" i="0">
              <a:solidFill>
                <a:srgbClr val="090A0B"/>
              </a:solidFill>
              <a:latin typeface="Times New Roman" panose="02020603050405020304" charset="0"/>
              <a:ea typeface="-apple-system"/>
              <a:cs typeface="Times New Roman" panose="02020603050405020304" charset="0"/>
            </a:endParaRPr>
          </a:p>
          <a:p>
            <a:pPr indent="0" fontAlgn="base">
              <a:spcBef>
                <a:spcPts val="500"/>
              </a:spcBef>
              <a:spcAft>
                <a:spcPts val="200"/>
              </a:spcAft>
              <a:buFont typeface="Arial" panose="020B0604020202020204" pitchFamily="34" charset="0"/>
              <a:buNone/>
            </a:pPr>
            <a:r>
              <a:rPr lang="en-US" altLang="en-US" b="1" i="0">
                <a:solidFill>
                  <a:srgbClr val="090A0B"/>
                </a:solidFill>
                <a:latin typeface="Times New Roman" panose="02020603050405020304" charset="0"/>
                <a:ea typeface="-apple-system"/>
                <a:cs typeface="Times New Roman" panose="02020603050405020304" charset="0"/>
              </a:rPr>
              <a:t>µ</a:t>
            </a:r>
            <a:r>
              <a:rPr lang="en-US" altLang="en-GB" b="1" i="0">
                <a:solidFill>
                  <a:srgbClr val="090A0B"/>
                </a:solidFill>
                <a:latin typeface="Times New Roman" panose="02020603050405020304" charset="0"/>
                <a:ea typeface="-apple-system"/>
                <a:cs typeface="Times New Roman" panose="02020603050405020304" charset="0"/>
              </a:rPr>
              <a:t>R∩S(a,b) = min {</a:t>
            </a:r>
            <a:r>
              <a:rPr lang="en-US" altLang="en-US" b="1" i="0">
                <a:solidFill>
                  <a:srgbClr val="090A0B"/>
                </a:solidFill>
                <a:latin typeface="Times New Roman" panose="02020603050405020304" charset="0"/>
                <a:ea typeface="-apple-system"/>
                <a:cs typeface="Times New Roman" panose="02020603050405020304" charset="0"/>
              </a:rPr>
              <a:t>µ</a:t>
            </a:r>
            <a:r>
              <a:rPr lang="en-US" altLang="en-GB" b="1" i="0">
                <a:solidFill>
                  <a:srgbClr val="090A0B"/>
                </a:solidFill>
                <a:latin typeface="Times New Roman" panose="02020603050405020304" charset="0"/>
                <a:ea typeface="-apple-system"/>
                <a:cs typeface="Times New Roman" panose="02020603050405020304" charset="0"/>
              </a:rPr>
              <a:t>R(a,b), </a:t>
            </a:r>
            <a:r>
              <a:rPr lang="en-US" altLang="en-US" b="1" i="0">
                <a:solidFill>
                  <a:srgbClr val="090A0B"/>
                </a:solidFill>
                <a:latin typeface="Times New Roman" panose="02020603050405020304" charset="0"/>
                <a:ea typeface="-apple-system"/>
                <a:cs typeface="Times New Roman" panose="02020603050405020304" charset="0"/>
              </a:rPr>
              <a:t>µ</a:t>
            </a:r>
            <a:r>
              <a:rPr lang="en-US" altLang="en-GB" b="1" i="0">
                <a:solidFill>
                  <a:srgbClr val="090A0B"/>
                </a:solidFill>
                <a:latin typeface="Times New Roman" panose="02020603050405020304" charset="0"/>
                <a:ea typeface="-apple-system"/>
                <a:cs typeface="Times New Roman" panose="02020603050405020304" charset="0"/>
              </a:rPr>
              <a:t>S(a,b)}</a:t>
            </a:r>
            <a:endParaRPr lang="en-US" altLang="en-GB" b="1" i="0">
              <a:solidFill>
                <a:srgbClr val="090A0B"/>
              </a:solidFill>
              <a:latin typeface="Times New Roman" panose="02020603050405020304" charset="0"/>
              <a:ea typeface="-apple-system"/>
              <a:cs typeface="Times New Roman" panose="02020603050405020304" charset="0"/>
            </a:endParaRPr>
          </a:p>
          <a:p>
            <a:pPr indent="0" fontAlgn="base">
              <a:spcBef>
                <a:spcPts val="500"/>
              </a:spcBef>
              <a:spcAft>
                <a:spcPts val="200"/>
              </a:spcAft>
              <a:buFont typeface="Arial" panose="020B0604020202020204" pitchFamily="34" charset="0"/>
              <a:buNone/>
            </a:pPr>
            <a:endParaRPr lang="en-US" altLang="en-GB" b="1"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Arial" panose="020B0604020202020204" pitchFamily="34" charset="0"/>
              <a:buNone/>
            </a:pPr>
            <a:r>
              <a:rPr lang="en-US" altLang="en-GB" i="0">
                <a:solidFill>
                  <a:srgbClr val="090A0B"/>
                </a:solidFill>
                <a:latin typeface="Times New Roman" panose="02020603050405020304" charset="0"/>
                <a:ea typeface="-apple-system"/>
                <a:cs typeface="Times New Roman" panose="02020603050405020304" charset="0"/>
              </a:rPr>
              <a:t>The intersection operation can also only be performed in the relational matrices R and S are of the same order. Here, the degree of membership of each element of R∩S is the minimum degree of membership of its corresponding elements in R and S. Thus, we can say that R∩S is analogous to RxS.</a:t>
            </a:r>
            <a:endParaRPr lang="en-US" altLang="en-GB" i="0">
              <a:solidFill>
                <a:srgbClr val="090A0B"/>
              </a:solidFill>
              <a:latin typeface="Times New Roman" panose="02020603050405020304" charset="0"/>
              <a:ea typeface="-apple-system"/>
              <a:cs typeface="Times New Roman" panose="02020603050405020304" charset="0"/>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57200" y="742950"/>
            <a:ext cx="8459470" cy="368300"/>
          </a:xfrm>
          <a:prstGeom prst="rect">
            <a:avLst/>
          </a:prstGeom>
        </p:spPr>
        <p:txBody>
          <a:bodyPr wrap="square">
            <a:spAutoFit/>
          </a:bodyPr>
          <a:p>
            <a:pPr marL="285750" indent="-285750" fontAlgn="base">
              <a:spcBef>
                <a:spcPts val="500"/>
              </a:spcBef>
              <a:spcAft>
                <a:spcPts val="200"/>
              </a:spcAft>
              <a:buFont typeface="Arial" panose="020B0604020202020204" pitchFamily="34" charset="0"/>
              <a:buChar char="•"/>
            </a:pPr>
            <a:r>
              <a:rPr b="1" i="0">
                <a:solidFill>
                  <a:srgbClr val="090A0B"/>
                </a:solidFill>
                <a:latin typeface="Times New Roman" panose="02020603050405020304" charset="0"/>
                <a:ea typeface="-apple-system"/>
                <a:cs typeface="Times New Roman" panose="02020603050405020304" charset="0"/>
              </a:rPr>
              <a:t>Complement</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p:txBody>
      </p:sp>
      <p:sp>
        <p:nvSpPr>
          <p:cNvPr id="3" name="Text Box 2"/>
          <p:cNvSpPr txBox="1"/>
          <p:nvPr/>
        </p:nvSpPr>
        <p:spPr>
          <a:xfrm>
            <a:off x="304800" y="1352550"/>
            <a:ext cx="8608695" cy="3291840"/>
          </a:xfrm>
          <a:prstGeom prst="rect">
            <a:avLst/>
          </a:prstGeom>
        </p:spPr>
        <p:txBody>
          <a:bodyPr wrap="square">
            <a:spAutoFit/>
          </a:bodyPr>
          <a:p>
            <a:pPr marL="0" indent="0"/>
            <a:r>
              <a:rPr sz="1600" b="1" i="0">
                <a:solidFill>
                  <a:srgbClr val="3C484E"/>
                </a:solidFill>
                <a:latin typeface="Times New Roman" panose="02020603050405020304" charset="0"/>
                <a:ea typeface="Arial" panose="020B0604020202020204"/>
                <a:cs typeface="Times New Roman" panose="02020603050405020304" charset="0"/>
              </a:rPr>
              <a:t>µR'(a,b) = 1 − µR(a,b)</a:t>
            </a:r>
            <a:endParaRPr sz="1600" b="1" i="0">
              <a:solidFill>
                <a:srgbClr val="3C484E"/>
              </a:solidFill>
              <a:latin typeface="Times New Roman" panose="02020603050405020304" charset="0"/>
              <a:ea typeface="Arial" panose="020B0604020202020204"/>
              <a:cs typeface="Times New Roman" panose="02020603050405020304" charset="0"/>
            </a:endParaRPr>
          </a:p>
          <a:p>
            <a:pPr marL="0" indent="0"/>
            <a:endParaRPr sz="1600" b="1"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sz="1600" i="0">
                <a:solidFill>
                  <a:srgbClr val="3C484E"/>
                </a:solidFill>
                <a:latin typeface="Times New Roman" panose="02020603050405020304" charset="0"/>
                <a:ea typeface="Arial" panose="020B0604020202020204"/>
                <a:cs typeface="Times New Roman" panose="02020603050405020304" charset="0"/>
              </a:rPr>
              <a:t>The complement operation is performed on a singular relation. Here, the degree of membership of each element of the relation (after we perform the complement operation) is equal to one minus the previous degree of membership.</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r>
              <a:rPr lang="en-US" altLang="en-GB" sz="1600" b="1" i="0">
                <a:solidFill>
                  <a:srgbClr val="3C484E"/>
                </a:solidFill>
                <a:latin typeface="Times New Roman" panose="02020603050405020304" charset="0"/>
                <a:ea typeface="Arial" panose="020B0604020202020204"/>
                <a:cs typeface="Times New Roman" panose="02020603050405020304" charset="0"/>
              </a:rPr>
              <a:t>Composition</a:t>
            </a:r>
            <a:r>
              <a:rPr lang="en-GB" altLang="en-US" sz="1600" b="1" i="0">
                <a:solidFill>
                  <a:srgbClr val="3C484E"/>
                </a:solidFill>
                <a:latin typeface="Times New Roman" panose="02020603050405020304" charset="0"/>
                <a:ea typeface="Arial" panose="020B0604020202020204"/>
                <a:cs typeface="Times New Roman" panose="02020603050405020304" charset="0"/>
              </a:rPr>
              <a:t> -</a:t>
            </a:r>
            <a:endParaRPr lang="en-GB" altLang="en-US" sz="1600" b="1"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endParaRPr lang="en-GB" altLang="en-US" sz="1600" b="1" i="0">
              <a:solidFill>
                <a:srgbClr val="3C484E"/>
              </a:solidFill>
              <a:latin typeface="Times New Roman" panose="02020603050405020304" charset="0"/>
              <a:ea typeface="Arial" panose="020B0604020202020204"/>
              <a:cs typeface="Times New Roman" panose="02020603050405020304" charset="0"/>
            </a:endParaRPr>
          </a:p>
          <a:p>
            <a:pPr indent="0" algn="just">
              <a:buFont typeface="Arial" panose="020B0604020202020204" pitchFamily="34" charset="0"/>
              <a:buNone/>
            </a:pPr>
            <a:r>
              <a:rPr lang="en-US" altLang="en-GB" sz="1600" b="1" i="0">
                <a:solidFill>
                  <a:srgbClr val="3C484E"/>
                </a:solidFill>
                <a:latin typeface="Times New Roman" panose="02020603050405020304" charset="0"/>
                <a:ea typeface="Arial" panose="020B0604020202020204"/>
                <a:cs typeface="Times New Roman" panose="02020603050405020304" charset="0"/>
              </a:rPr>
              <a:t>T = R</a:t>
            </a:r>
            <a:r>
              <a:rPr lang="en-US" altLang="en-US" sz="1600" b="1" i="0">
                <a:solidFill>
                  <a:srgbClr val="3C484E"/>
                </a:solidFill>
                <a:latin typeface="Times New Roman" panose="02020603050405020304" charset="0"/>
                <a:ea typeface="Arial" panose="020B0604020202020204"/>
                <a:cs typeface="Times New Roman" panose="02020603050405020304" charset="0"/>
              </a:rPr>
              <a:t>◦</a:t>
            </a:r>
            <a:r>
              <a:rPr lang="en-US" altLang="en-GB" sz="1600" b="1" i="0">
                <a:solidFill>
                  <a:srgbClr val="3C484E"/>
                </a:solidFill>
                <a:latin typeface="Times New Roman" panose="02020603050405020304" charset="0"/>
                <a:ea typeface="Arial" panose="020B0604020202020204"/>
                <a:cs typeface="Times New Roman" panose="02020603050405020304" charset="0"/>
              </a:rPr>
              <a:t>S, where:</a:t>
            </a:r>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indent="0" algn="just">
              <a:buFont typeface="Arial" panose="020B0604020202020204" pitchFamily="34" charset="0"/>
              <a:buNone/>
            </a:pPr>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(R</a:t>
            </a:r>
            <a:r>
              <a:rPr lang="en-US" altLang="en-US" sz="1600" b="1" i="0">
                <a:solidFill>
                  <a:srgbClr val="3C484E"/>
                </a:solidFill>
                <a:latin typeface="Times New Roman" panose="02020603050405020304" charset="0"/>
                <a:ea typeface="Arial" panose="020B0604020202020204"/>
                <a:cs typeface="Times New Roman" panose="02020603050405020304" charset="0"/>
              </a:rPr>
              <a:t>◦</a:t>
            </a:r>
            <a:r>
              <a:rPr lang="en-US" altLang="en-GB" sz="1600" b="1" i="0">
                <a:solidFill>
                  <a:srgbClr val="3C484E"/>
                </a:solidFill>
                <a:latin typeface="Times New Roman" panose="02020603050405020304" charset="0"/>
                <a:ea typeface="Arial" panose="020B0604020202020204"/>
                <a:cs typeface="Times New Roman" panose="02020603050405020304" charset="0"/>
              </a:rPr>
              <a:t>S) = max y∈Y { min (</a:t>
            </a:r>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R(x,y), </a:t>
            </a:r>
            <a:r>
              <a:rPr lang="en-US" altLang="en-US" sz="1600" b="1" i="0">
                <a:solidFill>
                  <a:srgbClr val="3C484E"/>
                </a:solidFill>
                <a:latin typeface="Times New Roman" panose="02020603050405020304" charset="0"/>
                <a:ea typeface="Arial" panose="020B0604020202020204"/>
                <a:cs typeface="Times New Roman" panose="02020603050405020304" charset="0"/>
              </a:rPr>
              <a:t>µ</a:t>
            </a:r>
            <a:r>
              <a:rPr lang="en-US" altLang="en-GB" sz="1600" b="1" i="0">
                <a:solidFill>
                  <a:srgbClr val="3C484E"/>
                </a:solidFill>
                <a:latin typeface="Times New Roman" panose="02020603050405020304" charset="0"/>
                <a:ea typeface="Arial" panose="020B0604020202020204"/>
                <a:cs typeface="Times New Roman" panose="02020603050405020304" charset="0"/>
              </a:rPr>
              <a:t>S(y,z)) }</a:t>
            </a:r>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indent="0" algn="just">
              <a:buFont typeface="Arial" panose="020B0604020202020204" pitchFamily="34" charset="0"/>
              <a:buNone/>
            </a:pPr>
            <a:endParaRPr lang="en-US" altLang="en-GB" sz="1600" b="1" i="0">
              <a:solidFill>
                <a:srgbClr val="3C484E"/>
              </a:solidFill>
              <a:latin typeface="Times New Roman" panose="02020603050405020304" charset="0"/>
              <a:ea typeface="Arial" panose="020B0604020202020204"/>
              <a:cs typeface="Times New Roman" panose="02020603050405020304" charset="0"/>
            </a:endParaRPr>
          </a:p>
          <a:p>
            <a:pPr indent="0" algn="just">
              <a:buFont typeface="Arial" panose="020B0604020202020204" pitchFamily="34" charset="0"/>
              <a:buNone/>
            </a:pPr>
            <a:r>
              <a:rPr lang="en-US" altLang="en-GB" sz="1600" i="0">
                <a:solidFill>
                  <a:srgbClr val="3C484E"/>
                </a:solidFill>
                <a:latin typeface="Times New Roman" panose="02020603050405020304" charset="0"/>
                <a:ea typeface="Arial" panose="020B0604020202020204"/>
                <a:cs typeface="Times New Roman" panose="02020603050405020304" charset="0"/>
              </a:rPr>
              <a:t>The composition operation is the most important operation that we will learn about in this article, as it is used extensively in drawing inferences from fuzzy systems. It is also called the max-min operation.</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542020" cy="3692525"/>
          </a:xfrm>
          <a:prstGeom prst="rect">
            <a:avLst/>
          </a:prstGeom>
        </p:spPr>
        <p:txBody>
          <a:bodyPr wrap="square">
            <a:spAutoFit/>
          </a:bodyPr>
          <a:p>
            <a:pPr marL="0" indent="0" algn="just"/>
            <a:r>
              <a:rPr b="0" i="0">
                <a:solidFill>
                  <a:srgbClr val="3C484E"/>
                </a:solidFill>
                <a:latin typeface="Times New Roman" panose="02020603050405020304" charset="0"/>
                <a:ea typeface="Arial" panose="020B0604020202020204"/>
                <a:cs typeface="Times New Roman" panose="02020603050405020304" charset="0"/>
              </a:rPr>
              <a:t>Here, if R is defined on X x Y and S is defined on Y x Z, then the degree of membership of each element in R◦S (X x Z) is obtained by first finding the minimum degree of membership corresponding to the elements of the two relational matrices R and S (for all y∈Y, the common term in the two relational matrices), and then finding the maximum degree of membership. This will be more clear when we take a look at an example.</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b="0" i="0">
                <a:solidFill>
                  <a:srgbClr val="3C484E"/>
                </a:solidFill>
                <a:latin typeface="Times New Roman" panose="02020603050405020304" charset="0"/>
                <a:ea typeface="Arial" panose="020B0604020202020204"/>
                <a:cs typeface="Times New Roman" panose="02020603050405020304" charset="0"/>
              </a:rPr>
              <a:t>If we have:</a:t>
            </a:r>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b="0" i="0">
                <a:solidFill>
                  <a:srgbClr val="3C484E"/>
                </a:solidFill>
                <a:latin typeface="Times New Roman" panose="02020603050405020304" charset="0"/>
                <a:ea typeface="Arial" panose="020B0604020202020204"/>
                <a:cs typeface="Times New Roman" panose="02020603050405020304" charset="0"/>
              </a:rPr>
              <a:t>X = (x1, x2, x3)</a:t>
            </a:r>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b="0" i="0">
                <a:solidFill>
                  <a:srgbClr val="3C484E"/>
                </a:solidFill>
                <a:latin typeface="Times New Roman" panose="02020603050405020304" charset="0"/>
                <a:ea typeface="Arial" panose="020B0604020202020204"/>
                <a:cs typeface="Times New Roman" panose="02020603050405020304" charset="0"/>
              </a:rPr>
              <a:t>Y = (y1, y2)</a:t>
            </a:r>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b="0" i="0">
                <a:solidFill>
                  <a:srgbClr val="3C484E"/>
                </a:solidFill>
                <a:latin typeface="Times New Roman" panose="02020603050405020304" charset="0"/>
                <a:ea typeface="Arial" panose="020B0604020202020204"/>
                <a:cs typeface="Times New Roman" panose="02020603050405020304" charset="0"/>
              </a:rPr>
              <a:t>Z = (z1, z2, z3)</a:t>
            </a:r>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lang="en-US" altLang="en-GB" b="0" i="0">
              <a:solidFill>
                <a:srgbClr val="3C484E"/>
              </a:solidFill>
              <a:latin typeface="Times New Roman" panose="02020603050405020304" charset="0"/>
              <a:ea typeface="Arial" panose="020B0604020202020204"/>
              <a:cs typeface="Times New Roman" panose="02020603050405020304" charset="0"/>
            </a:endParaRPr>
          </a:p>
          <a:p>
            <a:pPr marL="0" indent="0" algn="just"/>
            <a:r>
              <a:rPr lang="en-US" altLang="en-GB" b="0" i="0">
                <a:solidFill>
                  <a:srgbClr val="3C484E"/>
                </a:solidFill>
                <a:latin typeface="Times New Roman" panose="02020603050405020304" charset="0"/>
                <a:ea typeface="Arial" panose="020B0604020202020204"/>
                <a:cs typeface="Times New Roman" panose="02020603050405020304" charset="0"/>
              </a:rPr>
              <a:t>And the two relations R and S are given as:</a:t>
            </a:r>
            <a:endParaRPr lang="en-US" altLang="en-GB"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533400" y="819150"/>
            <a:ext cx="3387090" cy="778510"/>
          </a:xfrm>
          <a:prstGeom prst="rect">
            <a:avLst/>
          </a:prstGeom>
        </p:spPr>
      </p:pic>
      <p:pic>
        <p:nvPicPr>
          <p:cNvPr id="3" name="Picture 2"/>
          <p:cNvPicPr/>
          <p:nvPr/>
        </p:nvPicPr>
        <p:blipFill>
          <a:blip r:embed="rId2"/>
          <a:stretch>
            <a:fillRect/>
          </a:stretch>
        </p:blipFill>
        <p:spPr>
          <a:xfrm>
            <a:off x="5961380" y="971550"/>
            <a:ext cx="2664460" cy="586740"/>
          </a:xfrm>
          <a:prstGeom prst="rect">
            <a:avLst/>
          </a:prstGeom>
        </p:spPr>
      </p:pic>
      <p:sp>
        <p:nvSpPr>
          <p:cNvPr id="4" name="Text Box 3"/>
          <p:cNvSpPr txBox="1"/>
          <p:nvPr/>
        </p:nvSpPr>
        <p:spPr>
          <a:xfrm>
            <a:off x="304800" y="1733233"/>
            <a:ext cx="5080000" cy="337185"/>
          </a:xfrm>
          <a:prstGeom prst="rect">
            <a:avLst/>
          </a:prstGeom>
        </p:spPr>
        <p:txBody>
          <a:bodyPr>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Then, R◦S will be:</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5" name="Picture 4"/>
          <p:cNvPicPr/>
          <p:nvPr/>
        </p:nvPicPr>
        <p:blipFill>
          <a:blip r:embed="rId3"/>
          <a:stretch>
            <a:fillRect/>
          </a:stretch>
        </p:blipFill>
        <p:spPr>
          <a:xfrm>
            <a:off x="762000" y="2174875"/>
            <a:ext cx="4457700" cy="802005"/>
          </a:xfrm>
          <a:prstGeom prst="rect">
            <a:avLst/>
          </a:prstGeom>
        </p:spPr>
      </p:pic>
      <p:sp>
        <p:nvSpPr>
          <p:cNvPr id="6" name="Text Box 5"/>
          <p:cNvSpPr txBox="1"/>
          <p:nvPr/>
        </p:nvSpPr>
        <p:spPr>
          <a:xfrm>
            <a:off x="381000" y="3397250"/>
            <a:ext cx="8446770" cy="873760"/>
          </a:xfrm>
          <a:prstGeom prst="rect">
            <a:avLst/>
          </a:prstGeom>
        </p:spPr>
        <p:txBody>
          <a:bodyPr wrap="square">
            <a:noAutofit/>
          </a:bodyPr>
          <a:p>
            <a:pPr marL="0" indent="0" algn="just"/>
            <a:r>
              <a:rPr sz="1600" b="0" i="0">
                <a:solidFill>
                  <a:srgbClr val="3C484E"/>
                </a:solidFill>
                <a:latin typeface="Times New Roman" panose="02020603050405020304" charset="0"/>
                <a:ea typeface="Arial" panose="020B0604020202020204"/>
                <a:cs typeface="Times New Roman" panose="02020603050405020304" charset="0"/>
              </a:rPr>
              <a:t>To get the first element of R◦S, at index (0,0):</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lgn="just"/>
            <a:r>
              <a:rPr sz="1600" b="0" i="0">
                <a:solidFill>
                  <a:srgbClr val="3C484E"/>
                </a:solidFill>
                <a:latin typeface="Times New Roman" panose="02020603050405020304" charset="0"/>
                <a:ea typeface="Arial" panose="020B0604020202020204"/>
                <a:cs typeface="Times New Roman" panose="02020603050405020304" charset="0"/>
              </a:rPr>
              <a:t>We first find the minimum of (0.5, 0.6) and (0.1, 0.5). Thus, we get (0.5) and (0.1). Now, we find the maximum out of these, which is (0.5). Similarly, we can find the degrees of membership of the rest of the elements.</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742950"/>
            <a:ext cx="8772525" cy="398780"/>
          </a:xfrm>
          <a:prstGeom prst="rect">
            <a:avLst/>
          </a:prstGeom>
        </p:spPr>
        <p:txBody>
          <a:bodyPr wrap="square">
            <a:spAutoFit/>
          </a:bodyPr>
          <a:p>
            <a:pPr marL="0" indent="0" fontAlgn="base">
              <a:spcBef>
                <a:spcPts val="500"/>
              </a:spcBef>
              <a:spcAft>
                <a:spcPts val="200"/>
              </a:spcAft>
            </a:pPr>
            <a:r>
              <a:rPr sz="2000" b="1" i="0">
                <a:solidFill>
                  <a:srgbClr val="090A0B"/>
                </a:solidFill>
                <a:latin typeface="Times New Roman" panose="02020603050405020304" charset="0"/>
                <a:ea typeface="-apple-system"/>
                <a:cs typeface="Times New Roman" panose="02020603050405020304" charset="0"/>
              </a:rPr>
              <a:t>Fuzzy Propositions</a:t>
            </a:r>
            <a:r>
              <a:rPr lang="en-GB" sz="2000" b="1" i="0">
                <a:solidFill>
                  <a:srgbClr val="090A0B"/>
                </a:solidFill>
                <a:latin typeface="Times New Roman" panose="02020603050405020304" charset="0"/>
                <a:ea typeface="-apple-system"/>
                <a:cs typeface="Times New Roman" panose="02020603050405020304" charset="0"/>
              </a:rPr>
              <a:t> -</a:t>
            </a:r>
            <a:endParaRPr lang="en-GB" sz="2000" b="1" i="0">
              <a:solidFill>
                <a:srgbClr val="090A0B"/>
              </a:solidFill>
              <a:latin typeface="Times New Roman" panose="02020603050405020304" charset="0"/>
              <a:ea typeface="-apple-system"/>
              <a:cs typeface="Times New Roman" panose="02020603050405020304" charset="0"/>
            </a:endParaRPr>
          </a:p>
        </p:txBody>
      </p:sp>
      <p:sp>
        <p:nvSpPr>
          <p:cNvPr id="3" name="Text Box 2"/>
          <p:cNvSpPr txBox="1"/>
          <p:nvPr/>
        </p:nvSpPr>
        <p:spPr>
          <a:xfrm>
            <a:off x="304800" y="1294765"/>
            <a:ext cx="8554085" cy="3138170"/>
          </a:xfrm>
          <a:prstGeom prst="rect">
            <a:avLst/>
          </a:prstGeom>
        </p:spPr>
        <p:txBody>
          <a:bodyPr wrap="square">
            <a:spAutoFit/>
          </a:bodyPr>
          <a:p>
            <a:pPr marL="285750" indent="-285750" algn="just">
              <a:buFont typeface="Arial" panose="020B0604020202020204" pitchFamily="34" charset="0"/>
              <a:buChar char="•"/>
            </a:pPr>
            <a:r>
              <a:rPr b="0" i="0">
                <a:solidFill>
                  <a:srgbClr val="3C484E"/>
                </a:solidFill>
                <a:latin typeface="Times New Roman" panose="02020603050405020304" charset="0"/>
                <a:ea typeface="Arial" panose="020B0604020202020204"/>
                <a:cs typeface="Times New Roman" panose="02020603050405020304" charset="0"/>
              </a:rPr>
              <a:t>Now that we have a clear idea on how to perform basic operations on fuzzy relations, we will talk about fuzzy propositions. </a:t>
            </a: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r>
              <a:rPr b="0" i="0">
                <a:solidFill>
                  <a:srgbClr val="3C484E"/>
                </a:solidFill>
                <a:latin typeface="Times New Roman" panose="02020603050405020304" charset="0"/>
                <a:ea typeface="Arial" panose="020B0604020202020204"/>
                <a:cs typeface="Times New Roman" panose="02020603050405020304" charset="0"/>
              </a:rPr>
              <a:t>A fuzzy proposition, much like a classical proposition is a statement that has a truth value. </a:t>
            </a: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r>
              <a:rPr b="0" i="0">
                <a:solidFill>
                  <a:srgbClr val="3C484E"/>
                </a:solidFill>
                <a:latin typeface="Times New Roman" panose="02020603050405020304" charset="0"/>
                <a:ea typeface="Arial" panose="020B0604020202020204"/>
                <a:cs typeface="Times New Roman" panose="02020603050405020304" charset="0"/>
              </a:rPr>
              <a:t>The difference between classical propositions and fuzzy propositions is that classical propositions can have a truth value of either 0 or 1, that is, they can either be entirely false or entirely true. </a:t>
            </a: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endParaRPr b="0" i="0">
              <a:solidFill>
                <a:srgbClr val="3C484E"/>
              </a:solidFill>
              <a:latin typeface="Times New Roman" panose="02020603050405020304" charset="0"/>
              <a:ea typeface="Arial" panose="020B0604020202020204"/>
              <a:cs typeface="Times New Roman" panose="02020603050405020304" charset="0"/>
            </a:endParaRPr>
          </a:p>
          <a:p>
            <a:pPr marL="285750" indent="-285750" algn="just">
              <a:buFont typeface="Arial" panose="020B0604020202020204" pitchFamily="34" charset="0"/>
              <a:buChar char="•"/>
            </a:pPr>
            <a:r>
              <a:rPr b="0" i="0">
                <a:solidFill>
                  <a:srgbClr val="3C484E"/>
                </a:solidFill>
                <a:latin typeface="Times New Roman" panose="02020603050405020304" charset="0"/>
                <a:ea typeface="Arial" panose="020B0604020202020204"/>
                <a:cs typeface="Times New Roman" panose="02020603050405020304" charset="0"/>
              </a:rPr>
              <a:t>Fuzzy propositions, on the other hand, can have truth values in the range [0, 1].</a:t>
            </a:r>
            <a:endParaRPr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590550"/>
            <a:ext cx="8609965" cy="304609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For example, if we we have a proposition P, defined as:</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P - The weather is pleasant.</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 if absolutely false.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0.2, if mostly false.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0.4, if partially false.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0.6, if partially true.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0.8, if mostly true.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1, if absolutely true.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Where T(P) represents the truth value of the proposition.</a:t>
            </a:r>
            <a:endParaRPr sz="1600" b="0" i="0">
              <a:solidFill>
                <a:srgbClr val="3C484E"/>
              </a:solidFill>
              <a:latin typeface="Times New Roman" panose="02020603050405020304" charset="0"/>
              <a:ea typeface="Arial" panose="020B0604020202020204"/>
              <a:cs typeface="Times New Roman" panose="02020603050405020304" charset="0"/>
            </a:endParaRPr>
          </a:p>
        </p:txBody>
      </p:sp>
      <p:sp>
        <p:nvSpPr>
          <p:cNvPr id="3" name="Text Box 2"/>
          <p:cNvSpPr txBox="1"/>
          <p:nvPr/>
        </p:nvSpPr>
        <p:spPr>
          <a:xfrm>
            <a:off x="228600" y="3714750"/>
            <a:ext cx="8655050" cy="1039495"/>
          </a:xfrm>
          <a:prstGeom prst="rect">
            <a:avLst/>
          </a:prstGeom>
        </p:spPr>
        <p:txBody>
          <a:bodyPr wrap="square">
            <a:no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Traditionally, most of us have extensively dealt with two-valued logic. For example: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0 0</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0 1</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1 0</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1 1</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8693785" cy="3692525"/>
          </a:xfrm>
          <a:prstGeom prst="rect">
            <a:avLst/>
          </a:prstGeom>
        </p:spPr>
        <p:txBody>
          <a:bodyPr wrap="square">
            <a:spAutoFit/>
          </a:bodyPr>
          <a:p>
            <a:pPr marL="0" indent="0" algn="just"/>
            <a:r>
              <a:rPr b="0" i="0">
                <a:solidFill>
                  <a:srgbClr val="3C484E"/>
                </a:solidFill>
                <a:latin typeface="Times New Roman" panose="02020603050405020304" charset="0"/>
                <a:ea typeface="Arial" panose="020B0604020202020204"/>
                <a:cs typeface="Times New Roman" panose="02020603050405020304" charset="0"/>
              </a:rPr>
              <a:t>However, when we deal with fuzzy propositions, we will see ourselves often dealing with multi-valued logic. For example, if we extend our logic to include 0, 1/2 and 1, we will have:</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0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0</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0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1/2</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1/2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0</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1/2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1/2</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0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0</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1/2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1 </a:t>
            </a:r>
            <a:r>
              <a:rPr lang="en-GB" b="0" i="0">
                <a:solidFill>
                  <a:srgbClr val="3C484E"/>
                </a:solidFill>
                <a:latin typeface="Times New Roman" panose="02020603050405020304" charset="0"/>
                <a:ea typeface="Arial" panose="020B0604020202020204"/>
                <a:cs typeface="Times New Roman" panose="02020603050405020304" charset="0"/>
              </a:rPr>
              <a:t> </a:t>
            </a:r>
            <a:r>
              <a:rPr b="0" i="0">
                <a:solidFill>
                  <a:srgbClr val="3C484E"/>
                </a:solidFill>
                <a:latin typeface="Times New Roman" panose="02020603050405020304" charset="0"/>
                <a:ea typeface="Arial" panose="020B0604020202020204"/>
                <a:cs typeface="Times New Roman" panose="02020603050405020304" charset="0"/>
              </a:rPr>
              <a:t>1/2</a:t>
            </a:r>
            <a:endParaRPr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83955" cy="368300"/>
          </a:xfrm>
          <a:prstGeom prst="rect">
            <a:avLst/>
          </a:prstGeom>
        </p:spPr>
        <p:txBody>
          <a:bodyPr wrap="square">
            <a:spAutoFit/>
          </a:bodyPr>
          <a:p>
            <a:pPr marL="0" indent="0"/>
            <a:r>
              <a:rPr b="0" i="0">
                <a:solidFill>
                  <a:srgbClr val="3C484E"/>
                </a:solidFill>
                <a:latin typeface="Times New Roman" panose="02020603050405020304" charset="0"/>
                <a:ea typeface="Arial" panose="020B0604020202020204"/>
                <a:cs typeface="Times New Roman" panose="02020603050405020304" charset="0"/>
              </a:rPr>
              <a:t>Listed below are a few operations that can be performed on propositions:</a:t>
            </a:r>
            <a:endParaRPr b="0" i="0">
              <a:solidFill>
                <a:srgbClr val="3C484E"/>
              </a:solidFill>
              <a:latin typeface="Times New Roman" panose="02020603050405020304" charset="0"/>
              <a:ea typeface="Arial" panose="020B0604020202020204"/>
              <a:cs typeface="Times New Roman" panose="02020603050405020304" charset="0"/>
            </a:endParaRPr>
          </a:p>
        </p:txBody>
      </p:sp>
      <p:pic>
        <p:nvPicPr>
          <p:cNvPr id="3" name="Picture 2"/>
          <p:cNvPicPr/>
          <p:nvPr/>
        </p:nvPicPr>
        <p:blipFill>
          <a:blip r:embed="rId1"/>
          <a:stretch>
            <a:fillRect/>
          </a:stretch>
        </p:blipFill>
        <p:spPr>
          <a:xfrm>
            <a:off x="304800" y="1187450"/>
            <a:ext cx="4779645" cy="1780540"/>
          </a:xfrm>
          <a:prstGeom prst="rect">
            <a:avLst/>
          </a:prstGeom>
        </p:spPr>
      </p:pic>
      <p:sp>
        <p:nvSpPr>
          <p:cNvPr id="4" name="Text Box 3"/>
          <p:cNvSpPr txBox="1"/>
          <p:nvPr/>
        </p:nvSpPr>
        <p:spPr>
          <a:xfrm>
            <a:off x="228600" y="2967990"/>
            <a:ext cx="8655050"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If we perform these operations on three-valued logic, we will get the following results:</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152400" y="590550"/>
            <a:ext cx="4701540" cy="2769235"/>
          </a:xfrm>
          <a:prstGeom prst="rect">
            <a:avLst/>
          </a:prstGeom>
        </p:spPr>
      </p:pic>
      <p:sp>
        <p:nvSpPr>
          <p:cNvPr id="3" name="Text Box 2"/>
          <p:cNvSpPr txBox="1"/>
          <p:nvPr/>
        </p:nvSpPr>
        <p:spPr>
          <a:xfrm>
            <a:off x="457200" y="3486150"/>
            <a:ext cx="8512810" cy="922020"/>
          </a:xfrm>
          <a:prstGeom prst="rect">
            <a:avLst/>
          </a:prstGeom>
        </p:spPr>
        <p:txBody>
          <a:bodyPr wrap="square">
            <a:spAutoFit/>
          </a:bodyPr>
          <a:p>
            <a:pPr marL="0" indent="0"/>
            <a:r>
              <a:rPr b="0" i="0">
                <a:solidFill>
                  <a:srgbClr val="3C484E"/>
                </a:solidFill>
                <a:latin typeface="Times New Roman" panose="02020603050405020304" charset="0"/>
                <a:ea typeface="Arial" panose="020B0604020202020204"/>
                <a:cs typeface="Times New Roman" panose="02020603050405020304" charset="0"/>
              </a:rPr>
              <a:t>The operations used in the above table are:</a:t>
            </a:r>
            <a:endParaRPr b="0" i="0">
              <a:solidFill>
                <a:srgbClr val="3C484E"/>
              </a:solidFill>
              <a:latin typeface="Times New Roman" panose="02020603050405020304" charset="0"/>
              <a:ea typeface="Arial" panose="020B0604020202020204"/>
              <a:cs typeface="Times New Roman" panose="02020603050405020304" charset="0"/>
            </a:endParaRPr>
          </a:p>
          <a:p>
            <a:pPr marL="0" indent="0"/>
            <a:endParaRPr b="0" i="0">
              <a:solidFill>
                <a:srgbClr val="3C484E"/>
              </a:solidFill>
              <a:latin typeface="Times New Roman" panose="02020603050405020304" charset="0"/>
              <a:ea typeface="Arial" panose="020B0604020202020204"/>
              <a:cs typeface="Times New Roman" panose="02020603050405020304" charset="0"/>
            </a:endParaRPr>
          </a:p>
          <a:p>
            <a:pPr marL="0" indent="0"/>
            <a:r>
              <a:rPr b="0" i="0">
                <a:solidFill>
                  <a:srgbClr val="3C484E"/>
                </a:solidFill>
                <a:latin typeface="Times New Roman" panose="02020603050405020304" charset="0"/>
                <a:ea typeface="Arial" panose="020B0604020202020204"/>
                <a:cs typeface="Times New Roman" panose="02020603050405020304" charset="0"/>
              </a:rPr>
              <a:t>AND (∧), OR (∨), NOT (¬), IMPLICATION (⇒) and EQUAL TO (=).</a:t>
            </a:r>
            <a:endParaRPr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481060" cy="3538220"/>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Let us take a look at these operations being used on actual propositions. If we have: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P - Max is fast.</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T(P) = 0.8</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Q - Daniel is fast.</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T(Q) = 0.6</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Then, to find the truth value of the following statements, we have to use the above operators:</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'Max is not fast.'</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T(</a:t>
            </a:r>
            <a:r>
              <a:rPr lang="en-US" altLang="en-US" sz="1600" b="0" i="0">
                <a:solidFill>
                  <a:srgbClr val="3C484E"/>
                </a:solidFill>
                <a:latin typeface="Times New Roman" panose="02020603050405020304" charset="0"/>
                <a:ea typeface="Arial" panose="020B0604020202020204"/>
                <a:cs typeface="Times New Roman" panose="02020603050405020304" charset="0"/>
              </a:rPr>
              <a:t>¬</a:t>
            </a:r>
            <a:r>
              <a:rPr lang="en-US" altLang="en-GB" sz="1600" b="0" i="0">
                <a:solidFill>
                  <a:srgbClr val="3C484E"/>
                </a:solidFill>
                <a:latin typeface="Times New Roman" panose="02020603050405020304" charset="0"/>
                <a:ea typeface="Arial" panose="020B0604020202020204"/>
                <a:cs typeface="Times New Roman" panose="02020603050405020304" charset="0"/>
              </a:rPr>
              <a:t>P) = 1 − T(P) = 0.2</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95350"/>
            <a:ext cx="8526780" cy="2553335"/>
          </a:xfrm>
          <a:prstGeom prst="rect">
            <a:avLst/>
          </a:prstGeom>
          <a:noFill/>
        </p:spPr>
        <p:txBody>
          <a:bodyPr wrap="square" rtlCol="0" anchor="t">
            <a:spAutoFit/>
          </a:bodyPr>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'Max is fast and so is Daniel.'</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T(P ∧ Q) = min{T(P),T(Q)} = 0.6</a:t>
            </a:r>
            <a:endParaRPr lang="en-US" altLang="en-GB" sz="1600">
              <a:solidFill>
                <a:srgbClr val="3C484E"/>
              </a:solidFill>
              <a:latin typeface="Times New Roman" panose="02020603050405020304" charset="0"/>
              <a:ea typeface="Arial" panose="020B0604020202020204"/>
              <a:cs typeface="Times New Roman" panose="02020603050405020304" charset="0"/>
              <a:sym typeface="+mn-ea"/>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'Either Max is fast or Daniel is.'</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T(P ∨ Q) = max{T(P),T(Q)} = 0.8</a:t>
            </a:r>
            <a:endParaRPr lang="en-US" altLang="en-GB" sz="1600">
              <a:solidFill>
                <a:srgbClr val="3C484E"/>
              </a:solidFill>
              <a:latin typeface="Times New Roman" panose="02020603050405020304" charset="0"/>
              <a:ea typeface="Arial" panose="020B0604020202020204"/>
              <a:cs typeface="Times New Roman" panose="02020603050405020304" charset="0"/>
              <a:sym typeface="+mn-ea"/>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'If Max is fast, then so is Daniel.'</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a:solidFill>
                  <a:srgbClr val="3C484E"/>
                </a:solidFill>
                <a:latin typeface="Times New Roman" panose="02020603050405020304" charset="0"/>
                <a:ea typeface="Arial" panose="020B0604020202020204"/>
                <a:cs typeface="Times New Roman" panose="02020603050405020304" charset="0"/>
                <a:sym typeface="+mn-ea"/>
              </a:rPr>
              <a:t>T(P </a:t>
            </a:r>
            <a:r>
              <a:rPr lang="en-US" altLang="en-US" sz="1600">
                <a:solidFill>
                  <a:srgbClr val="3C484E"/>
                </a:solidFill>
                <a:latin typeface="Times New Roman" panose="02020603050405020304" charset="0"/>
                <a:ea typeface="Arial" panose="020B0604020202020204"/>
                <a:cs typeface="Times New Roman" panose="02020603050405020304" charset="0"/>
                <a:sym typeface="+mn-ea"/>
              </a:rPr>
              <a:t>⇒</a:t>
            </a:r>
            <a:r>
              <a:rPr lang="en-US" altLang="en-GB" sz="1600">
                <a:solidFill>
                  <a:srgbClr val="3C484E"/>
                </a:solidFill>
                <a:latin typeface="Times New Roman" panose="02020603050405020304" charset="0"/>
                <a:ea typeface="Arial" panose="020B0604020202020204"/>
                <a:cs typeface="Times New Roman" panose="02020603050405020304" charset="0"/>
                <a:sym typeface="+mn-ea"/>
              </a:rPr>
              <a:t> Q) = max{1−T(P),T(Q)} = 0.6</a:t>
            </a:r>
            <a:endParaRPr lang="en-US" altLang="en-GB" sz="1600">
              <a:solidFill>
                <a:srgbClr val="3C484E"/>
              </a:solidFill>
              <a:latin typeface="Times New Roman" panose="02020603050405020304" charset="0"/>
              <a:ea typeface="Arial" panose="020B0604020202020204"/>
              <a:cs typeface="Times New Roman" panose="02020603050405020304" charset="0"/>
              <a:sym typeface="+mn-ea"/>
            </a:endParaRP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620760" cy="3399790"/>
          </a:xfrm>
          <a:prstGeom prst="rect">
            <a:avLst/>
          </a:prstGeom>
        </p:spPr>
        <p:txBody>
          <a:bodyPr wrap="square">
            <a:spAutoFit/>
          </a:bodyPr>
          <a:p>
            <a:pPr marL="0" indent="0" fontAlgn="base">
              <a:spcBef>
                <a:spcPts val="500"/>
              </a:spcBef>
              <a:spcAft>
                <a:spcPts val="200"/>
              </a:spcAft>
            </a:pPr>
            <a:r>
              <a:rPr b="1" i="0">
                <a:solidFill>
                  <a:srgbClr val="090A0B"/>
                </a:solidFill>
                <a:latin typeface="Times New Roman" panose="02020603050405020304" charset="0"/>
                <a:ea typeface="-apple-system"/>
                <a:cs typeface="Times New Roman" panose="02020603050405020304" charset="0"/>
              </a:rPr>
              <a:t>Fuzzy Implications</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endParaRPr lang="en-GB" b="1"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i="0">
                <a:solidFill>
                  <a:srgbClr val="090A0B"/>
                </a:solidFill>
                <a:latin typeface="Times New Roman" panose="02020603050405020304" charset="0"/>
                <a:ea typeface="-apple-system"/>
                <a:cs typeface="Times New Roman" panose="02020603050405020304" charset="0"/>
              </a:rPr>
              <a:t>A fuzzy implication, also known as a fuzzy if-then rule or a fuzzy conditional statement, takes the form:</a:t>
            </a:r>
            <a:endParaRPr lang="en-US" altLang="en-GB"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endParaRPr lang="en-US" altLang="en-GB"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i="0">
                <a:solidFill>
                  <a:srgbClr val="090A0B"/>
                </a:solidFill>
                <a:latin typeface="Times New Roman" panose="02020603050405020304" charset="0"/>
                <a:ea typeface="-apple-system"/>
                <a:cs typeface="Times New Roman" panose="02020603050405020304" charset="0"/>
              </a:rPr>
              <a:t>If x is A then y is B.</a:t>
            </a:r>
            <a:endParaRPr lang="en-US" altLang="en-GB"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endParaRPr lang="en-US" altLang="en-GB"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i="0">
                <a:solidFill>
                  <a:srgbClr val="090A0B"/>
                </a:solidFill>
                <a:latin typeface="Times New Roman" panose="02020603050405020304" charset="0"/>
                <a:ea typeface="-apple-system"/>
                <a:cs typeface="Times New Roman" panose="02020603050405020304" charset="0"/>
              </a:rPr>
              <a:t>Here, A and B are linguistic variables (defined by the two fuzzy sets A and B) on universes of discourses X and Y respectively. 'x is A' is often called the antecedent and 'y is B' is often called the consequence. Here are a few examples of fuzzy implications:</a:t>
            </a:r>
            <a:endParaRPr lang="en-US" altLang="en-GB" i="0">
              <a:solidFill>
                <a:srgbClr val="090A0B"/>
              </a:solidFill>
              <a:latin typeface="Times New Roman" panose="02020603050405020304" charset="0"/>
              <a:ea typeface="-apple-system"/>
              <a:cs typeface="Times New Roman" panose="02020603050405020304" charset="0"/>
            </a:endParaRP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609965" cy="3335655"/>
          </a:xfrm>
          <a:prstGeom prst="rect">
            <a:avLst/>
          </a:prstGeom>
        </p:spPr>
        <p:txBody>
          <a:bodyPr wrap="square">
            <a:spAutoFit/>
          </a:bodyPr>
          <a:p>
            <a:pPr marL="0" indent="0" fontAlgn="base">
              <a:lnSpc>
                <a:spcPts val="1680"/>
              </a:lnSpc>
              <a:spcBef>
                <a:spcPct val="0"/>
              </a:spcBef>
              <a:spcAft>
                <a:spcPts val="500"/>
              </a:spcAft>
              <a:buFont typeface="Arial" panose="020B0604020202020204"/>
              <a:buChar char="•"/>
            </a:pPr>
            <a:r>
              <a:rPr lang="en-GB" sz="1600" b="0" i="0">
                <a:solidFill>
                  <a:srgbClr val="3C484E"/>
                </a:solidFill>
                <a:latin typeface="Arial" panose="020B0604020202020204"/>
                <a:ea typeface="Arial" panose="020B0604020202020204"/>
              </a:rPr>
              <a:t> </a:t>
            </a:r>
            <a:r>
              <a:rPr b="0">
                <a:solidFill>
                  <a:srgbClr val="3C484E"/>
                </a:solidFill>
                <a:latin typeface="Times New Roman" panose="02020603050405020304" charset="0"/>
                <a:ea typeface="Arial" panose="020B0604020202020204"/>
                <a:cs typeface="Times New Roman" panose="02020603050405020304" charset="0"/>
              </a:rPr>
              <a:t>If the </a:t>
            </a:r>
            <a:r>
              <a:rPr b="0">
                <a:solidFill>
                  <a:srgbClr val="090A0B"/>
                </a:solidFill>
                <a:latin typeface="Times New Roman" panose="02020603050405020304" charset="0"/>
                <a:ea typeface="Arial" panose="020B0604020202020204"/>
                <a:cs typeface="Times New Roman" panose="02020603050405020304" charset="0"/>
              </a:rPr>
              <a:t>temperature is high</a:t>
            </a:r>
            <a:r>
              <a:rPr b="0">
                <a:solidFill>
                  <a:srgbClr val="3C484E"/>
                </a:solidFill>
                <a:latin typeface="Times New Roman" panose="02020603050405020304" charset="0"/>
                <a:ea typeface="Arial" panose="020B0604020202020204"/>
                <a:cs typeface="Times New Roman" panose="02020603050405020304" charset="0"/>
              </a:rPr>
              <a:t>, then the </a:t>
            </a:r>
            <a:r>
              <a:rPr b="0">
                <a:solidFill>
                  <a:srgbClr val="090A0B"/>
                </a:solidFill>
                <a:latin typeface="Times New Roman" panose="02020603050405020304" charset="0"/>
                <a:ea typeface="Arial" panose="020B0604020202020204"/>
                <a:cs typeface="Times New Roman" panose="02020603050405020304" charset="0"/>
              </a:rPr>
              <a:t>pressure is high</a:t>
            </a:r>
            <a:r>
              <a:rPr b="0">
                <a:solidFill>
                  <a:srgbClr val="3C484E"/>
                </a:solidFill>
                <a:latin typeface="Times New Roman" panose="02020603050405020304" charset="0"/>
                <a:ea typeface="Arial" panose="020B0604020202020204"/>
                <a:cs typeface="Times New Roman" panose="02020603050405020304" charset="0"/>
              </a:rPr>
              <a:t>.</a:t>
            </a: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ct val="0"/>
              </a:spcBef>
              <a:spcAft>
                <a:spcPts val="500"/>
              </a:spcAft>
              <a:buFont typeface="Arial" panose="020B0604020202020204"/>
              <a:buNone/>
            </a:pP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Char char="•"/>
            </a:pPr>
            <a:r>
              <a:rPr lang="en-GB" b="0">
                <a:solidFill>
                  <a:srgbClr val="3C484E"/>
                </a:solidFill>
                <a:latin typeface="Times New Roman" panose="02020603050405020304" charset="0"/>
                <a:ea typeface="Arial" panose="020B0604020202020204"/>
                <a:cs typeface="Times New Roman" panose="02020603050405020304" charset="0"/>
              </a:rPr>
              <a:t> </a:t>
            </a:r>
            <a:r>
              <a:rPr b="0">
                <a:solidFill>
                  <a:srgbClr val="3C484E"/>
                </a:solidFill>
                <a:latin typeface="Times New Roman" panose="02020603050405020304" charset="0"/>
                <a:ea typeface="Arial" panose="020B0604020202020204"/>
                <a:cs typeface="Times New Roman" panose="02020603050405020304" charset="0"/>
              </a:rPr>
              <a:t>If the </a:t>
            </a:r>
            <a:r>
              <a:rPr b="0">
                <a:solidFill>
                  <a:srgbClr val="090A0B"/>
                </a:solidFill>
                <a:latin typeface="Times New Roman" panose="02020603050405020304" charset="0"/>
                <a:ea typeface="Arial" panose="020B0604020202020204"/>
                <a:cs typeface="Times New Roman" panose="02020603050405020304" charset="0"/>
              </a:rPr>
              <a:t>number is less than or equal to zero</a:t>
            </a:r>
            <a:r>
              <a:rPr b="0">
                <a:solidFill>
                  <a:srgbClr val="3C484E"/>
                </a:solidFill>
                <a:latin typeface="Times New Roman" panose="02020603050405020304" charset="0"/>
                <a:ea typeface="Arial" panose="020B0604020202020204"/>
                <a:cs typeface="Times New Roman" panose="02020603050405020304" charset="0"/>
              </a:rPr>
              <a:t>, then the </a:t>
            </a:r>
            <a:r>
              <a:rPr b="0">
                <a:solidFill>
                  <a:srgbClr val="090A0B"/>
                </a:solidFill>
                <a:latin typeface="Times New Roman" panose="02020603050405020304" charset="0"/>
                <a:ea typeface="Arial" panose="020B0604020202020204"/>
                <a:cs typeface="Times New Roman" panose="02020603050405020304" charset="0"/>
              </a:rPr>
              <a:t>number is not a natural number</a:t>
            </a:r>
            <a:r>
              <a:rPr b="0">
                <a:solidFill>
                  <a:srgbClr val="3C484E"/>
                </a:solidFill>
                <a:latin typeface="Times New Roman" panose="02020603050405020304" charset="0"/>
                <a:ea typeface="Arial" panose="020B0604020202020204"/>
                <a:cs typeface="Times New Roman" panose="02020603050405020304" charset="0"/>
              </a:rPr>
              <a:t>.</a:t>
            </a: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None/>
            </a:pP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Char char="•"/>
            </a:pPr>
            <a:r>
              <a:rPr lang="en-GB" b="0">
                <a:solidFill>
                  <a:srgbClr val="3C484E"/>
                </a:solidFill>
                <a:latin typeface="Times New Roman" panose="02020603050405020304" charset="0"/>
                <a:ea typeface="Arial" panose="020B0604020202020204"/>
                <a:cs typeface="Times New Roman" panose="02020603050405020304" charset="0"/>
              </a:rPr>
              <a:t> </a:t>
            </a:r>
            <a:r>
              <a:rPr b="0">
                <a:solidFill>
                  <a:srgbClr val="3C484E"/>
                </a:solidFill>
                <a:latin typeface="Times New Roman" panose="02020603050405020304" charset="0"/>
                <a:ea typeface="Arial" panose="020B0604020202020204"/>
                <a:cs typeface="Times New Roman" panose="02020603050405020304" charset="0"/>
              </a:rPr>
              <a:t>If the </a:t>
            </a:r>
            <a:r>
              <a:rPr b="0">
                <a:solidFill>
                  <a:srgbClr val="090A0B"/>
                </a:solidFill>
                <a:latin typeface="Times New Roman" panose="02020603050405020304" charset="0"/>
                <a:ea typeface="Arial" panose="020B0604020202020204"/>
                <a:cs typeface="Times New Roman" panose="02020603050405020304" charset="0"/>
              </a:rPr>
              <a:t>fruit is ripe</a:t>
            </a:r>
            <a:r>
              <a:rPr b="0">
                <a:solidFill>
                  <a:srgbClr val="3C484E"/>
                </a:solidFill>
                <a:latin typeface="Times New Roman" panose="02020603050405020304" charset="0"/>
                <a:ea typeface="Arial" panose="020B0604020202020204"/>
                <a:cs typeface="Times New Roman" panose="02020603050405020304" charset="0"/>
              </a:rPr>
              <a:t> then the </a:t>
            </a:r>
            <a:r>
              <a:rPr b="0">
                <a:solidFill>
                  <a:srgbClr val="090A0B"/>
                </a:solidFill>
                <a:latin typeface="Times New Roman" panose="02020603050405020304" charset="0"/>
                <a:ea typeface="Arial" panose="020B0604020202020204"/>
                <a:cs typeface="Times New Roman" panose="02020603050405020304" charset="0"/>
              </a:rPr>
              <a:t>fruit is sweet</a:t>
            </a:r>
            <a:r>
              <a:rPr b="0">
                <a:solidFill>
                  <a:srgbClr val="3C484E"/>
                </a:solidFill>
                <a:latin typeface="Times New Roman" panose="02020603050405020304" charset="0"/>
                <a:ea typeface="Arial" panose="020B0604020202020204"/>
                <a:cs typeface="Times New Roman" panose="02020603050405020304" charset="0"/>
              </a:rPr>
              <a:t>, else the </a:t>
            </a:r>
            <a:r>
              <a:rPr b="0">
                <a:solidFill>
                  <a:srgbClr val="090A0B"/>
                </a:solidFill>
                <a:latin typeface="Times New Roman" panose="02020603050405020304" charset="0"/>
                <a:ea typeface="Arial" panose="020B0604020202020204"/>
                <a:cs typeface="Times New Roman" panose="02020603050405020304" charset="0"/>
              </a:rPr>
              <a:t>fruit is sour</a:t>
            </a:r>
            <a:r>
              <a:rPr b="0">
                <a:solidFill>
                  <a:srgbClr val="3C484E"/>
                </a:solidFill>
                <a:latin typeface="Times New Roman" panose="02020603050405020304" charset="0"/>
                <a:ea typeface="Arial" panose="020B0604020202020204"/>
                <a:cs typeface="Times New Roman" panose="02020603050405020304" charset="0"/>
              </a:rPr>
              <a:t>.</a:t>
            </a: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Char char="•"/>
            </a:pPr>
            <a:endParaRPr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None/>
            </a:pPr>
            <a:r>
              <a:rPr lang="en-US" altLang="en-GB" b="0">
                <a:solidFill>
                  <a:srgbClr val="3C484E"/>
                </a:solidFill>
                <a:latin typeface="Times New Roman" panose="02020603050405020304" charset="0"/>
                <a:ea typeface="Arial" panose="020B0604020202020204"/>
                <a:cs typeface="Times New Roman" panose="02020603050405020304" charset="0"/>
              </a:rPr>
              <a:t>Now, in general, there are two ways to interpret the fuzzy rule A-&gt;B:</a:t>
            </a:r>
            <a:endParaRPr lang="en-US" altLang="en-GB"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None/>
            </a:pPr>
            <a:endParaRPr lang="en-US" altLang="en-GB"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None/>
            </a:pPr>
            <a:r>
              <a:rPr lang="en-US" altLang="en-GB" b="0">
                <a:solidFill>
                  <a:srgbClr val="3C484E"/>
                </a:solidFill>
                <a:latin typeface="Times New Roman" panose="02020603050405020304" charset="0"/>
                <a:ea typeface="Arial" panose="020B0604020202020204"/>
                <a:cs typeface="Times New Roman" panose="02020603050405020304" charset="0"/>
              </a:rPr>
              <a:t>A coupled with B</a:t>
            </a:r>
            <a:endParaRPr lang="en-US" altLang="en-GB" b="0">
              <a:solidFill>
                <a:srgbClr val="3C484E"/>
              </a:solidFill>
              <a:latin typeface="Times New Roman" panose="02020603050405020304" charset="0"/>
              <a:ea typeface="Arial" panose="020B0604020202020204"/>
              <a:cs typeface="Times New Roman" panose="02020603050405020304" charset="0"/>
            </a:endParaRPr>
          </a:p>
          <a:p>
            <a:pPr marL="0" indent="0" fontAlgn="base">
              <a:lnSpc>
                <a:spcPts val="1680"/>
              </a:lnSpc>
              <a:spcBef>
                <a:spcPts val="500"/>
              </a:spcBef>
              <a:spcAft>
                <a:spcPts val="500"/>
              </a:spcAft>
              <a:buFont typeface="Arial" panose="020B0604020202020204"/>
              <a:buNone/>
            </a:pPr>
            <a:r>
              <a:rPr lang="en-US" altLang="en-GB" b="0">
                <a:solidFill>
                  <a:srgbClr val="3C484E"/>
                </a:solidFill>
                <a:latin typeface="Times New Roman" panose="02020603050405020304" charset="0"/>
                <a:ea typeface="Arial" panose="020B0604020202020204"/>
                <a:cs typeface="Times New Roman" panose="02020603050405020304" charset="0"/>
              </a:rPr>
              <a:t>A entails B</a:t>
            </a:r>
            <a:endParaRPr lang="en-US" altLang="en-GB" b="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742950"/>
            <a:ext cx="8604885" cy="3669030"/>
          </a:xfrm>
          <a:prstGeom prst="rect">
            <a:avLst/>
          </a:prstGeom>
        </p:spPr>
        <p:txBody>
          <a:bodyPr wrap="square">
            <a:spAutoFit/>
          </a:bodyPr>
          <a:p>
            <a:pPr marL="0" indent="0" fontAlgn="base">
              <a:spcBef>
                <a:spcPts val="500"/>
              </a:spcBef>
              <a:spcAft>
                <a:spcPts val="200"/>
              </a:spcAft>
            </a:pPr>
            <a:r>
              <a:rPr b="1" i="0">
                <a:solidFill>
                  <a:srgbClr val="090A0B"/>
                </a:solidFill>
                <a:latin typeface="Times New Roman" panose="02020603050405020304" charset="0"/>
                <a:ea typeface="-apple-system"/>
                <a:cs typeface="Times New Roman" panose="02020603050405020304" charset="0"/>
              </a:rPr>
              <a:t>1. </a:t>
            </a:r>
            <a:r>
              <a:rPr lang="en-GB" b="1" i="0">
                <a:solidFill>
                  <a:srgbClr val="090A0B"/>
                </a:solidFill>
                <a:latin typeface="Times New Roman" panose="02020603050405020304" charset="0"/>
                <a:ea typeface="-apple-system"/>
                <a:cs typeface="Times New Roman" panose="02020603050405020304" charset="0"/>
              </a:rPr>
              <a:t> </a:t>
            </a:r>
            <a:r>
              <a:rPr b="1" i="0">
                <a:solidFill>
                  <a:srgbClr val="090A0B"/>
                </a:solidFill>
                <a:latin typeface="Times New Roman" panose="02020603050405020304" charset="0"/>
                <a:ea typeface="-apple-system"/>
                <a:cs typeface="Times New Roman" panose="02020603050405020304" charset="0"/>
              </a:rPr>
              <a:t>A coupled with B</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endParaRPr lang="en-GB" b="1"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Here, the rule can be written as:</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R:A </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 B = AxB = R ∫ (X</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Y)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A(x)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B(y)] | (x,y)</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In the above equation, ' * ' is not the multiplication operator. It is known as a T-Norm operator. The most commonly used T-Norm operators are:</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Algebraic Product: Tap(a,b) = ab</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When the T-Norm operator takes this form, we call this rule the 'Larsen Rule'.</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Minimum: Tmin(a,b) = min(a,b) = a ∧ b</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algn="just"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When the T-Norm operator takes this form, we call this rule the 'Mamdani Rule'.</a:t>
            </a:r>
            <a:endParaRPr lang="en-US" altLang="en-GB" sz="1600" i="0">
              <a:solidFill>
                <a:srgbClr val="090A0B"/>
              </a:solidFill>
              <a:latin typeface="Times New Roman" panose="02020603050405020304" charset="0"/>
              <a:ea typeface="-apple-system"/>
              <a:cs typeface="Times New Roman" panose="02020603050405020304" charset="0"/>
            </a:endParaRP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58190"/>
            <a:ext cx="8677910" cy="4371340"/>
          </a:xfrm>
          <a:prstGeom prst="rect">
            <a:avLst/>
          </a:prstGeom>
        </p:spPr>
        <p:txBody>
          <a:bodyPr wrap="square">
            <a:noAutofit/>
          </a:bodyPr>
          <a:p>
            <a:pPr marL="0" indent="0" fontAlgn="base">
              <a:spcBef>
                <a:spcPts val="500"/>
              </a:spcBef>
              <a:spcAft>
                <a:spcPts val="200"/>
              </a:spcAft>
            </a:pPr>
            <a:r>
              <a:rPr b="1" i="0">
                <a:solidFill>
                  <a:srgbClr val="090A0B"/>
                </a:solidFill>
                <a:latin typeface="Times New Roman" panose="02020603050405020304" charset="0"/>
                <a:ea typeface="-apple-system"/>
                <a:cs typeface="Times New Roman" panose="02020603050405020304" charset="0"/>
              </a:rPr>
              <a:t>2. </a:t>
            </a:r>
            <a:r>
              <a:rPr lang="en-GB" b="1" i="0">
                <a:solidFill>
                  <a:srgbClr val="090A0B"/>
                </a:solidFill>
                <a:latin typeface="Times New Roman" panose="02020603050405020304" charset="0"/>
                <a:ea typeface="-apple-system"/>
                <a:cs typeface="Times New Roman" panose="02020603050405020304" charset="0"/>
              </a:rPr>
              <a:t> </a:t>
            </a:r>
            <a:r>
              <a:rPr b="1" i="0">
                <a:solidFill>
                  <a:srgbClr val="090A0B"/>
                </a:solidFill>
                <a:latin typeface="Times New Roman" panose="02020603050405020304" charset="0"/>
                <a:ea typeface="-apple-system"/>
                <a:cs typeface="Times New Roman" panose="02020603050405020304" charset="0"/>
              </a:rPr>
              <a:t>A entails B</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Here, there are two main ways of interpreting fuzzy implications:</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endParaRPr lang="en-US" altLang="en-GB" sz="1600" i="0">
              <a:solidFill>
                <a:srgbClr val="090A0B"/>
              </a:solidFill>
              <a:latin typeface="Times New Roman" panose="02020603050405020304" charset="0"/>
              <a:ea typeface="-apple-system"/>
              <a:cs typeface="Times New Roman" panose="02020603050405020304" charset="0"/>
            </a:endParaRPr>
          </a:p>
          <a:p>
            <a:pPr marL="285750" indent="-285750" fontAlgn="base">
              <a:spcBef>
                <a:spcPts val="500"/>
              </a:spcBef>
              <a:spcAft>
                <a:spcPts val="200"/>
              </a:spcAft>
              <a:buFont typeface="Wingdings" panose="05000000000000000000" charset="0"/>
              <a:buChar char="ü"/>
            </a:pPr>
            <a:r>
              <a:rPr lang="en-US" altLang="en-GB" sz="1600" b="1" i="0">
                <a:solidFill>
                  <a:srgbClr val="090A0B"/>
                </a:solidFill>
                <a:latin typeface="Times New Roman" panose="02020603050405020304" charset="0"/>
                <a:ea typeface="-apple-system"/>
                <a:cs typeface="Times New Roman" panose="02020603050405020304" charset="0"/>
              </a:rPr>
              <a:t>Material Implication:</a:t>
            </a:r>
            <a:r>
              <a:rPr lang="en-US" altLang="en-GB" sz="1600" i="0">
                <a:solidFill>
                  <a:srgbClr val="090A0B"/>
                </a:solidFill>
                <a:latin typeface="Times New Roman" panose="02020603050405020304" charset="0"/>
                <a:ea typeface="-apple-system"/>
                <a:cs typeface="Times New Roman" panose="02020603050405020304" charset="0"/>
              </a:rPr>
              <a:t> R:A </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 B = A' ∪ B</a:t>
            </a:r>
            <a:endParaRPr lang="en-US" altLang="en-GB" sz="1600" i="0">
              <a:solidFill>
                <a:srgbClr val="090A0B"/>
              </a:solidFill>
              <a:latin typeface="Times New Roman" panose="02020603050405020304" charset="0"/>
              <a:ea typeface="-apple-system"/>
              <a:cs typeface="Times New Roman" panose="02020603050405020304" charset="0"/>
            </a:endParaRPr>
          </a:p>
          <a:p>
            <a:pPr marL="285750" indent="-285750" fontAlgn="base">
              <a:spcBef>
                <a:spcPts val="500"/>
              </a:spcBef>
              <a:spcAft>
                <a:spcPts val="200"/>
              </a:spcAft>
              <a:buFont typeface="Wingdings" panose="05000000000000000000" charset="0"/>
              <a:buChar char="ü"/>
            </a:pPr>
            <a:r>
              <a:rPr lang="en-US" altLang="en-GB" sz="1600" b="1" i="0">
                <a:solidFill>
                  <a:srgbClr val="090A0B"/>
                </a:solidFill>
                <a:latin typeface="Times New Roman" panose="02020603050405020304" charset="0"/>
                <a:ea typeface="-apple-system"/>
                <a:cs typeface="Times New Roman" panose="02020603050405020304" charset="0"/>
              </a:rPr>
              <a:t>Propositional Calculus:</a:t>
            </a:r>
            <a:r>
              <a:rPr lang="en-US" altLang="en-GB" sz="1600" i="0">
                <a:solidFill>
                  <a:srgbClr val="090A0B"/>
                </a:solidFill>
                <a:latin typeface="Times New Roman" panose="02020603050405020304" charset="0"/>
                <a:ea typeface="-apple-system"/>
                <a:cs typeface="Times New Roman" panose="02020603050405020304" charset="0"/>
              </a:rPr>
              <a:t> R:A </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 B = A' ∪ (A ∩ B)</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With these two methods of interpreting fuzzy implications in mind, we can further define two fuzzy implication functions:</a:t>
            </a:r>
            <a:endParaRPr lang="en-US" altLang="en-GB" sz="1600" i="0">
              <a:solidFill>
                <a:srgbClr val="090A0B"/>
              </a:solidFill>
              <a:latin typeface="Times New Roman" panose="02020603050405020304" charset="0"/>
              <a:ea typeface="-apple-system"/>
              <a:cs typeface="Times New Roman" panose="02020603050405020304" charset="0"/>
            </a:endParaRPr>
          </a:p>
          <a:p>
            <a:pPr indent="0" fontAlgn="base">
              <a:spcBef>
                <a:spcPts val="500"/>
              </a:spcBef>
              <a:spcAft>
                <a:spcPts val="200"/>
              </a:spcAft>
              <a:buFont typeface="Wingdings" panose="05000000000000000000" charset="0"/>
              <a:buNone/>
            </a:pPr>
            <a:r>
              <a:rPr lang="en-US" altLang="en-GB" sz="1600" b="1" i="0">
                <a:solidFill>
                  <a:srgbClr val="090A0B"/>
                </a:solidFill>
                <a:latin typeface="Times New Roman" panose="02020603050405020304" charset="0"/>
                <a:ea typeface="-apple-system"/>
                <a:cs typeface="Times New Roman" panose="02020603050405020304" charset="0"/>
              </a:rPr>
              <a:t>Zadeh's Arithmetic Rule:</a:t>
            </a:r>
            <a:endParaRPr lang="en-US" altLang="en-GB" sz="1600" b="1"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Rza = A' ∪ B = ∫ (X</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Y) 1 ∧ (1 −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A(x)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B(y)) | (x,y)</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As visible from the above equation, this function uses Material Implication.</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b="1" i="0">
                <a:solidFill>
                  <a:srgbClr val="090A0B"/>
                </a:solidFill>
                <a:latin typeface="Times New Roman" panose="02020603050405020304" charset="0"/>
                <a:ea typeface="-apple-system"/>
                <a:cs typeface="Times New Roman" panose="02020603050405020304" charset="0"/>
              </a:rPr>
              <a:t>Zadeh's Max-Min Rule:</a:t>
            </a:r>
            <a:endParaRPr lang="en-US" altLang="en-GB" sz="1600" b="1"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Rmm = A' ∪ (A ∩ B) = ∫ (X</a:t>
            </a:r>
            <a:r>
              <a:rPr lang="en-US" altLang="en-US" sz="1600" i="0">
                <a:solidFill>
                  <a:srgbClr val="090A0B"/>
                </a:solidFill>
                <a:latin typeface="Times New Roman" panose="02020603050405020304" charset="0"/>
                <a:ea typeface="-apple-system"/>
                <a:cs typeface="Times New Roman" panose="02020603050405020304" charset="0"/>
              </a:rPr>
              <a:t>×</a:t>
            </a:r>
            <a:r>
              <a:rPr lang="en-US" altLang="en-GB" sz="1600" i="0">
                <a:solidFill>
                  <a:srgbClr val="090A0B"/>
                </a:solidFill>
                <a:latin typeface="Times New Roman" panose="02020603050405020304" charset="0"/>
                <a:ea typeface="-apple-system"/>
                <a:cs typeface="Times New Roman" panose="02020603050405020304" charset="0"/>
              </a:rPr>
              <a:t>Y) (1 −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A(x))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A(x) ∧ </a:t>
            </a:r>
            <a:r>
              <a:rPr lang="en-US" altLang="en-US" sz="1600" i="0">
                <a:solidFill>
                  <a:srgbClr val="090A0B"/>
                </a:solidFill>
                <a:latin typeface="Times New Roman" panose="02020603050405020304" charset="0"/>
                <a:ea typeface="-apple-system"/>
                <a:cs typeface="Times New Roman" panose="02020603050405020304" charset="0"/>
              </a:rPr>
              <a:t>µ</a:t>
            </a:r>
            <a:r>
              <a:rPr lang="en-US" altLang="en-GB" sz="1600" i="0">
                <a:solidFill>
                  <a:srgbClr val="090A0B"/>
                </a:solidFill>
                <a:latin typeface="Times New Roman" panose="02020603050405020304" charset="0"/>
                <a:ea typeface="-apple-system"/>
                <a:cs typeface="Times New Roman" panose="02020603050405020304" charset="0"/>
              </a:rPr>
              <a:t>B(y)) | (x,y)</a:t>
            </a:r>
            <a:endParaRPr lang="en-US" altLang="en-GB" sz="1600" i="0">
              <a:solidFill>
                <a:srgbClr val="090A0B"/>
              </a:solidFill>
              <a:latin typeface="Times New Roman" panose="02020603050405020304" charset="0"/>
              <a:ea typeface="-apple-system"/>
              <a:cs typeface="Times New Roman" panose="02020603050405020304" charset="0"/>
            </a:endParaRPr>
          </a:p>
          <a:p>
            <a:pPr marL="0" indent="0" fontAlgn="base">
              <a:spcBef>
                <a:spcPts val="500"/>
              </a:spcBef>
              <a:spcAft>
                <a:spcPts val="200"/>
              </a:spcAft>
            </a:pPr>
            <a:r>
              <a:rPr lang="en-US" altLang="en-GB" sz="1600" i="0">
                <a:solidFill>
                  <a:srgbClr val="090A0B"/>
                </a:solidFill>
                <a:latin typeface="Times New Roman" panose="02020603050405020304" charset="0"/>
                <a:ea typeface="-apple-system"/>
                <a:cs typeface="Times New Roman" panose="02020603050405020304" charset="0"/>
              </a:rPr>
              <a:t>As visible from the above equation, this function uses Propositional Calculus.</a:t>
            </a:r>
            <a:endParaRPr lang="en-US" altLang="en-GB" sz="1600" i="0">
              <a:solidFill>
                <a:srgbClr val="090A0B"/>
              </a:solidFill>
              <a:latin typeface="Times New Roman" panose="02020603050405020304" charset="0"/>
              <a:ea typeface="-apple-system"/>
              <a:cs typeface="Times New Roman" panose="02020603050405020304" charset="0"/>
            </a:endParaRP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8609965" cy="4030980"/>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Say we have two universes of discourses, X and Y, defined as:</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X = {a, b, c, d}</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Y = {1, 2, 3, 4}</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Let there be two fuzzy sets, A and B, defined on these two universes of discourses, as:</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A = {(a, 0.0),(b, 0.8),(c, 0.6),(d, 1.0)}</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B = {(1, 0.2),(2, 1.0),(3, 0.8),(4, 0.0)}</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From this, we have to determine the implication:</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'If x is A then y is B.'</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Let us use Zadeh's Max-Min Rule to arrive at a conclusion. We know that:</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0" i="0">
                <a:solidFill>
                  <a:srgbClr val="3C484E"/>
                </a:solidFill>
                <a:latin typeface="Times New Roman" panose="02020603050405020304" charset="0"/>
                <a:ea typeface="Arial" panose="020B0604020202020204"/>
                <a:cs typeface="Times New Roman" panose="02020603050405020304" charset="0"/>
              </a:rPr>
              <a:t>From Zadeh's Max-Min Rule,</a:t>
            </a:r>
            <a:endParaRPr lang="en-US" altLang="en-GB"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564880" cy="1899285"/>
          </a:xfrm>
          <a:prstGeom prst="rect">
            <a:avLst/>
          </a:prstGeom>
        </p:spPr>
        <p:txBody>
          <a:bodyPr wrap="square">
            <a:spAutoFit/>
          </a:bodyPr>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R:A → B = A' ∪ (A ∩ B)</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Now, we also know that A ∩ B can simply be written as A x B.</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Thus, A' ∪ (A ∩ B) can be re-written as (A x B) ∪ (A' x Y), since the cross-product of Y with A' will simply give us A'.</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Now, let us find A x B:</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3" name="Picture 2"/>
          <p:cNvPicPr/>
          <p:nvPr/>
        </p:nvPicPr>
        <p:blipFill>
          <a:blip r:embed="rId1"/>
          <a:stretch>
            <a:fillRect/>
          </a:stretch>
        </p:blipFill>
        <p:spPr>
          <a:xfrm>
            <a:off x="2289810" y="2988945"/>
            <a:ext cx="4564380" cy="1896745"/>
          </a:xfrm>
          <a:prstGeom prst="rect">
            <a:avLst/>
          </a:prstGeom>
        </p:spPr>
      </p:pic>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609600" y="819150"/>
            <a:ext cx="5080000" cy="380365"/>
          </a:xfrm>
          <a:prstGeom prst="rect">
            <a:avLst/>
          </a:prstGeom>
        </p:spPr>
        <p:txBody>
          <a:bodyPr>
            <a:no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And now let us find A' x Y:</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3" name="Picture 2"/>
          <p:cNvPicPr/>
          <p:nvPr/>
        </p:nvPicPr>
        <p:blipFill>
          <a:blip r:embed="rId1"/>
          <a:stretch>
            <a:fillRect/>
          </a:stretch>
        </p:blipFill>
        <p:spPr>
          <a:xfrm>
            <a:off x="1524635" y="1352550"/>
            <a:ext cx="3820795" cy="1252855"/>
          </a:xfrm>
          <a:prstGeom prst="rect">
            <a:avLst/>
          </a:prstGeom>
        </p:spPr>
      </p:pic>
      <p:sp>
        <p:nvSpPr>
          <p:cNvPr id="4" name="Text Box 3"/>
          <p:cNvSpPr txBox="1"/>
          <p:nvPr/>
        </p:nvSpPr>
        <p:spPr>
          <a:xfrm>
            <a:off x="609600" y="2724150"/>
            <a:ext cx="7860665" cy="440055"/>
          </a:xfrm>
          <a:prstGeom prst="rect">
            <a:avLst/>
          </a:prstGeom>
          <a:noFill/>
        </p:spPr>
        <p:txBody>
          <a:bodyPr wrap="square" rtlCol="0">
            <a:noAutofit/>
          </a:bodyPr>
          <a:p>
            <a:r>
              <a:rPr lang="en-US" altLang="en-GB">
                <a:latin typeface="Times New Roman" panose="02020603050405020304" charset="0"/>
                <a:cs typeface="Times New Roman" panose="02020603050405020304" charset="0"/>
              </a:rPr>
              <a:t>Putting these two terms together, we can find R:A </a:t>
            </a:r>
            <a:r>
              <a:rPr lang="en-US" altLang="en-US">
                <a:latin typeface="Times New Roman" panose="02020603050405020304" charset="0"/>
                <a:cs typeface="Times New Roman" panose="02020603050405020304" charset="0"/>
              </a:rPr>
              <a:t>→</a:t>
            </a:r>
            <a:r>
              <a:rPr lang="en-US" altLang="en-GB">
                <a:latin typeface="Times New Roman" panose="02020603050405020304" charset="0"/>
                <a:cs typeface="Times New Roman" panose="02020603050405020304" charset="0"/>
              </a:rPr>
              <a:t> B = (A x B) ∪ (A' x Y) as:</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p:txBody>
      </p:sp>
      <p:pic>
        <p:nvPicPr>
          <p:cNvPr id="5" name="Picture 4"/>
          <p:cNvPicPr/>
          <p:nvPr/>
        </p:nvPicPr>
        <p:blipFill>
          <a:blip r:embed="rId2"/>
          <a:stretch>
            <a:fillRect/>
          </a:stretch>
        </p:blipFill>
        <p:spPr>
          <a:xfrm>
            <a:off x="2514600" y="3333750"/>
            <a:ext cx="4201160" cy="1601470"/>
          </a:xfrm>
          <a:prstGeom prst="rect">
            <a:avLst/>
          </a:prstGeom>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228600" y="666750"/>
            <a:ext cx="8625840" cy="398780"/>
          </a:xfrm>
          <a:prstGeom prst="rect">
            <a:avLst/>
          </a:prstGeom>
        </p:spPr>
        <p:txBody>
          <a:bodyPr wrap="square">
            <a:spAutoFit/>
          </a:bodyPr>
          <a:p>
            <a:pPr marL="0" indent="0" fontAlgn="base">
              <a:spcBef>
                <a:spcPts val="500"/>
              </a:spcBef>
              <a:spcAft>
                <a:spcPts val="200"/>
              </a:spcAft>
            </a:pPr>
            <a:r>
              <a:rPr sz="2000" b="1" i="0">
                <a:solidFill>
                  <a:srgbClr val="090A0B"/>
                </a:solidFill>
                <a:latin typeface="Times New Roman" panose="02020603050405020304" charset="0"/>
                <a:ea typeface="-apple-system"/>
                <a:cs typeface="Times New Roman" panose="02020603050405020304" charset="0"/>
              </a:rPr>
              <a:t>Fuzzy Inferences</a:t>
            </a:r>
            <a:endParaRPr sz="2000" b="1" i="0">
              <a:solidFill>
                <a:srgbClr val="090A0B"/>
              </a:solidFill>
              <a:latin typeface="Times New Roman" panose="02020603050405020304" charset="0"/>
              <a:ea typeface="-apple-system"/>
              <a:cs typeface="Times New Roman" panose="02020603050405020304" charset="0"/>
            </a:endParaRPr>
          </a:p>
        </p:txBody>
      </p:sp>
      <p:sp>
        <p:nvSpPr>
          <p:cNvPr id="5" name="Text Box 4"/>
          <p:cNvSpPr txBox="1"/>
          <p:nvPr/>
        </p:nvSpPr>
        <p:spPr>
          <a:xfrm>
            <a:off x="304800" y="1200150"/>
            <a:ext cx="8626475" cy="3784600"/>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We use two inferring procedures in fuzzy systems:</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b="1" i="0">
                <a:solidFill>
                  <a:srgbClr val="FF0000"/>
                </a:solidFill>
                <a:latin typeface="Times New Roman" panose="02020603050405020304" charset="0"/>
                <a:ea typeface="Arial" panose="020B0604020202020204"/>
                <a:cs typeface="Times New Roman" panose="02020603050405020304" charset="0"/>
              </a:rPr>
              <a:t>1. Generalized Modus Ponens (GMP)</a:t>
            </a:r>
            <a:r>
              <a:rPr lang="en-GB" altLang="en-US" sz="1600" b="1" i="0">
                <a:solidFill>
                  <a:srgbClr val="FF0000"/>
                </a:solidFill>
                <a:latin typeface="Times New Roman" panose="02020603050405020304" charset="0"/>
                <a:ea typeface="Arial" panose="020B0604020202020204"/>
                <a:cs typeface="Times New Roman" panose="02020603050405020304" charset="0"/>
              </a:rPr>
              <a:t> -</a:t>
            </a:r>
            <a:endParaRPr lang="en-GB" altLang="en-US" sz="1600" b="1" i="0">
              <a:solidFill>
                <a:srgbClr val="FF0000"/>
              </a:solidFill>
              <a:latin typeface="Times New Roman" panose="02020603050405020304" charset="0"/>
              <a:ea typeface="Arial" panose="020B0604020202020204"/>
              <a:cs typeface="Times New Roman" panose="02020603050405020304" charset="0"/>
            </a:endParaRPr>
          </a:p>
          <a:p>
            <a:pPr marL="0" indent="0"/>
            <a:endParaRPr lang="en-GB" altLang="en-US" sz="1600" b="1"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If we have the statement:</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If x is A then y is B.</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And if we are given:</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x is A'.</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Then, by using Generalized Modus Ponens, we can infer:</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y is B'.</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We have to find B', which, from Zadeh's Max-Min Rule can be written as:</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a:p>
            <a:pPr marL="0" indent="0"/>
            <a:r>
              <a:rPr lang="en-US" altLang="en-GB" sz="1600" i="0">
                <a:solidFill>
                  <a:srgbClr val="3C484E"/>
                </a:solidFill>
                <a:latin typeface="Times New Roman" panose="02020603050405020304" charset="0"/>
                <a:ea typeface="Arial" panose="020B0604020202020204"/>
                <a:cs typeface="Times New Roman" panose="02020603050405020304" charset="0"/>
              </a:rPr>
              <a:t>B' = A' </a:t>
            </a:r>
            <a:r>
              <a:rPr lang="en-US" altLang="en-US" sz="1600" i="0">
                <a:solidFill>
                  <a:srgbClr val="3C484E"/>
                </a:solidFill>
                <a:latin typeface="Times New Roman" panose="02020603050405020304" charset="0"/>
                <a:ea typeface="Arial" panose="020B0604020202020204"/>
                <a:cs typeface="Times New Roman" panose="02020603050405020304" charset="0"/>
              </a:rPr>
              <a:t>◦</a:t>
            </a:r>
            <a:r>
              <a:rPr lang="en-US" altLang="en-GB" sz="1600" i="0">
                <a:solidFill>
                  <a:srgbClr val="3C484E"/>
                </a:solidFill>
                <a:latin typeface="Times New Roman" panose="02020603050405020304" charset="0"/>
                <a:ea typeface="Arial" panose="020B0604020202020204"/>
                <a:cs typeface="Times New Roman" panose="02020603050405020304" charset="0"/>
              </a:rPr>
              <a:t> R(x,y), where R(x,y) = max {(A x B),(A' x Y)} (1)</a:t>
            </a:r>
            <a:endParaRPr lang="en-US" altLang="en-GB" sz="160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8701405" cy="3538220"/>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Let's consider two fuzzy sets A and B, defined on universes of discourse X and Y respectively. Now,</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 assume that a proposition - 'If x is A then y is B' is given to us, where: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A = {(x1, 0.5),(x2, 1),(x3, 0.6)}</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B = {(y1, 1),(y2, 0.4)}</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Further, assume that we are given:</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x is A', where A' = {(x1, 0.6),(x2, 0.9),(x3, 0.7)}.</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From this, we are to derive a conclusion of the form:</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a:r>
              <a:rPr sz="1600" b="0" i="0">
                <a:solidFill>
                  <a:srgbClr val="3C484E"/>
                </a:solidFill>
                <a:latin typeface="Times New Roman" panose="02020603050405020304" charset="0"/>
                <a:ea typeface="Arial" panose="020B0604020202020204"/>
                <a:cs typeface="Times New Roman" panose="02020603050405020304" charset="0"/>
              </a:rPr>
              <a:t>y is B', using Generalized Modus Ponens.</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719820" cy="1476375"/>
          </a:xfrm>
          <a:prstGeom prst="rect">
            <a:avLst/>
          </a:prstGeom>
        </p:spPr>
        <p:txBody>
          <a:bodyPr wrap="square">
            <a:spAutoFit/>
          </a:bodyPr>
          <a:p>
            <a:pPr marL="0" indent="0" algn="just"/>
            <a:r>
              <a:rPr b="0" i="0">
                <a:solidFill>
                  <a:srgbClr val="3C484E"/>
                </a:solidFill>
                <a:latin typeface="Times New Roman" panose="02020603050405020304" charset="0"/>
                <a:ea typeface="Arial" panose="020B0604020202020204"/>
                <a:cs typeface="Times New Roman" panose="02020603050405020304" charset="0"/>
              </a:rPr>
              <a:t>From equation (1), we know that we first have to find (A x B) and then (A' x Y), after which we have to perform the composition of A' and the maximum of (A x B) and (A' x Y).</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r>
              <a:rPr b="0" i="0">
                <a:solidFill>
                  <a:srgbClr val="3C484E"/>
                </a:solidFill>
                <a:latin typeface="Times New Roman" panose="02020603050405020304" charset="0"/>
                <a:ea typeface="Arial" panose="020B0604020202020204"/>
                <a:cs typeface="Times New Roman" panose="02020603050405020304" charset="0"/>
              </a:rPr>
              <a:t>First, let us find (A x B).</a:t>
            </a:r>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b="0" i="0">
              <a:solidFill>
                <a:srgbClr val="3C484E"/>
              </a:solidFill>
              <a:latin typeface="Times New Roman" panose="02020603050405020304" charset="0"/>
              <a:ea typeface="Arial" panose="020B0604020202020204"/>
              <a:cs typeface="Times New Roman" panose="02020603050405020304" charset="0"/>
            </a:endParaRPr>
          </a:p>
          <a:p>
            <a:pPr marL="0" indent="0" algn="just"/>
            <a:endParaRPr b="0" i="0">
              <a:solidFill>
                <a:srgbClr val="3C484E"/>
              </a:solidFill>
              <a:latin typeface="Times New Roman" panose="02020603050405020304" charset="0"/>
              <a:ea typeface="Arial" panose="020B0604020202020204"/>
              <a:cs typeface="Times New Roman" panose="02020603050405020304" charset="0"/>
            </a:endParaRPr>
          </a:p>
        </p:txBody>
      </p:sp>
      <p:pic>
        <p:nvPicPr>
          <p:cNvPr id="3" name="Picture 2"/>
          <p:cNvPicPr/>
          <p:nvPr/>
        </p:nvPicPr>
        <p:blipFill>
          <a:blip r:embed="rId1"/>
          <a:stretch>
            <a:fillRect/>
          </a:stretch>
        </p:blipFill>
        <p:spPr>
          <a:xfrm>
            <a:off x="2545715" y="1657350"/>
            <a:ext cx="3497580" cy="916940"/>
          </a:xfrm>
          <a:prstGeom prst="rect">
            <a:avLst/>
          </a:prstGeom>
        </p:spPr>
      </p:pic>
      <p:sp>
        <p:nvSpPr>
          <p:cNvPr id="4" name="Text Box 3"/>
          <p:cNvSpPr txBox="1"/>
          <p:nvPr/>
        </p:nvSpPr>
        <p:spPr>
          <a:xfrm>
            <a:off x="304800" y="2800033"/>
            <a:ext cx="5080000" cy="337185"/>
          </a:xfrm>
          <a:prstGeom prst="rect">
            <a:avLst/>
          </a:prstGeom>
        </p:spPr>
        <p:txBody>
          <a:bodyPr>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Now, let us find (A' x Y).</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5" name="Picture 4"/>
          <p:cNvPicPr/>
          <p:nvPr/>
        </p:nvPicPr>
        <p:blipFill>
          <a:blip r:embed="rId2"/>
          <a:stretch>
            <a:fillRect/>
          </a:stretch>
        </p:blipFill>
        <p:spPr>
          <a:xfrm>
            <a:off x="2461260" y="3409950"/>
            <a:ext cx="3063240" cy="1077595"/>
          </a:xfrm>
          <a:prstGeom prst="rect">
            <a:avLst/>
          </a:prstGeom>
        </p:spPr>
      </p:pic>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742950"/>
            <a:ext cx="8609965"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Now that we have (A x B) and (A' x Y), we can find R(x,y) = max {(A x B),(A' x Y)}.</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3" name="Picture 2"/>
          <p:cNvPicPr/>
          <p:nvPr/>
        </p:nvPicPr>
        <p:blipFill>
          <a:blip r:embed="rId1"/>
          <a:stretch>
            <a:fillRect/>
          </a:stretch>
        </p:blipFill>
        <p:spPr>
          <a:xfrm>
            <a:off x="1066800" y="1200150"/>
            <a:ext cx="4709160" cy="1318260"/>
          </a:xfrm>
          <a:prstGeom prst="rect">
            <a:avLst/>
          </a:prstGeom>
        </p:spPr>
      </p:pic>
      <p:sp>
        <p:nvSpPr>
          <p:cNvPr id="5" name="Text Box 4"/>
          <p:cNvSpPr txBox="1"/>
          <p:nvPr/>
        </p:nvSpPr>
        <p:spPr>
          <a:xfrm>
            <a:off x="304800" y="2543810"/>
            <a:ext cx="8625840"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And finally, we can perform the composition of A' and R(x,y).</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6" name="Picture 5"/>
          <p:cNvPicPr/>
          <p:nvPr/>
        </p:nvPicPr>
        <p:blipFill>
          <a:blip r:embed="rId2"/>
          <a:stretch>
            <a:fillRect/>
          </a:stretch>
        </p:blipFill>
        <p:spPr>
          <a:xfrm>
            <a:off x="1828800" y="3028950"/>
            <a:ext cx="4716780" cy="1492885"/>
          </a:xfrm>
          <a:prstGeom prst="rect">
            <a:avLst/>
          </a:prstGeom>
        </p:spPr>
      </p:pic>
      <p:sp>
        <p:nvSpPr>
          <p:cNvPr id="7" name="Text Box 6"/>
          <p:cNvSpPr txBox="1"/>
          <p:nvPr/>
        </p:nvSpPr>
        <p:spPr>
          <a:xfrm>
            <a:off x="76200" y="4705350"/>
            <a:ext cx="8853805"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Thus, we derive that y is B' where B' = {(y1, 0.9),(y2, 0.5)}.</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95350"/>
            <a:ext cx="8717915" cy="3945890"/>
          </a:xfrm>
          <a:prstGeom prst="rect">
            <a:avLst/>
          </a:prstGeom>
        </p:spPr>
        <p:txBody>
          <a:bodyPr wrap="square">
            <a:spAutoFit/>
          </a:bodyPr>
          <a:p>
            <a:pPr indent="0" fontAlgn="base">
              <a:spcBef>
                <a:spcPts val="500"/>
              </a:spcBef>
              <a:spcAft>
                <a:spcPts val="200"/>
              </a:spcAft>
              <a:buFont typeface="+mj-lt"/>
              <a:buNone/>
            </a:pPr>
            <a:r>
              <a:rPr lang="en-GB" b="1" i="0">
                <a:solidFill>
                  <a:srgbClr val="090A0B"/>
                </a:solidFill>
                <a:latin typeface="Times New Roman" panose="02020603050405020304" charset="0"/>
                <a:ea typeface="-apple-system"/>
                <a:cs typeface="Times New Roman" panose="02020603050405020304" charset="0"/>
              </a:rPr>
              <a:t>2 . </a:t>
            </a:r>
            <a:r>
              <a:rPr b="1" i="0">
                <a:solidFill>
                  <a:srgbClr val="090A0B"/>
                </a:solidFill>
                <a:latin typeface="Times New Roman" panose="02020603050405020304" charset="0"/>
                <a:ea typeface="-apple-system"/>
                <a:cs typeface="Times New Roman" panose="02020603050405020304" charset="0"/>
              </a:rPr>
              <a:t>Generalized Modus Tollens (GMT)</a:t>
            </a:r>
            <a:r>
              <a:rPr lang="en-GB" b="1" i="0">
                <a:solidFill>
                  <a:srgbClr val="090A0B"/>
                </a:solidFill>
                <a:latin typeface="Times New Roman" panose="02020603050405020304" charset="0"/>
                <a:ea typeface="-apple-system"/>
                <a:cs typeface="Times New Roman" panose="02020603050405020304" charset="0"/>
              </a:rPr>
              <a:t> -</a:t>
            </a:r>
            <a:endParaRPr lang="en-GB" b="1" i="0">
              <a:solidFill>
                <a:srgbClr val="090A0B"/>
              </a:solidFill>
              <a:latin typeface="Times New Roman" panose="02020603050405020304" charset="0"/>
              <a:ea typeface="-apple-system"/>
              <a:cs typeface="Times New Roman" panose="02020603050405020304" charset="0"/>
            </a:endParaRPr>
          </a:p>
          <a:p>
            <a:pPr indent="0"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This inference procedure is very similar to GMP. The only difference lies in the methods of application of these two procedures. Here, if we have the statement:</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If x is A then y is B.</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And if we are given:</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y is B'.</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Then, by using Generalized Modus Tollens, we can infer:</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x is A'.</a:t>
            </a: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endParaRPr lang="en-US" altLang="en-GB" i="0">
              <a:solidFill>
                <a:srgbClr val="090A0B"/>
              </a:solidFill>
              <a:latin typeface="Times New Roman" panose="02020603050405020304" charset="0"/>
              <a:ea typeface="-apple-system"/>
              <a:cs typeface="Times New Roman" panose="02020603050405020304" charset="0"/>
            </a:endParaRPr>
          </a:p>
          <a:p>
            <a:pPr indent="0" algn="just" fontAlgn="base">
              <a:spcBef>
                <a:spcPts val="500"/>
              </a:spcBef>
              <a:spcAft>
                <a:spcPts val="200"/>
              </a:spcAft>
              <a:buFont typeface="+mj-lt"/>
              <a:buNone/>
            </a:pPr>
            <a:r>
              <a:rPr lang="en-US" altLang="en-GB" i="0">
                <a:solidFill>
                  <a:srgbClr val="090A0B"/>
                </a:solidFill>
                <a:latin typeface="Times New Roman" panose="02020603050405020304" charset="0"/>
                <a:ea typeface="-apple-system"/>
                <a:cs typeface="Times New Roman" panose="02020603050405020304" charset="0"/>
              </a:rPr>
              <a:t>Let's consider an example.</a:t>
            </a:r>
            <a:endParaRPr lang="en-US" altLang="en-GB" i="0">
              <a:solidFill>
                <a:srgbClr val="090A0B"/>
              </a:solidFill>
              <a:latin typeface="Times New Roman" panose="02020603050405020304" charset="0"/>
              <a:ea typeface="-apple-system"/>
              <a:cs typeface="Times New Roman" panose="02020603050405020304" charset="0"/>
            </a:endParaRP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533765" cy="3407410"/>
          </a:xfrm>
          <a:prstGeom prst="rect">
            <a:avLst/>
          </a:prstGeom>
        </p:spPr>
        <p:txBody>
          <a:bodyPr wrap="square">
            <a:spAutoFit/>
          </a:bodyPr>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Assume that a proposition - 'If x is A then y is B' is given to us, where:</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A = {(x1, 0.5),(x2, 1.0),(x3, 0.6)}</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B = {(y1, 0.6),(y2, 0.4)}</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Now, assume that we are given:</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y is B', where B' = {(y1, 0.9),(y2, 0.7)}.</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From this information, we are to infer:</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x is A', using Generalized Modus Tollens.</a:t>
            </a:r>
            <a:endParaRPr sz="1600" b="0" i="0">
              <a:solidFill>
                <a:srgbClr val="3C484E"/>
              </a:solidFill>
              <a:latin typeface="Times New Roman" panose="02020603050405020304" charset="0"/>
              <a:ea typeface="Arial" panose="020B0604020202020204"/>
              <a:cs typeface="Times New Roman" panose="02020603050405020304" charset="0"/>
            </a:endParaRPr>
          </a:p>
          <a:p>
            <a:pPr marL="0" indent="0" fontAlgn="base">
              <a:spcBef>
                <a:spcPct val="0"/>
              </a:spcBef>
              <a:spcAft>
                <a:spcPts val="1500"/>
              </a:spcAft>
            </a:pPr>
            <a:r>
              <a:rPr sz="1600" b="0" i="0">
                <a:solidFill>
                  <a:srgbClr val="3C484E"/>
                </a:solidFill>
                <a:latin typeface="Times New Roman" panose="02020603050405020304" charset="0"/>
                <a:ea typeface="Arial" panose="020B0604020202020204"/>
                <a:cs typeface="Times New Roman" panose="02020603050405020304" charset="0"/>
              </a:rPr>
              <a:t>Hence, we first calculate R(x,y) = max{(A × B),(A' × y)}.</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1"/>
          <a:stretch>
            <a:fillRect/>
          </a:stretch>
        </p:blipFill>
        <p:spPr>
          <a:xfrm>
            <a:off x="762000" y="742950"/>
            <a:ext cx="3464560" cy="1064260"/>
          </a:xfrm>
          <a:prstGeom prst="rect">
            <a:avLst/>
          </a:prstGeom>
        </p:spPr>
      </p:pic>
      <p:sp>
        <p:nvSpPr>
          <p:cNvPr id="3" name="Text Box 2"/>
          <p:cNvSpPr txBox="1"/>
          <p:nvPr/>
        </p:nvSpPr>
        <p:spPr>
          <a:xfrm>
            <a:off x="304800" y="2038350"/>
            <a:ext cx="8585835"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Now that we have R(x,y), we can calculate A', which is equal to B' ◦ R(x, y).</a:t>
            </a:r>
            <a:endParaRPr sz="1600" b="0" i="0">
              <a:solidFill>
                <a:srgbClr val="3C484E"/>
              </a:solidFill>
              <a:latin typeface="Times New Roman" panose="02020603050405020304" charset="0"/>
              <a:ea typeface="Arial" panose="020B0604020202020204"/>
              <a:cs typeface="Times New Roman" panose="02020603050405020304" charset="0"/>
            </a:endParaRPr>
          </a:p>
        </p:txBody>
      </p:sp>
      <p:pic>
        <p:nvPicPr>
          <p:cNvPr id="4" name="Picture 3"/>
          <p:cNvPicPr/>
          <p:nvPr/>
        </p:nvPicPr>
        <p:blipFill>
          <a:blip r:embed="rId2"/>
          <a:stretch>
            <a:fillRect/>
          </a:stretch>
        </p:blipFill>
        <p:spPr>
          <a:xfrm>
            <a:off x="1290955" y="2606675"/>
            <a:ext cx="4201795" cy="1369695"/>
          </a:xfrm>
          <a:prstGeom prst="rect">
            <a:avLst/>
          </a:prstGeom>
        </p:spPr>
      </p:pic>
      <p:sp>
        <p:nvSpPr>
          <p:cNvPr id="5" name="Text Box 4"/>
          <p:cNvSpPr txBox="1"/>
          <p:nvPr/>
        </p:nvSpPr>
        <p:spPr>
          <a:xfrm>
            <a:off x="434975" y="4400550"/>
            <a:ext cx="8455660" cy="337185"/>
          </a:xfrm>
          <a:prstGeom prst="rect">
            <a:avLst/>
          </a:prstGeom>
        </p:spPr>
        <p:txBody>
          <a:bodyPr wrap="square">
            <a:spAutoFit/>
          </a:bodyPr>
          <a:p>
            <a:pPr marL="0" indent="0"/>
            <a:r>
              <a:rPr sz="1600" b="0" i="0">
                <a:solidFill>
                  <a:srgbClr val="3C484E"/>
                </a:solidFill>
                <a:latin typeface="Times New Roman" panose="02020603050405020304" charset="0"/>
                <a:ea typeface="Arial" panose="020B0604020202020204"/>
                <a:cs typeface="Times New Roman" panose="02020603050405020304" charset="0"/>
              </a:rPr>
              <a:t>Thus, we derive that x is A' where A' = {(x1, 0.5),(x2, 0.9),(x3, 0.6)}.</a:t>
            </a:r>
            <a:endParaRPr sz="1600" b="0" i="0">
              <a:solidFill>
                <a:srgbClr val="3C484E"/>
              </a:solidFill>
              <a:latin typeface="Times New Roman" panose="02020603050405020304" charset="0"/>
              <a:ea typeface="Arial" panose="020B0604020202020204"/>
              <a:cs typeface="Times New Roman" panose="02020603050405020304" charset="0"/>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672830" cy="4122420"/>
          </a:xfrm>
          <a:prstGeom prst="rect">
            <a:avLst/>
          </a:prstGeom>
        </p:spPr>
        <p:txBody>
          <a:bodyPr wrap="square">
            <a:spAutoFit/>
          </a:bodyPr>
          <a:p>
            <a:pPr marL="0" indent="0">
              <a:lnSpc>
                <a:spcPts val="1800"/>
              </a:lnSpc>
              <a:spcAft>
                <a:spcPct val="60000"/>
              </a:spcAft>
            </a:pPr>
            <a:r>
              <a:rPr sz="2000" b="1" i="0">
                <a:solidFill>
                  <a:srgbClr val="000000"/>
                </a:solidFill>
                <a:latin typeface="Times New Roman" panose="02020603050405020304" charset="0"/>
                <a:ea typeface="Lato"/>
                <a:cs typeface="Times New Roman" panose="02020603050405020304" charset="0"/>
              </a:rPr>
              <a:t>Fuzzy Logic Rule Base</a:t>
            </a:r>
            <a:r>
              <a:rPr lang="en-GB" sz="2000" b="1" i="0">
                <a:solidFill>
                  <a:srgbClr val="000000"/>
                </a:solidFill>
                <a:latin typeface="Times New Roman" panose="02020603050405020304" charset="0"/>
                <a:ea typeface="Lato"/>
                <a:cs typeface="Times New Roman" panose="02020603050405020304" charset="0"/>
              </a:rPr>
              <a:t> -</a:t>
            </a:r>
            <a:endParaRPr lang="en-GB" sz="2000" b="1"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It is a known fact that a human being is always comfortable making conversations in natural language. The representation of human knowledge can be done with the help of following natural language expression −</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IF antecedent THEN consequent</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The expression as stated above is referred to as the Fuzzy IF-THEN rule base.</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Canonical Form</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Following is the canonical form of Fuzzy Logic Rule Base −</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Rule 1 − If condition C1, then restriction R1</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Rule 2 − If condition C1, then restriction R2</a:t>
            </a:r>
            <a:endParaRPr lang="en-US" altLang="en-GB" i="0">
              <a:solidFill>
                <a:srgbClr val="000000"/>
              </a:solidFill>
              <a:latin typeface="Times New Roman" panose="02020603050405020304" charset="0"/>
              <a:ea typeface="Lato"/>
              <a:cs typeface="Times New Roman" panose="02020603050405020304" charset="0"/>
            </a:endParaRPr>
          </a:p>
          <a:p>
            <a:pPr marL="0" indent="0" algn="just">
              <a:lnSpc>
                <a:spcPts val="1800"/>
              </a:lnSpc>
              <a:spcAft>
                <a:spcPct val="60000"/>
              </a:spcAft>
            </a:pPr>
            <a:r>
              <a:rPr lang="en-US" altLang="en-GB" i="0">
                <a:solidFill>
                  <a:srgbClr val="000000"/>
                </a:solidFill>
                <a:latin typeface="Times New Roman" panose="02020603050405020304" charset="0"/>
                <a:ea typeface="Lato"/>
                <a:cs typeface="Times New Roman" panose="02020603050405020304" charset="0"/>
              </a:rPr>
              <a:t>Rule n − If condition C1, then restriction Rn</a:t>
            </a:r>
            <a:endParaRPr lang="en-US" altLang="en-GB" i="0">
              <a:solidFill>
                <a:srgbClr val="000000"/>
              </a:solidFill>
              <a:latin typeface="Times New Roman" panose="02020603050405020304" charset="0"/>
              <a:ea typeface="Lato"/>
              <a:cs typeface="Times New Roman" panose="02020603050405020304"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666750"/>
            <a:ext cx="8685530" cy="4742180"/>
          </a:xfrm>
          <a:prstGeom prst="rect">
            <a:avLst/>
          </a:prstGeom>
        </p:spPr>
        <p:txBody>
          <a:bodyPr wrap="square">
            <a:spAutoFit/>
          </a:bodyPr>
          <a:p>
            <a:pPr marL="0" indent="0">
              <a:lnSpc>
                <a:spcPts val="1800"/>
              </a:lnSpc>
              <a:spcAft>
                <a:spcPct val="60000"/>
              </a:spcAft>
            </a:pPr>
            <a:r>
              <a:rPr b="1" i="0">
                <a:solidFill>
                  <a:srgbClr val="000000"/>
                </a:solidFill>
                <a:latin typeface="Times New Roman" panose="02020603050405020304" charset="0"/>
                <a:ea typeface="Lato"/>
                <a:cs typeface="Times New Roman" panose="02020603050405020304" charset="0"/>
              </a:rPr>
              <a:t>Interpretations of Fuzzy IF-THEN Rules</a:t>
            </a:r>
            <a:r>
              <a:rPr lang="en-GB" b="1" i="0">
                <a:solidFill>
                  <a:srgbClr val="000000"/>
                </a:solidFill>
                <a:latin typeface="Times New Roman" panose="02020603050405020304" charset="0"/>
                <a:ea typeface="Lato"/>
                <a:cs typeface="Times New Roman" panose="02020603050405020304" charset="0"/>
              </a:rPr>
              <a:t> -</a:t>
            </a:r>
            <a:endParaRPr lang="en-GB" b="1" i="0">
              <a:solidFill>
                <a:srgbClr val="000000"/>
              </a:solidFill>
              <a:latin typeface="Times New Roman" panose="02020603050405020304" charset="0"/>
              <a:ea typeface="Lato"/>
              <a:cs typeface="Times New Roman" panose="02020603050405020304" charset="0"/>
            </a:endParaRPr>
          </a:p>
          <a:p>
            <a:pPr marL="0" indent="0">
              <a:lnSpc>
                <a:spcPts val="1800"/>
              </a:lnSpc>
              <a:spcAft>
                <a:spcPct val="60000"/>
              </a:spcAft>
            </a:pPr>
            <a:r>
              <a:rPr lang="en-US" altLang="en-GB" sz="1600" i="0">
                <a:solidFill>
                  <a:srgbClr val="000000"/>
                </a:solidFill>
                <a:latin typeface="Times New Roman" panose="02020603050405020304" charset="0"/>
                <a:ea typeface="Lato"/>
                <a:cs typeface="Times New Roman" panose="02020603050405020304" charset="0"/>
              </a:rPr>
              <a:t>Fuzzy IF-THEN Rules can be interpreted in the following four forms −</a:t>
            </a:r>
            <a:endParaRPr lang="en-US" altLang="en-GB" sz="1600" i="0">
              <a:solidFill>
                <a:srgbClr val="000000"/>
              </a:solidFill>
              <a:latin typeface="Times New Roman" panose="02020603050405020304" charset="0"/>
              <a:ea typeface="Lato"/>
              <a:cs typeface="Times New Roman" panose="02020603050405020304" charset="0"/>
            </a:endParaRPr>
          </a:p>
          <a:p>
            <a:pPr marL="285750" indent="-285750">
              <a:lnSpc>
                <a:spcPts val="1800"/>
              </a:lnSpc>
              <a:spcAft>
                <a:spcPct val="60000"/>
              </a:spcAft>
              <a:buFont typeface="Arial" panose="020B0604020202020204" pitchFamily="34" charset="0"/>
              <a:buChar char="•"/>
            </a:pPr>
            <a:r>
              <a:rPr lang="en-US" altLang="en-GB" sz="1600" b="1" i="0">
                <a:solidFill>
                  <a:srgbClr val="000000"/>
                </a:solidFill>
                <a:latin typeface="Times New Roman" panose="02020603050405020304" charset="0"/>
                <a:ea typeface="Lato"/>
                <a:cs typeface="Times New Roman" panose="02020603050405020304" charset="0"/>
              </a:rPr>
              <a:t>Assignment Statements</a:t>
            </a:r>
            <a:r>
              <a:rPr lang="en-GB" altLang="en-US" sz="1600" b="1" i="0">
                <a:solidFill>
                  <a:srgbClr val="000000"/>
                </a:solidFill>
                <a:latin typeface="Times New Roman" panose="02020603050405020304" charset="0"/>
                <a:ea typeface="Lato"/>
                <a:cs typeface="Times New Roman" panose="02020603050405020304" charset="0"/>
              </a:rPr>
              <a:t> -</a:t>
            </a:r>
            <a:endParaRPr lang="en-US" altLang="en-GB" sz="1600" b="1" i="0">
              <a:solidFill>
                <a:srgbClr val="000000"/>
              </a:solidFill>
              <a:latin typeface="Times New Roman" panose="02020603050405020304" charset="0"/>
              <a:ea typeface="Lato"/>
              <a:cs typeface="Times New Roman" panose="02020603050405020304" charset="0"/>
            </a:endParaRPr>
          </a:p>
          <a:p>
            <a:pPr marL="0" indent="0">
              <a:lnSpc>
                <a:spcPts val="1800"/>
              </a:lnSpc>
              <a:spcAft>
                <a:spcPct val="60000"/>
              </a:spcAft>
            </a:pPr>
            <a:r>
              <a:rPr lang="en-US" altLang="en-GB" sz="1600" i="0">
                <a:solidFill>
                  <a:srgbClr val="000000"/>
                </a:solidFill>
                <a:latin typeface="Times New Roman" panose="02020603050405020304" charset="0"/>
                <a:ea typeface="Lato"/>
                <a:cs typeface="Times New Roman" panose="02020603050405020304" charset="0"/>
              </a:rPr>
              <a:t>These kinds of statements use = (equal to sign) for the purpose of assignment. They are of the following form −</a:t>
            </a:r>
            <a:endParaRPr lang="en-US" altLang="en-GB" sz="1600" i="0">
              <a:solidFill>
                <a:srgbClr val="000000"/>
              </a:solidFill>
              <a:latin typeface="Times New Roman" panose="02020603050405020304" charset="0"/>
              <a:ea typeface="Lato"/>
              <a:cs typeface="Times New Roman" panose="02020603050405020304" charset="0"/>
            </a:endParaRPr>
          </a:p>
          <a:p>
            <a:pPr marL="0" indent="0">
              <a:lnSpc>
                <a:spcPts val="1800"/>
              </a:lnSpc>
              <a:spcAft>
                <a:spcPct val="60000"/>
              </a:spcAft>
            </a:pPr>
            <a:r>
              <a:rPr lang="en-US" altLang="en-GB" sz="1600" i="0">
                <a:solidFill>
                  <a:srgbClr val="000000"/>
                </a:solidFill>
                <a:latin typeface="Times New Roman" panose="02020603050405020304" charset="0"/>
                <a:ea typeface="Lato"/>
                <a:cs typeface="Times New Roman" panose="02020603050405020304" charset="0"/>
              </a:rPr>
              <a:t>a = hello</a:t>
            </a:r>
            <a:endParaRPr lang="en-US" altLang="en-GB" sz="1600" i="0">
              <a:solidFill>
                <a:srgbClr val="000000"/>
              </a:solidFill>
              <a:latin typeface="Times New Roman" panose="02020603050405020304" charset="0"/>
              <a:ea typeface="Lato"/>
              <a:cs typeface="Times New Roman" panose="02020603050405020304" charset="0"/>
            </a:endParaRPr>
          </a:p>
          <a:p>
            <a:pPr marL="0" indent="0">
              <a:lnSpc>
                <a:spcPts val="1800"/>
              </a:lnSpc>
              <a:spcAft>
                <a:spcPct val="60000"/>
              </a:spcAft>
            </a:pPr>
            <a:r>
              <a:rPr lang="en-US" altLang="en-GB" sz="1600" i="0">
                <a:solidFill>
                  <a:srgbClr val="000000"/>
                </a:solidFill>
                <a:latin typeface="Times New Roman" panose="02020603050405020304" charset="0"/>
                <a:ea typeface="Lato"/>
                <a:cs typeface="Times New Roman" panose="02020603050405020304" charset="0"/>
              </a:rPr>
              <a:t>climate = summer</a:t>
            </a:r>
            <a:endParaRPr lang="en-US" altLang="en-GB" sz="1600" i="0">
              <a:solidFill>
                <a:srgbClr val="000000"/>
              </a:solidFill>
              <a:latin typeface="Times New Roman" panose="02020603050405020304" charset="0"/>
              <a:ea typeface="Lato"/>
              <a:cs typeface="Times New Roman" panose="02020603050405020304" charset="0"/>
            </a:endParaRPr>
          </a:p>
          <a:p>
            <a:pPr marL="285750" indent="-285750">
              <a:lnSpc>
                <a:spcPts val="1800"/>
              </a:lnSpc>
              <a:spcAft>
                <a:spcPct val="60000"/>
              </a:spcAft>
              <a:buFont typeface="Arial" panose="020B0604020202020204" pitchFamily="34" charset="0"/>
              <a:buChar char="•"/>
            </a:pPr>
            <a:r>
              <a:rPr lang="en-US" altLang="en-GB" sz="1600" b="1" i="0">
                <a:solidFill>
                  <a:srgbClr val="000000"/>
                </a:solidFill>
                <a:latin typeface="Times New Roman" panose="02020603050405020304" charset="0"/>
                <a:ea typeface="Lato"/>
                <a:cs typeface="Times New Roman" panose="02020603050405020304" charset="0"/>
              </a:rPr>
              <a:t>Conditional Statements</a:t>
            </a:r>
            <a:r>
              <a:rPr lang="en-GB" altLang="en-US" sz="1600" b="1" i="0">
                <a:solidFill>
                  <a:srgbClr val="000000"/>
                </a:solidFill>
                <a:latin typeface="Times New Roman" panose="02020603050405020304" charset="0"/>
                <a:ea typeface="Lato"/>
                <a:cs typeface="Times New Roman" panose="02020603050405020304" charset="0"/>
              </a:rPr>
              <a:t> -</a:t>
            </a:r>
            <a:endParaRPr lang="en-GB" altLang="en-US" sz="1600" b="1" i="0">
              <a:solidFill>
                <a:srgbClr val="000000"/>
              </a:solidFill>
              <a:latin typeface="Times New Roman" panose="02020603050405020304" charset="0"/>
              <a:ea typeface="Lato"/>
              <a:cs typeface="Times New Roman" panose="02020603050405020304" charset="0"/>
            </a:endParaRPr>
          </a:p>
          <a:p>
            <a:pPr indent="0">
              <a:lnSpc>
                <a:spcPts val="1800"/>
              </a:lnSpc>
              <a:spcAft>
                <a:spcPct val="60000"/>
              </a:spcAft>
              <a:buFont typeface="Arial" panose="020B0604020202020204" pitchFamily="34" charset="0"/>
              <a:buNone/>
            </a:pPr>
            <a:r>
              <a:rPr lang="en-US" altLang="en-GB" sz="1600" i="0">
                <a:solidFill>
                  <a:srgbClr val="000000"/>
                </a:solidFill>
                <a:latin typeface="Times New Roman" panose="02020603050405020304" charset="0"/>
                <a:ea typeface="Lato"/>
                <a:cs typeface="Times New Roman" panose="02020603050405020304" charset="0"/>
              </a:rPr>
              <a:t>These kinds of statements use the IF-THEN rule base form for the purpose of condition. They are of the following form −</a:t>
            </a:r>
            <a:endParaRPr lang="en-US" altLang="en-GB" sz="1600" i="0">
              <a:solidFill>
                <a:srgbClr val="000000"/>
              </a:solidFill>
              <a:latin typeface="Times New Roman" panose="02020603050405020304" charset="0"/>
              <a:ea typeface="Lato"/>
              <a:cs typeface="Times New Roman" panose="02020603050405020304" charset="0"/>
            </a:endParaRPr>
          </a:p>
          <a:p>
            <a:pPr indent="0">
              <a:lnSpc>
                <a:spcPts val="1800"/>
              </a:lnSpc>
              <a:spcAft>
                <a:spcPct val="60000"/>
              </a:spcAft>
              <a:buFont typeface="Arial" panose="020B0604020202020204" pitchFamily="34" charset="0"/>
              <a:buNone/>
            </a:pPr>
            <a:r>
              <a:rPr lang="en-US" altLang="en-GB" sz="1600" i="0">
                <a:solidFill>
                  <a:srgbClr val="000000"/>
                </a:solidFill>
                <a:latin typeface="Times New Roman" panose="02020603050405020304" charset="0"/>
                <a:ea typeface="Lato"/>
                <a:cs typeface="Times New Roman" panose="02020603050405020304" charset="0"/>
              </a:rPr>
              <a:t>IF temperature is high THEN Climate is hot</a:t>
            </a:r>
            <a:endParaRPr lang="en-US" altLang="en-GB" sz="1600" i="0">
              <a:solidFill>
                <a:srgbClr val="000000"/>
              </a:solidFill>
              <a:latin typeface="Times New Roman" panose="02020603050405020304" charset="0"/>
              <a:ea typeface="Lato"/>
              <a:cs typeface="Times New Roman" panose="02020603050405020304" charset="0"/>
            </a:endParaRPr>
          </a:p>
          <a:p>
            <a:pPr indent="0">
              <a:lnSpc>
                <a:spcPts val="1800"/>
              </a:lnSpc>
              <a:spcAft>
                <a:spcPct val="60000"/>
              </a:spcAft>
              <a:buFont typeface="Arial" panose="020B0604020202020204" pitchFamily="34" charset="0"/>
              <a:buNone/>
            </a:pPr>
            <a:r>
              <a:rPr lang="en-US" altLang="en-GB" sz="1600" i="0">
                <a:solidFill>
                  <a:srgbClr val="000000"/>
                </a:solidFill>
                <a:latin typeface="Times New Roman" panose="02020603050405020304" charset="0"/>
                <a:ea typeface="Lato"/>
                <a:cs typeface="Times New Roman" panose="02020603050405020304" charset="0"/>
              </a:rPr>
              <a:t>IF food is fresh THEN eat.</a:t>
            </a:r>
            <a:endParaRPr lang="en-US" altLang="en-GB" sz="1600" i="0">
              <a:solidFill>
                <a:srgbClr val="000000"/>
              </a:solidFill>
              <a:latin typeface="Times New Roman" panose="02020603050405020304" charset="0"/>
              <a:ea typeface="Lato"/>
              <a:cs typeface="Times New Roman" panose="02020603050405020304" charset="0"/>
            </a:endParaRPr>
          </a:p>
          <a:p>
            <a:pPr marL="0" indent="0">
              <a:lnSpc>
                <a:spcPts val="1800"/>
              </a:lnSpc>
              <a:spcAft>
                <a:spcPct val="60000"/>
              </a:spcAft>
            </a:pPr>
            <a:endParaRPr lang="en-US" altLang="en-GB" sz="1600" i="0">
              <a:solidFill>
                <a:srgbClr val="000000"/>
              </a:solidFill>
              <a:latin typeface="Times New Roman" panose="02020603050405020304" charset="0"/>
              <a:ea typeface="Lato"/>
              <a:cs typeface="Times New Roman" panose="02020603050405020304" charset="0"/>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4800" y="819150"/>
            <a:ext cx="8572500" cy="1244600"/>
          </a:xfrm>
          <a:prstGeom prst="rect">
            <a:avLst/>
          </a:prstGeom>
        </p:spPr>
        <p:txBody>
          <a:bodyPr wrap="square">
            <a:spAutoFit/>
          </a:bodyPr>
          <a:p>
            <a:pPr marL="285750" indent="-285750" algn="l">
              <a:lnSpc>
                <a:spcPts val="1800"/>
              </a:lnSpc>
              <a:spcAft>
                <a:spcPct val="60000"/>
              </a:spcAft>
              <a:buFont typeface="Arial" panose="020B0604020202020204" pitchFamily="34" charset="0"/>
              <a:buChar char="•"/>
            </a:pPr>
            <a:r>
              <a:rPr b="1">
                <a:latin typeface="Times New Roman" panose="02020603050405020304" charset="0"/>
                <a:ea typeface="Verdana" panose="020B0604030504040204"/>
                <a:cs typeface="Times New Roman" panose="02020603050405020304" charset="0"/>
              </a:rPr>
              <a:t>Unconditional Statements</a:t>
            </a:r>
            <a:endParaRPr b="1">
              <a:latin typeface="Times New Roman" panose="02020603050405020304" charset="0"/>
              <a:ea typeface="Verdana" panose="020B0604030504040204"/>
              <a:cs typeface="Times New Roman" panose="02020603050405020304" charset="0"/>
            </a:endParaRPr>
          </a:p>
          <a:p>
            <a:pPr marL="0" indent="0"/>
            <a:r>
              <a:rPr sz="1600" b="0">
                <a:solidFill>
                  <a:srgbClr val="000000"/>
                </a:solidFill>
                <a:latin typeface="Times New Roman" panose="02020603050405020304" charset="0"/>
                <a:ea typeface="Verdana" panose="020B0604030504040204"/>
                <a:cs typeface="Times New Roman" panose="02020603050405020304" charset="0"/>
              </a:rPr>
              <a:t>They are of the following form −</a:t>
            </a:r>
            <a:endParaRPr sz="1600" b="0">
              <a:solidFill>
                <a:srgbClr val="000000"/>
              </a:solidFill>
              <a:latin typeface="Times New Roman" panose="02020603050405020304" charset="0"/>
              <a:ea typeface="Verdana" panose="020B0604030504040204"/>
              <a:cs typeface="Times New Roman" panose="02020603050405020304" charset="0"/>
            </a:endParaRPr>
          </a:p>
          <a:p>
            <a:pPr marL="0" indent="0" algn="ctr">
              <a:spcBef>
                <a:spcPct val="0"/>
              </a:spcBef>
              <a:spcAft>
                <a:spcPct val="0"/>
              </a:spcAft>
            </a:pPr>
            <a:r>
              <a:rPr sz="1600" b="0">
                <a:solidFill>
                  <a:srgbClr val="000000"/>
                </a:solidFill>
                <a:latin typeface="Times New Roman" panose="02020603050405020304" charset="0"/>
                <a:ea typeface="Verdana" panose="020B0604030504040204"/>
                <a:cs typeface="Times New Roman" panose="02020603050405020304" charset="0"/>
              </a:rPr>
              <a:t>GOTO 10</a:t>
            </a:r>
            <a:endParaRPr sz="1600" b="0">
              <a:solidFill>
                <a:srgbClr val="000000"/>
              </a:solidFill>
              <a:latin typeface="Times New Roman" panose="02020603050405020304" charset="0"/>
              <a:ea typeface="Verdana" panose="020B0604030504040204"/>
              <a:cs typeface="Times New Roman" panose="02020603050405020304" charset="0"/>
            </a:endParaRPr>
          </a:p>
          <a:p>
            <a:pPr marL="0" indent="0" algn="ctr">
              <a:spcBef>
                <a:spcPct val="0"/>
              </a:spcBef>
              <a:spcAft>
                <a:spcPct val="0"/>
              </a:spcAft>
            </a:pPr>
            <a:r>
              <a:rPr sz="1600" b="0">
                <a:solidFill>
                  <a:srgbClr val="000000"/>
                </a:solidFill>
                <a:latin typeface="Times New Roman" panose="02020603050405020304" charset="0"/>
                <a:ea typeface="Verdana" panose="020B0604030504040204"/>
                <a:cs typeface="Times New Roman" panose="02020603050405020304" charset="0"/>
              </a:rPr>
              <a:t>turn the Fan off</a:t>
            </a:r>
            <a:endParaRPr sz="1600" b="0">
              <a:solidFill>
                <a:srgbClr val="000000"/>
              </a:solidFill>
              <a:latin typeface="Times New Roman" panose="02020603050405020304" charset="0"/>
              <a:ea typeface="Verdana" panose="020B0604030504040204"/>
              <a:cs typeface="Times New Roman" panose="02020603050405020304"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032000" y="742633"/>
            <a:ext cx="5080000" cy="398780"/>
          </a:xfrm>
          <a:prstGeom prst="rect">
            <a:avLst/>
          </a:prstGeom>
        </p:spPr>
        <p:txBody>
          <a:bodyPr>
            <a:spAutoFit/>
          </a:bodyPr>
          <a:p>
            <a:pPr algn="ctr"/>
            <a:r>
              <a:rPr lang="en-US" altLang="en-GB" sz="2000" b="1">
                <a:solidFill>
                  <a:srgbClr val="000000"/>
                </a:solidFill>
                <a:latin typeface="Times New Roman" panose="02020603050405020304" charset="0"/>
                <a:ea typeface="Times New Roman" panose="02020603050405020304"/>
                <a:cs typeface="Times New Roman" panose="02020603050405020304" charset="0"/>
              </a:rPr>
              <a:t>Fuzzy logic</a:t>
            </a:r>
            <a:r>
              <a:rPr lang="en-GB" altLang="en-US" sz="2000" b="1">
                <a:solidFill>
                  <a:srgbClr val="000000"/>
                </a:solidFill>
                <a:latin typeface="Times New Roman" panose="02020603050405020304" charset="0"/>
                <a:ea typeface="Times New Roman" panose="02020603050405020304"/>
                <a:cs typeface="Times New Roman" panose="02020603050405020304" charset="0"/>
              </a:rPr>
              <a:t> </a:t>
            </a:r>
            <a:r>
              <a:rPr lang="en-US" altLang="en-GB" sz="2000" b="1">
                <a:solidFill>
                  <a:srgbClr val="000000"/>
                </a:solidFill>
                <a:latin typeface="Times New Roman" panose="02020603050405020304" charset="0"/>
                <a:ea typeface="Times New Roman" panose="02020603050405020304"/>
                <a:cs typeface="Times New Roman" panose="02020603050405020304" charset="0"/>
              </a:rPr>
              <a:t>controller design</a:t>
            </a:r>
            <a:endParaRPr lang="en-US" altLang="en-GB" sz="2000" b="1">
              <a:solidFill>
                <a:srgbClr val="000000"/>
              </a:solidFill>
              <a:latin typeface="Times New Roman" panose="02020603050405020304" charset="0"/>
              <a:ea typeface="Times New Roman" panose="02020603050405020304"/>
              <a:cs typeface="Times New Roman" panose="02020603050405020304" charset="0"/>
            </a:endParaRPr>
          </a:p>
        </p:txBody>
      </p:sp>
      <p:sp>
        <p:nvSpPr>
          <p:cNvPr id="3" name="Text Box 2"/>
          <p:cNvSpPr txBox="1"/>
          <p:nvPr/>
        </p:nvSpPr>
        <p:spPr>
          <a:xfrm>
            <a:off x="228600" y="1352550"/>
            <a:ext cx="8547735" cy="3169285"/>
          </a:xfrm>
          <a:prstGeom prst="rect">
            <a:avLst/>
          </a:prstGeom>
        </p:spPr>
        <p:txBody>
          <a:bodyPr wrap="square">
            <a:spAutoFit/>
          </a:bodyPr>
          <a:p>
            <a:pPr marL="0" indent="0" algn="just" fontAlgn="base">
              <a:spcBef>
                <a:spcPct val="0"/>
              </a:spcBef>
              <a:spcAft>
                <a:spcPts val="600"/>
              </a:spcAft>
            </a:pPr>
            <a:r>
              <a:rPr b="0" i="0">
                <a:solidFill>
                  <a:srgbClr val="273239"/>
                </a:solidFill>
                <a:latin typeface="Times New Roman" panose="02020603050405020304" charset="0"/>
                <a:ea typeface="Nunito"/>
                <a:cs typeface="Times New Roman" panose="02020603050405020304" charset="0"/>
              </a:rPr>
              <a:t>In designing a fuzzy logic controller, the process of forming fuzzy rules plays a vital role. There are four structures of the fuzzy production rule system (Weiss and Donnel, 1979) which are as follows:</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ts val="600"/>
              </a:spcAft>
              <a:buFont typeface="Arial" panose="020B0604020202020204" pitchFamily="34" charset="0"/>
              <a:buChar char="•"/>
            </a:pPr>
            <a:r>
              <a:rPr b="0" i="0">
                <a:solidFill>
                  <a:srgbClr val="273239"/>
                </a:solidFill>
                <a:latin typeface="Times New Roman" panose="02020603050405020304" charset="0"/>
                <a:ea typeface="Nunito"/>
                <a:cs typeface="Times New Roman" panose="02020603050405020304" charset="0"/>
              </a:rPr>
              <a:t>A set of rules that represents the policies and heuristic strategies of the expert decision-maker.</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ts val="600"/>
              </a:spcAft>
              <a:buFont typeface="Arial" panose="020B0604020202020204" pitchFamily="34" charset="0"/>
              <a:buChar char="•"/>
            </a:pPr>
            <a:r>
              <a:rPr b="0" i="0">
                <a:solidFill>
                  <a:srgbClr val="273239"/>
                </a:solidFill>
                <a:latin typeface="Times New Roman" panose="02020603050405020304" charset="0"/>
                <a:ea typeface="Nunito"/>
                <a:cs typeface="Times New Roman" panose="02020603050405020304" charset="0"/>
              </a:rPr>
              <a:t>A set of input data that are assessed immediately prior to the actual decision.</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ts val="600"/>
              </a:spcAft>
              <a:buFont typeface="Arial" panose="020B0604020202020204" pitchFamily="34" charset="0"/>
              <a:buChar char="•"/>
            </a:pPr>
            <a:r>
              <a:rPr b="0" i="0">
                <a:solidFill>
                  <a:srgbClr val="273239"/>
                </a:solidFill>
                <a:latin typeface="Times New Roman" panose="02020603050405020304" charset="0"/>
                <a:ea typeface="Nunito"/>
                <a:cs typeface="Times New Roman" panose="02020603050405020304" charset="0"/>
              </a:rPr>
              <a:t>A method for evaluating any proposed action in terms of its conformity to the expressed rules when there is available data.</a:t>
            </a:r>
            <a:endParaRPr b="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ts val="600"/>
              </a:spcAft>
              <a:buFont typeface="Arial" panose="020B0604020202020204" pitchFamily="34" charset="0"/>
              <a:buChar char="•"/>
            </a:pPr>
            <a:r>
              <a:rPr b="0" i="0">
                <a:solidFill>
                  <a:srgbClr val="273239"/>
                </a:solidFill>
                <a:latin typeface="Times New Roman" panose="02020603050405020304" charset="0"/>
                <a:ea typeface="Nunito"/>
                <a:cs typeface="Times New Roman" panose="02020603050405020304" charset="0"/>
              </a:rPr>
              <a:t>A method for generating promising actions and determining when to stop searching for better ones.</a:t>
            </a:r>
            <a:endParaRPr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666750"/>
            <a:ext cx="8838565" cy="337185"/>
          </a:xfrm>
          <a:prstGeom prst="rect">
            <a:avLst/>
          </a:prstGeom>
        </p:spPr>
        <p:txBody>
          <a:bodyPr wrap="square">
            <a:spAutoFit/>
          </a:bodyPr>
          <a:p>
            <a:pPr marL="0" indent="0" algn="l" fontAlgn="base">
              <a:spcBef>
                <a:spcPct val="0"/>
              </a:spcBef>
              <a:spcAft>
                <a:spcPct val="0"/>
              </a:spcAft>
            </a:pPr>
            <a:r>
              <a:rPr sz="1600" b="1" i="0">
                <a:solidFill>
                  <a:srgbClr val="273239"/>
                </a:solidFill>
                <a:latin typeface="Times New Roman" panose="02020603050405020304" charset="0"/>
                <a:ea typeface="Nunito"/>
                <a:cs typeface="Times New Roman" panose="02020603050405020304" charset="0"/>
              </a:rPr>
              <a:t>Architecture and Operations of FLC System:</a:t>
            </a:r>
            <a:endParaRPr sz="16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152400" y="1200150"/>
            <a:ext cx="8765540" cy="3784600"/>
          </a:xfrm>
          <a:prstGeom prst="rect">
            <a:avLst/>
          </a:prstGeom>
        </p:spPr>
        <p:txBody>
          <a:bodyPr wrap="square">
            <a:spAutoFit/>
          </a:bodyPr>
          <a:p>
            <a:pPr marL="285750" indent="-285750" algn="jus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The principal components of an FLC system is a fuzzifier, a fuzzy rule base, a fuzzy knowledge base, an inference engine, and a defuzz.ifier. </a:t>
            </a: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It also includes parameters for normalization. When the output from the defuzzifier is not a control action for a plant, then the system is a fuzzy logic decision system. </a:t>
            </a: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The fuzzifier present converts crisp quantities into fuzzy quantities. The fuzzy rule base stores knowledge about the operation of the process of domain expertise. </a:t>
            </a: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The fuzzy knowledge base stores the knowledge about all the input-output fuzzy relationships. It includes the membership functions defining the input variables to the fuzzy rule base and the out variables to the plant under control. </a:t>
            </a: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The inference engine is the kernel of an FLC system, and it possesses the capability to simulate human decisions by performing approximate reasoning to achieve the desired control strategy. </a:t>
            </a:r>
            <a:endParaRPr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742950"/>
            <a:ext cx="8832850" cy="583565"/>
          </a:xfrm>
          <a:prstGeom prst="rect">
            <a:avLst/>
          </a:prstGeom>
          <a:noFill/>
        </p:spPr>
        <p:txBody>
          <a:bodyPr wrap="square" rtlCol="0" anchor="t">
            <a:spAutoFit/>
          </a:bodyPr>
          <a:p>
            <a:pPr marL="285750" indent="-285750" algn="just">
              <a:buFont typeface="Arial" panose="020B0604020202020204" pitchFamily="34" charset="0"/>
              <a:buChar char="•"/>
            </a:pPr>
            <a:r>
              <a:rPr sz="1600">
                <a:solidFill>
                  <a:srgbClr val="273239"/>
                </a:solidFill>
                <a:latin typeface="Times New Roman" panose="02020603050405020304" charset="0"/>
                <a:ea typeface="Nunito"/>
                <a:cs typeface="Times New Roman" panose="02020603050405020304" charset="0"/>
                <a:sym typeface="+mn-ea"/>
              </a:rPr>
              <a:t>The defuzzifier converts the fuzzy quantities into crisp quantities from an inferred fuzzy control action by the inference engine.</a:t>
            </a:r>
            <a:endParaRPr lang="en-GB" altLang="en-US" sz="1600">
              <a:solidFill>
                <a:srgbClr val="273239"/>
              </a:solidFill>
              <a:latin typeface="Times New Roman" panose="02020603050405020304" charset="0"/>
              <a:ea typeface="Nunito"/>
              <a:cs typeface="Times New Roman" panose="02020603050405020304" charset="0"/>
              <a:sym typeface="+mn-ea"/>
            </a:endParaRPr>
          </a:p>
        </p:txBody>
      </p:sp>
      <p:pic>
        <p:nvPicPr>
          <p:cNvPr id="3" name="Picture 2"/>
          <p:cNvPicPr/>
          <p:nvPr/>
        </p:nvPicPr>
        <p:blipFill>
          <a:blip r:embed="rId1"/>
          <a:stretch>
            <a:fillRect/>
          </a:stretch>
        </p:blipFill>
        <p:spPr>
          <a:xfrm>
            <a:off x="531495" y="1428750"/>
            <a:ext cx="8157210" cy="3272155"/>
          </a:xfrm>
          <a:prstGeom prst="rect">
            <a:avLst/>
          </a:prstGeom>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819150"/>
            <a:ext cx="8679180" cy="337185"/>
          </a:xfrm>
          <a:prstGeom prst="rect">
            <a:avLst/>
          </a:prstGeom>
        </p:spPr>
        <p:txBody>
          <a:bodyPr wrap="square">
            <a:spAutoFit/>
          </a:bodyPr>
          <a:p>
            <a:pPr marL="0" indent="0" algn="l"/>
            <a:r>
              <a:rPr sz="1600" b="1" i="0">
                <a:solidFill>
                  <a:srgbClr val="273239"/>
                </a:solidFill>
                <a:latin typeface="Times New Roman" panose="02020603050405020304" charset="0"/>
                <a:ea typeface="Nunito"/>
                <a:cs typeface="Times New Roman" panose="02020603050405020304" charset="0"/>
              </a:rPr>
              <a:t>The various steps involved in designing a fuzzy logic controller are as follows:</a:t>
            </a:r>
            <a:endParaRPr sz="1600" b="1"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 y="1428750"/>
            <a:ext cx="8685530" cy="3538220"/>
          </a:xfrm>
          <a:prstGeom prst="rect">
            <a:avLst/>
          </a:prstGeom>
        </p:spPr>
        <p:txBody>
          <a:bodyPr wrap="square">
            <a:spAutoFit/>
          </a:bodyPr>
          <a:p>
            <a:pPr marL="0" indent="0" algn="just"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1: Locate the input, output, and state variables of the plane under consideration. </a:t>
            </a: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2: Split the complete universe of discourse spanned by each variable into a number of fuzzy subsets, assigning each with a linguistic label. The subsets include all the elements in the universe.</a:t>
            </a: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3: Obtain the membership function for each fuzzy subset.</a:t>
            </a: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4: Assign the fuzzy relationships between the inputs or states of fuzzy subsets on one side and the output of fuzzy subsets on the other side, thereby forming the rule base.</a:t>
            </a: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endParaRPr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r>
              <a:rPr lang="en-GB" altLang="en-US" sz="1600" b="0" i="0">
                <a:solidFill>
                  <a:srgbClr val="273239"/>
                </a:solidFill>
                <a:latin typeface="Times New Roman" panose="02020603050405020304" charset="0"/>
                <a:ea typeface="Nunito"/>
                <a:cs typeface="Times New Roman" panose="02020603050405020304" charset="0"/>
              </a:rPr>
              <a:t> </a:t>
            </a:r>
            <a:r>
              <a:rPr lang="en-US" altLang="en-GB" sz="1600" b="0" i="0">
                <a:solidFill>
                  <a:srgbClr val="273239"/>
                </a:solidFill>
                <a:latin typeface="Times New Roman" panose="02020603050405020304" charset="0"/>
                <a:ea typeface="Nunito"/>
                <a:cs typeface="Times New Roman" panose="02020603050405020304" charset="0"/>
              </a:rPr>
              <a:t>Step 5: Choose appropriate scaling factors for the input and output variables for normalizing the variables between [0, 1] and [-1, I] interval.</a:t>
            </a:r>
            <a:endParaRPr lang="en-US" altLang="en-GB"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None/>
            </a:pPr>
            <a:endParaRPr lang="en-US" altLang="en-GB" sz="1600" b="0" i="0">
              <a:solidFill>
                <a:srgbClr val="273239"/>
              </a:solidFill>
              <a:latin typeface="Times New Roman" panose="02020603050405020304" charset="0"/>
              <a:ea typeface="Nunito"/>
              <a:cs typeface="Times New Roman" panose="02020603050405020304" charset="0"/>
            </a:endParaRPr>
          </a:p>
          <a:p>
            <a:pPr marL="0" indent="0" algn="just" fontAlgn="base">
              <a:spcBef>
                <a:spcPct val="0"/>
              </a:spcBef>
              <a:spcAft>
                <a:spcPct val="0"/>
              </a:spcAft>
              <a:buFont typeface="Arial" panose="020B0604020202020204"/>
              <a:buChar char="•"/>
            </a:pPr>
            <a:r>
              <a:rPr lang="en-GB" altLang="en-US" sz="1600" b="0" i="0">
                <a:solidFill>
                  <a:srgbClr val="273239"/>
                </a:solidFill>
                <a:latin typeface="Times New Roman" panose="02020603050405020304" charset="0"/>
                <a:ea typeface="Nunito"/>
                <a:cs typeface="Times New Roman" panose="02020603050405020304" charset="0"/>
              </a:rPr>
              <a:t> </a:t>
            </a:r>
            <a:r>
              <a:rPr lang="en-US" altLang="en-GB" sz="1600" b="0" i="0">
                <a:solidFill>
                  <a:srgbClr val="273239"/>
                </a:solidFill>
                <a:latin typeface="Times New Roman" panose="02020603050405020304" charset="0"/>
                <a:ea typeface="Nunito"/>
                <a:cs typeface="Times New Roman" panose="02020603050405020304" charset="0"/>
              </a:rPr>
              <a:t>Step 6: Carry out the fuzzification process.</a:t>
            </a:r>
            <a:endParaRPr lang="en-US" altLang="en-GB"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52400" y="819150"/>
            <a:ext cx="8710930" cy="1322070"/>
          </a:xfrm>
          <a:prstGeom prst="rect">
            <a:avLst/>
          </a:prstGeom>
        </p:spPr>
        <p:txBody>
          <a:bodyPr wrap="square">
            <a:spAutoFit/>
          </a:bodyPr>
          <a:p>
            <a:pPr marL="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7: Identify the output contributed from each rule using fuzzy approximate reasoning.</a:t>
            </a: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8: Combine the fuzzy outputs obtained from each rule.</a:t>
            </a: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None/>
            </a:pPr>
            <a:endParaRPr sz="1600" b="0" i="0">
              <a:solidFill>
                <a:srgbClr val="273239"/>
              </a:solidFill>
              <a:latin typeface="Times New Roman" panose="02020603050405020304" charset="0"/>
              <a:ea typeface="Nunito"/>
              <a:cs typeface="Times New Roman" panose="02020603050405020304" charset="0"/>
            </a:endParaRPr>
          </a:p>
          <a:p>
            <a:pPr marL="0" indent="0" algn="l" fontAlgn="base">
              <a:spcBef>
                <a:spcPct val="0"/>
              </a:spcBef>
              <a:spcAft>
                <a:spcPct val="0"/>
              </a:spcAft>
              <a:buFont typeface="Arial" panose="020B0604020202020204"/>
              <a:buChar char="•"/>
            </a:pPr>
            <a:r>
              <a:rPr lang="en-GB" sz="1600" b="0" i="0">
                <a:solidFill>
                  <a:srgbClr val="273239"/>
                </a:solidFill>
                <a:latin typeface="Times New Roman" panose="02020603050405020304" charset="0"/>
                <a:ea typeface="Nunito"/>
                <a:cs typeface="Times New Roman" panose="02020603050405020304" charset="0"/>
              </a:rPr>
              <a:t> </a:t>
            </a:r>
            <a:r>
              <a:rPr sz="1600" b="0" i="0">
                <a:solidFill>
                  <a:srgbClr val="273239"/>
                </a:solidFill>
                <a:latin typeface="Times New Roman" panose="02020603050405020304" charset="0"/>
                <a:ea typeface="Nunito"/>
                <a:cs typeface="Times New Roman" panose="02020603050405020304" charset="0"/>
              </a:rPr>
              <a:t>Step 9: Finally, apply defuzzification to form a crisp output.</a:t>
            </a:r>
            <a:endParaRPr sz="1600" b="0" i="0">
              <a:solidFill>
                <a:srgbClr val="273239"/>
              </a:solidFill>
              <a:latin typeface="Times New Roman" panose="02020603050405020304" charset="0"/>
              <a:ea typeface="Nunito"/>
              <a:cs typeface="Times New Roman" panose="02020603050405020304" charset="0"/>
            </a:endParaRPr>
          </a:p>
        </p:txBody>
      </p:sp>
      <p:sp>
        <p:nvSpPr>
          <p:cNvPr id="3" name="Text Box 2"/>
          <p:cNvSpPr txBox="1"/>
          <p:nvPr/>
        </p:nvSpPr>
        <p:spPr>
          <a:xfrm>
            <a:off x="228600" y="2343150"/>
            <a:ext cx="8769350" cy="2553335"/>
          </a:xfrm>
          <a:prstGeom prst="rect">
            <a:avLst/>
          </a:prstGeom>
        </p:spPr>
        <p:txBody>
          <a:bodyPr wrap="square">
            <a:spAutoFit/>
          </a:bodyPr>
          <a:p>
            <a:pPr marL="0" indent="0" algn="just"/>
            <a:r>
              <a:rPr sz="1600" b="0" i="0">
                <a:solidFill>
                  <a:srgbClr val="273239"/>
                </a:solidFill>
                <a:latin typeface="Times New Roman" panose="02020603050405020304" charset="0"/>
                <a:ea typeface="Nunito"/>
                <a:cs typeface="Times New Roman" panose="02020603050405020304" charset="0"/>
              </a:rPr>
              <a:t>The above steps are performed and executed for a simple FLC system. The following design elements are adopted for designing a general FLC system:</a:t>
            </a:r>
            <a:endParaRPr sz="1600" b="0" i="0">
              <a:solidFill>
                <a:srgbClr val="273239"/>
              </a:solidFill>
              <a:latin typeface="Times New Roman" panose="02020603050405020304" charset="0"/>
              <a:ea typeface="Nunito"/>
              <a:cs typeface="Times New Roman" panose="02020603050405020304" charset="0"/>
            </a:endParaRPr>
          </a:p>
          <a:p>
            <a:pPr marL="0" indent="0" algn="just"/>
            <a:endParaRPr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0" i="0">
                <a:solidFill>
                  <a:srgbClr val="273239"/>
                </a:solidFill>
                <a:latin typeface="Times New Roman" panose="02020603050405020304" charset="0"/>
                <a:ea typeface="Nunito"/>
                <a:cs typeface="Times New Roman" panose="02020603050405020304" charset="0"/>
              </a:rPr>
              <a:t>Fuzzification strategies and the interpretation of a fuzzifier.</a:t>
            </a: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0" i="0">
                <a:solidFill>
                  <a:srgbClr val="273239"/>
                </a:solidFill>
                <a:latin typeface="Times New Roman" panose="02020603050405020304" charset="0"/>
                <a:ea typeface="Nunito"/>
                <a:cs typeface="Times New Roman" panose="02020603050405020304" charset="0"/>
              </a:rPr>
              <a:t>Fuzzy knowledge base: Normalization of the parameters involved; partitioning of input and output spaces; selection of membership functions of a primary fuzzy set.</a:t>
            </a: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endParaRPr lang="en-US" altLang="en-GB" sz="1600" b="0" i="0">
              <a:solidFill>
                <a:srgbClr val="273239"/>
              </a:solidFill>
              <a:latin typeface="Times New Roman" panose="02020603050405020304" charset="0"/>
              <a:ea typeface="Nunito"/>
              <a:cs typeface="Times New Roman" panose="02020603050405020304" charset="0"/>
            </a:endParaRPr>
          </a:p>
          <a:p>
            <a:pPr marL="285750" indent="-285750" algn="just">
              <a:buFont typeface="Arial" panose="020B0604020202020204" pitchFamily="34" charset="0"/>
              <a:buChar char="•"/>
            </a:pPr>
            <a:r>
              <a:rPr lang="en-US" altLang="en-GB" sz="1600" b="0" i="0">
                <a:solidFill>
                  <a:srgbClr val="273239"/>
                </a:solidFill>
                <a:latin typeface="Times New Roman" panose="02020603050405020304" charset="0"/>
                <a:ea typeface="Nunito"/>
                <a:cs typeface="Times New Roman" panose="02020603050405020304" charset="0"/>
              </a:rPr>
              <a:t>Fuzzy rule base: Selection of input and output variables; the source from which fuzzy control rules are to be derived; types of fuzzy control rules; completeness of fuzzy control rules.</a:t>
            </a:r>
            <a:endParaRPr lang="en-US" altLang="en-GB" sz="1600" b="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61315" y="971550"/>
            <a:ext cx="8631555" cy="4276725"/>
          </a:xfrm>
          <a:prstGeom prst="rect">
            <a:avLst/>
          </a:prstGeom>
        </p:spPr>
        <p:txBody>
          <a:bodyPr wrap="square">
            <a:spAutoFit/>
          </a:bodyPr>
          <a:p>
            <a:pPr marL="285750" indent="-285750" algn="l" fontAlgn="base">
              <a:spcBef>
                <a:spcPct val="0"/>
              </a:spcBef>
              <a:spcAft>
                <a:spcPct val="0"/>
              </a:spcAf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Decision· making logic: The proper definition of fuzzy implication; interpretation of connective "and"; interpretation of connective "or"; inference engine.</a:t>
            </a:r>
            <a:endParaRPr sz="1600" b="0" i="0">
              <a:solidFill>
                <a:srgbClr val="273239"/>
              </a:solidFill>
              <a:latin typeface="Times New Roman" panose="02020603050405020304" charset="0"/>
              <a:ea typeface="Nunito"/>
              <a:cs typeface="Times New Roman" panose="02020603050405020304" charset="0"/>
            </a:endParaRPr>
          </a:p>
          <a:p>
            <a:pPr marL="285750" indent="-285750" algn="l" fontAlgn="base">
              <a:spcBef>
                <a:spcPct val="0"/>
              </a:spcBef>
              <a:spcAft>
                <a:spcPct val="0"/>
              </a:spcAf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marL="285750" indent="-285750" algn="l" fontAlgn="base">
              <a:spcBef>
                <a:spcPct val="0"/>
              </a:spcBef>
              <a:spcAft>
                <a:spcPct val="0"/>
              </a:spcAft>
              <a:buFont typeface="Arial" panose="020B0604020202020204" pitchFamily="34" charset="0"/>
              <a:buChar char="•"/>
            </a:pPr>
            <a:r>
              <a:rPr sz="1600" b="0" i="0">
                <a:solidFill>
                  <a:srgbClr val="273239"/>
                </a:solidFill>
                <a:latin typeface="Times New Roman" panose="02020603050405020304" charset="0"/>
                <a:ea typeface="Nunito"/>
                <a:cs typeface="Times New Roman" panose="02020603050405020304" charset="0"/>
              </a:rPr>
              <a:t>Defuzzification materials and the interpretation of a defuzzifier.</a:t>
            </a:r>
            <a:endParaRPr sz="1600" b="0" i="0">
              <a:solidFill>
                <a:srgbClr val="273239"/>
              </a:solidFill>
              <a:latin typeface="Times New Roman" panose="02020603050405020304" charset="0"/>
              <a:ea typeface="Nunito"/>
              <a:cs typeface="Times New Roman" panose="02020603050405020304" charset="0"/>
            </a:endParaRPr>
          </a:p>
          <a:p>
            <a:pPr marL="285750" indent="-285750" algn="l" fontAlgn="base">
              <a:spcBef>
                <a:spcPct val="0"/>
              </a:spcBef>
              <a:spcAft>
                <a:spcPct val="0"/>
              </a:spcAft>
              <a:buFont typeface="Arial" panose="020B0604020202020204" pitchFamily="34" charset="0"/>
              <a:buChar char="•"/>
            </a:pPr>
            <a:endParaRPr sz="1600" b="0" i="0">
              <a:solidFill>
                <a:srgbClr val="273239"/>
              </a:solidFill>
              <a:latin typeface="Times New Roman" panose="02020603050405020304" charset="0"/>
              <a:ea typeface="Nunito"/>
              <a:cs typeface="Times New Roman" panose="02020603050405020304" charset="0"/>
            </a:endParaRPr>
          </a:p>
          <a:p>
            <a:pPr indent="0" algn="l" fontAlgn="base">
              <a:spcBef>
                <a:spcPct val="0"/>
              </a:spcBef>
              <a:spcAft>
                <a:spcPct val="0"/>
              </a:spcAft>
              <a:buFont typeface="Arial" panose="020B0604020202020204" pitchFamily="34" charset="0"/>
              <a:buNone/>
            </a:pPr>
            <a:r>
              <a:rPr lang="en-US" altLang="en-GB" sz="1600" b="1" i="0">
                <a:solidFill>
                  <a:srgbClr val="273239"/>
                </a:solidFill>
                <a:latin typeface="Times New Roman" panose="02020603050405020304" charset="0"/>
                <a:ea typeface="Nunito"/>
                <a:cs typeface="Times New Roman" panose="02020603050405020304" charset="0"/>
              </a:rPr>
              <a:t>Applications:</a:t>
            </a:r>
            <a:r>
              <a:rPr lang="en-GB" altLang="en-US" sz="1600" b="1" i="0">
                <a:solidFill>
                  <a:srgbClr val="273239"/>
                </a:solidFill>
                <a:latin typeface="Times New Roman" panose="02020603050405020304" charset="0"/>
                <a:ea typeface="Nunito"/>
                <a:cs typeface="Times New Roman" panose="02020603050405020304" charset="0"/>
              </a:rPr>
              <a:t> </a:t>
            </a:r>
            <a:endParaRPr lang="en-GB" altLang="en-US" sz="1600" b="1" i="0">
              <a:solidFill>
                <a:srgbClr val="273239"/>
              </a:solidFill>
              <a:latin typeface="Times New Roman" panose="02020603050405020304" charset="0"/>
              <a:ea typeface="Nunito"/>
              <a:cs typeface="Times New Roman" panose="02020603050405020304" charset="0"/>
            </a:endParaRPr>
          </a:p>
          <a:p>
            <a:pPr indent="0" algn="l" fontAlgn="base">
              <a:spcBef>
                <a:spcPct val="0"/>
              </a:spcBef>
              <a:spcAft>
                <a:spcPct val="0"/>
              </a:spcAft>
              <a:buFont typeface="Arial" panose="020B0604020202020204" pitchFamily="34" charset="0"/>
              <a:buNone/>
            </a:pPr>
            <a:endParaRPr lang="en-GB" altLang="en-US" sz="1600" b="1" i="0">
              <a:solidFill>
                <a:srgbClr val="273239"/>
              </a:solidFill>
              <a:latin typeface="Times New Roman" panose="02020603050405020304" charset="0"/>
              <a:ea typeface="Nunito"/>
              <a:cs typeface="Times New Roman" panose="02020603050405020304" charset="0"/>
            </a:endParaRPr>
          </a:p>
          <a:p>
            <a:pPr indent="0" algn="just" fontAlgn="base">
              <a:spcBef>
                <a:spcPct val="0"/>
              </a:spcBef>
              <a:spcAft>
                <a:spcPct val="0"/>
              </a:spcAft>
              <a:buFont typeface="Arial" panose="020B0604020202020204" pitchFamily="34" charset="0"/>
              <a:buNone/>
            </a:pPr>
            <a:r>
              <a:rPr lang="en-US" altLang="en-GB" sz="1600" i="0">
                <a:solidFill>
                  <a:srgbClr val="273239"/>
                </a:solidFill>
                <a:latin typeface="Times New Roman" panose="02020603050405020304" charset="0"/>
                <a:ea typeface="Nunito"/>
                <a:cs typeface="Times New Roman" panose="02020603050405020304" charset="0"/>
              </a:rPr>
              <a:t>FLC systems find a wide range of applications in various industrial and commercial products and systems. In several applications- related to nonlinear, time-varying, ill-defined systems and also complex systems - FLC systems have proved to be very efficient in comparison with other conventional control systems. The applications of FLC systems include:</a:t>
            </a:r>
            <a:endParaRPr lang="en-US" altLang="en-GB" sz="1600" i="0">
              <a:solidFill>
                <a:srgbClr val="273239"/>
              </a:solidFill>
              <a:latin typeface="Times New Roman" panose="02020603050405020304" charset="0"/>
              <a:ea typeface="Nunito"/>
              <a:cs typeface="Times New Roman" panose="02020603050405020304" charset="0"/>
            </a:endParaRPr>
          </a:p>
          <a:p>
            <a:pPr indent="0" algn="just" fontAlgn="base">
              <a:spcBef>
                <a:spcPct val="0"/>
              </a:spcBef>
              <a:spcAft>
                <a:spcPct val="0"/>
              </a:spcAft>
              <a:buFont typeface="Arial" panose="020B0604020202020204" pitchFamily="34" charset="0"/>
              <a:buNone/>
            </a:pPr>
            <a:endParaRPr lang="en-US" altLang="en-GB" sz="16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600" i="0">
                <a:solidFill>
                  <a:srgbClr val="273239"/>
                </a:solidFill>
                <a:latin typeface="Times New Roman" panose="02020603050405020304" charset="0"/>
                <a:ea typeface="Nunito"/>
                <a:cs typeface="Times New Roman" panose="02020603050405020304" charset="0"/>
              </a:rPr>
              <a:t>Traffic Control</a:t>
            </a:r>
            <a:endParaRPr lang="en-US" altLang="en-GB" sz="16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600" i="0">
                <a:solidFill>
                  <a:srgbClr val="273239"/>
                </a:solidFill>
                <a:latin typeface="Times New Roman" panose="02020603050405020304" charset="0"/>
                <a:ea typeface="Nunito"/>
                <a:cs typeface="Times New Roman" panose="02020603050405020304" charset="0"/>
              </a:rPr>
              <a:t>Steam Engine</a:t>
            </a:r>
            <a:endParaRPr lang="en-US" altLang="en-GB" sz="16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600" i="0">
                <a:solidFill>
                  <a:srgbClr val="273239"/>
                </a:solidFill>
                <a:latin typeface="Times New Roman" panose="02020603050405020304" charset="0"/>
                <a:ea typeface="Nunito"/>
                <a:cs typeface="Times New Roman" panose="02020603050405020304" charset="0"/>
              </a:rPr>
              <a:t>Aircraft Flight Control</a:t>
            </a:r>
            <a:endParaRPr lang="en-US" altLang="en-GB" sz="16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600" i="0">
                <a:solidFill>
                  <a:srgbClr val="273239"/>
                </a:solidFill>
                <a:latin typeface="Times New Roman" panose="02020603050405020304" charset="0"/>
                <a:ea typeface="Nunito"/>
                <a:cs typeface="Times New Roman" panose="02020603050405020304" charset="0"/>
              </a:rPr>
              <a:t>Missile Control</a:t>
            </a:r>
            <a:endParaRPr lang="en-US" altLang="en-GB" sz="1600" i="0">
              <a:solidFill>
                <a:srgbClr val="273239"/>
              </a:solidFill>
              <a:latin typeface="Times New Roman" panose="02020603050405020304" charset="0"/>
              <a:ea typeface="Nunito"/>
              <a:cs typeface="Times New Roman" panose="02020603050405020304" charset="0"/>
            </a:endParaRPr>
          </a:p>
          <a:p>
            <a:pPr indent="0" algn="just" fontAlgn="base">
              <a:spcBef>
                <a:spcPct val="0"/>
              </a:spcBef>
              <a:spcAft>
                <a:spcPct val="0"/>
              </a:spcAft>
              <a:buFont typeface="Arial" panose="020B0604020202020204" pitchFamily="34" charset="0"/>
              <a:buNone/>
            </a:pPr>
            <a:endParaRPr lang="en-US" altLang="en-GB" sz="1600" i="0">
              <a:solidFill>
                <a:srgbClr val="273239"/>
              </a:solidFill>
              <a:latin typeface="Times New Roman" panose="02020603050405020304" charset="0"/>
              <a:ea typeface="Nunito"/>
              <a:cs typeface="Times New Roman" panose="02020603050405020304" charset="0"/>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590550"/>
            <a:ext cx="8703310" cy="4184650"/>
          </a:xfrm>
          <a:prstGeom prst="rect">
            <a:avLst/>
          </a:prstGeom>
          <a:noFill/>
        </p:spPr>
        <p:txBody>
          <a:bodyPr wrap="square" rtlCol="0" anchor="t">
            <a:spAutoFit/>
          </a:bodyPr>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Adaptive Control</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Liquid-Level Control</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Helicopter Model</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Automobile Speed Controller</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Braking System Controller</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Process Control (includes cement kiln control)</a:t>
            </a:r>
            <a:endParaRPr lang="en-US" altLang="en-GB" sz="1400" i="0">
              <a:solidFill>
                <a:srgbClr val="273239"/>
              </a:solidFill>
              <a:latin typeface="Times New Roman" panose="02020603050405020304" charset="0"/>
              <a:ea typeface="Nunito"/>
              <a:cs typeface="Times New Roman" panose="02020603050405020304" charset="0"/>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Robotic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Elevator (Automatic Lift)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Automatic Running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Cooling Plant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Water Treatment</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Boiler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Nuclear Reactor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Power Systems Control;</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Air Conditioner Control (Temperature Controller)</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Biological Processes</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Knowledge-Based System</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Fault Detection Control Unit</a:t>
            </a:r>
            <a:endParaRPr lang="en-US" altLang="en-GB" sz="1400">
              <a:solidFill>
                <a:srgbClr val="273239"/>
              </a:solidFill>
              <a:latin typeface="Times New Roman" panose="02020603050405020304" charset="0"/>
              <a:ea typeface="Nunito"/>
              <a:cs typeface="Times New Roman" panose="02020603050405020304" charset="0"/>
              <a:sym typeface="+mn-ea"/>
            </a:endParaRPr>
          </a:p>
          <a:p>
            <a:pPr marL="285750" indent="-285750" algn="just" fontAlgn="base">
              <a:spcBef>
                <a:spcPct val="0"/>
              </a:spcBef>
              <a:spcAft>
                <a:spcPct val="0"/>
              </a:spcAft>
              <a:buFont typeface="Arial" panose="020B0604020202020204" pitchFamily="34" charset="0"/>
              <a:buChar char="•"/>
            </a:pPr>
            <a:r>
              <a:rPr lang="en-US" altLang="en-GB" sz="1400">
                <a:solidFill>
                  <a:srgbClr val="273239"/>
                </a:solidFill>
                <a:latin typeface="Times New Roman" panose="02020603050405020304" charset="0"/>
                <a:ea typeface="Nunito"/>
                <a:cs typeface="Times New Roman" panose="02020603050405020304" charset="0"/>
                <a:sym typeface="+mn-ea"/>
              </a:rPr>
              <a:t>Fuzzy Hardware implementation and Fuzzy Computers</a:t>
            </a:r>
            <a:endParaRPr lang="en-US" altLang="en-GB" sz="1400">
              <a:solidFill>
                <a:srgbClr val="273239"/>
              </a:solidFill>
              <a:latin typeface="Times New Roman" panose="02020603050405020304" charset="0"/>
              <a:ea typeface="Nunito"/>
              <a:cs typeface="Times New Roman" panose="02020603050405020304" charset="0"/>
              <a:sym typeface="+mn-ea"/>
            </a:endParaRPr>
          </a:p>
        </p:txBody>
      </p:sp>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txBox="1">
            <a:spLocks noChangeArrowheads="1"/>
          </p:cNvSpPr>
          <p:nvPr/>
        </p:nvSpPr>
        <p:spPr>
          <a:xfrm>
            <a:off x="152400" y="742950"/>
            <a:ext cx="8928100" cy="468630"/>
          </a:xfrm>
          <a:prstGeom prst="rect">
            <a:avLst/>
          </a:prstGeom>
        </p:spPr>
        <p:txBody>
          <a:bodyPr vert="horz" lIns="91440" tIns="45720" rIns="91440" bIns="45720" rtlCol="0" anchor="ctr">
            <a:normAutofit fontScale="25000"/>
          </a:bodyPr>
          <a:lstStyle/>
          <a:p>
            <a:pPr marR="0" lvl="0" indent="0" algn="just" defTabSz="914400" rtl="0" eaLnBrk="1" fontAlgn="auto" latinLnBrk="0" hangingPunct="1">
              <a:lnSpc>
                <a:spcPct val="100000"/>
              </a:lnSpc>
              <a:spcBef>
                <a:spcPct val="0"/>
              </a:spcBef>
              <a:spcAft>
                <a:spcPts val="0"/>
              </a:spcAft>
              <a:buClrTx/>
              <a:buSzTx/>
              <a:buFont typeface="Arial" panose="020B0604020202020204" pitchFamily="34" charset="0"/>
              <a:buNone/>
              <a:defRPr/>
            </a:pPr>
            <a:r>
              <a:rPr lang="en-GB" altLang="en-US" sz="9600" b="1">
                <a:gradFill>
                  <a:gsLst>
                    <a:gs pos="0">
                      <a:srgbClr val="007BD3"/>
                    </a:gs>
                    <a:gs pos="100000">
                      <a:srgbClr val="034373"/>
                    </a:gs>
                  </a:gsLst>
                  <a:lin scaled="0"/>
                </a:gradFill>
                <a:latin typeface="Times New Roman" panose="02020603050405020304" charset="0"/>
                <a:cs typeface="Times New Roman" panose="02020603050405020304" charset="0"/>
                <a:sym typeface="+mn-ea"/>
              </a:rPr>
              <a:t> </a:t>
            </a:r>
            <a:endParaRPr kumimoji="0" lang="en-US" altLang="en-GB" sz="6665" i="0" strike="noStrike" kern="1200" cap="none" spc="0" normalizeH="0" baseline="0" noProof="0" dirty="0">
              <a:ln>
                <a:noFill/>
              </a:ln>
              <a:solidFill>
                <a:schemeClr val="tx1"/>
              </a:solidFill>
              <a:effectLst/>
              <a:uLnTx/>
              <a:uFillTx/>
              <a:latin typeface="Times New Roman" panose="02020603050405020304" charset="0"/>
              <a:ea typeface="+mj-ea"/>
              <a:cs typeface="Times New Roman" panose="02020603050405020304" charset="0"/>
            </a:endParaRPr>
          </a:p>
        </p:txBody>
      </p:sp>
      <p:sp>
        <p:nvSpPr>
          <p:cNvPr id="3" name="Text Box 2"/>
          <p:cNvSpPr txBox="1"/>
          <p:nvPr/>
        </p:nvSpPr>
        <p:spPr>
          <a:xfrm>
            <a:off x="1981200" y="2419350"/>
            <a:ext cx="4872355" cy="645160"/>
          </a:xfrm>
          <a:prstGeom prst="rect">
            <a:avLst/>
          </a:prstGeom>
          <a:noFill/>
        </p:spPr>
        <p:txBody>
          <a:bodyPr wrap="square" rtlCol="0">
            <a:spAutoFit/>
          </a:bodyPr>
          <a:p>
            <a:pPr algn="ctr"/>
            <a:r>
              <a:rPr lang="en-GB" altLang="en-US" sz="3600" b="1" i="1">
                <a:solidFill>
                  <a:srgbClr val="0070C0"/>
                </a:solidFill>
                <a:latin typeface="Times New Roman" panose="02020603050405020304" charset="0"/>
                <a:cs typeface="Times New Roman" panose="02020603050405020304" charset="0"/>
              </a:rPr>
              <a:t>Thank  You</a:t>
            </a:r>
            <a:endParaRPr lang="en-GB" altLang="en-US" sz="3600" b="1" i="1">
              <a:solidFill>
                <a:srgbClr val="0070C0"/>
              </a:solidFill>
              <a:latin typeface="Times New Roman" panose="02020603050405020304" charset="0"/>
              <a:cs typeface="Times New Roman" panose="02020603050405020304" charset="0"/>
            </a:endParaRPr>
          </a:p>
        </p:txBody>
      </p:sp>
    </p:spTree>
  </p:cSld>
  <p:clrMapOvr>
    <a:masterClrMapping/>
  </p:clrMapOvr>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34800</Words>
  <Application>WPS Presentation</Application>
  <PresentationFormat>On-screen Show (16:9)</PresentationFormat>
  <Paragraphs>967</Paragraphs>
  <Slides>112</Slides>
  <Notes>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112</vt:i4>
      </vt:variant>
    </vt:vector>
  </HeadingPairs>
  <TitlesOfParts>
    <vt:vector size="132" baseType="lpstr">
      <vt:lpstr>Arial</vt:lpstr>
      <vt:lpstr>SimSun</vt:lpstr>
      <vt:lpstr>Wingdings</vt:lpstr>
      <vt:lpstr>Times New Roman</vt:lpstr>
      <vt:lpstr>Wingdings</vt:lpstr>
      <vt:lpstr>Nunito</vt:lpstr>
      <vt:lpstr>Segoe Print</vt:lpstr>
      <vt:lpstr>Arial</vt:lpstr>
      <vt:lpstr>Calibri</vt:lpstr>
      <vt:lpstr>Microsoft YaHei</vt:lpstr>
      <vt:lpstr>Arial Unicode MS</vt:lpstr>
      <vt:lpstr>Lato</vt:lpstr>
      <vt:lpstr>Verdana</vt:lpstr>
      <vt:lpstr>Google Sans</vt:lpstr>
      <vt:lpstr>MathJax_Math-italic</vt:lpstr>
      <vt:lpstr>MathJax_Main</vt:lpstr>
      <vt:lpstr>Source Sans 3</vt:lpstr>
      <vt:lpstr>-apple-system</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Mech</dc:creator>
  <cp:lastModifiedBy>sweta kahurke</cp:lastModifiedBy>
  <cp:revision>824</cp:revision>
  <dcterms:created xsi:type="dcterms:W3CDTF">2006-08-16T00:00:00Z</dcterms:created>
  <dcterms:modified xsi:type="dcterms:W3CDTF">2026-02-05T11:19:49Z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11348F10D1FC46CC90ED13981B4D5ECC_13</vt:lpwstr>
  </property>
  <property fmtid="{D5CDD505-2E9C-101B-9397-08002B2CF9AE}" pid="3" name="KSOProductBuildVer">
    <vt:lpwstr>2057-12.2.0.23197</vt:lpwstr>
  </property>
</Properties>
</file>