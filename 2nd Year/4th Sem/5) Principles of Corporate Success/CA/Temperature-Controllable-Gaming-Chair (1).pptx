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4630400" cy="8229600"/>
  <p:notesSz cx="8229600" cy="14630400"/>
  <p:embeddedFontLst>
    <p:embeddedFont>
      <p:font typeface="Bitter Medium" panose="020B0604020202020204" charset="0"/>
      <p:regular r:id="rId12"/>
    </p:embeddedFont>
    <p:embeddedFont>
      <p:font typeface="Open Sans" panose="020B0606030504020204" pitchFamily="3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1" d="100"/>
          <a:sy n="81" d="100"/>
        </p:scale>
        <p:origin x="10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724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E6E57-9BEC-8845-D4D5-A4D712AEE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02B1DD-C95E-C35F-5681-722826283F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D256A-B7E3-D876-4562-5E769217B1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E106EF-6086-1677-61D6-E570F8759C9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811209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AABCB6"/>
          </a:solidFill>
          <a:ln/>
        </p:spPr>
      </p:sp>
      <p:sp>
        <p:nvSpPr>
          <p:cNvPr id="3" name="Shape 1"/>
          <p:cNvSpPr/>
          <p:nvPr/>
        </p:nvSpPr>
        <p:spPr>
          <a:xfrm>
            <a:off x="0" y="0"/>
            <a:ext cx="14630400" cy="8229600"/>
          </a:xfrm>
          <a:prstGeom prst="rect">
            <a:avLst/>
          </a:prstGeom>
          <a:solidFill>
            <a:srgbClr val="FFF8F0"/>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65722"/>
            <a:ext cx="7556421" cy="1417558"/>
          </a:xfrm>
          <a:prstGeom prst="rect">
            <a:avLst/>
          </a:prstGeom>
          <a:noFill/>
          <a:ln/>
        </p:spPr>
        <p:txBody>
          <a:bodyPr wrap="squar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Temperature Controllable Gaming Chair</a:t>
            </a:r>
            <a:endParaRPr lang="en-US" sz="4450" dirty="0"/>
          </a:p>
        </p:txBody>
      </p:sp>
      <p:sp>
        <p:nvSpPr>
          <p:cNvPr id="4" name="Text 1"/>
          <p:cNvSpPr/>
          <p:nvPr/>
        </p:nvSpPr>
        <p:spPr>
          <a:xfrm>
            <a:off x="6280190" y="3723442"/>
            <a:ext cx="7556421" cy="254031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Professional gamers often endure long hours of intense gameplay, leading to discomfort, fatigue, and reduced performance. Our next-generation gaming chair is designed to provide maximum comfort for extended gaming sessions, promoting proper posture to keep gamers focused. The most unique aspect is the integration of a temperature-controllable bladeless fan, offering cooling or heating to key body areas like the neck, wrist, and elbow.</a:t>
            </a:r>
            <a:endParaRPr lang="en-US" sz="1750" dirty="0"/>
          </a:p>
        </p:txBody>
      </p:sp>
      <p:pic>
        <p:nvPicPr>
          <p:cNvPr id="6" name="Picture 5">
            <a:extLst>
              <a:ext uri="{FF2B5EF4-FFF2-40B4-BE49-F238E27FC236}">
                <a16:creationId xmlns:a16="http://schemas.microsoft.com/office/drawing/2014/main" id="{950FA94D-6DAF-CFB6-9491-DD924B5BBAD9}"/>
              </a:ext>
            </a:extLst>
          </p:cNvPr>
          <p:cNvPicPr>
            <a:picLocks noChangeAspect="1"/>
          </p:cNvPicPr>
          <p:nvPr/>
        </p:nvPicPr>
        <p:blipFill>
          <a:blip r:embed="rId4"/>
          <a:stretch>
            <a:fillRect/>
          </a:stretch>
        </p:blipFill>
        <p:spPr>
          <a:xfrm>
            <a:off x="12182133" y="7781863"/>
            <a:ext cx="2448267" cy="4477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56642" y="932974"/>
            <a:ext cx="7583210" cy="675680"/>
          </a:xfrm>
          <a:prstGeom prst="rect">
            <a:avLst/>
          </a:prstGeom>
          <a:noFill/>
          <a:ln/>
        </p:spPr>
        <p:txBody>
          <a:bodyPr wrap="none" lIns="0" tIns="0" rIns="0" bIns="0" rtlCol="0" anchor="t"/>
          <a:lstStyle/>
          <a:p>
            <a:pPr marL="0" indent="0" algn="l">
              <a:lnSpc>
                <a:spcPts val="5300"/>
              </a:lnSpc>
              <a:buNone/>
            </a:pPr>
            <a:r>
              <a:rPr lang="en-US" sz="4250" kern="0" spc="-128" dirty="0">
                <a:solidFill>
                  <a:srgbClr val="2C3F42"/>
                </a:solidFill>
                <a:latin typeface="Bitter Medium" pitchFamily="34" charset="0"/>
                <a:ea typeface="Bitter Medium" pitchFamily="34" charset="-122"/>
                <a:cs typeface="Bitter Medium" pitchFamily="34" charset="-120"/>
              </a:rPr>
              <a:t>Enhanced Focus and Endurance</a:t>
            </a:r>
            <a:endParaRPr lang="en-US" sz="4250" dirty="0"/>
          </a:p>
        </p:txBody>
      </p:sp>
      <p:pic>
        <p:nvPicPr>
          <p:cNvPr id="4" name="Image 1" descr="preencoded.png"/>
          <p:cNvPicPr>
            <a:picLocks noChangeAspect="1"/>
          </p:cNvPicPr>
          <p:nvPr/>
        </p:nvPicPr>
        <p:blipFill>
          <a:blip r:embed="rId4"/>
          <a:stretch>
            <a:fillRect/>
          </a:stretch>
        </p:blipFill>
        <p:spPr>
          <a:xfrm>
            <a:off x="756642" y="1970603"/>
            <a:ext cx="540425" cy="540425"/>
          </a:xfrm>
          <a:prstGeom prst="rect">
            <a:avLst/>
          </a:prstGeom>
        </p:spPr>
      </p:pic>
      <p:sp>
        <p:nvSpPr>
          <p:cNvPr id="5" name="Text 1"/>
          <p:cNvSpPr/>
          <p:nvPr/>
        </p:nvSpPr>
        <p:spPr>
          <a:xfrm>
            <a:off x="1513165" y="1932861"/>
            <a:ext cx="2702600" cy="337780"/>
          </a:xfrm>
          <a:prstGeom prst="rect">
            <a:avLst/>
          </a:prstGeom>
          <a:noFill/>
          <a:ln/>
        </p:spPr>
        <p:txBody>
          <a:bodyPr wrap="none" lIns="0" tIns="0" rIns="0" bIns="0" rtlCol="0" anchor="t"/>
          <a:lstStyle/>
          <a:p>
            <a:pPr marL="0" indent="0" algn="l">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Cooling System</a:t>
            </a:r>
            <a:endParaRPr lang="en-US" sz="2100" dirty="0"/>
          </a:p>
        </p:txBody>
      </p:sp>
      <p:sp>
        <p:nvSpPr>
          <p:cNvPr id="6" name="Text 2"/>
          <p:cNvSpPr/>
          <p:nvPr/>
        </p:nvSpPr>
        <p:spPr>
          <a:xfrm>
            <a:off x="1513165" y="2400300"/>
            <a:ext cx="7291470" cy="345877"/>
          </a:xfrm>
          <a:prstGeom prst="rect">
            <a:avLst/>
          </a:prstGeom>
          <a:noFill/>
          <a:ln/>
        </p:spPr>
        <p:txBody>
          <a:bodyPr wrap="non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Bladeless fan provides cooling to pivotal body parts without making noise.</a:t>
            </a:r>
            <a:endParaRPr lang="en-US" sz="1700" dirty="0"/>
          </a:p>
        </p:txBody>
      </p:sp>
      <p:pic>
        <p:nvPicPr>
          <p:cNvPr id="7" name="Image 2" descr="preencoded.png"/>
          <p:cNvPicPr>
            <a:picLocks noChangeAspect="1"/>
          </p:cNvPicPr>
          <p:nvPr/>
        </p:nvPicPr>
        <p:blipFill>
          <a:blip r:embed="rId5"/>
          <a:stretch>
            <a:fillRect/>
          </a:stretch>
        </p:blipFill>
        <p:spPr>
          <a:xfrm>
            <a:off x="756642" y="3432453"/>
            <a:ext cx="540425" cy="540425"/>
          </a:xfrm>
          <a:prstGeom prst="rect">
            <a:avLst/>
          </a:prstGeom>
        </p:spPr>
      </p:pic>
      <p:sp>
        <p:nvSpPr>
          <p:cNvPr id="8" name="Text 3"/>
          <p:cNvSpPr/>
          <p:nvPr/>
        </p:nvSpPr>
        <p:spPr>
          <a:xfrm>
            <a:off x="1513164" y="3394710"/>
            <a:ext cx="3171957" cy="337780"/>
          </a:xfrm>
          <a:prstGeom prst="rect">
            <a:avLst/>
          </a:prstGeom>
          <a:noFill/>
          <a:ln/>
        </p:spPr>
        <p:txBody>
          <a:bodyPr wrap="none" lIns="0" tIns="0" rIns="0" bIns="0" rtlCol="0" anchor="t"/>
          <a:lstStyle/>
          <a:p>
            <a:pPr marL="0" indent="0" algn="l">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Heating &amp; Cooling System</a:t>
            </a:r>
            <a:endParaRPr lang="en-US" sz="2100" dirty="0"/>
          </a:p>
        </p:txBody>
      </p:sp>
      <p:sp>
        <p:nvSpPr>
          <p:cNvPr id="9" name="Text 4"/>
          <p:cNvSpPr/>
          <p:nvPr/>
        </p:nvSpPr>
        <p:spPr>
          <a:xfrm>
            <a:off x="1513165" y="3862149"/>
            <a:ext cx="7432872" cy="670084"/>
          </a:xfrm>
          <a:prstGeom prst="rect">
            <a:avLst/>
          </a:prstGeom>
          <a:noFill/>
          <a:ln/>
        </p:spPr>
        <p:txBody>
          <a:bodyPr wrap="non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Maintains body temperature and reduces sweat by maintaining temperature </a:t>
            </a:r>
          </a:p>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with respect to surrounding.</a:t>
            </a:r>
            <a:endParaRPr lang="en-US" sz="1700" dirty="0"/>
          </a:p>
        </p:txBody>
      </p:sp>
      <p:pic>
        <p:nvPicPr>
          <p:cNvPr id="10" name="Image 3" descr="preencoded.png"/>
          <p:cNvPicPr>
            <a:picLocks noChangeAspect="1"/>
          </p:cNvPicPr>
          <p:nvPr/>
        </p:nvPicPr>
        <p:blipFill>
          <a:blip r:embed="rId6"/>
          <a:stretch>
            <a:fillRect/>
          </a:stretch>
        </p:blipFill>
        <p:spPr>
          <a:xfrm>
            <a:off x="756642" y="4894302"/>
            <a:ext cx="540425" cy="540425"/>
          </a:xfrm>
          <a:prstGeom prst="rect">
            <a:avLst/>
          </a:prstGeom>
        </p:spPr>
      </p:pic>
      <p:sp>
        <p:nvSpPr>
          <p:cNvPr id="11" name="Text 5"/>
          <p:cNvSpPr/>
          <p:nvPr/>
        </p:nvSpPr>
        <p:spPr>
          <a:xfrm>
            <a:off x="1513165" y="4856559"/>
            <a:ext cx="2702600" cy="337780"/>
          </a:xfrm>
          <a:prstGeom prst="rect">
            <a:avLst/>
          </a:prstGeom>
          <a:noFill/>
          <a:ln/>
        </p:spPr>
        <p:txBody>
          <a:bodyPr wrap="none" lIns="0" tIns="0" rIns="0" bIns="0" rtlCol="0" anchor="t"/>
          <a:lstStyle/>
          <a:p>
            <a:pPr marL="0" indent="0" algn="l">
              <a:lnSpc>
                <a:spcPts val="2650"/>
              </a:lnSpc>
              <a:buNone/>
            </a:pPr>
            <a:r>
              <a:rPr lang="en-US" sz="2100" kern="0" spc="-64" dirty="0">
                <a:solidFill>
                  <a:srgbClr val="2B2E3C"/>
                </a:solidFill>
                <a:latin typeface="Bitter Medium" pitchFamily="34" charset="0"/>
                <a:ea typeface="Bitter Medium" pitchFamily="34" charset="-122"/>
                <a:cs typeface="Bitter Medium" pitchFamily="34" charset="-120"/>
              </a:rPr>
              <a:t>Fingertip Control</a:t>
            </a:r>
            <a:endParaRPr lang="en-US" sz="2100" dirty="0"/>
          </a:p>
        </p:txBody>
      </p:sp>
      <p:sp>
        <p:nvSpPr>
          <p:cNvPr id="12" name="Text 6"/>
          <p:cNvSpPr/>
          <p:nvPr/>
        </p:nvSpPr>
        <p:spPr>
          <a:xfrm>
            <a:off x="1513165" y="5323999"/>
            <a:ext cx="6874193" cy="345877"/>
          </a:xfrm>
          <a:prstGeom prst="rect">
            <a:avLst/>
          </a:prstGeom>
          <a:noFill/>
          <a:ln/>
        </p:spPr>
        <p:txBody>
          <a:bodyPr wrap="non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Manual or automatic temperature adjustments.</a:t>
            </a:r>
            <a:endParaRPr lang="en-US" sz="1700" dirty="0"/>
          </a:p>
        </p:txBody>
      </p:sp>
      <p:sp>
        <p:nvSpPr>
          <p:cNvPr id="13" name="Text 7"/>
          <p:cNvSpPr/>
          <p:nvPr/>
        </p:nvSpPr>
        <p:spPr>
          <a:xfrm>
            <a:off x="756642" y="5913001"/>
            <a:ext cx="7774616" cy="1383506"/>
          </a:xfrm>
          <a:prstGeom prst="rect">
            <a:avLst/>
          </a:prstGeom>
          <a:noFill/>
          <a:ln/>
        </p:spPr>
        <p:txBody>
          <a:bodyPr wrap="square" lIns="0" tIns="0" rIns="0" bIns="0" rtlCol="0" anchor="t"/>
          <a:lstStyle/>
          <a:p>
            <a:pPr marL="0" indent="0" algn="l">
              <a:lnSpc>
                <a:spcPts val="2700"/>
              </a:lnSpc>
              <a:buNone/>
            </a:pPr>
            <a:r>
              <a:rPr lang="en-US" sz="1700" kern="0" spc="-34" dirty="0">
                <a:solidFill>
                  <a:srgbClr val="2B2E3C"/>
                </a:solidFill>
                <a:latin typeface="Open Sans" pitchFamily="34" charset="0"/>
                <a:ea typeface="Open Sans" pitchFamily="34" charset="-122"/>
                <a:cs typeface="Open Sans" pitchFamily="34" charset="-120"/>
              </a:rPr>
              <a:t>This innovative gaming chair redefines comfort and performance, helping serious gamers, streamers, and esports professionals achieve enhanced focus and endurance through unique design, bladeless fan-based cooling technology, and adaptive smart features.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14005"/>
          </a:xfrm>
          <a:prstGeom prst="rect">
            <a:avLst/>
          </a:prstGeom>
        </p:spPr>
      </p:pic>
      <p:sp>
        <p:nvSpPr>
          <p:cNvPr id="3" name="Text 0"/>
          <p:cNvSpPr/>
          <p:nvPr/>
        </p:nvSpPr>
        <p:spPr>
          <a:xfrm>
            <a:off x="703898" y="3067050"/>
            <a:ext cx="5028128" cy="628412"/>
          </a:xfrm>
          <a:prstGeom prst="rect">
            <a:avLst/>
          </a:prstGeom>
          <a:noFill/>
          <a:ln/>
        </p:spPr>
        <p:txBody>
          <a:bodyPr wrap="none" lIns="0" tIns="0" rIns="0" bIns="0" rtlCol="0" anchor="t"/>
          <a:lstStyle/>
          <a:p>
            <a:pPr marL="0" indent="0" algn="l">
              <a:lnSpc>
                <a:spcPts val="4900"/>
              </a:lnSpc>
              <a:buNone/>
            </a:pPr>
            <a:r>
              <a:rPr lang="en-US" sz="3950" kern="0" spc="-119" dirty="0">
                <a:solidFill>
                  <a:srgbClr val="2C3F42"/>
                </a:solidFill>
                <a:latin typeface="Bitter Medium" pitchFamily="34" charset="0"/>
                <a:ea typeface="Bitter Medium" pitchFamily="34" charset="-122"/>
                <a:cs typeface="Bitter Medium" pitchFamily="34" charset="-120"/>
              </a:rPr>
              <a:t>Design Methodology</a:t>
            </a:r>
            <a:endParaRPr lang="en-US" sz="3950" dirty="0"/>
          </a:p>
        </p:txBody>
      </p:sp>
      <p:sp>
        <p:nvSpPr>
          <p:cNvPr id="4" name="Shape 1"/>
          <p:cNvSpPr/>
          <p:nvPr/>
        </p:nvSpPr>
        <p:spPr>
          <a:xfrm>
            <a:off x="703898" y="4223266"/>
            <a:ext cx="452437" cy="452438"/>
          </a:xfrm>
          <a:prstGeom prst="roundRect">
            <a:avLst>
              <a:gd name="adj" fmla="val 18671"/>
            </a:avLst>
          </a:prstGeom>
          <a:solidFill>
            <a:srgbClr val="FCE2CF"/>
          </a:solidFill>
          <a:ln w="7620">
            <a:solidFill>
              <a:srgbClr val="E2C8B5"/>
            </a:solidFill>
            <a:prstDash val="solid"/>
          </a:ln>
        </p:spPr>
      </p:sp>
      <p:sp>
        <p:nvSpPr>
          <p:cNvPr id="5" name="Text 2"/>
          <p:cNvSpPr/>
          <p:nvPr/>
        </p:nvSpPr>
        <p:spPr>
          <a:xfrm>
            <a:off x="779324" y="4260949"/>
            <a:ext cx="301585" cy="377071"/>
          </a:xfrm>
          <a:prstGeom prst="rect">
            <a:avLst/>
          </a:prstGeom>
          <a:noFill/>
          <a:ln/>
        </p:spPr>
        <p:txBody>
          <a:bodyPr wrap="none" lIns="0" tIns="0" rIns="0" bIns="0" rtlCol="0" anchor="t"/>
          <a:lstStyle/>
          <a:p>
            <a:pPr marL="0" indent="0" algn="ctr">
              <a:lnSpc>
                <a:spcPts val="2350"/>
              </a:lnSpc>
              <a:buNone/>
            </a:pPr>
            <a:r>
              <a:rPr lang="en-US" sz="2350" kern="0" spc="-71" dirty="0">
                <a:solidFill>
                  <a:srgbClr val="2B2E3C"/>
                </a:solidFill>
                <a:latin typeface="Bitter Medium" pitchFamily="34" charset="0"/>
                <a:ea typeface="Bitter Medium" pitchFamily="34" charset="-122"/>
                <a:cs typeface="Bitter Medium" pitchFamily="34" charset="-120"/>
              </a:rPr>
              <a:t>1</a:t>
            </a:r>
            <a:endParaRPr lang="en-US" sz="2350" dirty="0"/>
          </a:p>
        </p:txBody>
      </p:sp>
      <p:sp>
        <p:nvSpPr>
          <p:cNvPr id="6" name="Text 3"/>
          <p:cNvSpPr/>
          <p:nvPr/>
        </p:nvSpPr>
        <p:spPr>
          <a:xfrm>
            <a:off x="1357432" y="4223266"/>
            <a:ext cx="2514005" cy="314325"/>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Analysis</a:t>
            </a:r>
            <a:endParaRPr lang="en-US" sz="1950" dirty="0"/>
          </a:p>
        </p:txBody>
      </p:sp>
      <p:sp>
        <p:nvSpPr>
          <p:cNvPr id="7" name="Text 4"/>
          <p:cNvSpPr/>
          <p:nvPr/>
        </p:nvSpPr>
        <p:spPr>
          <a:xfrm>
            <a:off x="1357432" y="4658201"/>
            <a:ext cx="5857280" cy="643414"/>
          </a:xfrm>
          <a:prstGeom prst="rect">
            <a:avLst/>
          </a:prstGeom>
          <a:noFill/>
          <a:ln/>
        </p:spPr>
        <p:txBody>
          <a:bodyPr wrap="square" lIns="0" tIns="0" rIns="0" bIns="0" rtlCol="0" anchor="t"/>
          <a:lstStyle/>
          <a:p>
            <a:pPr marL="0" indent="0" algn="l">
              <a:lnSpc>
                <a:spcPts val="2500"/>
              </a:lnSpc>
              <a:buNone/>
            </a:pPr>
            <a:r>
              <a:rPr lang="en-US" sz="1550" kern="0" spc="-32" dirty="0">
                <a:solidFill>
                  <a:srgbClr val="2B2E3C"/>
                </a:solidFill>
                <a:latin typeface="Open Sans" pitchFamily="34" charset="0"/>
                <a:ea typeface="Open Sans" pitchFamily="34" charset="-122"/>
                <a:cs typeface="Open Sans" pitchFamily="34" charset="-120"/>
              </a:rPr>
              <a:t>Analyzed existing gaming chairs to identify comfort requirements.</a:t>
            </a:r>
            <a:endParaRPr lang="en-US" sz="1550" dirty="0"/>
          </a:p>
        </p:txBody>
      </p:sp>
      <p:sp>
        <p:nvSpPr>
          <p:cNvPr id="8" name="Shape 5"/>
          <p:cNvSpPr/>
          <p:nvPr/>
        </p:nvSpPr>
        <p:spPr>
          <a:xfrm>
            <a:off x="7415808" y="4223266"/>
            <a:ext cx="452437" cy="452438"/>
          </a:xfrm>
          <a:prstGeom prst="roundRect">
            <a:avLst>
              <a:gd name="adj" fmla="val 18671"/>
            </a:avLst>
          </a:prstGeom>
          <a:solidFill>
            <a:srgbClr val="FCE2CF"/>
          </a:solidFill>
          <a:ln w="7620">
            <a:solidFill>
              <a:srgbClr val="E2C8B5"/>
            </a:solidFill>
            <a:prstDash val="solid"/>
          </a:ln>
        </p:spPr>
      </p:sp>
      <p:sp>
        <p:nvSpPr>
          <p:cNvPr id="9" name="Text 6"/>
          <p:cNvSpPr/>
          <p:nvPr/>
        </p:nvSpPr>
        <p:spPr>
          <a:xfrm>
            <a:off x="7491234" y="4260949"/>
            <a:ext cx="301585" cy="377071"/>
          </a:xfrm>
          <a:prstGeom prst="rect">
            <a:avLst/>
          </a:prstGeom>
          <a:noFill/>
          <a:ln/>
        </p:spPr>
        <p:txBody>
          <a:bodyPr wrap="none" lIns="0" tIns="0" rIns="0" bIns="0" rtlCol="0" anchor="t"/>
          <a:lstStyle/>
          <a:p>
            <a:pPr marL="0" indent="0" algn="ctr">
              <a:lnSpc>
                <a:spcPts val="2350"/>
              </a:lnSpc>
              <a:buNone/>
            </a:pPr>
            <a:r>
              <a:rPr lang="en-US" sz="2350" kern="0" spc="-71" dirty="0">
                <a:solidFill>
                  <a:srgbClr val="2B2E3C"/>
                </a:solidFill>
                <a:latin typeface="Bitter Medium" pitchFamily="34" charset="0"/>
                <a:ea typeface="Bitter Medium" pitchFamily="34" charset="-122"/>
                <a:cs typeface="Bitter Medium" pitchFamily="34" charset="-120"/>
              </a:rPr>
              <a:t>2</a:t>
            </a:r>
            <a:endParaRPr lang="en-US" sz="2350" dirty="0"/>
          </a:p>
        </p:txBody>
      </p:sp>
      <p:sp>
        <p:nvSpPr>
          <p:cNvPr id="10" name="Text 7"/>
          <p:cNvSpPr/>
          <p:nvPr/>
        </p:nvSpPr>
        <p:spPr>
          <a:xfrm>
            <a:off x="8069342" y="4223266"/>
            <a:ext cx="2514005" cy="314325"/>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Bladeless Fan</a:t>
            </a:r>
            <a:endParaRPr lang="en-US" sz="1950" dirty="0"/>
          </a:p>
        </p:txBody>
      </p:sp>
      <p:sp>
        <p:nvSpPr>
          <p:cNvPr id="11" name="Text 8"/>
          <p:cNvSpPr/>
          <p:nvPr/>
        </p:nvSpPr>
        <p:spPr>
          <a:xfrm>
            <a:off x="8069342" y="4658201"/>
            <a:ext cx="5857280" cy="321707"/>
          </a:xfrm>
          <a:prstGeom prst="rect">
            <a:avLst/>
          </a:prstGeom>
          <a:noFill/>
          <a:ln/>
        </p:spPr>
        <p:txBody>
          <a:bodyPr wrap="none" lIns="0" tIns="0" rIns="0" bIns="0" rtlCol="0" anchor="t"/>
          <a:lstStyle/>
          <a:p>
            <a:pPr marL="0" indent="0" algn="l">
              <a:lnSpc>
                <a:spcPts val="2500"/>
              </a:lnSpc>
              <a:buNone/>
            </a:pPr>
            <a:r>
              <a:rPr lang="en-US" sz="1550" kern="0" spc="-32" dirty="0">
                <a:solidFill>
                  <a:srgbClr val="2B2E3C"/>
                </a:solidFill>
                <a:latin typeface="Open Sans" pitchFamily="34" charset="0"/>
                <a:ea typeface="Open Sans" pitchFamily="34" charset="-122"/>
                <a:cs typeface="Open Sans" pitchFamily="34" charset="-120"/>
              </a:rPr>
              <a:t>Designed a bladeless fan system for quiet cooling and heating.</a:t>
            </a:r>
            <a:endParaRPr lang="en-US" sz="1550" dirty="0"/>
          </a:p>
        </p:txBody>
      </p:sp>
      <p:sp>
        <p:nvSpPr>
          <p:cNvPr id="12" name="Shape 9"/>
          <p:cNvSpPr/>
          <p:nvPr/>
        </p:nvSpPr>
        <p:spPr>
          <a:xfrm>
            <a:off x="703898" y="5728930"/>
            <a:ext cx="452437" cy="452438"/>
          </a:xfrm>
          <a:prstGeom prst="roundRect">
            <a:avLst>
              <a:gd name="adj" fmla="val 18671"/>
            </a:avLst>
          </a:prstGeom>
          <a:solidFill>
            <a:srgbClr val="FCE2CF"/>
          </a:solidFill>
          <a:ln w="7620">
            <a:solidFill>
              <a:srgbClr val="E2C8B5"/>
            </a:solidFill>
            <a:prstDash val="solid"/>
          </a:ln>
        </p:spPr>
      </p:sp>
      <p:sp>
        <p:nvSpPr>
          <p:cNvPr id="13" name="Text 10"/>
          <p:cNvSpPr/>
          <p:nvPr/>
        </p:nvSpPr>
        <p:spPr>
          <a:xfrm>
            <a:off x="779324" y="5766614"/>
            <a:ext cx="301585" cy="377071"/>
          </a:xfrm>
          <a:prstGeom prst="rect">
            <a:avLst/>
          </a:prstGeom>
          <a:noFill/>
          <a:ln/>
        </p:spPr>
        <p:txBody>
          <a:bodyPr wrap="none" lIns="0" tIns="0" rIns="0" bIns="0" rtlCol="0" anchor="t"/>
          <a:lstStyle/>
          <a:p>
            <a:pPr marL="0" indent="0" algn="ctr">
              <a:lnSpc>
                <a:spcPts val="2350"/>
              </a:lnSpc>
              <a:buNone/>
            </a:pPr>
            <a:r>
              <a:rPr lang="en-US" sz="2350" kern="0" spc="-71" dirty="0">
                <a:solidFill>
                  <a:srgbClr val="2B2E3C"/>
                </a:solidFill>
                <a:latin typeface="Bitter Medium" pitchFamily="34" charset="0"/>
                <a:ea typeface="Bitter Medium" pitchFamily="34" charset="-122"/>
                <a:cs typeface="Bitter Medium" pitchFamily="34" charset="-120"/>
              </a:rPr>
              <a:t>3</a:t>
            </a:r>
            <a:endParaRPr lang="en-US" sz="2350" dirty="0"/>
          </a:p>
        </p:txBody>
      </p:sp>
      <p:sp>
        <p:nvSpPr>
          <p:cNvPr id="14" name="Text 11"/>
          <p:cNvSpPr/>
          <p:nvPr/>
        </p:nvSpPr>
        <p:spPr>
          <a:xfrm>
            <a:off x="1357432" y="5728930"/>
            <a:ext cx="2514005" cy="314325"/>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Sensors</a:t>
            </a:r>
            <a:endParaRPr lang="en-US" sz="1950" dirty="0"/>
          </a:p>
        </p:txBody>
      </p:sp>
      <p:sp>
        <p:nvSpPr>
          <p:cNvPr id="15" name="Text 12"/>
          <p:cNvSpPr/>
          <p:nvPr/>
        </p:nvSpPr>
        <p:spPr>
          <a:xfrm>
            <a:off x="1357432" y="6163866"/>
            <a:ext cx="5857280" cy="643414"/>
          </a:xfrm>
          <a:prstGeom prst="rect">
            <a:avLst/>
          </a:prstGeom>
          <a:noFill/>
          <a:ln/>
        </p:spPr>
        <p:txBody>
          <a:bodyPr wrap="square" lIns="0" tIns="0" rIns="0" bIns="0" rtlCol="0" anchor="t"/>
          <a:lstStyle/>
          <a:p>
            <a:pPr marL="0" indent="0" algn="l">
              <a:lnSpc>
                <a:spcPts val="2500"/>
              </a:lnSpc>
              <a:buNone/>
            </a:pPr>
            <a:r>
              <a:rPr lang="en-US" sz="1550" kern="0" spc="-32" dirty="0">
                <a:solidFill>
                  <a:srgbClr val="2B2E3C"/>
                </a:solidFill>
                <a:latin typeface="Open Sans" pitchFamily="34" charset="0"/>
                <a:ea typeface="Open Sans" pitchFamily="34" charset="-122"/>
                <a:cs typeface="Open Sans" pitchFamily="34" charset="-120"/>
              </a:rPr>
              <a:t>Equipped with high-precision sensors for temperature adjustment.</a:t>
            </a:r>
            <a:endParaRPr lang="en-US" sz="1550" dirty="0"/>
          </a:p>
        </p:txBody>
      </p:sp>
      <p:sp>
        <p:nvSpPr>
          <p:cNvPr id="16" name="Shape 13"/>
          <p:cNvSpPr/>
          <p:nvPr/>
        </p:nvSpPr>
        <p:spPr>
          <a:xfrm>
            <a:off x="7415808" y="5728930"/>
            <a:ext cx="452437" cy="452438"/>
          </a:xfrm>
          <a:prstGeom prst="roundRect">
            <a:avLst>
              <a:gd name="adj" fmla="val 18671"/>
            </a:avLst>
          </a:prstGeom>
          <a:solidFill>
            <a:srgbClr val="FCE2CF"/>
          </a:solidFill>
          <a:ln w="7620">
            <a:solidFill>
              <a:srgbClr val="E2C8B5"/>
            </a:solidFill>
            <a:prstDash val="solid"/>
          </a:ln>
        </p:spPr>
      </p:sp>
      <p:sp>
        <p:nvSpPr>
          <p:cNvPr id="17" name="Text 14"/>
          <p:cNvSpPr/>
          <p:nvPr/>
        </p:nvSpPr>
        <p:spPr>
          <a:xfrm>
            <a:off x="7491234" y="5766614"/>
            <a:ext cx="301585" cy="377071"/>
          </a:xfrm>
          <a:prstGeom prst="rect">
            <a:avLst/>
          </a:prstGeom>
          <a:noFill/>
          <a:ln/>
        </p:spPr>
        <p:txBody>
          <a:bodyPr wrap="none" lIns="0" tIns="0" rIns="0" bIns="0" rtlCol="0" anchor="t"/>
          <a:lstStyle/>
          <a:p>
            <a:pPr marL="0" indent="0" algn="ctr">
              <a:lnSpc>
                <a:spcPts val="2350"/>
              </a:lnSpc>
              <a:buNone/>
            </a:pPr>
            <a:r>
              <a:rPr lang="en-US" sz="2350" kern="0" spc="-71" dirty="0">
                <a:solidFill>
                  <a:srgbClr val="2B2E3C"/>
                </a:solidFill>
                <a:latin typeface="Bitter Medium" pitchFamily="34" charset="0"/>
                <a:ea typeface="Bitter Medium" pitchFamily="34" charset="-122"/>
                <a:cs typeface="Bitter Medium" pitchFamily="34" charset="-120"/>
              </a:rPr>
              <a:t>4</a:t>
            </a:r>
            <a:endParaRPr lang="en-US" sz="2350" dirty="0"/>
          </a:p>
        </p:txBody>
      </p:sp>
      <p:sp>
        <p:nvSpPr>
          <p:cNvPr id="18" name="Text 15"/>
          <p:cNvSpPr/>
          <p:nvPr/>
        </p:nvSpPr>
        <p:spPr>
          <a:xfrm>
            <a:off x="8069342" y="5728930"/>
            <a:ext cx="2514005" cy="314325"/>
          </a:xfrm>
          <a:prstGeom prst="rect">
            <a:avLst/>
          </a:prstGeom>
          <a:noFill/>
          <a:ln/>
        </p:spPr>
        <p:txBody>
          <a:bodyPr wrap="none" lIns="0" tIns="0" rIns="0" bIns="0" rtlCol="0" anchor="t"/>
          <a:lstStyle/>
          <a:p>
            <a:pPr marL="0" indent="0" algn="l">
              <a:lnSpc>
                <a:spcPts val="2450"/>
              </a:lnSpc>
              <a:buNone/>
            </a:pPr>
            <a:r>
              <a:rPr lang="en-US" sz="1950" kern="0" spc="-59" dirty="0">
                <a:solidFill>
                  <a:srgbClr val="2B2E3C"/>
                </a:solidFill>
                <a:latin typeface="Bitter Medium" pitchFamily="34" charset="0"/>
                <a:ea typeface="Bitter Medium" pitchFamily="34" charset="-122"/>
                <a:cs typeface="Bitter Medium" pitchFamily="34" charset="-120"/>
              </a:rPr>
              <a:t>Materials</a:t>
            </a:r>
            <a:endParaRPr lang="en-US" sz="1950" dirty="0"/>
          </a:p>
        </p:txBody>
      </p:sp>
      <p:sp>
        <p:nvSpPr>
          <p:cNvPr id="19" name="Text 16"/>
          <p:cNvSpPr/>
          <p:nvPr/>
        </p:nvSpPr>
        <p:spPr>
          <a:xfrm>
            <a:off x="8069342" y="6163866"/>
            <a:ext cx="5857280" cy="321707"/>
          </a:xfrm>
          <a:prstGeom prst="rect">
            <a:avLst/>
          </a:prstGeom>
          <a:noFill/>
          <a:ln/>
        </p:spPr>
        <p:txBody>
          <a:bodyPr wrap="none" lIns="0" tIns="0" rIns="0" bIns="0" rtlCol="0" anchor="t"/>
          <a:lstStyle/>
          <a:p>
            <a:pPr marL="0" indent="0" algn="l">
              <a:lnSpc>
                <a:spcPts val="2500"/>
              </a:lnSpc>
              <a:buNone/>
            </a:pPr>
            <a:r>
              <a:rPr lang="en-US" sz="1550" kern="0" spc="-32" dirty="0">
                <a:solidFill>
                  <a:srgbClr val="2B2E3C"/>
                </a:solidFill>
                <a:latin typeface="Open Sans" pitchFamily="34" charset="0"/>
                <a:ea typeface="Open Sans" pitchFamily="34" charset="-122"/>
                <a:cs typeface="Open Sans" pitchFamily="34" charset="-120"/>
              </a:rPr>
              <a:t>Built with durable, breathable materials for ultimate comfort.</a:t>
            </a:r>
            <a:endParaRPr lang="en-US" sz="1550" dirty="0"/>
          </a:p>
        </p:txBody>
      </p:sp>
      <p:sp>
        <p:nvSpPr>
          <p:cNvPr id="20" name="Text 17"/>
          <p:cNvSpPr/>
          <p:nvPr/>
        </p:nvSpPr>
        <p:spPr>
          <a:xfrm>
            <a:off x="703898" y="7033498"/>
            <a:ext cx="13222605" cy="643414"/>
          </a:xfrm>
          <a:prstGeom prst="rect">
            <a:avLst/>
          </a:prstGeom>
          <a:noFill/>
          <a:ln/>
        </p:spPr>
        <p:txBody>
          <a:bodyPr wrap="square" lIns="0" tIns="0" rIns="0" bIns="0" rtlCol="0" anchor="t"/>
          <a:lstStyle/>
          <a:p>
            <a:pPr marL="0" indent="0" algn="l">
              <a:lnSpc>
                <a:spcPts val="2500"/>
              </a:lnSpc>
              <a:buNone/>
            </a:pPr>
            <a:r>
              <a:rPr lang="en-US" sz="1550" kern="0" spc="-32" dirty="0">
                <a:solidFill>
                  <a:srgbClr val="2B2E3C"/>
                </a:solidFill>
                <a:latin typeface="Open Sans" pitchFamily="34" charset="0"/>
                <a:ea typeface="Open Sans" pitchFamily="34" charset="-122"/>
                <a:cs typeface="Open Sans" pitchFamily="34" charset="-120"/>
              </a:rPr>
              <a:t>To design such type of chair we analysed the all-existing gaming chair to figure out to make unique chair design to fulfil all the requirements of the comfort perspective.</a:t>
            </a:r>
            <a:endParaRPr lang="en-US" sz="1550" dirty="0"/>
          </a:p>
        </p:txBody>
      </p:sp>
      <p:pic>
        <p:nvPicPr>
          <p:cNvPr id="21" name="Picture 20">
            <a:extLst>
              <a:ext uri="{FF2B5EF4-FFF2-40B4-BE49-F238E27FC236}">
                <a16:creationId xmlns:a16="http://schemas.microsoft.com/office/drawing/2014/main" id="{CBD5670F-FB08-0B59-0373-D05C214BB6EC}"/>
              </a:ext>
            </a:extLst>
          </p:cNvPr>
          <p:cNvPicPr>
            <a:picLocks noChangeAspect="1"/>
          </p:cNvPicPr>
          <p:nvPr/>
        </p:nvPicPr>
        <p:blipFill>
          <a:blip r:embed="rId4"/>
          <a:stretch>
            <a:fillRect/>
          </a:stretch>
        </p:blipFill>
        <p:spPr>
          <a:xfrm>
            <a:off x="12182133" y="7781863"/>
            <a:ext cx="2448267" cy="44773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19902"/>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Key Features</a:t>
            </a:r>
            <a:endParaRPr lang="en-US" sz="4450" dirty="0"/>
          </a:p>
        </p:txBody>
      </p:sp>
      <p:sp>
        <p:nvSpPr>
          <p:cNvPr id="4" name="Shape 1"/>
          <p:cNvSpPr/>
          <p:nvPr/>
        </p:nvSpPr>
        <p:spPr>
          <a:xfrm>
            <a:off x="793790" y="2168843"/>
            <a:ext cx="3664863" cy="1685092"/>
          </a:xfrm>
          <a:prstGeom prst="roundRect">
            <a:avLst>
              <a:gd name="adj" fmla="val 5654"/>
            </a:avLst>
          </a:prstGeom>
          <a:solidFill>
            <a:srgbClr val="FCE2CF"/>
          </a:solidFill>
          <a:ln w="7620">
            <a:solidFill>
              <a:srgbClr val="E2C8B5"/>
            </a:solidFill>
            <a:prstDash val="solid"/>
          </a:ln>
        </p:spPr>
      </p:sp>
      <p:sp>
        <p:nvSpPr>
          <p:cNvPr id="5" name="Text 2"/>
          <p:cNvSpPr/>
          <p:nvPr/>
        </p:nvSpPr>
        <p:spPr>
          <a:xfrm>
            <a:off x="1028224" y="2403277"/>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RGB Lights</a:t>
            </a:r>
            <a:endParaRPr lang="en-US" sz="2200" dirty="0"/>
          </a:p>
        </p:txBody>
      </p:sp>
      <p:sp>
        <p:nvSpPr>
          <p:cNvPr id="6" name="Text 3"/>
          <p:cNvSpPr/>
          <p:nvPr/>
        </p:nvSpPr>
        <p:spPr>
          <a:xfrm>
            <a:off x="1028224" y="2893695"/>
            <a:ext cx="3195995"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Aesthetic look with durable and comfortable material.</a:t>
            </a:r>
            <a:endParaRPr lang="en-US" sz="1750" dirty="0"/>
          </a:p>
        </p:txBody>
      </p:sp>
      <p:sp>
        <p:nvSpPr>
          <p:cNvPr id="7" name="Shape 4"/>
          <p:cNvSpPr/>
          <p:nvPr/>
        </p:nvSpPr>
        <p:spPr>
          <a:xfrm>
            <a:off x="4685467" y="2168843"/>
            <a:ext cx="3664863" cy="1685092"/>
          </a:xfrm>
          <a:prstGeom prst="roundRect">
            <a:avLst>
              <a:gd name="adj" fmla="val 5654"/>
            </a:avLst>
          </a:prstGeom>
          <a:solidFill>
            <a:srgbClr val="FCE2CF"/>
          </a:solidFill>
          <a:ln w="7620">
            <a:solidFill>
              <a:srgbClr val="E2C8B5"/>
            </a:solidFill>
            <a:prstDash val="solid"/>
          </a:ln>
        </p:spPr>
      </p:sp>
      <p:sp>
        <p:nvSpPr>
          <p:cNvPr id="8" name="Text 5"/>
          <p:cNvSpPr/>
          <p:nvPr/>
        </p:nvSpPr>
        <p:spPr>
          <a:xfrm>
            <a:off x="4919901" y="2403277"/>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Lab Testing</a:t>
            </a:r>
            <a:endParaRPr lang="en-US" sz="2200" dirty="0"/>
          </a:p>
        </p:txBody>
      </p:sp>
      <p:sp>
        <p:nvSpPr>
          <p:cNvPr id="9" name="Text 6"/>
          <p:cNvSpPr/>
          <p:nvPr/>
        </p:nvSpPr>
        <p:spPr>
          <a:xfrm>
            <a:off x="4919901" y="2893695"/>
            <a:ext cx="3195995"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Performance and durability checks before market launch.</a:t>
            </a:r>
            <a:endParaRPr lang="en-US" sz="1750" dirty="0"/>
          </a:p>
        </p:txBody>
      </p:sp>
      <p:sp>
        <p:nvSpPr>
          <p:cNvPr id="10" name="Shape 7"/>
          <p:cNvSpPr/>
          <p:nvPr/>
        </p:nvSpPr>
        <p:spPr>
          <a:xfrm>
            <a:off x="793790" y="4080748"/>
            <a:ext cx="7556421" cy="1322189"/>
          </a:xfrm>
          <a:prstGeom prst="roundRect">
            <a:avLst>
              <a:gd name="adj" fmla="val 7205"/>
            </a:avLst>
          </a:prstGeom>
          <a:solidFill>
            <a:srgbClr val="FCE2CF"/>
          </a:solidFill>
          <a:ln w="7620">
            <a:solidFill>
              <a:srgbClr val="E2C8B5"/>
            </a:solidFill>
            <a:prstDash val="solid"/>
          </a:ln>
        </p:spPr>
      </p:sp>
      <p:sp>
        <p:nvSpPr>
          <p:cNvPr id="11" name="Text 8"/>
          <p:cNvSpPr/>
          <p:nvPr/>
        </p:nvSpPr>
        <p:spPr>
          <a:xfrm>
            <a:off x="1028224" y="4315182"/>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Enhanced Gaming</a:t>
            </a:r>
            <a:endParaRPr lang="en-US" sz="2200" dirty="0"/>
          </a:p>
        </p:txBody>
      </p:sp>
      <p:sp>
        <p:nvSpPr>
          <p:cNvPr id="12" name="Text 9"/>
          <p:cNvSpPr/>
          <p:nvPr/>
        </p:nvSpPr>
        <p:spPr>
          <a:xfrm>
            <a:off x="1028224" y="4805601"/>
            <a:ext cx="7087553"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Made as an essential addition to any gaming setup.</a:t>
            </a:r>
            <a:endParaRPr lang="en-US" sz="1750" dirty="0"/>
          </a:p>
        </p:txBody>
      </p:sp>
      <p:sp>
        <p:nvSpPr>
          <p:cNvPr id="13" name="Text 10"/>
          <p:cNvSpPr/>
          <p:nvPr/>
        </p:nvSpPr>
        <p:spPr>
          <a:xfrm>
            <a:off x="793790" y="5658088"/>
            <a:ext cx="7556421" cy="1451610"/>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We combined RGB lights to the gaming chair for the aesthetic look with the durable and comfortable material. Before launching chair in the market for gamers it will undergo the lab testing to check the performance and durability of the chair.</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2230874"/>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Target Audience</a:t>
            </a:r>
            <a:endParaRPr lang="en-US" sz="4450" dirty="0"/>
          </a:p>
        </p:txBody>
      </p:sp>
      <p:sp>
        <p:nvSpPr>
          <p:cNvPr id="3" name="Text 1"/>
          <p:cNvSpPr/>
          <p:nvPr/>
        </p:nvSpPr>
        <p:spPr>
          <a:xfrm>
            <a:off x="793790" y="3506629"/>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Serious Gamers</a:t>
            </a:r>
            <a:endParaRPr lang="en-US" sz="2200" dirty="0"/>
          </a:p>
        </p:txBody>
      </p:sp>
      <p:sp>
        <p:nvSpPr>
          <p:cNvPr id="4" name="Text 2"/>
          <p:cNvSpPr/>
          <p:nvPr/>
        </p:nvSpPr>
        <p:spPr>
          <a:xfrm>
            <a:off x="793790" y="4087773"/>
            <a:ext cx="3978116"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Designed for performance and comfort.</a:t>
            </a:r>
            <a:endParaRPr lang="en-US" sz="1750" dirty="0"/>
          </a:p>
        </p:txBody>
      </p:sp>
      <p:sp>
        <p:nvSpPr>
          <p:cNvPr id="5" name="Text 3"/>
          <p:cNvSpPr/>
          <p:nvPr/>
        </p:nvSpPr>
        <p:spPr>
          <a:xfrm>
            <a:off x="5332928" y="3506629"/>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Streamers</a:t>
            </a:r>
            <a:endParaRPr lang="en-US" sz="2200" dirty="0"/>
          </a:p>
        </p:txBody>
      </p:sp>
      <p:sp>
        <p:nvSpPr>
          <p:cNvPr id="6" name="Text 4"/>
          <p:cNvSpPr/>
          <p:nvPr/>
        </p:nvSpPr>
        <p:spPr>
          <a:xfrm>
            <a:off x="5332928" y="4087773"/>
            <a:ext cx="3978116"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Enhances streaming experience.</a:t>
            </a:r>
            <a:endParaRPr lang="en-US" sz="1750" dirty="0"/>
          </a:p>
        </p:txBody>
      </p:sp>
      <p:sp>
        <p:nvSpPr>
          <p:cNvPr id="7" name="Text 5"/>
          <p:cNvSpPr/>
          <p:nvPr/>
        </p:nvSpPr>
        <p:spPr>
          <a:xfrm>
            <a:off x="9872067" y="3506629"/>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C3F42"/>
                </a:solidFill>
                <a:latin typeface="Bitter Medium" pitchFamily="34" charset="0"/>
                <a:ea typeface="Bitter Medium" pitchFamily="34" charset="-122"/>
                <a:cs typeface="Bitter Medium" pitchFamily="34" charset="-120"/>
              </a:rPr>
              <a:t>Esports Professionals</a:t>
            </a:r>
            <a:endParaRPr lang="en-US" sz="2200" dirty="0"/>
          </a:p>
        </p:txBody>
      </p:sp>
      <p:sp>
        <p:nvSpPr>
          <p:cNvPr id="8" name="Text 6"/>
          <p:cNvSpPr/>
          <p:nvPr/>
        </p:nvSpPr>
        <p:spPr>
          <a:xfrm>
            <a:off x="9872067" y="4087773"/>
            <a:ext cx="3978116"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Provides focus and comfort.</a:t>
            </a:r>
            <a:endParaRPr lang="en-US" sz="1750" dirty="0"/>
          </a:p>
        </p:txBody>
      </p:sp>
      <p:sp>
        <p:nvSpPr>
          <p:cNvPr id="9" name="Text 7"/>
          <p:cNvSpPr/>
          <p:nvPr/>
        </p:nvSpPr>
        <p:spPr>
          <a:xfrm>
            <a:off x="793790" y="5272802"/>
            <a:ext cx="13042821"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This gaming chair is specially designed for the serious gamers, streamers and esports professionals to provide the both performance and comfort as per the demand of gamers.</a:t>
            </a:r>
            <a:endParaRPr lang="en-US" sz="1750" dirty="0"/>
          </a:p>
        </p:txBody>
      </p:sp>
      <p:pic>
        <p:nvPicPr>
          <p:cNvPr id="10" name="Picture 9">
            <a:extLst>
              <a:ext uri="{FF2B5EF4-FFF2-40B4-BE49-F238E27FC236}">
                <a16:creationId xmlns:a16="http://schemas.microsoft.com/office/drawing/2014/main" id="{F5F0D205-9CA1-2AA0-DB4C-46770FF2F1AF}"/>
              </a:ext>
            </a:extLst>
          </p:cNvPr>
          <p:cNvPicPr>
            <a:picLocks noChangeAspect="1"/>
          </p:cNvPicPr>
          <p:nvPr/>
        </p:nvPicPr>
        <p:blipFill>
          <a:blip r:embed="rId3"/>
          <a:stretch>
            <a:fillRect/>
          </a:stretch>
        </p:blipFill>
        <p:spPr>
          <a:xfrm>
            <a:off x="12182133" y="7781863"/>
            <a:ext cx="2448267" cy="44773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877014"/>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Marketing Strategy</a:t>
            </a:r>
            <a:endParaRPr lang="en-US" sz="4450" dirty="0"/>
          </a:p>
        </p:txBody>
      </p:sp>
      <p:pic>
        <p:nvPicPr>
          <p:cNvPr id="4" name="Image 1" descr="preencoded.png"/>
          <p:cNvPicPr>
            <a:picLocks noChangeAspect="1"/>
          </p:cNvPicPr>
          <p:nvPr/>
        </p:nvPicPr>
        <p:blipFill>
          <a:blip r:embed="rId4"/>
          <a:stretch>
            <a:fillRect/>
          </a:stretch>
        </p:blipFill>
        <p:spPr>
          <a:xfrm>
            <a:off x="793790" y="1925955"/>
            <a:ext cx="1134070" cy="1360884"/>
          </a:xfrm>
          <a:prstGeom prst="rect">
            <a:avLst/>
          </a:prstGeom>
        </p:spPr>
      </p:pic>
      <p:sp>
        <p:nvSpPr>
          <p:cNvPr id="5" name="Text 1"/>
          <p:cNvSpPr/>
          <p:nvPr/>
        </p:nvSpPr>
        <p:spPr>
          <a:xfrm>
            <a:off x="2268022" y="2152769"/>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Interactive Booths</a:t>
            </a:r>
            <a:endParaRPr lang="en-US" sz="2200" dirty="0"/>
          </a:p>
        </p:txBody>
      </p:sp>
      <p:sp>
        <p:nvSpPr>
          <p:cNvPr id="6" name="Text 2"/>
          <p:cNvSpPr/>
          <p:nvPr/>
        </p:nvSpPr>
        <p:spPr>
          <a:xfrm>
            <a:off x="2268022" y="2643188"/>
            <a:ext cx="6082189"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Esports tournaments and tech expos.</a:t>
            </a:r>
            <a:endParaRPr lang="en-US" sz="1750" dirty="0"/>
          </a:p>
        </p:txBody>
      </p:sp>
      <p:pic>
        <p:nvPicPr>
          <p:cNvPr id="7" name="Image 2" descr="preencoded.png"/>
          <p:cNvPicPr>
            <a:picLocks noChangeAspect="1"/>
          </p:cNvPicPr>
          <p:nvPr/>
        </p:nvPicPr>
        <p:blipFill>
          <a:blip r:embed="rId5"/>
          <a:stretch>
            <a:fillRect/>
          </a:stretch>
        </p:blipFill>
        <p:spPr>
          <a:xfrm>
            <a:off x="793790" y="3286839"/>
            <a:ext cx="1134070" cy="1360884"/>
          </a:xfrm>
          <a:prstGeom prst="rect">
            <a:avLst/>
          </a:prstGeom>
        </p:spPr>
      </p:pic>
      <p:sp>
        <p:nvSpPr>
          <p:cNvPr id="8" name="Text 3"/>
          <p:cNvSpPr/>
          <p:nvPr/>
        </p:nvSpPr>
        <p:spPr>
          <a:xfrm>
            <a:off x="2268022" y="3513653"/>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Collaboration</a:t>
            </a:r>
            <a:endParaRPr lang="en-US" sz="2200" dirty="0"/>
          </a:p>
        </p:txBody>
      </p:sp>
      <p:sp>
        <p:nvSpPr>
          <p:cNvPr id="9" name="Text 4"/>
          <p:cNvSpPr/>
          <p:nvPr/>
        </p:nvSpPr>
        <p:spPr>
          <a:xfrm>
            <a:off x="2268022" y="4004072"/>
            <a:ext cx="6082189"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Gamers, streamers, and tech reviewers.</a:t>
            </a:r>
            <a:endParaRPr lang="en-US" sz="1750" dirty="0"/>
          </a:p>
        </p:txBody>
      </p:sp>
      <p:pic>
        <p:nvPicPr>
          <p:cNvPr id="10" name="Image 3" descr="preencoded.png"/>
          <p:cNvPicPr>
            <a:picLocks noChangeAspect="1"/>
          </p:cNvPicPr>
          <p:nvPr/>
        </p:nvPicPr>
        <p:blipFill>
          <a:blip r:embed="rId6"/>
          <a:stretch>
            <a:fillRect/>
          </a:stretch>
        </p:blipFill>
        <p:spPr>
          <a:xfrm>
            <a:off x="793790" y="4647724"/>
            <a:ext cx="1134070" cy="1360884"/>
          </a:xfrm>
          <a:prstGeom prst="rect">
            <a:avLst/>
          </a:prstGeom>
        </p:spPr>
      </p:pic>
      <p:sp>
        <p:nvSpPr>
          <p:cNvPr id="11" name="Text 5"/>
          <p:cNvSpPr/>
          <p:nvPr/>
        </p:nvSpPr>
        <p:spPr>
          <a:xfrm>
            <a:off x="2268022" y="4874538"/>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Social Media</a:t>
            </a:r>
            <a:endParaRPr lang="en-US" sz="2200" dirty="0"/>
          </a:p>
        </p:txBody>
      </p:sp>
      <p:sp>
        <p:nvSpPr>
          <p:cNvPr id="12" name="Text 6"/>
          <p:cNvSpPr/>
          <p:nvPr/>
        </p:nvSpPr>
        <p:spPr>
          <a:xfrm>
            <a:off x="2268022" y="5364956"/>
            <a:ext cx="6082189"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TikTok, Instagram, YouTube, and Facebook ads.</a:t>
            </a:r>
            <a:endParaRPr lang="en-US" sz="1750" dirty="0"/>
          </a:p>
        </p:txBody>
      </p:sp>
      <p:sp>
        <p:nvSpPr>
          <p:cNvPr id="13" name="Text 7"/>
          <p:cNvSpPr/>
          <p:nvPr/>
        </p:nvSpPr>
        <p:spPr>
          <a:xfrm>
            <a:off x="793790" y="6263759"/>
            <a:ext cx="7556421" cy="1088708"/>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For the marketing strategy we hosted interactive booths at the at the esports tournaments and tech expos so that our chair gets more validation from our target audience i.e. hardcore gamers.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85098" y="616863"/>
            <a:ext cx="6090166" cy="700921"/>
          </a:xfrm>
          <a:prstGeom prst="rect">
            <a:avLst/>
          </a:prstGeom>
          <a:noFill/>
          <a:ln/>
        </p:spPr>
        <p:txBody>
          <a:bodyPr wrap="none" lIns="0" tIns="0" rIns="0" bIns="0" rtlCol="0" anchor="t"/>
          <a:lstStyle/>
          <a:p>
            <a:pPr marL="0" indent="0" algn="l">
              <a:lnSpc>
                <a:spcPts val="5500"/>
              </a:lnSpc>
              <a:buNone/>
            </a:pPr>
            <a:r>
              <a:rPr lang="en-US" sz="4400" kern="0" spc="-132" dirty="0">
                <a:solidFill>
                  <a:srgbClr val="2C3F42"/>
                </a:solidFill>
                <a:latin typeface="Bitter Medium" pitchFamily="34" charset="0"/>
                <a:ea typeface="Bitter Medium" pitchFamily="34" charset="-122"/>
                <a:cs typeface="Bitter Medium" pitchFamily="34" charset="-120"/>
              </a:rPr>
              <a:t>Pricing and Partnerships</a:t>
            </a:r>
            <a:endParaRPr lang="en-US" sz="4400" dirty="0"/>
          </a:p>
        </p:txBody>
      </p:sp>
      <p:sp>
        <p:nvSpPr>
          <p:cNvPr id="3" name="Text 1"/>
          <p:cNvSpPr/>
          <p:nvPr/>
        </p:nvSpPr>
        <p:spPr>
          <a:xfrm>
            <a:off x="1776889" y="3629978"/>
            <a:ext cx="2804160" cy="350401"/>
          </a:xfrm>
          <a:prstGeom prst="rect">
            <a:avLst/>
          </a:prstGeom>
          <a:noFill/>
          <a:ln/>
        </p:spPr>
        <p:txBody>
          <a:bodyPr wrap="none" lIns="0" tIns="0" rIns="0" bIns="0" rtlCol="0" anchor="t"/>
          <a:lstStyle/>
          <a:p>
            <a:pPr marL="0" indent="0" algn="r">
              <a:lnSpc>
                <a:spcPts val="2750"/>
              </a:lnSpc>
              <a:buNone/>
            </a:pPr>
            <a:r>
              <a:rPr lang="en-US" sz="2200" kern="0" spc="-66" dirty="0">
                <a:solidFill>
                  <a:srgbClr val="2B2E3C"/>
                </a:solidFill>
                <a:latin typeface="Bitter Medium" pitchFamily="34" charset="0"/>
                <a:ea typeface="Bitter Medium" pitchFamily="34" charset="-122"/>
                <a:cs typeface="Bitter Medium" pitchFamily="34" charset="-120"/>
              </a:rPr>
              <a:t>Budget Friendly</a:t>
            </a:r>
            <a:endParaRPr lang="en-US" sz="2200" dirty="0"/>
          </a:p>
        </p:txBody>
      </p:sp>
      <p:sp>
        <p:nvSpPr>
          <p:cNvPr id="4" name="Text 2"/>
          <p:cNvSpPr/>
          <p:nvPr/>
        </p:nvSpPr>
        <p:spPr>
          <a:xfrm>
            <a:off x="785098" y="4114919"/>
            <a:ext cx="3795951" cy="358854"/>
          </a:xfrm>
          <a:prstGeom prst="rect">
            <a:avLst/>
          </a:prstGeom>
          <a:noFill/>
          <a:ln/>
        </p:spPr>
        <p:txBody>
          <a:bodyPr wrap="none" lIns="0" tIns="0" rIns="0" bIns="0" rtlCol="0" anchor="t"/>
          <a:lstStyle/>
          <a:p>
            <a:pPr marL="0" indent="0" algn="r">
              <a:lnSpc>
                <a:spcPts val="2800"/>
              </a:lnSpc>
              <a:buNone/>
            </a:pPr>
            <a:r>
              <a:rPr lang="en-US" sz="1750" kern="0" spc="-35" dirty="0">
                <a:solidFill>
                  <a:srgbClr val="2B2E3C"/>
                </a:solidFill>
                <a:latin typeface="Open Sans" pitchFamily="34" charset="0"/>
                <a:ea typeface="Open Sans" pitchFamily="34" charset="-122"/>
                <a:cs typeface="Open Sans" pitchFamily="34" charset="-120"/>
              </a:rPr>
              <a:t>Premium quality at a low cost.</a:t>
            </a:r>
            <a:endParaRPr lang="en-US" sz="1750" dirty="0"/>
          </a:p>
        </p:txBody>
      </p:sp>
      <p:pic>
        <p:nvPicPr>
          <p:cNvPr id="5" name="Image 0" descr="preencoded.png"/>
          <p:cNvPicPr>
            <a:picLocks noChangeAspect="1"/>
          </p:cNvPicPr>
          <p:nvPr/>
        </p:nvPicPr>
        <p:blipFill>
          <a:blip r:embed="rId3"/>
          <a:stretch>
            <a:fillRect/>
          </a:stretch>
        </p:blipFill>
        <p:spPr>
          <a:xfrm>
            <a:off x="5029676" y="1766411"/>
            <a:ext cx="4571048" cy="4571048"/>
          </a:xfrm>
          <a:prstGeom prst="rect">
            <a:avLst/>
          </a:prstGeom>
        </p:spPr>
      </p:pic>
      <p:sp>
        <p:nvSpPr>
          <p:cNvPr id="6" name="Text 3"/>
          <p:cNvSpPr/>
          <p:nvPr/>
        </p:nvSpPr>
        <p:spPr>
          <a:xfrm>
            <a:off x="5547360" y="3842147"/>
            <a:ext cx="335637" cy="419576"/>
          </a:xfrm>
          <a:prstGeom prst="rect">
            <a:avLst/>
          </a:prstGeom>
          <a:noFill/>
          <a:ln/>
        </p:spPr>
        <p:txBody>
          <a:bodyPr wrap="none" lIns="0" tIns="0" rIns="0" bIns="0" rtlCol="0" anchor="t"/>
          <a:lstStyle/>
          <a:p>
            <a:pPr marL="0" indent="0" algn="l">
              <a:lnSpc>
                <a:spcPts val="4200"/>
              </a:lnSpc>
              <a:buNone/>
            </a:pPr>
            <a:r>
              <a:rPr lang="en-US" sz="2600" kern="0" spc="-53" dirty="0">
                <a:solidFill>
                  <a:srgbClr val="2B2E3C"/>
                </a:solidFill>
                <a:latin typeface="Bitter Medium" pitchFamily="34" charset="0"/>
                <a:ea typeface="Bitter Medium" pitchFamily="34" charset="-122"/>
                <a:cs typeface="Bitter Medium" pitchFamily="34" charset="-120"/>
              </a:rPr>
              <a:t>1</a:t>
            </a:r>
            <a:endParaRPr lang="en-US" sz="2600" dirty="0"/>
          </a:p>
        </p:txBody>
      </p:sp>
      <p:sp>
        <p:nvSpPr>
          <p:cNvPr id="7" name="Text 4"/>
          <p:cNvSpPr/>
          <p:nvPr/>
        </p:nvSpPr>
        <p:spPr>
          <a:xfrm>
            <a:off x="9937194" y="2403158"/>
            <a:ext cx="2804160" cy="350401"/>
          </a:xfrm>
          <a:prstGeom prst="rect">
            <a:avLst/>
          </a:prstGeom>
          <a:noFill/>
          <a:ln/>
        </p:spPr>
        <p:txBody>
          <a:bodyPr wrap="none" lIns="0" tIns="0" rIns="0" bIns="0" rtlCol="0" anchor="t"/>
          <a:lstStyle/>
          <a:p>
            <a:pPr marL="0" indent="0" algn="l">
              <a:lnSpc>
                <a:spcPts val="2750"/>
              </a:lnSpc>
              <a:buNone/>
            </a:pPr>
            <a:r>
              <a:rPr lang="en-US" sz="2200" kern="0" spc="-66" dirty="0">
                <a:solidFill>
                  <a:srgbClr val="2B2E3C"/>
                </a:solidFill>
                <a:latin typeface="Bitter Medium" pitchFamily="34" charset="0"/>
                <a:ea typeface="Bitter Medium" pitchFamily="34" charset="-122"/>
                <a:cs typeface="Bitter Medium" pitchFamily="34" charset="-120"/>
              </a:rPr>
              <a:t>Retailers</a:t>
            </a:r>
            <a:endParaRPr lang="en-US" sz="2200" dirty="0"/>
          </a:p>
        </p:txBody>
      </p:sp>
      <p:sp>
        <p:nvSpPr>
          <p:cNvPr id="8" name="Text 5"/>
          <p:cNvSpPr/>
          <p:nvPr/>
        </p:nvSpPr>
        <p:spPr>
          <a:xfrm>
            <a:off x="9937194" y="2888099"/>
            <a:ext cx="3908107" cy="358854"/>
          </a:xfrm>
          <a:prstGeom prst="rect">
            <a:avLst/>
          </a:prstGeom>
          <a:noFill/>
          <a:ln/>
        </p:spPr>
        <p:txBody>
          <a:bodyPr wrap="none" lIns="0" tIns="0" rIns="0" bIns="0" rtlCol="0" anchor="t"/>
          <a:lstStyle/>
          <a:p>
            <a:pPr marL="0" indent="0" algn="l">
              <a:lnSpc>
                <a:spcPts val="2800"/>
              </a:lnSpc>
              <a:buNone/>
            </a:pPr>
            <a:r>
              <a:rPr lang="en-US" sz="1750" kern="0" spc="-35" dirty="0">
                <a:solidFill>
                  <a:srgbClr val="2B2E3C"/>
                </a:solidFill>
                <a:latin typeface="Open Sans" pitchFamily="34" charset="0"/>
                <a:ea typeface="Open Sans" pitchFamily="34" charset="-122"/>
                <a:cs typeface="Open Sans" pitchFamily="34" charset="-120"/>
              </a:rPr>
              <a:t>Gaming accessory retailers' connection.</a:t>
            </a:r>
            <a:endParaRPr lang="en-US" sz="1750" dirty="0"/>
          </a:p>
        </p:txBody>
      </p:sp>
      <p:pic>
        <p:nvPicPr>
          <p:cNvPr id="9" name="Image 1" descr="preencoded.png"/>
          <p:cNvPicPr>
            <a:picLocks noChangeAspect="1"/>
          </p:cNvPicPr>
          <p:nvPr/>
        </p:nvPicPr>
        <p:blipFill>
          <a:blip r:embed="rId4"/>
          <a:stretch>
            <a:fillRect/>
          </a:stretch>
        </p:blipFill>
        <p:spPr>
          <a:xfrm>
            <a:off x="5029676" y="1766411"/>
            <a:ext cx="4571048" cy="4571048"/>
          </a:xfrm>
          <a:prstGeom prst="rect">
            <a:avLst/>
          </a:prstGeom>
        </p:spPr>
      </p:pic>
      <p:sp>
        <p:nvSpPr>
          <p:cNvPr id="10" name="Text 6"/>
          <p:cNvSpPr/>
          <p:nvPr/>
        </p:nvSpPr>
        <p:spPr>
          <a:xfrm>
            <a:off x="7947184" y="2456617"/>
            <a:ext cx="335637" cy="419576"/>
          </a:xfrm>
          <a:prstGeom prst="rect">
            <a:avLst/>
          </a:prstGeom>
          <a:noFill/>
          <a:ln/>
        </p:spPr>
        <p:txBody>
          <a:bodyPr wrap="none" lIns="0" tIns="0" rIns="0" bIns="0" rtlCol="0" anchor="t"/>
          <a:lstStyle/>
          <a:p>
            <a:pPr marL="0" indent="0" algn="l">
              <a:lnSpc>
                <a:spcPts val="4200"/>
              </a:lnSpc>
              <a:buNone/>
            </a:pPr>
            <a:r>
              <a:rPr lang="en-US" sz="2600" kern="0" spc="-53" dirty="0">
                <a:solidFill>
                  <a:srgbClr val="2B2E3C"/>
                </a:solidFill>
                <a:latin typeface="Bitter Medium" pitchFamily="34" charset="0"/>
                <a:ea typeface="Bitter Medium" pitchFamily="34" charset="-122"/>
                <a:cs typeface="Bitter Medium" pitchFamily="34" charset="-120"/>
              </a:rPr>
              <a:t>2</a:t>
            </a:r>
            <a:endParaRPr lang="en-US" sz="2600" dirty="0"/>
          </a:p>
        </p:txBody>
      </p:sp>
      <p:sp>
        <p:nvSpPr>
          <p:cNvPr id="11" name="Text 7"/>
          <p:cNvSpPr/>
          <p:nvPr/>
        </p:nvSpPr>
        <p:spPr>
          <a:xfrm>
            <a:off x="9937194" y="4856917"/>
            <a:ext cx="2804160" cy="350401"/>
          </a:xfrm>
          <a:prstGeom prst="rect">
            <a:avLst/>
          </a:prstGeom>
          <a:noFill/>
          <a:ln/>
        </p:spPr>
        <p:txBody>
          <a:bodyPr wrap="none" lIns="0" tIns="0" rIns="0" bIns="0" rtlCol="0" anchor="t"/>
          <a:lstStyle/>
          <a:p>
            <a:pPr marL="0" indent="0" algn="l">
              <a:lnSpc>
                <a:spcPts val="2750"/>
              </a:lnSpc>
              <a:buNone/>
            </a:pPr>
            <a:r>
              <a:rPr lang="en-US" sz="2200" kern="0" spc="-66" dirty="0">
                <a:solidFill>
                  <a:srgbClr val="2B2E3C"/>
                </a:solidFill>
                <a:latin typeface="Bitter Medium" pitchFamily="34" charset="0"/>
                <a:ea typeface="Bitter Medium" pitchFamily="34" charset="-122"/>
                <a:cs typeface="Bitter Medium" pitchFamily="34" charset="-120"/>
              </a:rPr>
              <a:t>E-commerce</a:t>
            </a:r>
            <a:endParaRPr lang="en-US" sz="2200" dirty="0"/>
          </a:p>
        </p:txBody>
      </p:sp>
      <p:sp>
        <p:nvSpPr>
          <p:cNvPr id="12" name="Text 8"/>
          <p:cNvSpPr/>
          <p:nvPr/>
        </p:nvSpPr>
        <p:spPr>
          <a:xfrm>
            <a:off x="9937194" y="5341858"/>
            <a:ext cx="3908107" cy="754500"/>
          </a:xfrm>
          <a:prstGeom prst="rect">
            <a:avLst/>
          </a:prstGeom>
          <a:noFill/>
          <a:ln/>
        </p:spPr>
        <p:txBody>
          <a:bodyPr wrap="none" lIns="0" tIns="0" rIns="0" bIns="0" rtlCol="0" anchor="t"/>
          <a:lstStyle/>
          <a:p>
            <a:pPr marL="0" indent="0" algn="l">
              <a:lnSpc>
                <a:spcPts val="2800"/>
              </a:lnSpc>
              <a:buNone/>
            </a:pPr>
            <a:r>
              <a:rPr lang="en-US" sz="1750" kern="0" spc="-35" dirty="0">
                <a:solidFill>
                  <a:srgbClr val="2B2E3C"/>
                </a:solidFill>
                <a:latin typeface="Open Sans" pitchFamily="34" charset="0"/>
                <a:ea typeface="Open Sans" pitchFamily="34" charset="-122"/>
                <a:cs typeface="Open Sans" pitchFamily="34" charset="-120"/>
              </a:rPr>
              <a:t>Listing on Amazon &amp; Flipkart like</a:t>
            </a:r>
          </a:p>
          <a:p>
            <a:pPr marL="0" indent="0" algn="l">
              <a:lnSpc>
                <a:spcPts val="2800"/>
              </a:lnSpc>
              <a:buNone/>
            </a:pPr>
            <a:r>
              <a:rPr lang="en-US" sz="1750" kern="0" spc="-35" dirty="0">
                <a:solidFill>
                  <a:srgbClr val="2B2E3C"/>
                </a:solidFill>
                <a:latin typeface="Open Sans" pitchFamily="34" charset="0"/>
                <a:ea typeface="Open Sans" pitchFamily="34" charset="-122"/>
                <a:cs typeface="Open Sans" pitchFamily="34" charset="-120"/>
              </a:rPr>
              <a:t> E-commerce website.</a:t>
            </a:r>
            <a:endParaRPr lang="en-US" sz="1750" dirty="0"/>
          </a:p>
        </p:txBody>
      </p:sp>
      <p:pic>
        <p:nvPicPr>
          <p:cNvPr id="13" name="Image 2" descr="preencoded.png"/>
          <p:cNvPicPr>
            <a:picLocks noChangeAspect="1"/>
          </p:cNvPicPr>
          <p:nvPr/>
        </p:nvPicPr>
        <p:blipFill>
          <a:blip r:embed="rId5"/>
          <a:stretch>
            <a:fillRect/>
          </a:stretch>
        </p:blipFill>
        <p:spPr>
          <a:xfrm>
            <a:off x="5029676" y="1766411"/>
            <a:ext cx="4571048" cy="4571048"/>
          </a:xfrm>
          <a:prstGeom prst="rect">
            <a:avLst/>
          </a:prstGeom>
        </p:spPr>
      </p:pic>
      <p:sp>
        <p:nvSpPr>
          <p:cNvPr id="14" name="Text 9"/>
          <p:cNvSpPr/>
          <p:nvPr/>
        </p:nvSpPr>
        <p:spPr>
          <a:xfrm>
            <a:off x="7947184" y="5227558"/>
            <a:ext cx="335637" cy="419576"/>
          </a:xfrm>
          <a:prstGeom prst="rect">
            <a:avLst/>
          </a:prstGeom>
          <a:noFill/>
          <a:ln/>
        </p:spPr>
        <p:txBody>
          <a:bodyPr wrap="none" lIns="0" tIns="0" rIns="0" bIns="0" rtlCol="0" anchor="t"/>
          <a:lstStyle/>
          <a:p>
            <a:pPr marL="0" indent="0" algn="l">
              <a:lnSpc>
                <a:spcPts val="4200"/>
              </a:lnSpc>
              <a:buNone/>
            </a:pPr>
            <a:r>
              <a:rPr lang="en-US" sz="2600" kern="0" spc="-53" dirty="0">
                <a:solidFill>
                  <a:srgbClr val="2B2E3C"/>
                </a:solidFill>
                <a:latin typeface="Bitter Medium" pitchFamily="34" charset="0"/>
                <a:ea typeface="Bitter Medium" pitchFamily="34" charset="-122"/>
                <a:cs typeface="Bitter Medium" pitchFamily="34" charset="-120"/>
              </a:rPr>
              <a:t>3</a:t>
            </a:r>
            <a:endParaRPr lang="en-US" sz="2600" dirty="0"/>
          </a:p>
        </p:txBody>
      </p:sp>
      <p:sp>
        <p:nvSpPr>
          <p:cNvPr id="15" name="Text 10"/>
          <p:cNvSpPr/>
          <p:nvPr/>
        </p:nvSpPr>
        <p:spPr>
          <a:xfrm>
            <a:off x="785098" y="6589752"/>
            <a:ext cx="13060204" cy="1076563"/>
          </a:xfrm>
          <a:prstGeom prst="rect">
            <a:avLst/>
          </a:prstGeom>
          <a:noFill/>
          <a:ln/>
        </p:spPr>
        <p:txBody>
          <a:bodyPr wrap="square" lIns="0" tIns="0" rIns="0" bIns="0" rtlCol="0" anchor="t"/>
          <a:lstStyle/>
          <a:p>
            <a:pPr marL="0" indent="0" algn="l">
              <a:lnSpc>
                <a:spcPts val="2800"/>
              </a:lnSpc>
              <a:buNone/>
            </a:pPr>
            <a:r>
              <a:rPr lang="en-US" sz="1750" kern="0" spc="-35" dirty="0">
                <a:solidFill>
                  <a:srgbClr val="2B2E3C"/>
                </a:solidFill>
                <a:latin typeface="Open Sans" pitchFamily="34" charset="0"/>
                <a:ea typeface="Open Sans" pitchFamily="34" charset="-122"/>
                <a:cs typeface="Open Sans" pitchFamily="34" charset="-120"/>
              </a:rPr>
              <a:t>We kept our chair budget friendly so that we grab the majority of the market by providing the premium quality product in the low cost. We secure partnership with the gaming accessory retailers and list on leading e-commerce platforms like Amazon &amp; Flipkart to have the marketing advantage for a whole new product in the market.</a:t>
            </a:r>
            <a:endParaRPr lang="en-US" sz="1750" dirty="0"/>
          </a:p>
        </p:txBody>
      </p:sp>
      <p:pic>
        <p:nvPicPr>
          <p:cNvPr id="16" name="Picture 15">
            <a:extLst>
              <a:ext uri="{FF2B5EF4-FFF2-40B4-BE49-F238E27FC236}">
                <a16:creationId xmlns:a16="http://schemas.microsoft.com/office/drawing/2014/main" id="{03243598-A176-2A60-13A1-7ED54D4BC64B}"/>
              </a:ext>
            </a:extLst>
          </p:cNvPr>
          <p:cNvPicPr>
            <a:picLocks noChangeAspect="1"/>
          </p:cNvPicPr>
          <p:nvPr/>
        </p:nvPicPr>
        <p:blipFill>
          <a:blip r:embed="rId6"/>
          <a:stretch>
            <a:fillRect/>
          </a:stretch>
        </p:blipFill>
        <p:spPr>
          <a:xfrm>
            <a:off x="12182133" y="7781863"/>
            <a:ext cx="2448267" cy="4477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969288"/>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ea typeface="Bitter Medium" pitchFamily="34" charset="-122"/>
                <a:cs typeface="Bitter Medium" pitchFamily="34" charset="-120"/>
              </a:rPr>
              <a:t>Customer Support</a:t>
            </a:r>
            <a:endParaRPr lang="en-US" sz="4450" dirty="0"/>
          </a:p>
        </p:txBody>
      </p:sp>
      <p:sp>
        <p:nvSpPr>
          <p:cNvPr id="3" name="Shape 1"/>
          <p:cNvSpPr/>
          <p:nvPr/>
        </p:nvSpPr>
        <p:spPr>
          <a:xfrm>
            <a:off x="793790" y="2131695"/>
            <a:ext cx="2173724" cy="1306949"/>
          </a:xfrm>
          <a:prstGeom prst="roundRect">
            <a:avLst>
              <a:gd name="adj" fmla="val 7289"/>
            </a:avLst>
          </a:prstGeom>
          <a:solidFill>
            <a:srgbClr val="FCE2CF"/>
          </a:solidFill>
          <a:ln w="7620">
            <a:solidFill>
              <a:srgbClr val="E2C8B5"/>
            </a:solidFill>
            <a:prstDash val="solid"/>
          </a:ln>
        </p:spPr>
      </p:sp>
      <p:sp>
        <p:nvSpPr>
          <p:cNvPr id="4" name="Text 2"/>
          <p:cNvSpPr/>
          <p:nvPr/>
        </p:nvSpPr>
        <p:spPr>
          <a:xfrm>
            <a:off x="1721167" y="2585799"/>
            <a:ext cx="318968" cy="398621"/>
          </a:xfrm>
          <a:prstGeom prst="rect">
            <a:avLst/>
          </a:prstGeom>
          <a:noFill/>
          <a:ln/>
        </p:spPr>
        <p:txBody>
          <a:bodyPr wrap="none" lIns="0" tIns="0" rIns="0" bIns="0" rtlCol="0" anchor="t"/>
          <a:lstStyle/>
          <a:p>
            <a:pPr marL="0" indent="0" algn="ctr">
              <a:lnSpc>
                <a:spcPts val="4000"/>
              </a:lnSpc>
              <a:buNone/>
            </a:pPr>
            <a:r>
              <a:rPr lang="en-US" sz="2500" kern="0" spc="-67" dirty="0">
                <a:solidFill>
                  <a:srgbClr val="2B2E3C"/>
                </a:solidFill>
                <a:latin typeface="Bitter Medium" pitchFamily="34" charset="0"/>
                <a:ea typeface="Bitter Medium" pitchFamily="34" charset="-122"/>
                <a:cs typeface="Bitter Medium" pitchFamily="34" charset="-120"/>
              </a:rPr>
              <a:t>1</a:t>
            </a:r>
            <a:endParaRPr lang="en-US" sz="2500" dirty="0"/>
          </a:p>
        </p:txBody>
      </p:sp>
      <p:sp>
        <p:nvSpPr>
          <p:cNvPr id="5" name="Text 3"/>
          <p:cNvSpPr/>
          <p:nvPr/>
        </p:nvSpPr>
        <p:spPr>
          <a:xfrm>
            <a:off x="3194328" y="2358509"/>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Warranty</a:t>
            </a:r>
            <a:endParaRPr lang="en-US" sz="2200" dirty="0"/>
          </a:p>
        </p:txBody>
      </p:sp>
      <p:sp>
        <p:nvSpPr>
          <p:cNvPr id="6" name="Text 4"/>
          <p:cNvSpPr/>
          <p:nvPr/>
        </p:nvSpPr>
        <p:spPr>
          <a:xfrm>
            <a:off x="3194328" y="2848928"/>
            <a:ext cx="3674388"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Provided for hardware components.</a:t>
            </a:r>
            <a:endParaRPr lang="en-US" sz="1750" dirty="0"/>
          </a:p>
        </p:txBody>
      </p:sp>
      <p:sp>
        <p:nvSpPr>
          <p:cNvPr id="7" name="Shape 5"/>
          <p:cNvSpPr/>
          <p:nvPr/>
        </p:nvSpPr>
        <p:spPr>
          <a:xfrm>
            <a:off x="3080861" y="3423404"/>
            <a:ext cx="10642402" cy="15240"/>
          </a:xfrm>
          <a:prstGeom prst="roundRect">
            <a:avLst>
              <a:gd name="adj" fmla="val 625116"/>
            </a:avLst>
          </a:prstGeom>
          <a:solidFill>
            <a:srgbClr val="E2C8B5"/>
          </a:solidFill>
          <a:ln/>
        </p:spPr>
      </p:sp>
      <p:sp>
        <p:nvSpPr>
          <p:cNvPr id="8" name="Shape 6"/>
          <p:cNvSpPr/>
          <p:nvPr/>
        </p:nvSpPr>
        <p:spPr>
          <a:xfrm>
            <a:off x="793790" y="3551992"/>
            <a:ext cx="4347567" cy="1306949"/>
          </a:xfrm>
          <a:prstGeom prst="roundRect">
            <a:avLst>
              <a:gd name="adj" fmla="val 7289"/>
            </a:avLst>
          </a:prstGeom>
          <a:solidFill>
            <a:srgbClr val="FCE2CF"/>
          </a:solidFill>
          <a:ln w="7620">
            <a:solidFill>
              <a:srgbClr val="E2C8B5"/>
            </a:solidFill>
            <a:prstDash val="solid"/>
          </a:ln>
        </p:spPr>
      </p:sp>
      <p:sp>
        <p:nvSpPr>
          <p:cNvPr id="9" name="Text 7"/>
          <p:cNvSpPr/>
          <p:nvPr/>
        </p:nvSpPr>
        <p:spPr>
          <a:xfrm>
            <a:off x="2808089" y="4006096"/>
            <a:ext cx="318968" cy="398621"/>
          </a:xfrm>
          <a:prstGeom prst="rect">
            <a:avLst/>
          </a:prstGeom>
          <a:noFill/>
          <a:ln/>
        </p:spPr>
        <p:txBody>
          <a:bodyPr wrap="none" lIns="0" tIns="0" rIns="0" bIns="0" rtlCol="0" anchor="t"/>
          <a:lstStyle/>
          <a:p>
            <a:pPr marL="0" indent="0" algn="ctr">
              <a:lnSpc>
                <a:spcPts val="4000"/>
              </a:lnSpc>
              <a:buNone/>
            </a:pPr>
            <a:r>
              <a:rPr lang="en-US" sz="2500" kern="0" spc="-67" dirty="0">
                <a:solidFill>
                  <a:srgbClr val="2B2E3C"/>
                </a:solidFill>
                <a:latin typeface="Bitter Medium" pitchFamily="34" charset="0"/>
                <a:ea typeface="Bitter Medium" pitchFamily="34" charset="-122"/>
                <a:cs typeface="Bitter Medium" pitchFamily="34" charset="-120"/>
              </a:rPr>
              <a:t>2</a:t>
            </a:r>
            <a:endParaRPr lang="en-US" sz="2500" dirty="0"/>
          </a:p>
        </p:txBody>
      </p:sp>
      <p:sp>
        <p:nvSpPr>
          <p:cNvPr id="10" name="Text 8"/>
          <p:cNvSpPr/>
          <p:nvPr/>
        </p:nvSpPr>
        <p:spPr>
          <a:xfrm>
            <a:off x="5368171" y="3778806"/>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Repair Service</a:t>
            </a:r>
            <a:endParaRPr lang="en-US" sz="2200" dirty="0"/>
          </a:p>
        </p:txBody>
      </p:sp>
      <p:sp>
        <p:nvSpPr>
          <p:cNvPr id="11" name="Text 9"/>
          <p:cNvSpPr/>
          <p:nvPr/>
        </p:nvSpPr>
        <p:spPr>
          <a:xfrm>
            <a:off x="5368171" y="4269224"/>
            <a:ext cx="2949773"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Resolves hardware concerns.</a:t>
            </a:r>
            <a:endParaRPr lang="en-US" sz="1750" dirty="0"/>
          </a:p>
        </p:txBody>
      </p:sp>
      <p:sp>
        <p:nvSpPr>
          <p:cNvPr id="12" name="Shape 10"/>
          <p:cNvSpPr/>
          <p:nvPr/>
        </p:nvSpPr>
        <p:spPr>
          <a:xfrm>
            <a:off x="5254704" y="4843701"/>
            <a:ext cx="8468558" cy="15240"/>
          </a:xfrm>
          <a:prstGeom prst="roundRect">
            <a:avLst>
              <a:gd name="adj" fmla="val 625116"/>
            </a:avLst>
          </a:prstGeom>
          <a:solidFill>
            <a:srgbClr val="E2C8B5"/>
          </a:solidFill>
          <a:ln/>
        </p:spPr>
      </p:sp>
      <p:sp>
        <p:nvSpPr>
          <p:cNvPr id="13" name="Shape 11"/>
          <p:cNvSpPr/>
          <p:nvPr/>
        </p:nvSpPr>
        <p:spPr>
          <a:xfrm>
            <a:off x="793790" y="4972288"/>
            <a:ext cx="6521410" cy="1306949"/>
          </a:xfrm>
          <a:prstGeom prst="roundRect">
            <a:avLst>
              <a:gd name="adj" fmla="val 7289"/>
            </a:avLst>
          </a:prstGeom>
          <a:solidFill>
            <a:srgbClr val="FCE2CF"/>
          </a:solidFill>
          <a:ln w="7620">
            <a:solidFill>
              <a:srgbClr val="E2C8B5"/>
            </a:solidFill>
            <a:prstDash val="solid"/>
          </a:ln>
        </p:spPr>
      </p:sp>
      <p:sp>
        <p:nvSpPr>
          <p:cNvPr id="14" name="Text 12"/>
          <p:cNvSpPr/>
          <p:nvPr/>
        </p:nvSpPr>
        <p:spPr>
          <a:xfrm>
            <a:off x="3895011" y="5426393"/>
            <a:ext cx="318968" cy="398621"/>
          </a:xfrm>
          <a:prstGeom prst="rect">
            <a:avLst/>
          </a:prstGeom>
          <a:noFill/>
          <a:ln/>
        </p:spPr>
        <p:txBody>
          <a:bodyPr wrap="none" lIns="0" tIns="0" rIns="0" bIns="0" rtlCol="0" anchor="t"/>
          <a:lstStyle/>
          <a:p>
            <a:pPr marL="0" indent="0" algn="ctr">
              <a:lnSpc>
                <a:spcPts val="4000"/>
              </a:lnSpc>
              <a:buNone/>
            </a:pPr>
            <a:r>
              <a:rPr lang="en-US" sz="2500" kern="0" spc="-67" dirty="0">
                <a:solidFill>
                  <a:srgbClr val="2B2E3C"/>
                </a:solidFill>
                <a:latin typeface="Bitter Medium" pitchFamily="34" charset="0"/>
                <a:ea typeface="Bitter Medium" pitchFamily="34" charset="-122"/>
                <a:cs typeface="Bitter Medium" pitchFamily="34" charset="-120"/>
              </a:rPr>
              <a:t>3</a:t>
            </a:r>
            <a:endParaRPr lang="en-US" sz="2500" dirty="0"/>
          </a:p>
        </p:txBody>
      </p:sp>
      <p:sp>
        <p:nvSpPr>
          <p:cNvPr id="15" name="Text 13"/>
          <p:cNvSpPr/>
          <p:nvPr/>
        </p:nvSpPr>
        <p:spPr>
          <a:xfrm>
            <a:off x="7542014" y="5199102"/>
            <a:ext cx="2835235" cy="354330"/>
          </a:xfrm>
          <a:prstGeom prst="rect">
            <a:avLst/>
          </a:prstGeom>
          <a:noFill/>
          <a:ln/>
        </p:spPr>
        <p:txBody>
          <a:bodyPr wrap="none" lIns="0" tIns="0" rIns="0" bIns="0" rtlCol="0" anchor="t"/>
          <a:lstStyle/>
          <a:p>
            <a:pPr marL="0" indent="0" algn="l">
              <a:lnSpc>
                <a:spcPts val="2750"/>
              </a:lnSpc>
              <a:buNone/>
            </a:pPr>
            <a:r>
              <a:rPr lang="en-US" sz="2200" kern="0" spc="-67" dirty="0">
                <a:solidFill>
                  <a:srgbClr val="2B2E3C"/>
                </a:solidFill>
                <a:latin typeface="Bitter Medium" pitchFamily="34" charset="0"/>
                <a:ea typeface="Bitter Medium" pitchFamily="34" charset="-122"/>
                <a:cs typeface="Bitter Medium" pitchFamily="34" charset="-120"/>
              </a:rPr>
              <a:t>Replacement</a:t>
            </a:r>
            <a:endParaRPr lang="en-US" sz="2200" dirty="0"/>
          </a:p>
        </p:txBody>
      </p:sp>
      <p:sp>
        <p:nvSpPr>
          <p:cNvPr id="16" name="Text 14"/>
          <p:cNvSpPr/>
          <p:nvPr/>
        </p:nvSpPr>
        <p:spPr>
          <a:xfrm>
            <a:off x="7542014" y="5689521"/>
            <a:ext cx="2857738" cy="362903"/>
          </a:xfrm>
          <a:prstGeom prst="rect">
            <a:avLst/>
          </a:prstGeom>
          <a:noFill/>
          <a:ln/>
        </p:spPr>
        <p:txBody>
          <a:bodyPr wrap="non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Parts replacement available.</a:t>
            </a:r>
            <a:endParaRPr lang="en-US" sz="1750" dirty="0"/>
          </a:p>
        </p:txBody>
      </p:sp>
      <p:sp>
        <p:nvSpPr>
          <p:cNvPr id="17" name="Text 15"/>
          <p:cNvSpPr/>
          <p:nvPr/>
        </p:nvSpPr>
        <p:spPr>
          <a:xfrm>
            <a:off x="793790" y="6534388"/>
            <a:ext cx="13042821" cy="725805"/>
          </a:xfrm>
          <a:prstGeom prst="rect">
            <a:avLst/>
          </a:prstGeom>
          <a:noFill/>
          <a:ln/>
        </p:spPr>
        <p:txBody>
          <a:bodyPr wrap="square" lIns="0" tIns="0" rIns="0" bIns="0" rtlCol="0" anchor="t"/>
          <a:lstStyle/>
          <a:p>
            <a:pPr marL="0" indent="0" algn="l">
              <a:lnSpc>
                <a:spcPts val="2850"/>
              </a:lnSpc>
              <a:buNone/>
            </a:pPr>
            <a:r>
              <a:rPr lang="en-US" sz="1750" kern="0" spc="-36" dirty="0">
                <a:solidFill>
                  <a:srgbClr val="2B2E3C"/>
                </a:solidFill>
                <a:latin typeface="Open Sans" pitchFamily="34" charset="0"/>
                <a:ea typeface="Open Sans" pitchFamily="34" charset="-122"/>
                <a:cs typeface="Open Sans" pitchFamily="34" charset="-120"/>
              </a:rPr>
              <a:t>We also provided the warranty and repair service to resolve the concerns regarding the hardware components or the replacement of the parts.</a:t>
            </a:r>
            <a:endParaRPr lang="en-US" sz="1750" dirty="0"/>
          </a:p>
        </p:txBody>
      </p:sp>
      <p:pic>
        <p:nvPicPr>
          <p:cNvPr id="18" name="Picture 17">
            <a:extLst>
              <a:ext uri="{FF2B5EF4-FFF2-40B4-BE49-F238E27FC236}">
                <a16:creationId xmlns:a16="http://schemas.microsoft.com/office/drawing/2014/main" id="{D07356CB-A633-695B-DDA1-12511A42B150}"/>
              </a:ext>
            </a:extLst>
          </p:cNvPr>
          <p:cNvPicPr>
            <a:picLocks noChangeAspect="1"/>
          </p:cNvPicPr>
          <p:nvPr/>
        </p:nvPicPr>
        <p:blipFill>
          <a:blip r:embed="rId3"/>
          <a:stretch>
            <a:fillRect/>
          </a:stretch>
        </p:blipFill>
        <p:spPr>
          <a:xfrm>
            <a:off x="12182133" y="7781863"/>
            <a:ext cx="2448267" cy="4477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AD4E-658E-E89A-E0BF-554D02DFD6F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508780C-99EF-4FB0-B384-336D1E36A0A1}"/>
              </a:ext>
            </a:extLst>
          </p:cNvPr>
          <p:cNvSpPr/>
          <p:nvPr/>
        </p:nvSpPr>
        <p:spPr>
          <a:xfrm>
            <a:off x="793790" y="2230874"/>
            <a:ext cx="5670590" cy="708779"/>
          </a:xfrm>
          <a:prstGeom prst="rect">
            <a:avLst/>
          </a:prstGeom>
          <a:noFill/>
          <a:ln/>
        </p:spPr>
        <p:txBody>
          <a:bodyPr wrap="none" lIns="0" tIns="0" rIns="0" bIns="0" rtlCol="0" anchor="t"/>
          <a:lstStyle/>
          <a:p>
            <a:pPr marL="0" indent="0" algn="l">
              <a:lnSpc>
                <a:spcPts val="5550"/>
              </a:lnSpc>
              <a:buNone/>
            </a:pPr>
            <a:r>
              <a:rPr lang="en-US" sz="4450" kern="0" spc="-134" dirty="0">
                <a:solidFill>
                  <a:srgbClr val="2C3F42"/>
                </a:solidFill>
                <a:latin typeface="Bitter Medium" pitchFamily="34" charset="0"/>
              </a:rPr>
              <a:t>Conclusion</a:t>
            </a:r>
            <a:endParaRPr lang="en-US" sz="4450" dirty="0"/>
          </a:p>
        </p:txBody>
      </p:sp>
      <p:sp>
        <p:nvSpPr>
          <p:cNvPr id="9" name="Text 7">
            <a:extLst>
              <a:ext uri="{FF2B5EF4-FFF2-40B4-BE49-F238E27FC236}">
                <a16:creationId xmlns:a16="http://schemas.microsoft.com/office/drawing/2014/main" id="{16AAF82A-CFC3-3984-FC12-19438BC857D1}"/>
              </a:ext>
            </a:extLst>
          </p:cNvPr>
          <p:cNvSpPr/>
          <p:nvPr/>
        </p:nvSpPr>
        <p:spPr>
          <a:xfrm>
            <a:off x="793791" y="3752850"/>
            <a:ext cx="12426910" cy="1466849"/>
          </a:xfrm>
          <a:prstGeom prst="rect">
            <a:avLst/>
          </a:prstGeom>
          <a:noFill/>
          <a:ln/>
        </p:spPr>
        <p:txBody>
          <a:bodyPr wrap="square" lIns="0" tIns="0" rIns="0" bIns="0" rtlCol="0" anchor="t"/>
          <a:lstStyle/>
          <a:p>
            <a:pPr marL="0" indent="0" algn="l">
              <a:lnSpc>
                <a:spcPts val="2850"/>
              </a:lnSpc>
              <a:buNone/>
            </a:pPr>
            <a:r>
              <a:rPr lang="en-IN" sz="2000" dirty="0">
                <a:latin typeface="Times New Roman" panose="02020603050405020304" pitchFamily="18" charset="0"/>
                <a:ea typeface="MS Mincho" panose="02020609040205080304" pitchFamily="49" charset="-128"/>
              </a:rPr>
              <a:t>U</a:t>
            </a:r>
            <a:r>
              <a:rPr lang="en-IN" sz="2000" dirty="0">
                <a:effectLst/>
                <a:latin typeface="Times New Roman" panose="02020603050405020304" pitchFamily="18" charset="0"/>
                <a:ea typeface="MS Mincho" panose="02020609040205080304" pitchFamily="49" charset="-128"/>
              </a:rPr>
              <a:t>nique design and the advance heating/cooling system we </a:t>
            </a:r>
            <a:r>
              <a:rPr lang="en-IN" sz="2000" b="1" dirty="0">
                <a:effectLst/>
                <a:latin typeface="Times New Roman" panose="02020603050405020304" pitchFamily="18" charset="0"/>
                <a:ea typeface="MS Mincho" panose="02020609040205080304" pitchFamily="49" charset="-128"/>
              </a:rPr>
              <a:t>created the unique identity</a:t>
            </a:r>
            <a:r>
              <a:rPr lang="en-IN" sz="2000" dirty="0">
                <a:effectLst/>
                <a:latin typeface="Times New Roman" panose="02020603050405020304" pitchFamily="18" charset="0"/>
                <a:ea typeface="MS Mincho" panose="02020609040205080304" pitchFamily="49" charset="-128"/>
              </a:rPr>
              <a:t> in the gaming furniture sector which provide the whole new experience to the user.</a:t>
            </a:r>
            <a:endParaRPr lang="en-US" dirty="0"/>
          </a:p>
        </p:txBody>
      </p:sp>
      <p:pic>
        <p:nvPicPr>
          <p:cNvPr id="10" name="Picture 9">
            <a:extLst>
              <a:ext uri="{FF2B5EF4-FFF2-40B4-BE49-F238E27FC236}">
                <a16:creationId xmlns:a16="http://schemas.microsoft.com/office/drawing/2014/main" id="{BA664543-A685-A335-F748-649605947493}"/>
              </a:ext>
            </a:extLst>
          </p:cNvPr>
          <p:cNvPicPr>
            <a:picLocks noChangeAspect="1"/>
          </p:cNvPicPr>
          <p:nvPr/>
        </p:nvPicPr>
        <p:blipFill>
          <a:blip r:embed="rId3"/>
          <a:stretch>
            <a:fillRect/>
          </a:stretch>
        </p:blipFill>
        <p:spPr>
          <a:xfrm>
            <a:off x="12182133" y="7781863"/>
            <a:ext cx="2448267" cy="447737"/>
          </a:xfrm>
          <a:prstGeom prst="rect">
            <a:avLst/>
          </a:prstGeom>
        </p:spPr>
      </p:pic>
    </p:spTree>
    <p:extLst>
      <p:ext uri="{BB962C8B-B14F-4D97-AF65-F5344CB8AC3E}">
        <p14:creationId xmlns:p14="http://schemas.microsoft.com/office/powerpoint/2010/main" val="9956364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606</Words>
  <Application>Microsoft Office PowerPoint</Application>
  <PresentationFormat>Custom</PresentationFormat>
  <Paragraphs>83</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Open Sans</vt:lpstr>
      <vt:lpstr>Times New Roman</vt:lpstr>
      <vt:lpstr>Arial</vt:lpstr>
      <vt:lpstr>Bitter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Arya Surkar</cp:lastModifiedBy>
  <cp:revision>2</cp:revision>
  <dcterms:created xsi:type="dcterms:W3CDTF">2025-03-22T04:10:03Z</dcterms:created>
  <dcterms:modified xsi:type="dcterms:W3CDTF">2025-03-22T04:31:04Z</dcterms:modified>
</cp:coreProperties>
</file>