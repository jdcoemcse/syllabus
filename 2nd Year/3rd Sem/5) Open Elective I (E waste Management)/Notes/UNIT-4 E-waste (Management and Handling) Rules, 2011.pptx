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BFC2-D194-A1B9-34A3-0DBFFE648E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674021-A870-6C0A-EB15-B8328BD1ED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97AB6A-29AB-480A-4D36-49C09B2259B1}"/>
              </a:ext>
            </a:extLst>
          </p:cNvPr>
          <p:cNvSpPr>
            <a:spLocks noGrp="1"/>
          </p:cNvSpPr>
          <p:nvPr>
            <p:ph type="dt" sz="half" idx="10"/>
          </p:nvPr>
        </p:nvSpPr>
        <p:spPr/>
        <p:txBody>
          <a:bodyPr/>
          <a:lstStyle/>
          <a:p>
            <a:fld id="{1C3AFDB2-77A7-4F7B-A45E-BE932BC9424B}" type="datetimeFigureOut">
              <a:rPr lang="en-US" smtClean="0"/>
              <a:t>9/11/2024</a:t>
            </a:fld>
            <a:endParaRPr lang="en-US"/>
          </a:p>
        </p:txBody>
      </p:sp>
      <p:sp>
        <p:nvSpPr>
          <p:cNvPr id="5" name="Footer Placeholder 4">
            <a:extLst>
              <a:ext uri="{FF2B5EF4-FFF2-40B4-BE49-F238E27FC236}">
                <a16:creationId xmlns:a16="http://schemas.microsoft.com/office/drawing/2014/main" id="{C17D45C8-3322-87C5-1FB1-A4C83ED142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456CC5-22A9-A7CC-B855-BB28CA510077}"/>
              </a:ext>
            </a:extLst>
          </p:cNvPr>
          <p:cNvSpPr>
            <a:spLocks noGrp="1"/>
          </p:cNvSpPr>
          <p:nvPr>
            <p:ph type="sldNum" sz="quarter" idx="12"/>
          </p:nvPr>
        </p:nvSpPr>
        <p:spPr/>
        <p:txBody>
          <a:bodyPr/>
          <a:lstStyle/>
          <a:p>
            <a:fld id="{C1B4C3D6-301C-4B44-8844-F429B955BE60}" type="slidenum">
              <a:rPr lang="en-US" smtClean="0"/>
              <a:t>‹#›</a:t>
            </a:fld>
            <a:endParaRPr lang="en-US"/>
          </a:p>
        </p:txBody>
      </p:sp>
    </p:spTree>
    <p:extLst>
      <p:ext uri="{BB962C8B-B14F-4D97-AF65-F5344CB8AC3E}">
        <p14:creationId xmlns:p14="http://schemas.microsoft.com/office/powerpoint/2010/main" val="839109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67BC3-CF60-74AA-13AC-2DCD9E3C9E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753A5F-DC89-9BA2-4B22-EF70A8ADD7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4938AF-3133-5812-6E48-228E6F16FF6C}"/>
              </a:ext>
            </a:extLst>
          </p:cNvPr>
          <p:cNvSpPr>
            <a:spLocks noGrp="1"/>
          </p:cNvSpPr>
          <p:nvPr>
            <p:ph type="dt" sz="half" idx="10"/>
          </p:nvPr>
        </p:nvSpPr>
        <p:spPr/>
        <p:txBody>
          <a:bodyPr/>
          <a:lstStyle/>
          <a:p>
            <a:fld id="{1C3AFDB2-77A7-4F7B-A45E-BE932BC9424B}" type="datetimeFigureOut">
              <a:rPr lang="en-US" smtClean="0"/>
              <a:t>9/11/2024</a:t>
            </a:fld>
            <a:endParaRPr lang="en-US"/>
          </a:p>
        </p:txBody>
      </p:sp>
      <p:sp>
        <p:nvSpPr>
          <p:cNvPr id="5" name="Footer Placeholder 4">
            <a:extLst>
              <a:ext uri="{FF2B5EF4-FFF2-40B4-BE49-F238E27FC236}">
                <a16:creationId xmlns:a16="http://schemas.microsoft.com/office/drawing/2014/main" id="{33D1838D-2024-1C85-3F2C-2442AAD81A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2AF551-1B8E-BE4B-B097-352F1182B992}"/>
              </a:ext>
            </a:extLst>
          </p:cNvPr>
          <p:cNvSpPr>
            <a:spLocks noGrp="1"/>
          </p:cNvSpPr>
          <p:nvPr>
            <p:ph type="sldNum" sz="quarter" idx="12"/>
          </p:nvPr>
        </p:nvSpPr>
        <p:spPr/>
        <p:txBody>
          <a:bodyPr/>
          <a:lstStyle/>
          <a:p>
            <a:fld id="{C1B4C3D6-301C-4B44-8844-F429B955BE60}" type="slidenum">
              <a:rPr lang="en-US" smtClean="0"/>
              <a:t>‹#›</a:t>
            </a:fld>
            <a:endParaRPr lang="en-US"/>
          </a:p>
        </p:txBody>
      </p:sp>
    </p:spTree>
    <p:extLst>
      <p:ext uri="{BB962C8B-B14F-4D97-AF65-F5344CB8AC3E}">
        <p14:creationId xmlns:p14="http://schemas.microsoft.com/office/powerpoint/2010/main" val="2479245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0D2C7-A969-4044-A9A3-42EBCCFC50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AE15AA-B579-E019-5744-8D692CCBF4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D71BB8-7050-EE73-EA5D-64429863DA33}"/>
              </a:ext>
            </a:extLst>
          </p:cNvPr>
          <p:cNvSpPr>
            <a:spLocks noGrp="1"/>
          </p:cNvSpPr>
          <p:nvPr>
            <p:ph type="dt" sz="half" idx="10"/>
          </p:nvPr>
        </p:nvSpPr>
        <p:spPr/>
        <p:txBody>
          <a:bodyPr/>
          <a:lstStyle/>
          <a:p>
            <a:fld id="{1C3AFDB2-77A7-4F7B-A45E-BE932BC9424B}" type="datetimeFigureOut">
              <a:rPr lang="en-US" smtClean="0"/>
              <a:t>9/11/2024</a:t>
            </a:fld>
            <a:endParaRPr lang="en-US"/>
          </a:p>
        </p:txBody>
      </p:sp>
      <p:sp>
        <p:nvSpPr>
          <p:cNvPr id="5" name="Footer Placeholder 4">
            <a:extLst>
              <a:ext uri="{FF2B5EF4-FFF2-40B4-BE49-F238E27FC236}">
                <a16:creationId xmlns:a16="http://schemas.microsoft.com/office/drawing/2014/main" id="{F4DAD4DF-9E2B-5B53-E3ED-44F94BA8DA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64DB4-C9B5-388F-3DB1-9A3006031060}"/>
              </a:ext>
            </a:extLst>
          </p:cNvPr>
          <p:cNvSpPr>
            <a:spLocks noGrp="1"/>
          </p:cNvSpPr>
          <p:nvPr>
            <p:ph type="sldNum" sz="quarter" idx="12"/>
          </p:nvPr>
        </p:nvSpPr>
        <p:spPr/>
        <p:txBody>
          <a:bodyPr/>
          <a:lstStyle/>
          <a:p>
            <a:fld id="{C1B4C3D6-301C-4B44-8844-F429B955BE60}" type="slidenum">
              <a:rPr lang="en-US" smtClean="0"/>
              <a:t>‹#›</a:t>
            </a:fld>
            <a:endParaRPr lang="en-US"/>
          </a:p>
        </p:txBody>
      </p:sp>
    </p:spTree>
    <p:extLst>
      <p:ext uri="{BB962C8B-B14F-4D97-AF65-F5344CB8AC3E}">
        <p14:creationId xmlns:p14="http://schemas.microsoft.com/office/powerpoint/2010/main" val="3733991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DC7AC-5A67-6F29-3ED3-188EF4BEAC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E6B5FD-CD0F-FBDC-116A-87F712C233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37866B-C1A5-1707-6638-DD17C13DEC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9549E6-CE8B-5EBC-3487-095E6F044D95}"/>
              </a:ext>
            </a:extLst>
          </p:cNvPr>
          <p:cNvSpPr>
            <a:spLocks noGrp="1"/>
          </p:cNvSpPr>
          <p:nvPr>
            <p:ph type="dt" sz="half" idx="10"/>
          </p:nvPr>
        </p:nvSpPr>
        <p:spPr/>
        <p:txBody>
          <a:bodyPr/>
          <a:lstStyle/>
          <a:p>
            <a:fld id="{1C3AFDB2-77A7-4F7B-A45E-BE932BC9424B}" type="datetimeFigureOut">
              <a:rPr lang="en-US" smtClean="0"/>
              <a:t>9/11/2024</a:t>
            </a:fld>
            <a:endParaRPr lang="en-US"/>
          </a:p>
        </p:txBody>
      </p:sp>
      <p:sp>
        <p:nvSpPr>
          <p:cNvPr id="6" name="Footer Placeholder 5">
            <a:extLst>
              <a:ext uri="{FF2B5EF4-FFF2-40B4-BE49-F238E27FC236}">
                <a16:creationId xmlns:a16="http://schemas.microsoft.com/office/drawing/2014/main" id="{9A4CD6F1-1CC5-2948-DB7F-FDA2A2D31E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EFF0C7-15CC-EDCD-15FC-147CDFD35CDD}"/>
              </a:ext>
            </a:extLst>
          </p:cNvPr>
          <p:cNvSpPr>
            <a:spLocks noGrp="1"/>
          </p:cNvSpPr>
          <p:nvPr>
            <p:ph type="sldNum" sz="quarter" idx="12"/>
          </p:nvPr>
        </p:nvSpPr>
        <p:spPr/>
        <p:txBody>
          <a:bodyPr/>
          <a:lstStyle/>
          <a:p>
            <a:fld id="{C1B4C3D6-301C-4B44-8844-F429B955BE60}" type="slidenum">
              <a:rPr lang="en-US" smtClean="0"/>
              <a:t>‹#›</a:t>
            </a:fld>
            <a:endParaRPr lang="en-US"/>
          </a:p>
        </p:txBody>
      </p:sp>
    </p:spTree>
    <p:extLst>
      <p:ext uri="{BB962C8B-B14F-4D97-AF65-F5344CB8AC3E}">
        <p14:creationId xmlns:p14="http://schemas.microsoft.com/office/powerpoint/2010/main" val="4240484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D4816-4DD3-649A-4B9B-6519AC8120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4CFB3E-3A77-3537-A047-84A6F6ADB2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F58735-6C86-EF46-269C-C792922028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74E0BF-D891-56AC-AC1B-3E0046DD89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9CF10D-9959-7716-F631-0DF0B5573E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365513-AECB-0CEC-ADCB-6305B58B0CBD}"/>
              </a:ext>
            </a:extLst>
          </p:cNvPr>
          <p:cNvSpPr>
            <a:spLocks noGrp="1"/>
          </p:cNvSpPr>
          <p:nvPr>
            <p:ph type="dt" sz="half" idx="10"/>
          </p:nvPr>
        </p:nvSpPr>
        <p:spPr/>
        <p:txBody>
          <a:bodyPr/>
          <a:lstStyle/>
          <a:p>
            <a:fld id="{1C3AFDB2-77A7-4F7B-A45E-BE932BC9424B}" type="datetimeFigureOut">
              <a:rPr lang="en-US" smtClean="0"/>
              <a:t>9/11/2024</a:t>
            </a:fld>
            <a:endParaRPr lang="en-US"/>
          </a:p>
        </p:txBody>
      </p:sp>
      <p:sp>
        <p:nvSpPr>
          <p:cNvPr id="8" name="Footer Placeholder 7">
            <a:extLst>
              <a:ext uri="{FF2B5EF4-FFF2-40B4-BE49-F238E27FC236}">
                <a16:creationId xmlns:a16="http://schemas.microsoft.com/office/drawing/2014/main" id="{7B0E34F0-0CA3-E8FA-989E-9E9C42B4D2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CEE464-76FB-A396-5BFC-3858AA139EDC}"/>
              </a:ext>
            </a:extLst>
          </p:cNvPr>
          <p:cNvSpPr>
            <a:spLocks noGrp="1"/>
          </p:cNvSpPr>
          <p:nvPr>
            <p:ph type="sldNum" sz="quarter" idx="12"/>
          </p:nvPr>
        </p:nvSpPr>
        <p:spPr/>
        <p:txBody>
          <a:bodyPr/>
          <a:lstStyle/>
          <a:p>
            <a:fld id="{C1B4C3D6-301C-4B44-8844-F429B955BE60}" type="slidenum">
              <a:rPr lang="en-US" smtClean="0"/>
              <a:t>‹#›</a:t>
            </a:fld>
            <a:endParaRPr lang="en-US"/>
          </a:p>
        </p:txBody>
      </p:sp>
    </p:spTree>
    <p:extLst>
      <p:ext uri="{BB962C8B-B14F-4D97-AF65-F5344CB8AC3E}">
        <p14:creationId xmlns:p14="http://schemas.microsoft.com/office/powerpoint/2010/main" val="2764220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CAFBA-4B27-795F-081B-58D9DADA41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2191BB-930F-E0BF-8E43-79627098B34F}"/>
              </a:ext>
            </a:extLst>
          </p:cNvPr>
          <p:cNvSpPr>
            <a:spLocks noGrp="1"/>
          </p:cNvSpPr>
          <p:nvPr>
            <p:ph type="dt" sz="half" idx="10"/>
          </p:nvPr>
        </p:nvSpPr>
        <p:spPr/>
        <p:txBody>
          <a:bodyPr/>
          <a:lstStyle/>
          <a:p>
            <a:fld id="{1C3AFDB2-77A7-4F7B-A45E-BE932BC9424B}" type="datetimeFigureOut">
              <a:rPr lang="en-US" smtClean="0"/>
              <a:t>9/11/2024</a:t>
            </a:fld>
            <a:endParaRPr lang="en-US"/>
          </a:p>
        </p:txBody>
      </p:sp>
      <p:sp>
        <p:nvSpPr>
          <p:cNvPr id="4" name="Footer Placeholder 3">
            <a:extLst>
              <a:ext uri="{FF2B5EF4-FFF2-40B4-BE49-F238E27FC236}">
                <a16:creationId xmlns:a16="http://schemas.microsoft.com/office/drawing/2014/main" id="{C9B2FD86-6BF1-0028-E7B0-A88F87345D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27FE0F-9C17-4EE6-B6CF-A28184E58AA2}"/>
              </a:ext>
            </a:extLst>
          </p:cNvPr>
          <p:cNvSpPr>
            <a:spLocks noGrp="1"/>
          </p:cNvSpPr>
          <p:nvPr>
            <p:ph type="sldNum" sz="quarter" idx="12"/>
          </p:nvPr>
        </p:nvSpPr>
        <p:spPr/>
        <p:txBody>
          <a:bodyPr/>
          <a:lstStyle/>
          <a:p>
            <a:fld id="{C1B4C3D6-301C-4B44-8844-F429B955BE60}" type="slidenum">
              <a:rPr lang="en-US" smtClean="0"/>
              <a:t>‹#›</a:t>
            </a:fld>
            <a:endParaRPr lang="en-US"/>
          </a:p>
        </p:txBody>
      </p:sp>
    </p:spTree>
    <p:extLst>
      <p:ext uri="{BB962C8B-B14F-4D97-AF65-F5344CB8AC3E}">
        <p14:creationId xmlns:p14="http://schemas.microsoft.com/office/powerpoint/2010/main" val="1987582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50DD1A-45AD-026A-6C5B-4AAE9C3809AE}"/>
              </a:ext>
            </a:extLst>
          </p:cNvPr>
          <p:cNvSpPr>
            <a:spLocks noGrp="1"/>
          </p:cNvSpPr>
          <p:nvPr>
            <p:ph type="dt" sz="half" idx="10"/>
          </p:nvPr>
        </p:nvSpPr>
        <p:spPr/>
        <p:txBody>
          <a:bodyPr/>
          <a:lstStyle/>
          <a:p>
            <a:fld id="{1C3AFDB2-77A7-4F7B-A45E-BE932BC9424B}" type="datetimeFigureOut">
              <a:rPr lang="en-US" smtClean="0"/>
              <a:t>9/11/2024</a:t>
            </a:fld>
            <a:endParaRPr lang="en-US"/>
          </a:p>
        </p:txBody>
      </p:sp>
      <p:sp>
        <p:nvSpPr>
          <p:cNvPr id="3" name="Footer Placeholder 2">
            <a:extLst>
              <a:ext uri="{FF2B5EF4-FFF2-40B4-BE49-F238E27FC236}">
                <a16:creationId xmlns:a16="http://schemas.microsoft.com/office/drawing/2014/main" id="{A25ED8E2-6C74-4CF2-DFFF-5EECF12657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E58769-2208-114F-4C08-193E23801C99}"/>
              </a:ext>
            </a:extLst>
          </p:cNvPr>
          <p:cNvSpPr>
            <a:spLocks noGrp="1"/>
          </p:cNvSpPr>
          <p:nvPr>
            <p:ph type="sldNum" sz="quarter" idx="12"/>
          </p:nvPr>
        </p:nvSpPr>
        <p:spPr/>
        <p:txBody>
          <a:bodyPr/>
          <a:lstStyle/>
          <a:p>
            <a:fld id="{C1B4C3D6-301C-4B44-8844-F429B955BE60}" type="slidenum">
              <a:rPr lang="en-US" smtClean="0"/>
              <a:t>‹#›</a:t>
            </a:fld>
            <a:endParaRPr lang="en-US"/>
          </a:p>
        </p:txBody>
      </p:sp>
    </p:spTree>
    <p:extLst>
      <p:ext uri="{BB962C8B-B14F-4D97-AF65-F5344CB8AC3E}">
        <p14:creationId xmlns:p14="http://schemas.microsoft.com/office/powerpoint/2010/main" val="3780801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0CE03-C37D-95D4-8162-20BD3343F4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EB3FDC-2486-492B-3564-D59AA45CEA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0E16AD-7B1E-7277-1CA2-7CDFCE326E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2976D0-C3A8-8D3B-639F-FC4195EC1244}"/>
              </a:ext>
            </a:extLst>
          </p:cNvPr>
          <p:cNvSpPr>
            <a:spLocks noGrp="1"/>
          </p:cNvSpPr>
          <p:nvPr>
            <p:ph type="dt" sz="half" idx="10"/>
          </p:nvPr>
        </p:nvSpPr>
        <p:spPr/>
        <p:txBody>
          <a:bodyPr/>
          <a:lstStyle/>
          <a:p>
            <a:fld id="{1C3AFDB2-77A7-4F7B-A45E-BE932BC9424B}" type="datetimeFigureOut">
              <a:rPr lang="en-US" smtClean="0"/>
              <a:t>9/11/2024</a:t>
            </a:fld>
            <a:endParaRPr lang="en-US"/>
          </a:p>
        </p:txBody>
      </p:sp>
      <p:sp>
        <p:nvSpPr>
          <p:cNvPr id="6" name="Footer Placeholder 5">
            <a:extLst>
              <a:ext uri="{FF2B5EF4-FFF2-40B4-BE49-F238E27FC236}">
                <a16:creationId xmlns:a16="http://schemas.microsoft.com/office/drawing/2014/main" id="{DA2B0C85-3E8A-FC39-503C-19CB7C85F0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5C57F0-ABF2-2457-FD7B-9AF89024C192}"/>
              </a:ext>
            </a:extLst>
          </p:cNvPr>
          <p:cNvSpPr>
            <a:spLocks noGrp="1"/>
          </p:cNvSpPr>
          <p:nvPr>
            <p:ph type="sldNum" sz="quarter" idx="12"/>
          </p:nvPr>
        </p:nvSpPr>
        <p:spPr/>
        <p:txBody>
          <a:bodyPr/>
          <a:lstStyle/>
          <a:p>
            <a:fld id="{C1B4C3D6-301C-4B44-8844-F429B955BE60}" type="slidenum">
              <a:rPr lang="en-US" smtClean="0"/>
              <a:t>‹#›</a:t>
            </a:fld>
            <a:endParaRPr lang="en-US"/>
          </a:p>
        </p:txBody>
      </p:sp>
    </p:spTree>
    <p:extLst>
      <p:ext uri="{BB962C8B-B14F-4D97-AF65-F5344CB8AC3E}">
        <p14:creationId xmlns:p14="http://schemas.microsoft.com/office/powerpoint/2010/main" val="3464982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1AA7F-7D1B-2B66-8251-728C4A16F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131EFC-C4CF-3790-61CD-CD93DCC138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39503E-C642-1115-4486-D2814C5BFF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EA0C81-92EE-B777-9D75-AB3EDB968EFE}"/>
              </a:ext>
            </a:extLst>
          </p:cNvPr>
          <p:cNvSpPr>
            <a:spLocks noGrp="1"/>
          </p:cNvSpPr>
          <p:nvPr>
            <p:ph type="dt" sz="half" idx="10"/>
          </p:nvPr>
        </p:nvSpPr>
        <p:spPr/>
        <p:txBody>
          <a:bodyPr/>
          <a:lstStyle/>
          <a:p>
            <a:fld id="{1C3AFDB2-77A7-4F7B-A45E-BE932BC9424B}" type="datetimeFigureOut">
              <a:rPr lang="en-US" smtClean="0"/>
              <a:t>9/11/2024</a:t>
            </a:fld>
            <a:endParaRPr lang="en-US"/>
          </a:p>
        </p:txBody>
      </p:sp>
      <p:sp>
        <p:nvSpPr>
          <p:cNvPr id="6" name="Footer Placeholder 5">
            <a:extLst>
              <a:ext uri="{FF2B5EF4-FFF2-40B4-BE49-F238E27FC236}">
                <a16:creationId xmlns:a16="http://schemas.microsoft.com/office/drawing/2014/main" id="{BB9ECBC4-1E12-7EE7-4503-935CCAF952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7AB946-6284-1691-A864-F36A1867F50D}"/>
              </a:ext>
            </a:extLst>
          </p:cNvPr>
          <p:cNvSpPr>
            <a:spLocks noGrp="1"/>
          </p:cNvSpPr>
          <p:nvPr>
            <p:ph type="sldNum" sz="quarter" idx="12"/>
          </p:nvPr>
        </p:nvSpPr>
        <p:spPr/>
        <p:txBody>
          <a:bodyPr/>
          <a:lstStyle/>
          <a:p>
            <a:fld id="{C1B4C3D6-301C-4B44-8844-F429B955BE60}" type="slidenum">
              <a:rPr lang="en-US" smtClean="0"/>
              <a:t>‹#›</a:t>
            </a:fld>
            <a:endParaRPr lang="en-US"/>
          </a:p>
        </p:txBody>
      </p:sp>
    </p:spTree>
    <p:extLst>
      <p:ext uri="{BB962C8B-B14F-4D97-AF65-F5344CB8AC3E}">
        <p14:creationId xmlns:p14="http://schemas.microsoft.com/office/powerpoint/2010/main" val="3276946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073FF-FD36-D913-BCC6-D049B5C22A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FCCBB9-9C58-50E4-93BF-D6058D3E7B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AFD393-4E06-8376-CAB4-289EBDE01750}"/>
              </a:ext>
            </a:extLst>
          </p:cNvPr>
          <p:cNvSpPr>
            <a:spLocks noGrp="1"/>
          </p:cNvSpPr>
          <p:nvPr>
            <p:ph type="dt" sz="half" idx="10"/>
          </p:nvPr>
        </p:nvSpPr>
        <p:spPr/>
        <p:txBody>
          <a:bodyPr/>
          <a:lstStyle/>
          <a:p>
            <a:fld id="{1C3AFDB2-77A7-4F7B-A45E-BE932BC9424B}" type="datetimeFigureOut">
              <a:rPr lang="en-US" smtClean="0"/>
              <a:t>9/11/2024</a:t>
            </a:fld>
            <a:endParaRPr lang="en-US"/>
          </a:p>
        </p:txBody>
      </p:sp>
      <p:sp>
        <p:nvSpPr>
          <p:cNvPr id="5" name="Footer Placeholder 4">
            <a:extLst>
              <a:ext uri="{FF2B5EF4-FFF2-40B4-BE49-F238E27FC236}">
                <a16:creationId xmlns:a16="http://schemas.microsoft.com/office/drawing/2014/main" id="{436B565F-9ECF-0D96-F64B-AD65F602B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DE9087-948D-F8CA-49DA-D35C2E67E9F9}"/>
              </a:ext>
            </a:extLst>
          </p:cNvPr>
          <p:cNvSpPr>
            <a:spLocks noGrp="1"/>
          </p:cNvSpPr>
          <p:nvPr>
            <p:ph type="sldNum" sz="quarter" idx="12"/>
          </p:nvPr>
        </p:nvSpPr>
        <p:spPr/>
        <p:txBody>
          <a:bodyPr/>
          <a:lstStyle/>
          <a:p>
            <a:fld id="{C1B4C3D6-301C-4B44-8844-F429B955BE60}" type="slidenum">
              <a:rPr lang="en-US" smtClean="0"/>
              <a:t>‹#›</a:t>
            </a:fld>
            <a:endParaRPr lang="en-US"/>
          </a:p>
        </p:txBody>
      </p:sp>
    </p:spTree>
    <p:extLst>
      <p:ext uri="{BB962C8B-B14F-4D97-AF65-F5344CB8AC3E}">
        <p14:creationId xmlns:p14="http://schemas.microsoft.com/office/powerpoint/2010/main" val="3412306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E773CD-809D-FE94-B848-90BC559BB2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13CE3D-AF9A-9B1E-8C33-3EE6496933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037103-FF4F-FFA5-A1DB-35FECDA9A49B}"/>
              </a:ext>
            </a:extLst>
          </p:cNvPr>
          <p:cNvSpPr>
            <a:spLocks noGrp="1"/>
          </p:cNvSpPr>
          <p:nvPr>
            <p:ph type="dt" sz="half" idx="10"/>
          </p:nvPr>
        </p:nvSpPr>
        <p:spPr/>
        <p:txBody>
          <a:bodyPr/>
          <a:lstStyle/>
          <a:p>
            <a:fld id="{1C3AFDB2-77A7-4F7B-A45E-BE932BC9424B}" type="datetimeFigureOut">
              <a:rPr lang="en-US" smtClean="0"/>
              <a:t>9/11/2024</a:t>
            </a:fld>
            <a:endParaRPr lang="en-US"/>
          </a:p>
        </p:txBody>
      </p:sp>
      <p:sp>
        <p:nvSpPr>
          <p:cNvPr id="5" name="Footer Placeholder 4">
            <a:extLst>
              <a:ext uri="{FF2B5EF4-FFF2-40B4-BE49-F238E27FC236}">
                <a16:creationId xmlns:a16="http://schemas.microsoft.com/office/drawing/2014/main" id="{D151BB15-7CBB-608F-ADEC-AEB2AE3FDB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D6EA2A-6C9B-77CC-F644-A33ACB88E3B5}"/>
              </a:ext>
            </a:extLst>
          </p:cNvPr>
          <p:cNvSpPr>
            <a:spLocks noGrp="1"/>
          </p:cNvSpPr>
          <p:nvPr>
            <p:ph type="sldNum" sz="quarter" idx="12"/>
          </p:nvPr>
        </p:nvSpPr>
        <p:spPr/>
        <p:txBody>
          <a:bodyPr/>
          <a:lstStyle/>
          <a:p>
            <a:fld id="{C1B4C3D6-301C-4B44-8844-F429B955BE60}" type="slidenum">
              <a:rPr lang="en-US" smtClean="0"/>
              <a:t>‹#›</a:t>
            </a:fld>
            <a:endParaRPr lang="en-US"/>
          </a:p>
        </p:txBody>
      </p:sp>
    </p:spTree>
    <p:extLst>
      <p:ext uri="{BB962C8B-B14F-4D97-AF65-F5344CB8AC3E}">
        <p14:creationId xmlns:p14="http://schemas.microsoft.com/office/powerpoint/2010/main" val="2448407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A64268-F84E-F1FC-8E89-50A68630ED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C67076-26F8-8E20-A5D3-B9D48C9A41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406A6-41F3-0AE0-341A-A0791ED517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3AFDB2-77A7-4F7B-A45E-BE932BC9424B}" type="datetimeFigureOut">
              <a:rPr lang="en-US" smtClean="0"/>
              <a:t>9/11/2024</a:t>
            </a:fld>
            <a:endParaRPr lang="en-US"/>
          </a:p>
        </p:txBody>
      </p:sp>
      <p:sp>
        <p:nvSpPr>
          <p:cNvPr id="5" name="Footer Placeholder 4">
            <a:extLst>
              <a:ext uri="{FF2B5EF4-FFF2-40B4-BE49-F238E27FC236}">
                <a16:creationId xmlns:a16="http://schemas.microsoft.com/office/drawing/2014/main" id="{A9C48CC7-445E-64BD-D232-631CBCD9D5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39A868-CA95-15A3-D3A2-297F2B65C3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B4C3D6-301C-4B44-8844-F429B955BE60}" type="slidenum">
              <a:rPr lang="en-US" smtClean="0"/>
              <a:t>‹#›</a:t>
            </a:fld>
            <a:endParaRPr lang="en-US"/>
          </a:p>
        </p:txBody>
      </p:sp>
    </p:spTree>
    <p:extLst>
      <p:ext uri="{BB962C8B-B14F-4D97-AF65-F5344CB8AC3E}">
        <p14:creationId xmlns:p14="http://schemas.microsoft.com/office/powerpoint/2010/main" val="1927542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F184A-EF72-F594-1DF5-C05173E02597}"/>
              </a:ext>
            </a:extLst>
          </p:cNvPr>
          <p:cNvSpPr>
            <a:spLocks noGrp="1"/>
          </p:cNvSpPr>
          <p:nvPr>
            <p:ph type="ctrTitle"/>
          </p:nvPr>
        </p:nvSpPr>
        <p:spPr>
          <a:xfrm>
            <a:off x="0" y="1482127"/>
            <a:ext cx="12192000" cy="3344706"/>
          </a:xfrm>
        </p:spPr>
        <p:txBody>
          <a:bodyPr>
            <a:normAutofit fontScale="90000"/>
          </a:bodyPr>
          <a:lstStyle/>
          <a:p>
            <a:r>
              <a:rPr lang="en-US" sz="8000" b="1" dirty="0">
                <a:effectLst>
                  <a:outerShdw blurRad="38100" dist="38100" dir="2700000" algn="tl">
                    <a:srgbClr val="000000">
                      <a:alpha val="43137"/>
                    </a:srgbClr>
                  </a:outerShdw>
                </a:effectLst>
              </a:rPr>
              <a:t>UNIT-4 </a:t>
            </a:r>
            <a:br>
              <a:rPr lang="en-US" sz="8000" b="1" dirty="0">
                <a:effectLst>
                  <a:outerShdw blurRad="38100" dist="38100" dir="2700000" algn="tl">
                    <a:srgbClr val="000000">
                      <a:alpha val="43137"/>
                    </a:srgbClr>
                  </a:outerShdw>
                </a:effectLst>
              </a:rPr>
            </a:br>
            <a:r>
              <a:rPr lang="en-US" sz="8000" b="1" dirty="0">
                <a:effectLst>
                  <a:outerShdw blurRad="38100" dist="38100" dir="2700000" algn="tl">
                    <a:srgbClr val="000000">
                      <a:alpha val="43137"/>
                    </a:srgbClr>
                  </a:outerShdw>
                </a:effectLst>
              </a:rPr>
              <a:t>E-waste (Management and Handling) Rules, 2011:</a:t>
            </a:r>
          </a:p>
        </p:txBody>
      </p:sp>
    </p:spTree>
    <p:extLst>
      <p:ext uri="{BB962C8B-B14F-4D97-AF65-F5344CB8AC3E}">
        <p14:creationId xmlns:p14="http://schemas.microsoft.com/office/powerpoint/2010/main" val="698138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4E311-1B59-E7E9-856F-8992AF3C00E8}"/>
              </a:ext>
            </a:extLst>
          </p:cNvPr>
          <p:cNvSpPr>
            <a:spLocks noGrp="1"/>
          </p:cNvSpPr>
          <p:nvPr>
            <p:ph type="title"/>
          </p:nvPr>
        </p:nvSpPr>
        <p:spPr>
          <a:xfrm>
            <a:off x="0" y="0"/>
            <a:ext cx="12192000" cy="554636"/>
          </a:xfrm>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Implementation of E-waste Rules, 2011:</a:t>
            </a:r>
            <a:br>
              <a:rPr lang="en-US" dirty="0"/>
            </a:br>
            <a:endParaRPr lang="en-US" dirty="0"/>
          </a:p>
        </p:txBody>
      </p:sp>
      <p:sp>
        <p:nvSpPr>
          <p:cNvPr id="3" name="Content Placeholder 2">
            <a:extLst>
              <a:ext uri="{FF2B5EF4-FFF2-40B4-BE49-F238E27FC236}">
                <a16:creationId xmlns:a16="http://schemas.microsoft.com/office/drawing/2014/main" id="{FA564022-ECD9-92BB-5EDC-EC58D40FAA21}"/>
              </a:ext>
            </a:extLst>
          </p:cNvPr>
          <p:cNvSpPr>
            <a:spLocks noGrp="1"/>
          </p:cNvSpPr>
          <p:nvPr>
            <p:ph idx="1"/>
          </p:nvPr>
        </p:nvSpPr>
        <p:spPr>
          <a:xfrm>
            <a:off x="-1" y="734518"/>
            <a:ext cx="12191999" cy="6123482"/>
          </a:xfrm>
        </p:spPr>
        <p:txBody>
          <a:bodyPr>
            <a:normAutofit lnSpcReduction="10000"/>
          </a:bodyPr>
          <a:lstStyle/>
          <a:p>
            <a:pPr algn="just"/>
            <a:r>
              <a:rPr lang="en-US" sz="3600" dirty="0">
                <a:latin typeface="Times New Roman" panose="02020603050405020304" pitchFamily="18" charset="0"/>
                <a:cs typeface="Times New Roman" panose="02020603050405020304" pitchFamily="18" charset="0"/>
              </a:rPr>
              <a:t>E-waste has been defined as “waste electrical and electronic equipment, whole or in part or rejects from their manufacturing and repair process, which are intended to be discarded”. </a:t>
            </a:r>
          </a:p>
          <a:p>
            <a:pPr algn="just"/>
            <a:r>
              <a:rPr lang="en-US" sz="3600" dirty="0">
                <a:latin typeface="Times New Roman" panose="02020603050405020304" pitchFamily="18" charset="0"/>
                <a:cs typeface="Times New Roman" panose="02020603050405020304" pitchFamily="18" charset="0"/>
              </a:rPr>
              <a:t>Whereas Electrical and electronic equipment has been defined as “equipment which is dependent on electrical currents or electro-magnetic fields to be fully functional”.</a:t>
            </a:r>
          </a:p>
          <a:p>
            <a:pPr algn="just"/>
            <a:r>
              <a:rPr lang="en-US" sz="3600" dirty="0">
                <a:latin typeface="Times New Roman" panose="02020603050405020304" pitchFamily="18" charset="0"/>
                <a:cs typeface="Times New Roman" panose="02020603050405020304" pitchFamily="18" charset="0"/>
              </a:rPr>
              <a:t>In the recent years, there has been increasing use and dependence on electrical and electronic gadgets like mobile phone, personal computers, laptops, server, data storage devices, photo copying machines, TV(CRT/LED/LCD), washing machine, refrigerators and air conditioners, etc. Resulting into generation of large quantities of E-waste.</a:t>
            </a:r>
          </a:p>
        </p:txBody>
      </p:sp>
    </p:spTree>
    <p:extLst>
      <p:ext uri="{BB962C8B-B14F-4D97-AF65-F5344CB8AC3E}">
        <p14:creationId xmlns:p14="http://schemas.microsoft.com/office/powerpoint/2010/main" val="3813161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21734B-F484-9EEC-69E3-8681EED713D8}"/>
              </a:ext>
            </a:extLst>
          </p:cNvPr>
          <p:cNvSpPr>
            <a:spLocks noGrp="1"/>
          </p:cNvSpPr>
          <p:nvPr>
            <p:ph idx="1"/>
          </p:nvPr>
        </p:nvSpPr>
        <p:spPr>
          <a:xfrm>
            <a:off x="0" y="0"/>
            <a:ext cx="12192000" cy="6858000"/>
          </a:xfrm>
        </p:spPr>
        <p:txBody>
          <a:bodyPr>
            <a:normAutofit/>
          </a:bodyPr>
          <a:lstStyle/>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The high rates of obsolescence (outdated and no longer used)  of the above mentioned items coupled with steady rise in the demand have also resulted in substantial growth in e-waste generation. </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There is no comprehensive and latest inventory of E-waste in the country however, as per preliminary estimates, the annual e-waste generation in India has been estimated to be 0.8 million tons by 2012.</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 An UN report estimates that the world wide generation of e-waste is around 30 to 50 Million tons per annum.</a:t>
            </a:r>
          </a:p>
        </p:txBody>
      </p:sp>
    </p:spTree>
    <p:extLst>
      <p:ext uri="{BB962C8B-B14F-4D97-AF65-F5344CB8AC3E}">
        <p14:creationId xmlns:p14="http://schemas.microsoft.com/office/powerpoint/2010/main" val="392024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2DE923-64D6-48B7-9A27-84FA6430EDA8}"/>
              </a:ext>
            </a:extLst>
          </p:cNvPr>
          <p:cNvSpPr>
            <a:spLocks noGrp="1"/>
          </p:cNvSpPr>
          <p:nvPr>
            <p:ph idx="1"/>
          </p:nvPr>
        </p:nvSpPr>
        <p:spPr>
          <a:xfrm>
            <a:off x="0" y="0"/>
            <a:ext cx="12192000" cy="6858000"/>
          </a:xfrm>
        </p:spPr>
        <p:txBody>
          <a:bodyPr>
            <a:normAutofit fontScale="92500" lnSpcReduction="20000"/>
          </a:bodyPr>
          <a:lstStyle/>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The electrical and electronic equipment (EEE) have valuable materials and hazardous/toxics substances in their components. </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The electronic products and electrical equipment after their useful life may not cause any harm if it is stored safely in households/stores.</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 However, if the E-waste is opened-up and attempts are made for retrieval of useful components or material in an un-scientific manner or if the material is disposed in open, then it may cause health risks and damage to environment.</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 E-waste can be considered as a resource that contains useful material of economic benefit for recovery of plastics, iron, glass, aluminum, copper and precious metals such as silver, gold, platinum, and palladium and lead, cadmium, mercury etc. </a:t>
            </a:r>
          </a:p>
        </p:txBody>
      </p:sp>
    </p:spTree>
    <p:extLst>
      <p:ext uri="{BB962C8B-B14F-4D97-AF65-F5344CB8AC3E}">
        <p14:creationId xmlns:p14="http://schemas.microsoft.com/office/powerpoint/2010/main" val="1159299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8C8AC9-B201-32C3-4AF6-107A35C164FF}"/>
              </a:ext>
            </a:extLst>
          </p:cNvPr>
          <p:cNvSpPr>
            <a:spLocks noGrp="1"/>
          </p:cNvSpPr>
          <p:nvPr>
            <p:ph idx="1"/>
          </p:nvPr>
        </p:nvSpPr>
        <p:spPr>
          <a:xfrm>
            <a:off x="0" y="0"/>
            <a:ext cx="12192000" cy="6858000"/>
          </a:xfrm>
        </p:spPr>
        <p:txBody>
          <a:bodyPr/>
          <a:lstStyle/>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However, at the same time presence of heavy metals (As, Cd, Hg, Pb etc.) and other toxic substances such as polychlorinated bi-phenyls (PCBs), etched chemicals, etc. may pose risk to health and environment during handling and recovery operations. </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E-waste is a problem of increasing proportions especially when crude methods are adopted for recovery of useful components from E-waste.</a:t>
            </a:r>
          </a:p>
          <a:p>
            <a:pPr marL="0" indent="0">
              <a:buNone/>
            </a:pPr>
            <a:endParaRPr lang="en-US" dirty="0"/>
          </a:p>
        </p:txBody>
      </p:sp>
    </p:spTree>
    <p:extLst>
      <p:ext uri="{BB962C8B-B14F-4D97-AF65-F5344CB8AC3E}">
        <p14:creationId xmlns:p14="http://schemas.microsoft.com/office/powerpoint/2010/main" val="1969929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0C00A7-820B-49AE-B34C-7E72EFC8F9AB}"/>
              </a:ext>
            </a:extLst>
          </p:cNvPr>
          <p:cNvSpPr>
            <a:spLocks noGrp="1"/>
          </p:cNvSpPr>
          <p:nvPr>
            <p:ph idx="1"/>
          </p:nvPr>
        </p:nvSpPr>
        <p:spPr>
          <a:xfrm>
            <a:off x="0" y="0"/>
            <a:ext cx="12192000" cy="6858000"/>
          </a:xfrm>
        </p:spPr>
        <p:txBody>
          <a:bodyPr>
            <a:normAutofit/>
          </a:bodyPr>
          <a:lstStyle/>
          <a:p>
            <a:pPr algn="just"/>
            <a:r>
              <a:rPr lang="en-US" sz="3300" dirty="0">
                <a:latin typeface="Times New Roman" panose="02020603050405020304" pitchFamily="18" charset="0"/>
                <a:cs typeface="Times New Roman" panose="02020603050405020304" pitchFamily="18" charset="0"/>
              </a:rPr>
              <a:t>There is a need to encourage recycling of all useful and valuable material from e-waste so as to conserve the ever depleting natural resources. </a:t>
            </a:r>
          </a:p>
          <a:p>
            <a:pPr algn="just"/>
            <a:r>
              <a:rPr lang="en-US" sz="3300" dirty="0">
                <a:latin typeface="Times New Roman" panose="02020603050405020304" pitchFamily="18" charset="0"/>
                <a:cs typeface="Times New Roman" panose="02020603050405020304" pitchFamily="18" charset="0"/>
              </a:rPr>
              <a:t>Electronic component are increasingly made from recycled materials, for example for making new LCDs, more than 50% of indium is sourced by recycling used LCDs. </a:t>
            </a:r>
          </a:p>
          <a:p>
            <a:pPr algn="just"/>
            <a:r>
              <a:rPr lang="en-US" sz="3300" dirty="0">
                <a:latin typeface="Times New Roman" panose="02020603050405020304" pitchFamily="18" charset="0"/>
                <a:cs typeface="Times New Roman" panose="02020603050405020304" pitchFamily="18" charset="0"/>
              </a:rPr>
              <a:t>The E-waste thus presents a scenario of urban mining for recovery of ferrous/non-ferrous/ rare earth metal and precious metal in addition to plastics and glass. </a:t>
            </a:r>
          </a:p>
          <a:p>
            <a:pPr algn="just"/>
            <a:r>
              <a:rPr lang="en-US" sz="3300" dirty="0">
                <a:latin typeface="Times New Roman" panose="02020603050405020304" pitchFamily="18" charset="0"/>
                <a:cs typeface="Times New Roman" panose="02020603050405020304" pitchFamily="18" charset="0"/>
              </a:rPr>
              <a:t>However, presence of hazardous and toxic substances in the component of e-waste necessitates environmentally sound management of e-waste including collection and recycling/treatment in an environmentally sound manner.</a:t>
            </a:r>
          </a:p>
        </p:txBody>
      </p:sp>
    </p:spTree>
    <p:extLst>
      <p:ext uri="{BB962C8B-B14F-4D97-AF65-F5344CB8AC3E}">
        <p14:creationId xmlns:p14="http://schemas.microsoft.com/office/powerpoint/2010/main" val="2851504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2B7F79-FEA9-BA73-3B28-CE0C154470DE}"/>
              </a:ext>
            </a:extLst>
          </p:cNvPr>
          <p:cNvSpPr>
            <a:spLocks noGrp="1"/>
          </p:cNvSpPr>
          <p:nvPr>
            <p:ph idx="1"/>
          </p:nvPr>
        </p:nvSpPr>
        <p:spPr>
          <a:xfrm>
            <a:off x="0" y="0"/>
            <a:ext cx="12192000" cy="6858000"/>
          </a:xfrm>
        </p:spPr>
        <p:txBody>
          <a:bodyPr>
            <a:normAutofit/>
          </a:bodyPr>
          <a:lstStyle/>
          <a:p>
            <a:pPr algn="just"/>
            <a:endParaRPr lang="en-US" sz="3600" dirty="0">
              <a:latin typeface="Times New Roman" panose="02020603050405020304" pitchFamily="18" charset="0"/>
              <a:cs typeface="Times New Roman" panose="02020603050405020304" pitchFamily="18" charset="0"/>
            </a:endParaRPr>
          </a:p>
          <a:p>
            <a:pPr algn="just"/>
            <a:r>
              <a:rPr lang="en-US" sz="3600" b="1" dirty="0">
                <a:solidFill>
                  <a:srgbClr val="FF0000"/>
                </a:solidFill>
                <a:latin typeface="Times New Roman" panose="02020603050405020304" pitchFamily="18" charset="0"/>
                <a:cs typeface="Times New Roman" panose="02020603050405020304" pitchFamily="18" charset="0"/>
              </a:rPr>
              <a:t>The E-waste (Management &amp; Handling) Rules, 2011 </a:t>
            </a:r>
            <a:r>
              <a:rPr lang="en-US" sz="3600" dirty="0">
                <a:latin typeface="Times New Roman" panose="02020603050405020304" pitchFamily="18" charset="0"/>
                <a:cs typeface="Times New Roman" panose="02020603050405020304" pitchFamily="18" charset="0"/>
              </a:rPr>
              <a:t>have been notified with primary objective to channelize the E-waste generated in the country for environmentally sound recycling which is largely controlled by </a:t>
            </a:r>
            <a:r>
              <a:rPr lang="en-US" sz="3600" b="1" dirty="0">
                <a:solidFill>
                  <a:srgbClr val="FF0000"/>
                </a:solidFill>
                <a:latin typeface="Times New Roman" panose="02020603050405020304" pitchFamily="18" charset="0"/>
                <a:cs typeface="Times New Roman" panose="02020603050405020304" pitchFamily="18" charset="0"/>
              </a:rPr>
              <a:t>the un-organized sector </a:t>
            </a:r>
            <a:r>
              <a:rPr lang="en-US" sz="3600" dirty="0">
                <a:latin typeface="Times New Roman" panose="02020603050405020304" pitchFamily="18" charset="0"/>
                <a:cs typeface="Times New Roman" panose="02020603050405020304" pitchFamily="18" charset="0"/>
              </a:rPr>
              <a:t>who are adopting crude practices that results into higher pollution and less recovery, thereby causing wastages of precious resources and damage to environment.</a:t>
            </a:r>
          </a:p>
        </p:txBody>
      </p:sp>
    </p:spTree>
    <p:extLst>
      <p:ext uri="{BB962C8B-B14F-4D97-AF65-F5344CB8AC3E}">
        <p14:creationId xmlns:p14="http://schemas.microsoft.com/office/powerpoint/2010/main" val="2029810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4B5F-1471-C79F-FBDD-53F56165C279}"/>
              </a:ext>
            </a:extLst>
          </p:cNvPr>
          <p:cNvSpPr>
            <a:spLocks noGrp="1"/>
          </p:cNvSpPr>
          <p:nvPr>
            <p:ph type="title"/>
          </p:nvPr>
        </p:nvSpPr>
        <p:spPr>
          <a:xfrm>
            <a:off x="0" y="-33130"/>
            <a:ext cx="12192000" cy="714167"/>
          </a:xfrm>
        </p:spPr>
        <p:txBody>
          <a:bodyPr/>
          <a:lstStyle/>
          <a:p>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E-Waste (Management &amp; Handling) Rules, 2011:</a:t>
            </a:r>
          </a:p>
        </p:txBody>
      </p:sp>
      <p:sp>
        <p:nvSpPr>
          <p:cNvPr id="3" name="Content Placeholder 2">
            <a:extLst>
              <a:ext uri="{FF2B5EF4-FFF2-40B4-BE49-F238E27FC236}">
                <a16:creationId xmlns:a16="http://schemas.microsoft.com/office/drawing/2014/main" id="{A6360ADF-39F1-AA6C-3441-8CF3C8069221}"/>
              </a:ext>
            </a:extLst>
          </p:cNvPr>
          <p:cNvSpPr>
            <a:spLocks noGrp="1"/>
          </p:cNvSpPr>
          <p:nvPr>
            <p:ph idx="1"/>
          </p:nvPr>
        </p:nvSpPr>
        <p:spPr>
          <a:xfrm>
            <a:off x="0" y="681036"/>
            <a:ext cx="12192000" cy="6176963"/>
          </a:xfrm>
        </p:spPr>
        <p:txBody>
          <a:bodyPr>
            <a:normAutofit/>
          </a:bodyPr>
          <a:lstStyle/>
          <a:p>
            <a:pPr algn="just"/>
            <a:r>
              <a:rPr lang="en-US" sz="3600" b="1" dirty="0">
                <a:latin typeface="Times New Roman" panose="02020603050405020304" pitchFamily="18" charset="0"/>
                <a:cs typeface="Times New Roman" panose="02020603050405020304" pitchFamily="18" charset="0"/>
              </a:rPr>
              <a:t>The e-waste (Management &amp; Handling) Rules, 2011 </a:t>
            </a:r>
            <a:r>
              <a:rPr lang="en-US" sz="3600" dirty="0">
                <a:latin typeface="Times New Roman" panose="02020603050405020304" pitchFamily="18" charset="0"/>
                <a:cs typeface="Times New Roman" panose="02020603050405020304" pitchFamily="18" charset="0"/>
              </a:rPr>
              <a:t>have been notified in </a:t>
            </a:r>
            <a:r>
              <a:rPr lang="en-US" sz="3600" b="1" dirty="0">
                <a:latin typeface="Times New Roman" panose="02020603050405020304" pitchFamily="18" charset="0"/>
                <a:cs typeface="Times New Roman" panose="02020603050405020304" pitchFamily="18" charset="0"/>
              </a:rPr>
              <a:t>May 2011 </a:t>
            </a:r>
            <a:r>
              <a:rPr lang="en-US" sz="3600" dirty="0">
                <a:latin typeface="Times New Roman" panose="02020603050405020304" pitchFamily="18" charset="0"/>
                <a:cs typeface="Times New Roman" panose="02020603050405020304" pitchFamily="18" charset="0"/>
              </a:rPr>
              <a:t>and are </a:t>
            </a:r>
            <a:r>
              <a:rPr lang="en-US" sz="3600" b="1" dirty="0">
                <a:latin typeface="Times New Roman" panose="02020603050405020304" pitchFamily="18" charset="0"/>
                <a:cs typeface="Times New Roman" panose="02020603050405020304" pitchFamily="18" charset="0"/>
              </a:rPr>
              <a:t>effective from 01-05-2012</a:t>
            </a:r>
            <a:r>
              <a:rPr lang="en-US" sz="3600" dirty="0">
                <a:latin typeface="Times New Roman" panose="02020603050405020304" pitchFamily="18" charset="0"/>
                <a:cs typeface="Times New Roman" panose="02020603050405020304" pitchFamily="18" charset="0"/>
              </a:rPr>
              <a:t>. </a:t>
            </a:r>
          </a:p>
          <a:p>
            <a:pPr algn="just"/>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These rules were notified in advance </a:t>
            </a:r>
            <a:r>
              <a:rPr lang="en-US" sz="3600" b="1" dirty="0">
                <a:latin typeface="Times New Roman" panose="02020603050405020304" pitchFamily="18" charset="0"/>
                <a:cs typeface="Times New Roman" panose="02020603050405020304" pitchFamily="18" charset="0"/>
              </a:rPr>
              <a:t>to give the various stakeholders adequate time to prepare themselves and also to place the required infrastructure for the effective implementation of these rules. </a:t>
            </a:r>
          </a:p>
        </p:txBody>
      </p:sp>
    </p:spTree>
    <p:extLst>
      <p:ext uri="{BB962C8B-B14F-4D97-AF65-F5344CB8AC3E}">
        <p14:creationId xmlns:p14="http://schemas.microsoft.com/office/powerpoint/2010/main" val="3469060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1F524-6E69-3043-1A34-A0513DCD1FFE}"/>
              </a:ext>
            </a:extLst>
          </p:cNvPr>
          <p:cNvSpPr>
            <a:spLocks noGrp="1"/>
          </p:cNvSpPr>
          <p:nvPr>
            <p:ph type="title"/>
          </p:nvPr>
        </p:nvSpPr>
        <p:spPr>
          <a:xfrm>
            <a:off x="0" y="18255"/>
            <a:ext cx="12192000" cy="551371"/>
          </a:xfrm>
        </p:spPr>
        <p:txBody>
          <a:bodyPr>
            <a:normAutofit/>
          </a:bodyPr>
          <a:lstStyle/>
          <a:p>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Applicability: E-Waste (Management &amp; Handling) Rules, 2011:</a:t>
            </a:r>
          </a:p>
        </p:txBody>
      </p:sp>
      <p:sp>
        <p:nvSpPr>
          <p:cNvPr id="3" name="Content Placeholder 2">
            <a:extLst>
              <a:ext uri="{FF2B5EF4-FFF2-40B4-BE49-F238E27FC236}">
                <a16:creationId xmlns:a16="http://schemas.microsoft.com/office/drawing/2014/main" id="{DFBD13C8-1847-19B2-9C85-0E9A7F7966A7}"/>
              </a:ext>
            </a:extLst>
          </p:cNvPr>
          <p:cNvSpPr>
            <a:spLocks noGrp="1"/>
          </p:cNvSpPr>
          <p:nvPr>
            <p:ph idx="1"/>
          </p:nvPr>
        </p:nvSpPr>
        <p:spPr>
          <a:xfrm>
            <a:off x="0" y="794479"/>
            <a:ext cx="12192000" cy="6045266"/>
          </a:xfrm>
        </p:spPr>
        <p:txBody>
          <a:bodyPr>
            <a:normAutofit/>
          </a:bodyPr>
          <a:lstStyle/>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These rules shall apply to every producer, consumer or bulk consumer, collection center, dismantler and recycler of e-waste involved in the manufacture, sale, purchase and processing of electrical and electronic equipment or components as specified in schedule – I the regulatory agencies involved are SPCBs/PCCs and CPCB.</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The e-waste Rules apply to all electrical and electronic equipment (EEE) listed in Schedule 1 (annexure-IV) and put on market in India, including their components and consumables which are part of the product at the time of discarding. </a:t>
            </a:r>
          </a:p>
          <a:p>
            <a:pPr marL="0" indent="0">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8414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2417DD-878D-0C46-8DE8-A31DB6CCA8CA}"/>
              </a:ext>
            </a:extLst>
          </p:cNvPr>
          <p:cNvSpPr>
            <a:spLocks noGrp="1"/>
          </p:cNvSpPr>
          <p:nvPr>
            <p:ph idx="1"/>
          </p:nvPr>
        </p:nvSpPr>
        <p:spPr>
          <a:xfrm>
            <a:off x="0" y="0"/>
            <a:ext cx="12192000" cy="6858000"/>
          </a:xfrm>
        </p:spPr>
        <p:txBody>
          <a:bodyPr>
            <a:normAutofit/>
          </a:bodyPr>
          <a:lstStyle/>
          <a:p>
            <a:pPr algn="just"/>
            <a:r>
              <a:rPr lang="en-US" sz="3200" dirty="0">
                <a:latin typeface="Times New Roman" panose="02020603050405020304" pitchFamily="18" charset="0"/>
                <a:cs typeface="Times New Roman" panose="02020603050405020304" pitchFamily="18" charset="0"/>
              </a:rPr>
              <a:t>The rule will </a:t>
            </a:r>
            <a:r>
              <a:rPr lang="en-US" sz="3200" b="1" dirty="0">
                <a:latin typeface="Times New Roman" panose="02020603050405020304" pitchFamily="18" charset="0"/>
                <a:cs typeface="Times New Roman" panose="02020603050405020304" pitchFamily="18" charset="0"/>
              </a:rPr>
              <a:t>not</a:t>
            </a:r>
            <a:r>
              <a:rPr lang="en-US" sz="3200" dirty="0">
                <a:latin typeface="Times New Roman" panose="02020603050405020304" pitchFamily="18" charset="0"/>
                <a:cs typeface="Times New Roman" panose="02020603050405020304" pitchFamily="18" charset="0"/>
              </a:rPr>
              <a:t> apply to </a:t>
            </a:r>
            <a:r>
              <a:rPr lang="en-US" sz="3200" b="1" dirty="0">
                <a:latin typeface="Times New Roman" panose="02020603050405020304" pitchFamily="18" charset="0"/>
                <a:cs typeface="Times New Roman" panose="02020603050405020304" pitchFamily="18" charset="0"/>
              </a:rPr>
              <a:t>lead acid batteries </a:t>
            </a:r>
            <a:r>
              <a:rPr lang="en-US" sz="3200" dirty="0">
                <a:latin typeface="Times New Roman" panose="02020603050405020304" pitchFamily="18" charset="0"/>
                <a:cs typeface="Times New Roman" panose="02020603050405020304" pitchFamily="18" charset="0"/>
              </a:rPr>
              <a:t>as covered under the </a:t>
            </a:r>
            <a:r>
              <a:rPr lang="en-US" sz="3200" b="1" dirty="0">
                <a:latin typeface="Times New Roman" panose="02020603050405020304" pitchFamily="18" charset="0"/>
                <a:cs typeface="Times New Roman" panose="02020603050405020304" pitchFamily="18" charset="0"/>
              </a:rPr>
              <a:t>Batteries (Management and Handling) Rules, 2001</a:t>
            </a:r>
            <a:r>
              <a:rPr lang="en-US" sz="3200" dirty="0">
                <a:latin typeface="Times New Roman" panose="02020603050405020304" pitchFamily="18" charset="0"/>
                <a:cs typeface="Times New Roman" panose="02020603050405020304" pitchFamily="18" charset="0"/>
              </a:rPr>
              <a:t>. </a:t>
            </a:r>
          </a:p>
          <a:p>
            <a:pPr algn="just"/>
            <a:r>
              <a:rPr lang="en-US" sz="3200" dirty="0">
                <a:latin typeface="Times New Roman" panose="02020603050405020304" pitchFamily="18" charset="0"/>
                <a:cs typeface="Times New Roman" panose="02020603050405020304" pitchFamily="18" charset="0"/>
              </a:rPr>
              <a:t>The rules shall </a:t>
            </a:r>
            <a:r>
              <a:rPr lang="en-US" sz="3200" b="1" dirty="0">
                <a:latin typeface="Times New Roman" panose="02020603050405020304" pitchFamily="18" charset="0"/>
                <a:cs typeface="Times New Roman" panose="02020603050405020304" pitchFamily="18" charset="0"/>
              </a:rPr>
              <a:t>not</a:t>
            </a:r>
            <a:r>
              <a:rPr lang="en-US" sz="3200" dirty="0">
                <a:latin typeface="Times New Roman" panose="02020603050405020304" pitchFamily="18" charset="0"/>
                <a:cs typeface="Times New Roman" panose="02020603050405020304" pitchFamily="18" charset="0"/>
              </a:rPr>
              <a:t> apply to, </a:t>
            </a:r>
            <a:r>
              <a:rPr lang="en-US" sz="3200" b="1" dirty="0">
                <a:latin typeface="Times New Roman" panose="02020603050405020304" pitchFamily="18" charset="0"/>
                <a:cs typeface="Times New Roman" panose="02020603050405020304" pitchFamily="18" charset="0"/>
              </a:rPr>
              <a:t>Micro and Small enterprises </a:t>
            </a:r>
            <a:r>
              <a:rPr lang="en-US" sz="3200" dirty="0">
                <a:latin typeface="Times New Roman" panose="02020603050405020304" pitchFamily="18" charset="0"/>
                <a:cs typeface="Times New Roman" panose="02020603050405020304" pitchFamily="18" charset="0"/>
              </a:rPr>
              <a:t>as defined in </a:t>
            </a:r>
            <a:r>
              <a:rPr lang="en-US" sz="3200" b="1" dirty="0">
                <a:latin typeface="Times New Roman" panose="02020603050405020304" pitchFamily="18" charset="0"/>
                <a:cs typeface="Times New Roman" panose="02020603050405020304" pitchFamily="18" charset="0"/>
              </a:rPr>
              <a:t>the Micro, Small and Medium Enterprises Development Act, 2006 (27 of 2006) and radio-active wastes as covered under the provisions of the Atomic Energy Act, 1962 (33 of 1962) and rules made there under</a:t>
            </a:r>
            <a:r>
              <a:rPr lang="en-US" sz="3200" dirty="0">
                <a:latin typeface="Times New Roman" panose="02020603050405020304" pitchFamily="18" charset="0"/>
                <a:cs typeface="Times New Roman" panose="02020603050405020304" pitchFamily="18" charset="0"/>
              </a:rPr>
              <a:t>. </a:t>
            </a:r>
          </a:p>
          <a:p>
            <a:pPr algn="just"/>
            <a:r>
              <a:rPr lang="en-US" sz="3200" dirty="0">
                <a:latin typeface="Times New Roman" panose="02020603050405020304" pitchFamily="18" charset="0"/>
                <a:cs typeface="Times New Roman" panose="02020603050405020304" pitchFamily="18" charset="0"/>
              </a:rPr>
              <a:t>The Ministry of Micro Small and Medium Enterprises has awarded a study to ‘</a:t>
            </a:r>
            <a:r>
              <a:rPr lang="en-US" sz="3200" b="1" dirty="0">
                <a:latin typeface="Times New Roman" panose="02020603050405020304" pitchFamily="18" charset="0"/>
                <a:cs typeface="Times New Roman" panose="02020603050405020304" pitchFamily="18" charset="0"/>
              </a:rPr>
              <a:t>The Energy and Resources Institute’ (TERI) </a:t>
            </a:r>
            <a:r>
              <a:rPr lang="en-US" sz="3200" dirty="0">
                <a:latin typeface="Times New Roman" panose="02020603050405020304" pitchFamily="18" charset="0"/>
                <a:cs typeface="Times New Roman" panose="02020603050405020304" pitchFamily="18" charset="0"/>
              </a:rPr>
              <a:t>to examine the quantum of e-waste generated and the management of e-waste from the products manufactured by them at the end of life. </a:t>
            </a:r>
          </a:p>
          <a:p>
            <a:pPr algn="just"/>
            <a:r>
              <a:rPr lang="en-US" sz="3200" dirty="0">
                <a:latin typeface="Times New Roman" panose="02020603050405020304" pitchFamily="18" charset="0"/>
                <a:cs typeface="Times New Roman" panose="02020603050405020304" pitchFamily="18" charset="0"/>
              </a:rPr>
              <a:t>The study is likely to be completed in three months time. </a:t>
            </a:r>
          </a:p>
          <a:p>
            <a:pPr algn="just"/>
            <a:r>
              <a:rPr lang="en-US" sz="3200" dirty="0">
                <a:latin typeface="Times New Roman" panose="02020603050405020304" pitchFamily="18" charset="0"/>
                <a:cs typeface="Times New Roman" panose="02020603050405020304" pitchFamily="18" charset="0"/>
              </a:rPr>
              <a:t>Based upon the finding of the study, the matter regarding the inclusion of Micro and Small Enterprises would be reviewed.</a:t>
            </a:r>
          </a:p>
        </p:txBody>
      </p:sp>
    </p:spTree>
    <p:extLst>
      <p:ext uri="{BB962C8B-B14F-4D97-AF65-F5344CB8AC3E}">
        <p14:creationId xmlns:p14="http://schemas.microsoft.com/office/powerpoint/2010/main" val="2788839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EB9411-2B19-624D-0B07-D6A09EF51706}"/>
              </a:ext>
            </a:extLst>
          </p:cNvPr>
          <p:cNvSpPr>
            <a:spLocks noGrp="1"/>
          </p:cNvSpPr>
          <p:nvPr>
            <p:ph idx="1"/>
          </p:nvPr>
        </p:nvSpPr>
        <p:spPr>
          <a:xfrm>
            <a:off x="0" y="0"/>
            <a:ext cx="12192000" cy="6858000"/>
          </a:xfrm>
        </p:spPr>
        <p:txBody>
          <a:bodyPr>
            <a:normAutofit/>
          </a:bodyPr>
          <a:lstStyle/>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rules also call for the reduction in the use of hazardous substances in electrical and electronic equipment.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Every producer of equipment listed in </a:t>
            </a:r>
            <a:r>
              <a:rPr lang="en-US" sz="3200" b="1" dirty="0">
                <a:latin typeface="Times New Roman" panose="02020603050405020304" pitchFamily="18" charset="0"/>
                <a:cs typeface="Times New Roman" panose="02020603050405020304" pitchFamily="18" charset="0"/>
              </a:rPr>
              <a:t>Schedule 1</a:t>
            </a:r>
            <a:r>
              <a:rPr lang="en-US" sz="3200" dirty="0">
                <a:latin typeface="Times New Roman" panose="02020603050405020304" pitchFamily="18" charset="0"/>
                <a:cs typeface="Times New Roman" panose="02020603050405020304" pitchFamily="18" charset="0"/>
              </a:rPr>
              <a:t> of the Rule shall ensure that the covered products </a:t>
            </a:r>
            <a:r>
              <a:rPr lang="en-US" sz="3200" b="1" dirty="0">
                <a:latin typeface="Times New Roman" panose="02020603050405020304" pitchFamily="18" charset="0"/>
                <a:cs typeface="Times New Roman" panose="02020603050405020304" pitchFamily="18" charset="0"/>
              </a:rPr>
              <a:t>do not contain lead, mercury, cadmium, hexavalent chromium, poly-brominated biphenyls or poly-brominated di-phenyl ethers</a:t>
            </a:r>
            <a:r>
              <a:rPr lang="en-US" sz="3200" dirty="0">
                <a:latin typeface="Times New Roman" panose="02020603050405020304" pitchFamily="18" charset="0"/>
                <a:cs typeface="Times New Roman" panose="02020603050405020304" pitchFamily="18" charset="0"/>
              </a:rPr>
              <a:t> above a specified threshold.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threshold for cadmium is 0.01% by weight in homogeneous material, for all other substances, the threshold is 0.1% by weight in homogeneous material. </a:t>
            </a:r>
          </a:p>
        </p:txBody>
      </p:sp>
    </p:spTree>
    <p:extLst>
      <p:ext uri="{BB962C8B-B14F-4D97-AF65-F5344CB8AC3E}">
        <p14:creationId xmlns:p14="http://schemas.microsoft.com/office/powerpoint/2010/main" val="2667189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AA6519-B247-DF07-19B7-7D7C5C622925}"/>
              </a:ext>
            </a:extLst>
          </p:cNvPr>
          <p:cNvSpPr>
            <a:spLocks noGrp="1"/>
          </p:cNvSpPr>
          <p:nvPr>
            <p:ph idx="1"/>
          </p:nvPr>
        </p:nvSpPr>
        <p:spPr>
          <a:xfrm>
            <a:off x="0" y="0"/>
            <a:ext cx="12192000" cy="6858000"/>
          </a:xfrm>
        </p:spPr>
        <p:txBody>
          <a:bodyPr>
            <a:normAutofit lnSpcReduction="10000"/>
          </a:bodyPr>
          <a:lstStyle/>
          <a:p>
            <a:pPr algn="just"/>
            <a:r>
              <a:rPr lang="en-US" sz="3600" dirty="0">
                <a:latin typeface="Times New Roman" panose="02020603050405020304" pitchFamily="18" charset="0"/>
                <a:cs typeface="Times New Roman" panose="02020603050405020304" pitchFamily="18" charset="0"/>
              </a:rPr>
              <a:t>The </a:t>
            </a:r>
            <a:r>
              <a:rPr lang="en-US" sz="3600" b="1" dirty="0">
                <a:latin typeface="Times New Roman" panose="02020603050405020304" pitchFamily="18" charset="0"/>
                <a:cs typeface="Times New Roman" panose="02020603050405020304" pitchFamily="18" charset="0"/>
              </a:rPr>
              <a:t>draft e-waste rules, 2011 </a:t>
            </a:r>
            <a:r>
              <a:rPr lang="en-US" sz="3600" dirty="0">
                <a:latin typeface="Times New Roman" panose="02020603050405020304" pitchFamily="18" charset="0"/>
                <a:cs typeface="Times New Roman" panose="02020603050405020304" pitchFamily="18" charset="0"/>
              </a:rPr>
              <a:t>provide for setting up of collection centers, individually or jointly or a registered society or a designated agency or a company or an association to collect e-waste. </a:t>
            </a:r>
          </a:p>
          <a:p>
            <a:pPr algn="just"/>
            <a:endParaRPr lang="en-US" sz="20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This provision can be used by informal sector. </a:t>
            </a:r>
          </a:p>
          <a:p>
            <a:pPr algn="just"/>
            <a:endParaRPr lang="en-US" sz="20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As per the responsibility of the producer, they need to set up collection centers and organize a system to meet the cost involved for collection of their end-of-life products in an environmentally sound manner. </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The producers may adopt different business models for implementation of Extended Producers Responsibility (EPR).</a:t>
            </a:r>
          </a:p>
        </p:txBody>
      </p:sp>
    </p:spTree>
    <p:extLst>
      <p:ext uri="{BB962C8B-B14F-4D97-AF65-F5344CB8AC3E}">
        <p14:creationId xmlns:p14="http://schemas.microsoft.com/office/powerpoint/2010/main" val="2731122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8E057-815E-6F28-C999-B46407BB1FE3}"/>
              </a:ext>
            </a:extLst>
          </p:cNvPr>
          <p:cNvSpPr>
            <a:spLocks noGrp="1"/>
          </p:cNvSpPr>
          <p:nvPr>
            <p:ph type="title"/>
          </p:nvPr>
        </p:nvSpPr>
        <p:spPr>
          <a:xfrm>
            <a:off x="0" y="0"/>
            <a:ext cx="10515600" cy="489314"/>
          </a:xfrm>
        </p:spPr>
        <p:txBody>
          <a:bodyPr>
            <a:normAutofit fontScale="90000"/>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E-Waste (Management) Rules 2016:</a:t>
            </a:r>
          </a:p>
        </p:txBody>
      </p:sp>
      <p:sp>
        <p:nvSpPr>
          <p:cNvPr id="3" name="Content Placeholder 2">
            <a:extLst>
              <a:ext uri="{FF2B5EF4-FFF2-40B4-BE49-F238E27FC236}">
                <a16:creationId xmlns:a16="http://schemas.microsoft.com/office/drawing/2014/main" id="{04CA206E-9301-8E7D-17E3-239ED8E30930}"/>
              </a:ext>
            </a:extLst>
          </p:cNvPr>
          <p:cNvSpPr>
            <a:spLocks noGrp="1"/>
          </p:cNvSpPr>
          <p:nvPr>
            <p:ph idx="1"/>
          </p:nvPr>
        </p:nvSpPr>
        <p:spPr>
          <a:xfrm>
            <a:off x="0" y="764498"/>
            <a:ext cx="12192000" cy="6093502"/>
          </a:xfrm>
        </p:spPr>
        <p:txBody>
          <a:bodyPr>
            <a:normAutofit/>
          </a:bodyPr>
          <a:lstStyle/>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Taking cognizance (detailed knowledge about or understanding of something) of the unsatisfactory compliance of various provisions of </a:t>
            </a:r>
            <a:r>
              <a:rPr lang="en-US" sz="3200" b="1" dirty="0">
                <a:latin typeface="Times New Roman" panose="02020603050405020304" pitchFamily="18" charset="0"/>
                <a:cs typeface="Times New Roman" panose="02020603050405020304" pitchFamily="18" charset="0"/>
              </a:rPr>
              <a:t>e-waste Rules, 2011</a:t>
            </a:r>
            <a:r>
              <a:rPr lang="en-US" sz="3200" dirty="0">
                <a:latin typeface="Times New Roman" panose="02020603050405020304" pitchFamily="18" charset="0"/>
                <a:cs typeface="Times New Roman" panose="02020603050405020304" pitchFamily="18" charset="0"/>
              </a:rPr>
              <a:t>, specially the implementation of provision on </a:t>
            </a:r>
            <a:r>
              <a:rPr lang="en-US" sz="3200" b="1" dirty="0">
                <a:latin typeface="Times New Roman" panose="02020603050405020304" pitchFamily="18" charset="0"/>
                <a:cs typeface="Times New Roman" panose="02020603050405020304" pitchFamily="18" charset="0"/>
              </a:rPr>
              <a:t>Extended Producer Responsibility (EPR) </a:t>
            </a:r>
            <a:r>
              <a:rPr lang="en-US" sz="3200" dirty="0">
                <a:latin typeface="Times New Roman" panose="02020603050405020304" pitchFamily="18" charset="0"/>
                <a:cs typeface="Times New Roman" panose="02020603050405020304" pitchFamily="18" charset="0"/>
              </a:rPr>
              <a:t>by producers, setting up of collection centers and the capacity of recyclers, it was decided by the Ministry of Environment, Forests and Climate Change to amend the rules to address the issue of poor compliance of the Rules.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Accordingly, the draft </a:t>
            </a:r>
            <a:r>
              <a:rPr lang="en-US" sz="3200" b="1" dirty="0">
                <a:latin typeface="Times New Roman" panose="02020603050405020304" pitchFamily="18" charset="0"/>
                <a:cs typeface="Times New Roman" panose="02020603050405020304" pitchFamily="18" charset="0"/>
              </a:rPr>
              <a:t>E-Waste (Management) Rules 2015 </a:t>
            </a:r>
            <a:r>
              <a:rPr lang="en-US" sz="3200" dirty="0">
                <a:latin typeface="Times New Roman" panose="02020603050405020304" pitchFamily="18" charset="0"/>
                <a:cs typeface="Times New Roman" panose="02020603050405020304" pitchFamily="18" charset="0"/>
              </a:rPr>
              <a:t>were notified and have come into force w.e.f. </a:t>
            </a:r>
            <a:r>
              <a:rPr lang="en-US" sz="3200" b="1" dirty="0">
                <a:latin typeface="Times New Roman" panose="02020603050405020304" pitchFamily="18" charset="0"/>
                <a:cs typeface="Times New Roman" panose="02020603050405020304" pitchFamily="18" charset="0"/>
              </a:rPr>
              <a:t>16 October 2016</a:t>
            </a:r>
            <a:r>
              <a:rPr lang="en-US" sz="3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65925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0B92-C2A5-9529-C3AE-03DD06DE8C3D}"/>
              </a:ext>
            </a:extLst>
          </p:cNvPr>
          <p:cNvSpPr>
            <a:spLocks noGrp="1"/>
          </p:cNvSpPr>
          <p:nvPr>
            <p:ph type="title"/>
          </p:nvPr>
        </p:nvSpPr>
        <p:spPr>
          <a:xfrm>
            <a:off x="0" y="0"/>
            <a:ext cx="12192000" cy="624226"/>
          </a:xfrm>
        </p:spPr>
        <p:txBody>
          <a:bodyPr>
            <a:normAutofit/>
          </a:bodyPr>
          <a:lstStyle/>
          <a:p>
            <a:r>
              <a:rPr lang="en-US" sz="3600" dirty="0">
                <a:latin typeface="Times New Roman" panose="02020603050405020304" pitchFamily="18" charset="0"/>
                <a:cs typeface="Times New Roman" panose="02020603050405020304" pitchFamily="18" charset="0"/>
              </a:rPr>
              <a:t>The salient provisions of </a:t>
            </a:r>
            <a:r>
              <a:rPr kumimoji="0" lang="en-US"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cs typeface="Times New Roman" panose="02020603050405020304" pitchFamily="18" charset="0"/>
              </a:rPr>
              <a:t>E-Waste (Management) Rules 2016:</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9AB08DE-07D9-02A2-EA9E-F52A357A7AA5}"/>
              </a:ext>
            </a:extLst>
          </p:cNvPr>
          <p:cNvSpPr>
            <a:spLocks noGrp="1"/>
          </p:cNvSpPr>
          <p:nvPr>
            <p:ph idx="1"/>
          </p:nvPr>
        </p:nvSpPr>
        <p:spPr>
          <a:xfrm>
            <a:off x="0" y="734518"/>
            <a:ext cx="12192000" cy="6123482"/>
          </a:xfrm>
        </p:spPr>
        <p:txBody>
          <a:bodyPr>
            <a:normAutofit/>
          </a:bodyPr>
          <a:lstStyle/>
          <a:p>
            <a:pPr algn="just"/>
            <a:r>
              <a:rPr lang="en-US" sz="3200" dirty="0">
                <a:latin typeface="Times New Roman" panose="02020603050405020304" pitchFamily="18" charset="0"/>
                <a:cs typeface="Times New Roman" panose="02020603050405020304" pitchFamily="18" charset="0"/>
              </a:rPr>
              <a:t>The definition of Stakeholders to be covered under the rules is being expanded to manufacturer, dealer, refurbisher, e-retailer and Producer Responsibility Organization (PRO) and e-waste exchange to address leakage of e-waste to informal sector at any stage of the chain.</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Applicability of the Rules is now being extended to components, consumables and spare parts of Electrical and Electronic Equipment (EEE) which makes the product operational.</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Bulk Consumer is being redefined in terms of turnover and the number of employees and they need to file annual returns now.</a:t>
            </a:r>
          </a:p>
        </p:txBody>
      </p:sp>
    </p:spTree>
    <p:extLst>
      <p:ext uri="{BB962C8B-B14F-4D97-AF65-F5344CB8AC3E}">
        <p14:creationId xmlns:p14="http://schemas.microsoft.com/office/powerpoint/2010/main" val="1772896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4E68EB-4211-D000-E998-B0DC31E433EF}"/>
              </a:ext>
            </a:extLst>
          </p:cNvPr>
          <p:cNvSpPr>
            <a:spLocks noGrp="1"/>
          </p:cNvSpPr>
          <p:nvPr>
            <p:ph idx="1"/>
          </p:nvPr>
        </p:nvSpPr>
        <p:spPr>
          <a:xfrm>
            <a:off x="0" y="0"/>
            <a:ext cx="12192000" cy="6858000"/>
          </a:xfrm>
        </p:spPr>
        <p:txBody>
          <a:bodyPr/>
          <a:lstStyle/>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target-based approach with the introduction of more flexibility for implementation of Extended Producer Responsibly (EPR) and phase-wise target has also been fixed for ease of Producers and compliance of the EPR.</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Option has been given for setting up of PRO (Producer Responsibility Organization), e-waste exchange, e-retailer, Deposit Refund, as additional channel for implementation of EPR by Producers to ensure efficient channelization of e-waste.</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Authorization not required for Collection Centers which shall now be Producers responsibility with collection mechanism approach.</a:t>
            </a:r>
          </a:p>
          <a:p>
            <a:endParaRPr lang="en-US" dirty="0"/>
          </a:p>
        </p:txBody>
      </p:sp>
    </p:spTree>
    <p:extLst>
      <p:ext uri="{BB962C8B-B14F-4D97-AF65-F5344CB8AC3E}">
        <p14:creationId xmlns:p14="http://schemas.microsoft.com/office/powerpoint/2010/main" val="4047410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D35BEB-3D78-65F9-FB5A-F1353A69782E}"/>
              </a:ext>
            </a:extLst>
          </p:cNvPr>
          <p:cNvSpPr>
            <a:spLocks noGrp="1"/>
          </p:cNvSpPr>
          <p:nvPr>
            <p:ph idx="1"/>
          </p:nvPr>
        </p:nvSpPr>
        <p:spPr>
          <a:xfrm>
            <a:off x="0" y="0"/>
            <a:ext cx="12192000" cy="6858000"/>
          </a:xfrm>
        </p:spPr>
        <p:txBody>
          <a:bodyPr>
            <a:normAutofit lnSpcReduction="10000"/>
          </a:bodyPr>
          <a:lstStyle/>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EPR Authorization for Producers is being CPCB's responsibility to ensure pan India implementation.</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Simplification in registration/ authorization for dismantling and recycling through one system i.e. Authorization instead of both registration and authorization.</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Mandatory obligation is being introduced for dismantlers to supply non e-waste components to relevant registered recyclers of the product.</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Provision on Reduction of Hazardous Substances (RoHS) and related Schedule II has been revised in line with existing EU regulatory framework which forms the basis of the provision.</a:t>
            </a:r>
          </a:p>
        </p:txBody>
      </p:sp>
    </p:spTree>
    <p:extLst>
      <p:ext uri="{BB962C8B-B14F-4D97-AF65-F5344CB8AC3E}">
        <p14:creationId xmlns:p14="http://schemas.microsoft.com/office/powerpoint/2010/main" val="1255642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AA0719-A979-FEDC-C91B-DC646CC4A420}"/>
              </a:ext>
            </a:extLst>
          </p:cNvPr>
          <p:cNvSpPr>
            <a:spLocks noGrp="1"/>
          </p:cNvSpPr>
          <p:nvPr>
            <p:ph idx="1"/>
          </p:nvPr>
        </p:nvSpPr>
        <p:spPr>
          <a:xfrm>
            <a:off x="0" y="0"/>
            <a:ext cx="12192000" cy="6858000"/>
          </a:xfrm>
        </p:spPr>
        <p:txBody>
          <a:bodyPr>
            <a:normAutofit/>
          </a:bodyPr>
          <a:lstStyle/>
          <a:p>
            <a:pPr algn="just"/>
            <a:r>
              <a:rPr lang="en-US" sz="3200" dirty="0">
                <a:latin typeface="Times New Roman" panose="02020603050405020304" pitchFamily="18" charset="0"/>
                <a:cs typeface="Times New Roman" panose="02020603050405020304" pitchFamily="18" charset="0"/>
              </a:rPr>
              <a:t>The role of the State Governments have been also introduced in the Rules in order to ensure safety, health and skill development of the workers involved in the dismantling and recycling operations including earmarking or allocation of e-waste dismantling/recycling by the respective departments or government agency.</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Liability for damages caused to the environment or third party due to improper management of e-waste including provision for levying financial penalty for violation of provisions of the Rules has also been introduced.</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Urban Local Bodies (Municipal Committee/Council/Corporation) have been assigned the duty to collect and channelize the orphan products to authorized dismantler or recycler.</a:t>
            </a:r>
          </a:p>
        </p:txBody>
      </p:sp>
    </p:spTree>
    <p:extLst>
      <p:ext uri="{BB962C8B-B14F-4D97-AF65-F5344CB8AC3E}">
        <p14:creationId xmlns:p14="http://schemas.microsoft.com/office/powerpoint/2010/main" val="774131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89B5-487D-DF83-0EA3-ABA5A4B0A208}"/>
              </a:ext>
            </a:extLst>
          </p:cNvPr>
          <p:cNvSpPr>
            <a:spLocks noGrp="1"/>
          </p:cNvSpPr>
          <p:nvPr>
            <p:ph type="title"/>
          </p:nvPr>
        </p:nvSpPr>
        <p:spPr>
          <a:xfrm>
            <a:off x="0" y="18256"/>
            <a:ext cx="12192000" cy="662782"/>
          </a:xfrm>
        </p:spPr>
        <p:txBody>
          <a:bodyPr>
            <a:normAutofit/>
          </a:bodyPr>
          <a:lstStyle/>
          <a:p>
            <a:r>
              <a:rPr lang="en-US" sz="27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Government assistance for Treatment, Storage and Disposal Facilities (TSDFs):</a:t>
            </a:r>
          </a:p>
        </p:txBody>
      </p:sp>
      <p:sp>
        <p:nvSpPr>
          <p:cNvPr id="3" name="Content Placeholder 2">
            <a:extLst>
              <a:ext uri="{FF2B5EF4-FFF2-40B4-BE49-F238E27FC236}">
                <a16:creationId xmlns:a16="http://schemas.microsoft.com/office/drawing/2014/main" id="{1BDB0C8A-F1E6-C086-4DC0-57422683823A}"/>
              </a:ext>
            </a:extLst>
          </p:cNvPr>
          <p:cNvSpPr>
            <a:spLocks noGrp="1"/>
          </p:cNvSpPr>
          <p:nvPr>
            <p:ph idx="1"/>
          </p:nvPr>
        </p:nvSpPr>
        <p:spPr>
          <a:xfrm>
            <a:off x="0" y="681038"/>
            <a:ext cx="12192000" cy="6158706"/>
          </a:xfrm>
        </p:spPr>
        <p:txBody>
          <a:bodyPr>
            <a:normAutofit/>
          </a:bodyPr>
          <a:lstStyle/>
          <a:p>
            <a:pPr algn="just"/>
            <a:r>
              <a:rPr lang="en-US" sz="3200" dirty="0">
                <a:latin typeface="Times New Roman" panose="02020603050405020304" pitchFamily="18" charset="0"/>
                <a:cs typeface="Times New Roman" panose="02020603050405020304" pitchFamily="18" charset="0"/>
              </a:rPr>
              <a:t>The Government has taken a number of initiatives to address issues related to disposal of wastes. </a:t>
            </a:r>
          </a:p>
          <a:p>
            <a:pPr algn="just"/>
            <a:r>
              <a:rPr lang="en-US" sz="3200" dirty="0">
                <a:latin typeface="Times New Roman" panose="02020603050405020304" pitchFamily="18" charset="0"/>
                <a:cs typeface="Times New Roman" panose="02020603050405020304" pitchFamily="18" charset="0"/>
              </a:rPr>
              <a:t>It encourages setting up of integrated Treatment, Storage and Disposal Facility (TSDFs) for hazardous waste management on Public Private Partnership (PPP) mode in clusters of hazardous waste generating industries. </a:t>
            </a:r>
          </a:p>
          <a:p>
            <a:pPr algn="just"/>
            <a:r>
              <a:rPr lang="en-US" sz="3200" dirty="0">
                <a:latin typeface="Times New Roman" panose="02020603050405020304" pitchFamily="18" charset="0"/>
                <a:cs typeface="Times New Roman" panose="02020603050405020304" pitchFamily="18" charset="0"/>
              </a:rPr>
              <a:t>So far </a:t>
            </a:r>
            <a:r>
              <a:rPr lang="en-US" sz="3200" b="1" u="sng" dirty="0">
                <a:latin typeface="Times New Roman" panose="02020603050405020304" pitchFamily="18" charset="0"/>
                <a:cs typeface="Times New Roman" panose="02020603050405020304" pitchFamily="18" charset="0"/>
              </a:rPr>
              <a:t>28 TSDFs </a:t>
            </a:r>
            <a:r>
              <a:rPr lang="en-US" sz="3200" dirty="0">
                <a:latin typeface="Times New Roman" panose="02020603050405020304" pitchFamily="18" charset="0"/>
                <a:cs typeface="Times New Roman" panose="02020603050405020304" pitchFamily="18" charset="0"/>
              </a:rPr>
              <a:t>have been set up. </a:t>
            </a:r>
          </a:p>
          <a:p>
            <a:pPr algn="just"/>
            <a:r>
              <a:rPr lang="en-US" sz="3200" dirty="0">
                <a:latin typeface="Times New Roman" panose="02020603050405020304" pitchFamily="18" charset="0"/>
                <a:cs typeface="Times New Roman" panose="02020603050405020304" pitchFamily="18" charset="0"/>
              </a:rPr>
              <a:t>The </a:t>
            </a:r>
            <a:r>
              <a:rPr lang="en-US" sz="3200" b="1" dirty="0">
                <a:latin typeface="Times New Roman" panose="02020603050405020304" pitchFamily="18" charset="0"/>
                <a:cs typeface="Times New Roman" panose="02020603050405020304" pitchFamily="18" charset="0"/>
              </a:rPr>
              <a:t>Ministry of Urban Development</a:t>
            </a:r>
            <a:r>
              <a:rPr lang="en-US" sz="3200" dirty="0">
                <a:latin typeface="Times New Roman" panose="02020603050405020304" pitchFamily="18" charset="0"/>
                <a:cs typeface="Times New Roman" panose="02020603050405020304" pitchFamily="18" charset="0"/>
              </a:rPr>
              <a:t> is implementing the </a:t>
            </a:r>
            <a:r>
              <a:rPr lang="en-US" sz="3200" b="1" dirty="0">
                <a:latin typeface="Times New Roman" panose="02020603050405020304" pitchFamily="18" charset="0"/>
                <a:cs typeface="Times New Roman" panose="02020603050405020304" pitchFamily="18" charset="0"/>
              </a:rPr>
              <a:t>Jawaharlal Nehru National Urban Renewal Mission (JNNURM)</a:t>
            </a:r>
            <a:r>
              <a:rPr lang="en-US" sz="3200" dirty="0">
                <a:latin typeface="Times New Roman" panose="02020603050405020304" pitchFamily="18" charset="0"/>
                <a:cs typeface="Times New Roman" panose="02020603050405020304" pitchFamily="18" charset="0"/>
              </a:rPr>
              <a:t> for providing </a:t>
            </a:r>
            <a:r>
              <a:rPr lang="en-US" sz="3200" b="1" dirty="0">
                <a:latin typeface="Times New Roman" panose="02020603050405020304" pitchFamily="18" charset="0"/>
                <a:cs typeface="Times New Roman" panose="02020603050405020304" pitchFamily="18" charset="0"/>
              </a:rPr>
              <a:t>assistance</a:t>
            </a:r>
            <a:r>
              <a:rPr lang="en-US" sz="3200" dirty="0">
                <a:latin typeface="Times New Roman" panose="02020603050405020304" pitchFamily="18" charset="0"/>
                <a:cs typeface="Times New Roman" panose="02020603050405020304" pitchFamily="18" charset="0"/>
              </a:rPr>
              <a:t> to the </a:t>
            </a:r>
            <a:r>
              <a:rPr lang="en-US" sz="3200" b="1" dirty="0">
                <a:latin typeface="Times New Roman" panose="02020603050405020304" pitchFamily="18" charset="0"/>
                <a:cs typeface="Times New Roman" panose="02020603050405020304" pitchFamily="18" charset="0"/>
              </a:rPr>
              <a:t>State Governments/ Urban Local Bodies </a:t>
            </a:r>
            <a:r>
              <a:rPr lang="en-US" sz="3200" dirty="0">
                <a:latin typeface="Times New Roman" panose="02020603050405020304" pitchFamily="18" charset="0"/>
                <a:cs typeface="Times New Roman" panose="02020603050405020304" pitchFamily="18" charset="0"/>
              </a:rPr>
              <a:t>for various projects including </a:t>
            </a:r>
            <a:r>
              <a:rPr lang="en-US" sz="3200" b="1" dirty="0">
                <a:latin typeface="Times New Roman" panose="02020603050405020304" pitchFamily="18" charset="0"/>
                <a:cs typeface="Times New Roman" panose="02020603050405020304" pitchFamily="18" charset="0"/>
              </a:rPr>
              <a:t>solid waste management</a:t>
            </a:r>
            <a:r>
              <a:rPr lang="en-US" sz="3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37739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A3F1A9-B51E-AC55-10C5-66549B41D1FC}"/>
              </a:ext>
            </a:extLst>
          </p:cNvPr>
          <p:cNvSpPr>
            <a:spLocks noGrp="1"/>
          </p:cNvSpPr>
          <p:nvPr>
            <p:ph idx="1"/>
          </p:nvPr>
        </p:nvSpPr>
        <p:spPr>
          <a:xfrm>
            <a:off x="0" y="0"/>
            <a:ext cx="12192000" cy="6858000"/>
          </a:xfrm>
        </p:spPr>
        <p:txBody>
          <a:bodyPr>
            <a:normAutofit/>
          </a:bodyPr>
          <a:lstStyle/>
          <a:p>
            <a:pPr algn="just"/>
            <a:r>
              <a:rPr lang="en-US" sz="3200" dirty="0">
                <a:latin typeface="Times New Roman" panose="02020603050405020304" pitchFamily="18" charset="0"/>
                <a:cs typeface="Times New Roman" panose="02020603050405020304" pitchFamily="18" charset="0"/>
              </a:rPr>
              <a:t>On the basis of proposals received from the States, the Centre has provided financial assistance to the State Pollution Control Boards for setting up of integrated TSDFs (</a:t>
            </a: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Treatment, Storage and Disposal Facility)</a:t>
            </a:r>
            <a:r>
              <a:rPr lang="en-US" sz="3200" dirty="0">
                <a:latin typeface="Times New Roman" panose="02020603050405020304" pitchFamily="18" charset="0"/>
                <a:cs typeface="Times New Roman" panose="02020603050405020304" pitchFamily="18" charset="0"/>
              </a:rPr>
              <a:t>. </a:t>
            </a:r>
          </a:p>
          <a:p>
            <a:pPr algn="just"/>
            <a:r>
              <a:rPr lang="en-US" sz="3200" dirty="0">
                <a:latin typeface="Times New Roman" panose="02020603050405020304" pitchFamily="18" charset="0"/>
                <a:cs typeface="Times New Roman" panose="02020603050405020304" pitchFamily="18" charset="0"/>
              </a:rPr>
              <a:t>The financial assistance disbursed from 2007 to 2010, State-wise and year-wise is as follows:</a:t>
            </a:r>
          </a:p>
          <a:p>
            <a:pPr marL="0" indent="0" algn="just">
              <a:buNone/>
            </a:pPr>
            <a:endParaRPr lang="en-US" sz="32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18A1447B-3165-E536-23EB-A0D62C37071B}"/>
              </a:ext>
            </a:extLst>
          </p:cNvPr>
          <p:cNvGraphicFramePr>
            <a:graphicFrameLocks noGrp="1"/>
          </p:cNvGraphicFramePr>
          <p:nvPr>
            <p:extLst>
              <p:ext uri="{D42A27DB-BD31-4B8C-83A1-F6EECF244321}">
                <p14:modId xmlns:p14="http://schemas.microsoft.com/office/powerpoint/2010/main" val="3008551464"/>
              </p:ext>
            </p:extLst>
          </p:nvPr>
        </p:nvGraphicFramePr>
        <p:xfrm>
          <a:off x="1177561" y="2983180"/>
          <a:ext cx="10140013" cy="3657600"/>
        </p:xfrm>
        <a:graphic>
          <a:graphicData uri="http://schemas.openxmlformats.org/drawingml/2006/table">
            <a:tbl>
              <a:tblPr firstRow="1" bandRow="1">
                <a:tableStyleId>{93296810-A885-4BE3-A3E7-6D5BEEA58F35}</a:tableStyleId>
              </a:tblPr>
              <a:tblGrid>
                <a:gridCol w="2949871">
                  <a:extLst>
                    <a:ext uri="{9D8B030D-6E8A-4147-A177-3AD203B41FA5}">
                      <a16:colId xmlns:a16="http://schemas.microsoft.com/office/drawing/2014/main" val="1128473170"/>
                    </a:ext>
                  </a:extLst>
                </a:gridCol>
                <a:gridCol w="2949871">
                  <a:extLst>
                    <a:ext uri="{9D8B030D-6E8A-4147-A177-3AD203B41FA5}">
                      <a16:colId xmlns:a16="http://schemas.microsoft.com/office/drawing/2014/main" val="891274088"/>
                    </a:ext>
                  </a:extLst>
                </a:gridCol>
                <a:gridCol w="4240271">
                  <a:extLst>
                    <a:ext uri="{9D8B030D-6E8A-4147-A177-3AD203B41FA5}">
                      <a16:colId xmlns:a16="http://schemas.microsoft.com/office/drawing/2014/main" val="414629063"/>
                    </a:ext>
                  </a:extLst>
                </a:gridCol>
              </a:tblGrid>
              <a:tr h="370840">
                <a:tc>
                  <a:txBody>
                    <a:bodyPr/>
                    <a:lstStyle/>
                    <a:p>
                      <a:pPr algn="ctr"/>
                      <a:r>
                        <a:rPr lang="en-US" sz="2400" b="1" dirty="0">
                          <a:latin typeface="Times New Roman" panose="02020603050405020304" pitchFamily="18" charset="0"/>
                          <a:cs typeface="Times New Roman" panose="02020603050405020304" pitchFamily="18" charset="0"/>
                        </a:rPr>
                        <a:t>Year</a:t>
                      </a:r>
                    </a:p>
                  </a:txBody>
                  <a:tcPr/>
                </a:tc>
                <a:tc>
                  <a:txBody>
                    <a:bodyPr/>
                    <a:lstStyle/>
                    <a:p>
                      <a:pPr algn="ctr"/>
                      <a:r>
                        <a:rPr lang="en-US" sz="2400" b="1" dirty="0">
                          <a:latin typeface="Times New Roman" panose="02020603050405020304" pitchFamily="18" charset="0"/>
                          <a:cs typeface="Times New Roman" panose="02020603050405020304" pitchFamily="18" charset="0"/>
                        </a:rPr>
                        <a:t>State</a:t>
                      </a:r>
                    </a:p>
                  </a:txBody>
                  <a:tcPr/>
                </a:tc>
                <a:tc>
                  <a:txBody>
                    <a:bodyPr/>
                    <a:lstStyle/>
                    <a:p>
                      <a:pPr algn="ctr"/>
                      <a:r>
                        <a:rPr lang="en-US" sz="2400" b="1" dirty="0">
                          <a:latin typeface="Times New Roman" panose="02020603050405020304" pitchFamily="18" charset="0"/>
                          <a:cs typeface="Times New Roman" panose="02020603050405020304" pitchFamily="18" charset="0"/>
                        </a:rPr>
                        <a:t>Year State Amount (in lakhs)</a:t>
                      </a:r>
                    </a:p>
                  </a:txBody>
                  <a:tcPr/>
                </a:tc>
                <a:extLst>
                  <a:ext uri="{0D108BD9-81ED-4DB2-BD59-A6C34878D82A}">
                    <a16:rowId xmlns:a16="http://schemas.microsoft.com/office/drawing/2014/main" val="521870494"/>
                  </a:ext>
                </a:extLst>
              </a:tr>
              <a:tr h="370840">
                <a:tc>
                  <a:txBody>
                    <a:bodyPr/>
                    <a:lstStyle/>
                    <a:p>
                      <a:pPr algn="ctr"/>
                      <a:r>
                        <a:rPr lang="pt-BR" sz="2400" b="1" dirty="0">
                          <a:latin typeface="Times New Roman" panose="02020603050405020304" pitchFamily="18" charset="0"/>
                          <a:cs typeface="Times New Roman" panose="02020603050405020304" pitchFamily="18" charset="0"/>
                        </a:rPr>
                        <a:t>2007-2008</a:t>
                      </a: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kumimoji="0" lang="pt-BR"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Tamil Nadu </a:t>
                      </a: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kumimoji="0" lang="pt-BR"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Rs. 80.00</a:t>
                      </a: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78398753"/>
                  </a:ext>
                </a:extLst>
              </a:tr>
              <a:tr h="370840">
                <a:tc>
                  <a:txBody>
                    <a:bodyPr/>
                    <a:lstStyle/>
                    <a:p>
                      <a:pPr algn="ctr"/>
                      <a:r>
                        <a:rPr lang="sv-SE" sz="2400" b="1" dirty="0">
                          <a:latin typeface="Times New Roman" panose="02020603050405020304" pitchFamily="18" charset="0"/>
                          <a:cs typeface="Times New Roman" panose="02020603050405020304" pitchFamily="18" charset="0"/>
                        </a:rPr>
                        <a:t>2007-2008</a:t>
                      </a: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kumimoji="0" lang="sv-SE"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Andhra Pradesh</a:t>
                      </a: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kumimoji="0" lang="sv-SE"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Rs. 80.00</a:t>
                      </a: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18037442"/>
                  </a:ext>
                </a:extLst>
              </a:tr>
              <a:tr h="370840">
                <a:tc>
                  <a:txBody>
                    <a:bodyPr/>
                    <a:lstStyle/>
                    <a:p>
                      <a:pPr algn="ctr"/>
                      <a:r>
                        <a:rPr lang="en-US" sz="2400" b="1" dirty="0">
                          <a:latin typeface="Times New Roman" panose="02020603050405020304" pitchFamily="18" charset="0"/>
                          <a:cs typeface="Times New Roman" panose="02020603050405020304" pitchFamily="18" charset="0"/>
                        </a:rPr>
                        <a:t>2007-2008</a:t>
                      </a:r>
                    </a:p>
                  </a:txBody>
                  <a:tcPr/>
                </a:tc>
                <a:tc>
                  <a:txBody>
                    <a:bodyPr/>
                    <a:lstStyle/>
                    <a:p>
                      <a:pPr algn="ct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Maharashtra</a:t>
                      </a: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Rs. 96.64</a:t>
                      </a: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88858559"/>
                  </a:ext>
                </a:extLst>
              </a:tr>
              <a:tr h="370840">
                <a:tc>
                  <a:txBody>
                    <a:bodyPr/>
                    <a:lstStyle/>
                    <a:p>
                      <a:pPr algn="ctr"/>
                      <a:r>
                        <a:rPr lang="en-US" sz="2400" b="1" dirty="0">
                          <a:latin typeface="Times New Roman" panose="02020603050405020304" pitchFamily="18" charset="0"/>
                          <a:cs typeface="Times New Roman" panose="02020603050405020304" pitchFamily="18" charset="0"/>
                        </a:rPr>
                        <a:t>2008-2009</a:t>
                      </a:r>
                    </a:p>
                  </a:txBody>
                  <a:tcPr/>
                </a:tc>
                <a:tc>
                  <a:txBody>
                    <a:bodyPr/>
                    <a:lstStyle/>
                    <a:p>
                      <a:pPr algn="ct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Maharashtra</a:t>
                      </a: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Rs. 160.00</a:t>
                      </a: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227332"/>
                  </a:ext>
                </a:extLst>
              </a:tr>
              <a:tr h="370840">
                <a:tc>
                  <a:txBody>
                    <a:bodyPr/>
                    <a:lstStyle/>
                    <a:p>
                      <a:pPr algn="ctr"/>
                      <a:r>
                        <a:rPr lang="es-ES" sz="2400" b="1" dirty="0">
                          <a:latin typeface="Times New Roman" panose="02020603050405020304" pitchFamily="18" charset="0"/>
                          <a:cs typeface="Times New Roman" panose="02020603050405020304" pitchFamily="18" charset="0"/>
                        </a:rPr>
                        <a:t>2009-2010</a:t>
                      </a:r>
                      <a:endParaRPr lang="en-US" sz="24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Maharashtra</a:t>
                      </a: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kumimoji="0" lang="es-E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Rs. 2.40 crore</a:t>
                      </a: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55254576"/>
                  </a:ext>
                </a:extLst>
              </a:tr>
              <a:tr h="370840">
                <a:tc>
                  <a:txBody>
                    <a:bodyPr/>
                    <a:lstStyle/>
                    <a:p>
                      <a:pPr algn="ctr"/>
                      <a:r>
                        <a:rPr lang="sv-SE" sz="2400" b="1" dirty="0">
                          <a:latin typeface="Times New Roman" panose="02020603050405020304" pitchFamily="18" charset="0"/>
                          <a:cs typeface="Times New Roman" panose="02020603050405020304" pitchFamily="18" charset="0"/>
                        </a:rPr>
                        <a:t>2009-2010</a:t>
                      </a:r>
                      <a:endParaRPr lang="en-US" sz="24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Uttar Pradesh</a:t>
                      </a: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kumimoji="0" lang="sv-SE"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Rs. 80.00</a:t>
                      </a: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94689192"/>
                  </a:ext>
                </a:extLst>
              </a:tr>
              <a:tr h="370840">
                <a:tc>
                  <a:txBody>
                    <a:bodyPr/>
                    <a:lstStyle/>
                    <a:p>
                      <a:pPr algn="ctr"/>
                      <a:r>
                        <a:rPr lang="en-US" sz="2400" b="1" dirty="0">
                          <a:latin typeface="Times New Roman" panose="02020603050405020304" pitchFamily="18" charset="0"/>
                          <a:cs typeface="Times New Roman" panose="02020603050405020304" pitchFamily="18" charset="0"/>
                        </a:rPr>
                        <a:t>2009-2010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Kerala</a:t>
                      </a: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Rs. 80.00</a:t>
                      </a: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4557812"/>
                  </a:ext>
                </a:extLst>
              </a:tr>
            </a:tbl>
          </a:graphicData>
        </a:graphic>
      </p:graphicFrame>
    </p:spTree>
    <p:extLst>
      <p:ext uri="{BB962C8B-B14F-4D97-AF65-F5344CB8AC3E}">
        <p14:creationId xmlns:p14="http://schemas.microsoft.com/office/powerpoint/2010/main" val="2081037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EABF80-4039-9AA8-F350-938DB4CBCF2E}"/>
              </a:ext>
            </a:extLst>
          </p:cNvPr>
          <p:cNvSpPr>
            <a:spLocks noGrp="1"/>
          </p:cNvSpPr>
          <p:nvPr>
            <p:ph idx="1"/>
          </p:nvPr>
        </p:nvSpPr>
        <p:spPr>
          <a:xfrm>
            <a:off x="0" y="0"/>
            <a:ext cx="12192000" cy="6858000"/>
          </a:xfrm>
        </p:spPr>
        <p:txBody>
          <a:bodyPr>
            <a:normAutofit/>
          </a:bodyPr>
          <a:lstStyle/>
          <a:p>
            <a:pPr algn="just"/>
            <a:r>
              <a:rPr lang="en-US" sz="3200" dirty="0">
                <a:latin typeface="Times New Roman" panose="02020603050405020304" pitchFamily="18" charset="0"/>
                <a:cs typeface="Times New Roman" panose="02020603050405020304" pitchFamily="18" charset="0"/>
              </a:rPr>
              <a:t>To offset any possibility of the amount allocated for setting up of the TSDFs getting diverted for other activities or projects, a </a:t>
            </a:r>
            <a:r>
              <a:rPr lang="en-US" sz="3200" b="1" dirty="0">
                <a:latin typeface="Times New Roman" panose="02020603050405020304" pitchFamily="18" charset="0"/>
                <a:cs typeface="Times New Roman" panose="02020603050405020304" pitchFamily="18" charset="0"/>
              </a:rPr>
              <a:t>Memorandum of Understanding (MoU)</a:t>
            </a:r>
            <a:r>
              <a:rPr lang="en-US" sz="3200" dirty="0">
                <a:latin typeface="Times New Roman" panose="02020603050405020304" pitchFamily="18" charset="0"/>
                <a:cs typeface="Times New Roman" panose="02020603050405020304" pitchFamily="18" charset="0"/>
              </a:rPr>
              <a:t> is signed between the </a:t>
            </a:r>
            <a:r>
              <a:rPr lang="en-US" sz="3200" b="1" dirty="0">
                <a:latin typeface="Times New Roman" panose="02020603050405020304" pitchFamily="18" charset="0"/>
                <a:cs typeface="Times New Roman" panose="02020603050405020304" pitchFamily="18" charset="0"/>
              </a:rPr>
              <a:t>Ministry of Environment and Forests</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State Pollution Control Board </a:t>
            </a:r>
            <a:r>
              <a:rPr lang="en-US" sz="3200" dirty="0">
                <a:latin typeface="Times New Roman" panose="02020603050405020304" pitchFamily="18" charset="0"/>
                <a:cs typeface="Times New Roman" panose="02020603050405020304" pitchFamily="18" charset="0"/>
              </a:rPr>
              <a:t>and </a:t>
            </a:r>
            <a:r>
              <a:rPr lang="en-US" sz="3200" b="1" dirty="0">
                <a:latin typeface="Times New Roman" panose="02020603050405020304" pitchFamily="18" charset="0"/>
                <a:cs typeface="Times New Roman" panose="02020603050405020304" pitchFamily="18" charset="0"/>
              </a:rPr>
              <a:t>the entrepreneur</a:t>
            </a:r>
            <a:r>
              <a:rPr lang="en-US" sz="3200" dirty="0">
                <a:latin typeface="Times New Roman" panose="02020603050405020304" pitchFamily="18" charset="0"/>
                <a:cs typeface="Times New Roman" panose="02020603050405020304" pitchFamily="18" charset="0"/>
              </a:rPr>
              <a:t> before release of financial assistance for setting up of TSDF (</a:t>
            </a: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Treatment, Storage and Disposal Facility)</a:t>
            </a:r>
            <a:r>
              <a:rPr lang="en-US" sz="3200" dirty="0">
                <a:latin typeface="Times New Roman" panose="02020603050405020304" pitchFamily="18" charset="0"/>
                <a:cs typeface="Times New Roman" panose="02020603050405020304" pitchFamily="18" charset="0"/>
              </a:rPr>
              <a:t>.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One of the conditions of the MoU is to constitute a committee to monitor progress of the facility.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Further release of financial assistance is made only on submission of audited Utilization Certificate and physical progress report by the respective State Pollution Control Board.</a:t>
            </a:r>
          </a:p>
        </p:txBody>
      </p:sp>
    </p:spTree>
    <p:extLst>
      <p:ext uri="{BB962C8B-B14F-4D97-AF65-F5344CB8AC3E}">
        <p14:creationId xmlns:p14="http://schemas.microsoft.com/office/powerpoint/2010/main" val="2977874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1D6CA3-8F6A-AEEA-2060-CD572682F996}"/>
              </a:ext>
            </a:extLst>
          </p:cNvPr>
          <p:cNvSpPr>
            <a:spLocks noGrp="1"/>
          </p:cNvSpPr>
          <p:nvPr>
            <p:ph idx="1"/>
          </p:nvPr>
        </p:nvSpPr>
        <p:spPr>
          <a:xfrm>
            <a:off x="0" y="0"/>
            <a:ext cx="12192000" cy="6858000"/>
          </a:xfrm>
        </p:spPr>
        <p:txBody>
          <a:bodyPr>
            <a:normAutofit/>
          </a:bodyPr>
          <a:lstStyle/>
          <a:p>
            <a:pPr marL="0" indent="0" algn="ctr">
              <a:buNone/>
            </a:pPr>
            <a:r>
              <a:rPr lang="en-US" sz="6000" b="1" dirty="0">
                <a:latin typeface="Times New Roman" panose="02020603050405020304" pitchFamily="18" charset="0"/>
                <a:cs typeface="Times New Roman" panose="02020603050405020304" pitchFamily="18" charset="0"/>
              </a:rPr>
              <a:t>Thank You…</a:t>
            </a:r>
          </a:p>
          <a:p>
            <a:pPr marL="0" indent="0" algn="ctr">
              <a:buNone/>
            </a:pPr>
            <a:endParaRPr lang="en-US" sz="6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1EF731A-7B00-66F8-6A6F-0C1ECD927CF7}"/>
              </a:ext>
            </a:extLst>
          </p:cNvPr>
          <p:cNvPicPr>
            <a:picLocks noChangeAspect="1"/>
          </p:cNvPicPr>
          <p:nvPr/>
        </p:nvPicPr>
        <p:blipFill>
          <a:blip r:embed="rId2"/>
          <a:stretch>
            <a:fillRect/>
          </a:stretch>
        </p:blipFill>
        <p:spPr>
          <a:xfrm>
            <a:off x="-1" y="794480"/>
            <a:ext cx="12192000" cy="6063520"/>
          </a:xfrm>
          <a:prstGeom prst="rect">
            <a:avLst/>
          </a:prstGeom>
        </p:spPr>
      </p:pic>
    </p:spTree>
    <p:extLst>
      <p:ext uri="{BB962C8B-B14F-4D97-AF65-F5344CB8AC3E}">
        <p14:creationId xmlns:p14="http://schemas.microsoft.com/office/powerpoint/2010/main" val="2994700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1966</Words>
  <Application>Microsoft Office PowerPoint</Application>
  <PresentationFormat>Widescreen</PresentationFormat>
  <Paragraphs>123</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UNIT-4  E-waste (Management and Handling) Rules, 2011:</vt:lpstr>
      <vt:lpstr> Implementation of E-waste Rules, 2011: </vt:lpstr>
      <vt:lpstr>PowerPoint Presentation</vt:lpstr>
      <vt:lpstr>PowerPoint Presentation</vt:lpstr>
      <vt:lpstr>PowerPoint Presentation</vt:lpstr>
      <vt:lpstr>PowerPoint Presentation</vt:lpstr>
      <vt:lpstr>PowerPoint Presentation</vt:lpstr>
      <vt:lpstr>E-Waste (Management &amp; Handling) Rules, 2011:</vt:lpstr>
      <vt:lpstr>Applicability: E-Waste (Management &amp; Handling) Rules, 2011:</vt:lpstr>
      <vt:lpstr>PowerPoint Presentation</vt:lpstr>
      <vt:lpstr>PowerPoint Presentation</vt:lpstr>
      <vt:lpstr>PowerPoint Presentation</vt:lpstr>
      <vt:lpstr>E-Waste (Management) Rules 2016:</vt:lpstr>
      <vt:lpstr>The salient provisions of E-Waste (Management) Rules 2016:</vt:lpstr>
      <vt:lpstr>PowerPoint Presentation</vt:lpstr>
      <vt:lpstr>PowerPoint Presentation</vt:lpstr>
      <vt:lpstr>PowerPoint Presentation</vt:lpstr>
      <vt:lpstr>Government assistance for Treatment, Storage and Disposal Facilities (TSDFs):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1</cp:revision>
  <dcterms:created xsi:type="dcterms:W3CDTF">2024-09-11T10:55:24Z</dcterms:created>
  <dcterms:modified xsi:type="dcterms:W3CDTF">2024-09-11T10:56:15Z</dcterms:modified>
</cp:coreProperties>
</file>