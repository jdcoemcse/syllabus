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0AC660-CFBE-4994-884E-70AAED230CF9}" type="datetimeFigureOut">
              <a:rPr lang="en-US" smtClean="0"/>
              <a:t>9/11/2024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3A3E25-A8EB-4C5F-800C-0AC14178ACB2}" type="slidenum">
              <a:rPr lang="en-US" smtClean="0"/>
              <a:t>‹#›</a:t>
            </a:fld>
            <a:endParaRPr lang="en-US"/>
          </a:p>
        </p:txBody>
      </p:sp>
    </p:spTree>
    <p:extLst>
      <p:ext uri="{BB962C8B-B14F-4D97-AF65-F5344CB8AC3E}">
        <p14:creationId xmlns:p14="http://schemas.microsoft.com/office/powerpoint/2010/main" val="321458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3A3E25-A8EB-4C5F-800C-0AC14178ACB2}" type="slidenum">
              <a:rPr lang="en-US" smtClean="0"/>
              <a:t>16</a:t>
            </a:fld>
            <a:endParaRPr lang="en-US"/>
          </a:p>
        </p:txBody>
      </p:sp>
    </p:spTree>
    <p:extLst>
      <p:ext uri="{BB962C8B-B14F-4D97-AF65-F5344CB8AC3E}">
        <p14:creationId xmlns:p14="http://schemas.microsoft.com/office/powerpoint/2010/main" val="1844934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D649E-0178-2134-8BAC-D906D65597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D2A9E9-CE8F-1C3D-49D4-C2DB16BED8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8064A3-4377-90DD-59F9-04635486DB5F}"/>
              </a:ext>
            </a:extLst>
          </p:cNvPr>
          <p:cNvSpPr>
            <a:spLocks noGrp="1"/>
          </p:cNvSpPr>
          <p:nvPr>
            <p:ph type="dt" sz="half" idx="10"/>
          </p:nvPr>
        </p:nvSpPr>
        <p:spPr/>
        <p:txBody>
          <a:bodyPr/>
          <a:lstStyle/>
          <a:p>
            <a:fld id="{99A30972-E43E-44AD-A092-846C11945604}" type="datetimeFigureOut">
              <a:rPr lang="en-US" smtClean="0"/>
              <a:t>9/11/2024</a:t>
            </a:fld>
            <a:endParaRPr lang="en-US"/>
          </a:p>
        </p:txBody>
      </p:sp>
      <p:sp>
        <p:nvSpPr>
          <p:cNvPr id="5" name="Footer Placeholder 4">
            <a:extLst>
              <a:ext uri="{FF2B5EF4-FFF2-40B4-BE49-F238E27FC236}">
                <a16:creationId xmlns:a16="http://schemas.microsoft.com/office/drawing/2014/main" id="{E63E58AA-4C18-6B11-A541-21249917C0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ECA73E-C4D5-C024-B18A-1AD8C33B5E6F}"/>
              </a:ext>
            </a:extLst>
          </p:cNvPr>
          <p:cNvSpPr>
            <a:spLocks noGrp="1"/>
          </p:cNvSpPr>
          <p:nvPr>
            <p:ph type="sldNum" sz="quarter" idx="12"/>
          </p:nvPr>
        </p:nvSpPr>
        <p:spPr/>
        <p:txBody>
          <a:bodyPr/>
          <a:lstStyle/>
          <a:p>
            <a:fld id="{F01FA7E6-01E7-42F1-8E43-9EC977366CFE}" type="slidenum">
              <a:rPr lang="en-US" smtClean="0"/>
              <a:t>‹#›</a:t>
            </a:fld>
            <a:endParaRPr lang="en-US"/>
          </a:p>
        </p:txBody>
      </p:sp>
    </p:spTree>
    <p:extLst>
      <p:ext uri="{BB962C8B-B14F-4D97-AF65-F5344CB8AC3E}">
        <p14:creationId xmlns:p14="http://schemas.microsoft.com/office/powerpoint/2010/main" val="2446024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32A6E-0DD4-0301-E6C8-2FEB07DEC5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63B950-0A54-DD7F-BD63-0DC80A546F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BACEBC-3EA6-C173-86A8-ABF4AC6040DE}"/>
              </a:ext>
            </a:extLst>
          </p:cNvPr>
          <p:cNvSpPr>
            <a:spLocks noGrp="1"/>
          </p:cNvSpPr>
          <p:nvPr>
            <p:ph type="dt" sz="half" idx="10"/>
          </p:nvPr>
        </p:nvSpPr>
        <p:spPr/>
        <p:txBody>
          <a:bodyPr/>
          <a:lstStyle/>
          <a:p>
            <a:fld id="{99A30972-E43E-44AD-A092-846C11945604}" type="datetimeFigureOut">
              <a:rPr lang="en-US" smtClean="0"/>
              <a:t>9/11/2024</a:t>
            </a:fld>
            <a:endParaRPr lang="en-US"/>
          </a:p>
        </p:txBody>
      </p:sp>
      <p:sp>
        <p:nvSpPr>
          <p:cNvPr id="5" name="Footer Placeholder 4">
            <a:extLst>
              <a:ext uri="{FF2B5EF4-FFF2-40B4-BE49-F238E27FC236}">
                <a16:creationId xmlns:a16="http://schemas.microsoft.com/office/drawing/2014/main" id="{16106951-DF5F-541C-4B2E-8E7EE3DD22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130F55-E268-6656-66B9-8902FD5C7D27}"/>
              </a:ext>
            </a:extLst>
          </p:cNvPr>
          <p:cNvSpPr>
            <a:spLocks noGrp="1"/>
          </p:cNvSpPr>
          <p:nvPr>
            <p:ph type="sldNum" sz="quarter" idx="12"/>
          </p:nvPr>
        </p:nvSpPr>
        <p:spPr/>
        <p:txBody>
          <a:bodyPr/>
          <a:lstStyle/>
          <a:p>
            <a:fld id="{F01FA7E6-01E7-42F1-8E43-9EC977366CFE}" type="slidenum">
              <a:rPr lang="en-US" smtClean="0"/>
              <a:t>‹#›</a:t>
            </a:fld>
            <a:endParaRPr lang="en-US"/>
          </a:p>
        </p:txBody>
      </p:sp>
    </p:spTree>
    <p:extLst>
      <p:ext uri="{BB962C8B-B14F-4D97-AF65-F5344CB8AC3E}">
        <p14:creationId xmlns:p14="http://schemas.microsoft.com/office/powerpoint/2010/main" val="700841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E6E8B-D184-CF4B-B855-853272F63E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8F1B73-8BD7-2D4F-3630-CF4206542D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693D93-314E-0843-510F-CE97D1A7914F}"/>
              </a:ext>
            </a:extLst>
          </p:cNvPr>
          <p:cNvSpPr>
            <a:spLocks noGrp="1"/>
          </p:cNvSpPr>
          <p:nvPr>
            <p:ph type="dt" sz="half" idx="10"/>
          </p:nvPr>
        </p:nvSpPr>
        <p:spPr/>
        <p:txBody>
          <a:bodyPr/>
          <a:lstStyle/>
          <a:p>
            <a:fld id="{99A30972-E43E-44AD-A092-846C11945604}" type="datetimeFigureOut">
              <a:rPr lang="en-US" smtClean="0"/>
              <a:t>9/11/2024</a:t>
            </a:fld>
            <a:endParaRPr lang="en-US"/>
          </a:p>
        </p:txBody>
      </p:sp>
      <p:sp>
        <p:nvSpPr>
          <p:cNvPr id="5" name="Footer Placeholder 4">
            <a:extLst>
              <a:ext uri="{FF2B5EF4-FFF2-40B4-BE49-F238E27FC236}">
                <a16:creationId xmlns:a16="http://schemas.microsoft.com/office/drawing/2014/main" id="{02E02600-4EBB-7327-80EE-B0324181F9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C702B0-7603-83BD-3089-F6F9D4601323}"/>
              </a:ext>
            </a:extLst>
          </p:cNvPr>
          <p:cNvSpPr>
            <a:spLocks noGrp="1"/>
          </p:cNvSpPr>
          <p:nvPr>
            <p:ph type="sldNum" sz="quarter" idx="12"/>
          </p:nvPr>
        </p:nvSpPr>
        <p:spPr/>
        <p:txBody>
          <a:bodyPr/>
          <a:lstStyle/>
          <a:p>
            <a:fld id="{F01FA7E6-01E7-42F1-8E43-9EC977366CFE}" type="slidenum">
              <a:rPr lang="en-US" smtClean="0"/>
              <a:t>‹#›</a:t>
            </a:fld>
            <a:endParaRPr lang="en-US"/>
          </a:p>
        </p:txBody>
      </p:sp>
    </p:spTree>
    <p:extLst>
      <p:ext uri="{BB962C8B-B14F-4D97-AF65-F5344CB8AC3E}">
        <p14:creationId xmlns:p14="http://schemas.microsoft.com/office/powerpoint/2010/main" val="1034951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BE5DB-BC5F-A564-F0B9-05847715CC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4BAEB7-3668-5CCC-4092-C33E4A2066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DD26DB-45DF-2E9C-8317-A577CF36F6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8E0DBE0-DBDA-8780-272E-9CE5135BF5F4}"/>
              </a:ext>
            </a:extLst>
          </p:cNvPr>
          <p:cNvSpPr>
            <a:spLocks noGrp="1"/>
          </p:cNvSpPr>
          <p:nvPr>
            <p:ph type="dt" sz="half" idx="10"/>
          </p:nvPr>
        </p:nvSpPr>
        <p:spPr/>
        <p:txBody>
          <a:bodyPr/>
          <a:lstStyle/>
          <a:p>
            <a:fld id="{99A30972-E43E-44AD-A092-846C11945604}" type="datetimeFigureOut">
              <a:rPr lang="en-US" smtClean="0"/>
              <a:t>9/11/2024</a:t>
            </a:fld>
            <a:endParaRPr lang="en-US"/>
          </a:p>
        </p:txBody>
      </p:sp>
      <p:sp>
        <p:nvSpPr>
          <p:cNvPr id="6" name="Footer Placeholder 5">
            <a:extLst>
              <a:ext uri="{FF2B5EF4-FFF2-40B4-BE49-F238E27FC236}">
                <a16:creationId xmlns:a16="http://schemas.microsoft.com/office/drawing/2014/main" id="{32A72C5E-14A8-2CF7-FC3C-AB8118B41F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91109B-644B-8D09-903E-5D4B4EB252A7}"/>
              </a:ext>
            </a:extLst>
          </p:cNvPr>
          <p:cNvSpPr>
            <a:spLocks noGrp="1"/>
          </p:cNvSpPr>
          <p:nvPr>
            <p:ph type="sldNum" sz="quarter" idx="12"/>
          </p:nvPr>
        </p:nvSpPr>
        <p:spPr/>
        <p:txBody>
          <a:bodyPr/>
          <a:lstStyle/>
          <a:p>
            <a:fld id="{F01FA7E6-01E7-42F1-8E43-9EC977366CFE}" type="slidenum">
              <a:rPr lang="en-US" smtClean="0"/>
              <a:t>‹#›</a:t>
            </a:fld>
            <a:endParaRPr lang="en-US"/>
          </a:p>
        </p:txBody>
      </p:sp>
    </p:spTree>
    <p:extLst>
      <p:ext uri="{BB962C8B-B14F-4D97-AF65-F5344CB8AC3E}">
        <p14:creationId xmlns:p14="http://schemas.microsoft.com/office/powerpoint/2010/main" val="285262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550C5-D8F6-067C-3B4B-2939B9B3A3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5D1797-79EA-A035-09B4-D7B103CAC1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AA661D-C17E-D4E4-F98D-9E12908220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8CC414-F943-AF40-9CDC-A65D59B950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E5CCF7-0AC0-32A0-3527-F055A01CC6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B204A7-E0ED-7269-396E-4BEE5951D20D}"/>
              </a:ext>
            </a:extLst>
          </p:cNvPr>
          <p:cNvSpPr>
            <a:spLocks noGrp="1"/>
          </p:cNvSpPr>
          <p:nvPr>
            <p:ph type="dt" sz="half" idx="10"/>
          </p:nvPr>
        </p:nvSpPr>
        <p:spPr/>
        <p:txBody>
          <a:bodyPr/>
          <a:lstStyle/>
          <a:p>
            <a:fld id="{99A30972-E43E-44AD-A092-846C11945604}" type="datetimeFigureOut">
              <a:rPr lang="en-US" smtClean="0"/>
              <a:t>9/11/2024</a:t>
            </a:fld>
            <a:endParaRPr lang="en-US"/>
          </a:p>
        </p:txBody>
      </p:sp>
      <p:sp>
        <p:nvSpPr>
          <p:cNvPr id="8" name="Footer Placeholder 7">
            <a:extLst>
              <a:ext uri="{FF2B5EF4-FFF2-40B4-BE49-F238E27FC236}">
                <a16:creationId xmlns:a16="http://schemas.microsoft.com/office/drawing/2014/main" id="{688F6509-83E3-830F-F280-88E731A347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959194-611E-0651-BE77-8F07D0C9D515}"/>
              </a:ext>
            </a:extLst>
          </p:cNvPr>
          <p:cNvSpPr>
            <a:spLocks noGrp="1"/>
          </p:cNvSpPr>
          <p:nvPr>
            <p:ph type="sldNum" sz="quarter" idx="12"/>
          </p:nvPr>
        </p:nvSpPr>
        <p:spPr/>
        <p:txBody>
          <a:bodyPr/>
          <a:lstStyle/>
          <a:p>
            <a:fld id="{F01FA7E6-01E7-42F1-8E43-9EC977366CFE}" type="slidenum">
              <a:rPr lang="en-US" smtClean="0"/>
              <a:t>‹#›</a:t>
            </a:fld>
            <a:endParaRPr lang="en-US"/>
          </a:p>
        </p:txBody>
      </p:sp>
    </p:spTree>
    <p:extLst>
      <p:ext uri="{BB962C8B-B14F-4D97-AF65-F5344CB8AC3E}">
        <p14:creationId xmlns:p14="http://schemas.microsoft.com/office/powerpoint/2010/main" val="3527277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02197-EB98-21FB-CDBE-E9EB412649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E42364-3F08-469F-F5EB-734327F7B846}"/>
              </a:ext>
            </a:extLst>
          </p:cNvPr>
          <p:cNvSpPr>
            <a:spLocks noGrp="1"/>
          </p:cNvSpPr>
          <p:nvPr>
            <p:ph type="dt" sz="half" idx="10"/>
          </p:nvPr>
        </p:nvSpPr>
        <p:spPr/>
        <p:txBody>
          <a:bodyPr/>
          <a:lstStyle/>
          <a:p>
            <a:fld id="{99A30972-E43E-44AD-A092-846C11945604}" type="datetimeFigureOut">
              <a:rPr lang="en-US" smtClean="0"/>
              <a:t>9/11/2024</a:t>
            </a:fld>
            <a:endParaRPr lang="en-US"/>
          </a:p>
        </p:txBody>
      </p:sp>
      <p:sp>
        <p:nvSpPr>
          <p:cNvPr id="4" name="Footer Placeholder 3">
            <a:extLst>
              <a:ext uri="{FF2B5EF4-FFF2-40B4-BE49-F238E27FC236}">
                <a16:creationId xmlns:a16="http://schemas.microsoft.com/office/drawing/2014/main" id="{86DF5A60-0A68-7C68-BF6F-5D90850A97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6300C9-A3D9-0CCD-1E83-FE162D5EB011}"/>
              </a:ext>
            </a:extLst>
          </p:cNvPr>
          <p:cNvSpPr>
            <a:spLocks noGrp="1"/>
          </p:cNvSpPr>
          <p:nvPr>
            <p:ph type="sldNum" sz="quarter" idx="12"/>
          </p:nvPr>
        </p:nvSpPr>
        <p:spPr/>
        <p:txBody>
          <a:bodyPr/>
          <a:lstStyle/>
          <a:p>
            <a:fld id="{F01FA7E6-01E7-42F1-8E43-9EC977366CFE}" type="slidenum">
              <a:rPr lang="en-US" smtClean="0"/>
              <a:t>‹#›</a:t>
            </a:fld>
            <a:endParaRPr lang="en-US"/>
          </a:p>
        </p:txBody>
      </p:sp>
    </p:spTree>
    <p:extLst>
      <p:ext uri="{BB962C8B-B14F-4D97-AF65-F5344CB8AC3E}">
        <p14:creationId xmlns:p14="http://schemas.microsoft.com/office/powerpoint/2010/main" val="4051844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CC8E6D-396B-2091-C904-B0AC2E80D9B2}"/>
              </a:ext>
            </a:extLst>
          </p:cNvPr>
          <p:cNvSpPr>
            <a:spLocks noGrp="1"/>
          </p:cNvSpPr>
          <p:nvPr>
            <p:ph type="dt" sz="half" idx="10"/>
          </p:nvPr>
        </p:nvSpPr>
        <p:spPr/>
        <p:txBody>
          <a:bodyPr/>
          <a:lstStyle/>
          <a:p>
            <a:fld id="{99A30972-E43E-44AD-A092-846C11945604}" type="datetimeFigureOut">
              <a:rPr lang="en-US" smtClean="0"/>
              <a:t>9/11/2024</a:t>
            </a:fld>
            <a:endParaRPr lang="en-US"/>
          </a:p>
        </p:txBody>
      </p:sp>
      <p:sp>
        <p:nvSpPr>
          <p:cNvPr id="3" name="Footer Placeholder 2">
            <a:extLst>
              <a:ext uri="{FF2B5EF4-FFF2-40B4-BE49-F238E27FC236}">
                <a16:creationId xmlns:a16="http://schemas.microsoft.com/office/drawing/2014/main" id="{617BB04E-DFF9-0BD2-0AA0-65F24937894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A3AF94-03D1-8497-003E-748141C90922}"/>
              </a:ext>
            </a:extLst>
          </p:cNvPr>
          <p:cNvSpPr>
            <a:spLocks noGrp="1"/>
          </p:cNvSpPr>
          <p:nvPr>
            <p:ph type="sldNum" sz="quarter" idx="12"/>
          </p:nvPr>
        </p:nvSpPr>
        <p:spPr/>
        <p:txBody>
          <a:bodyPr/>
          <a:lstStyle/>
          <a:p>
            <a:fld id="{F01FA7E6-01E7-42F1-8E43-9EC977366CFE}" type="slidenum">
              <a:rPr lang="en-US" smtClean="0"/>
              <a:t>‹#›</a:t>
            </a:fld>
            <a:endParaRPr lang="en-US"/>
          </a:p>
        </p:txBody>
      </p:sp>
    </p:spTree>
    <p:extLst>
      <p:ext uri="{BB962C8B-B14F-4D97-AF65-F5344CB8AC3E}">
        <p14:creationId xmlns:p14="http://schemas.microsoft.com/office/powerpoint/2010/main" val="1368201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7BFBF-6643-FFDE-C68B-5C09E57BEE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368D2A-5D69-95D7-3822-77DC94D2A8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23208B-1A95-C115-D4B4-F671FD409C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82240E-B879-4F4F-29BA-2CEE4A98D7CB}"/>
              </a:ext>
            </a:extLst>
          </p:cNvPr>
          <p:cNvSpPr>
            <a:spLocks noGrp="1"/>
          </p:cNvSpPr>
          <p:nvPr>
            <p:ph type="dt" sz="half" idx="10"/>
          </p:nvPr>
        </p:nvSpPr>
        <p:spPr/>
        <p:txBody>
          <a:bodyPr/>
          <a:lstStyle/>
          <a:p>
            <a:fld id="{99A30972-E43E-44AD-A092-846C11945604}" type="datetimeFigureOut">
              <a:rPr lang="en-US" smtClean="0"/>
              <a:t>9/11/2024</a:t>
            </a:fld>
            <a:endParaRPr lang="en-US"/>
          </a:p>
        </p:txBody>
      </p:sp>
      <p:sp>
        <p:nvSpPr>
          <p:cNvPr id="6" name="Footer Placeholder 5">
            <a:extLst>
              <a:ext uri="{FF2B5EF4-FFF2-40B4-BE49-F238E27FC236}">
                <a16:creationId xmlns:a16="http://schemas.microsoft.com/office/drawing/2014/main" id="{85786CF6-AAA1-B0CE-99FA-4B5C155E71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E2FDCF-C133-C577-E0AD-5BA2F812DCFD}"/>
              </a:ext>
            </a:extLst>
          </p:cNvPr>
          <p:cNvSpPr>
            <a:spLocks noGrp="1"/>
          </p:cNvSpPr>
          <p:nvPr>
            <p:ph type="sldNum" sz="quarter" idx="12"/>
          </p:nvPr>
        </p:nvSpPr>
        <p:spPr/>
        <p:txBody>
          <a:bodyPr/>
          <a:lstStyle/>
          <a:p>
            <a:fld id="{F01FA7E6-01E7-42F1-8E43-9EC977366CFE}" type="slidenum">
              <a:rPr lang="en-US" smtClean="0"/>
              <a:t>‹#›</a:t>
            </a:fld>
            <a:endParaRPr lang="en-US"/>
          </a:p>
        </p:txBody>
      </p:sp>
    </p:spTree>
    <p:extLst>
      <p:ext uri="{BB962C8B-B14F-4D97-AF65-F5344CB8AC3E}">
        <p14:creationId xmlns:p14="http://schemas.microsoft.com/office/powerpoint/2010/main" val="2105355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A99F-958C-D3A6-2ACD-C2DA7F9ED4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C393C3-5EFB-AEF6-8C7C-9E32736891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2D3B83-A740-C434-5D24-C738592083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5E244A-7266-8A04-CC15-4A06D7912B60}"/>
              </a:ext>
            </a:extLst>
          </p:cNvPr>
          <p:cNvSpPr>
            <a:spLocks noGrp="1"/>
          </p:cNvSpPr>
          <p:nvPr>
            <p:ph type="dt" sz="half" idx="10"/>
          </p:nvPr>
        </p:nvSpPr>
        <p:spPr/>
        <p:txBody>
          <a:bodyPr/>
          <a:lstStyle/>
          <a:p>
            <a:fld id="{99A30972-E43E-44AD-A092-846C11945604}" type="datetimeFigureOut">
              <a:rPr lang="en-US" smtClean="0"/>
              <a:t>9/11/2024</a:t>
            </a:fld>
            <a:endParaRPr lang="en-US"/>
          </a:p>
        </p:txBody>
      </p:sp>
      <p:sp>
        <p:nvSpPr>
          <p:cNvPr id="6" name="Footer Placeholder 5">
            <a:extLst>
              <a:ext uri="{FF2B5EF4-FFF2-40B4-BE49-F238E27FC236}">
                <a16:creationId xmlns:a16="http://schemas.microsoft.com/office/drawing/2014/main" id="{68C67624-5C0E-1E69-3049-58E0EC1911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FEB3F7-BCFC-EEC1-60C4-8709B49FCD15}"/>
              </a:ext>
            </a:extLst>
          </p:cNvPr>
          <p:cNvSpPr>
            <a:spLocks noGrp="1"/>
          </p:cNvSpPr>
          <p:nvPr>
            <p:ph type="sldNum" sz="quarter" idx="12"/>
          </p:nvPr>
        </p:nvSpPr>
        <p:spPr/>
        <p:txBody>
          <a:bodyPr/>
          <a:lstStyle/>
          <a:p>
            <a:fld id="{F01FA7E6-01E7-42F1-8E43-9EC977366CFE}" type="slidenum">
              <a:rPr lang="en-US" smtClean="0"/>
              <a:t>‹#›</a:t>
            </a:fld>
            <a:endParaRPr lang="en-US"/>
          </a:p>
        </p:txBody>
      </p:sp>
    </p:spTree>
    <p:extLst>
      <p:ext uri="{BB962C8B-B14F-4D97-AF65-F5344CB8AC3E}">
        <p14:creationId xmlns:p14="http://schemas.microsoft.com/office/powerpoint/2010/main" val="254420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9AE06-36F0-F276-420F-5565F4DA79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B15658-C918-B812-6E21-6BC5CD5816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98F49D-CCF0-8C98-A2E5-0B016F2214D7}"/>
              </a:ext>
            </a:extLst>
          </p:cNvPr>
          <p:cNvSpPr>
            <a:spLocks noGrp="1"/>
          </p:cNvSpPr>
          <p:nvPr>
            <p:ph type="dt" sz="half" idx="10"/>
          </p:nvPr>
        </p:nvSpPr>
        <p:spPr/>
        <p:txBody>
          <a:bodyPr/>
          <a:lstStyle/>
          <a:p>
            <a:fld id="{99A30972-E43E-44AD-A092-846C11945604}" type="datetimeFigureOut">
              <a:rPr lang="en-US" smtClean="0"/>
              <a:t>9/11/2024</a:t>
            </a:fld>
            <a:endParaRPr lang="en-US"/>
          </a:p>
        </p:txBody>
      </p:sp>
      <p:sp>
        <p:nvSpPr>
          <p:cNvPr id="5" name="Footer Placeholder 4">
            <a:extLst>
              <a:ext uri="{FF2B5EF4-FFF2-40B4-BE49-F238E27FC236}">
                <a16:creationId xmlns:a16="http://schemas.microsoft.com/office/drawing/2014/main" id="{4E03055D-B573-0B3C-CE9B-D1940D5601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045F57-183B-0A1A-51BF-0EB0F16FA63F}"/>
              </a:ext>
            </a:extLst>
          </p:cNvPr>
          <p:cNvSpPr>
            <a:spLocks noGrp="1"/>
          </p:cNvSpPr>
          <p:nvPr>
            <p:ph type="sldNum" sz="quarter" idx="12"/>
          </p:nvPr>
        </p:nvSpPr>
        <p:spPr/>
        <p:txBody>
          <a:bodyPr/>
          <a:lstStyle/>
          <a:p>
            <a:fld id="{F01FA7E6-01E7-42F1-8E43-9EC977366CFE}" type="slidenum">
              <a:rPr lang="en-US" smtClean="0"/>
              <a:t>‹#›</a:t>
            </a:fld>
            <a:endParaRPr lang="en-US"/>
          </a:p>
        </p:txBody>
      </p:sp>
    </p:spTree>
    <p:extLst>
      <p:ext uri="{BB962C8B-B14F-4D97-AF65-F5344CB8AC3E}">
        <p14:creationId xmlns:p14="http://schemas.microsoft.com/office/powerpoint/2010/main" val="274501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A79E5-B0BE-E85A-703C-57468909AB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71A4A8-2653-033D-FE57-B6006964CA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0CB8FE-0EA2-0396-B724-AFED7C37E370}"/>
              </a:ext>
            </a:extLst>
          </p:cNvPr>
          <p:cNvSpPr>
            <a:spLocks noGrp="1"/>
          </p:cNvSpPr>
          <p:nvPr>
            <p:ph type="dt" sz="half" idx="10"/>
          </p:nvPr>
        </p:nvSpPr>
        <p:spPr/>
        <p:txBody>
          <a:bodyPr/>
          <a:lstStyle/>
          <a:p>
            <a:fld id="{99A30972-E43E-44AD-A092-846C11945604}" type="datetimeFigureOut">
              <a:rPr lang="en-US" smtClean="0"/>
              <a:t>9/11/2024</a:t>
            </a:fld>
            <a:endParaRPr lang="en-US"/>
          </a:p>
        </p:txBody>
      </p:sp>
      <p:sp>
        <p:nvSpPr>
          <p:cNvPr id="5" name="Footer Placeholder 4">
            <a:extLst>
              <a:ext uri="{FF2B5EF4-FFF2-40B4-BE49-F238E27FC236}">
                <a16:creationId xmlns:a16="http://schemas.microsoft.com/office/drawing/2014/main" id="{9FF2ECCF-BB6E-49E6-CE1A-FE099E57AD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058837-713E-BF0A-453F-C0A6E1906D00}"/>
              </a:ext>
            </a:extLst>
          </p:cNvPr>
          <p:cNvSpPr>
            <a:spLocks noGrp="1"/>
          </p:cNvSpPr>
          <p:nvPr>
            <p:ph type="sldNum" sz="quarter" idx="12"/>
          </p:nvPr>
        </p:nvSpPr>
        <p:spPr/>
        <p:txBody>
          <a:bodyPr/>
          <a:lstStyle/>
          <a:p>
            <a:fld id="{F01FA7E6-01E7-42F1-8E43-9EC977366CFE}" type="slidenum">
              <a:rPr lang="en-US" smtClean="0"/>
              <a:t>‹#›</a:t>
            </a:fld>
            <a:endParaRPr lang="en-US"/>
          </a:p>
        </p:txBody>
      </p:sp>
    </p:spTree>
    <p:extLst>
      <p:ext uri="{BB962C8B-B14F-4D97-AF65-F5344CB8AC3E}">
        <p14:creationId xmlns:p14="http://schemas.microsoft.com/office/powerpoint/2010/main" val="1023876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EE0B2C-5A7B-B780-8D67-1C3C534D58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1E856F-5E01-415D-00E0-4CAF28C030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D74B09-AC33-25A2-903C-E34AEDD118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A30972-E43E-44AD-A092-846C11945604}" type="datetimeFigureOut">
              <a:rPr lang="en-US" smtClean="0"/>
              <a:t>9/11/2024</a:t>
            </a:fld>
            <a:endParaRPr lang="en-US"/>
          </a:p>
        </p:txBody>
      </p:sp>
      <p:sp>
        <p:nvSpPr>
          <p:cNvPr id="5" name="Footer Placeholder 4">
            <a:extLst>
              <a:ext uri="{FF2B5EF4-FFF2-40B4-BE49-F238E27FC236}">
                <a16:creationId xmlns:a16="http://schemas.microsoft.com/office/drawing/2014/main" id="{39FBE89D-F7AB-2871-6A1D-77E88E097B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5419928-B390-A7E7-6282-9C64989D5E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1FA7E6-01E7-42F1-8E43-9EC977366CFE}" type="slidenum">
              <a:rPr lang="en-US" smtClean="0"/>
              <a:t>‹#›</a:t>
            </a:fld>
            <a:endParaRPr lang="en-US"/>
          </a:p>
        </p:txBody>
      </p:sp>
    </p:spTree>
    <p:extLst>
      <p:ext uri="{BB962C8B-B14F-4D97-AF65-F5344CB8AC3E}">
        <p14:creationId xmlns:p14="http://schemas.microsoft.com/office/powerpoint/2010/main" val="2729189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71696-8CAC-47B2-129E-6730319AF673}"/>
              </a:ext>
            </a:extLst>
          </p:cNvPr>
          <p:cNvSpPr>
            <a:spLocks noGrp="1"/>
          </p:cNvSpPr>
          <p:nvPr>
            <p:ph type="ctrTitle"/>
          </p:nvPr>
        </p:nvSpPr>
        <p:spPr>
          <a:xfrm>
            <a:off x="0" y="2213847"/>
            <a:ext cx="12191999" cy="2430306"/>
          </a:xfrm>
        </p:spPr>
        <p:txBody>
          <a:bodyPr>
            <a:normAutofit/>
          </a:bodyPr>
          <a:lstStyle/>
          <a:p>
            <a:r>
              <a:rPr lang="en-US" sz="7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UNIT-5</a:t>
            </a:r>
            <a:br>
              <a:rPr lang="en-US" sz="7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7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International Legislation</a:t>
            </a:r>
          </a:p>
        </p:txBody>
      </p:sp>
    </p:spTree>
    <p:extLst>
      <p:ext uri="{BB962C8B-B14F-4D97-AF65-F5344CB8AC3E}">
        <p14:creationId xmlns:p14="http://schemas.microsoft.com/office/powerpoint/2010/main" val="391162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7D338-53F5-70FF-FE3E-E37521710850}"/>
              </a:ext>
            </a:extLst>
          </p:cNvPr>
          <p:cNvSpPr>
            <a:spLocks noGrp="1"/>
          </p:cNvSpPr>
          <p:nvPr>
            <p:ph type="title"/>
          </p:nvPr>
        </p:nvSpPr>
        <p:spPr>
          <a:xfrm>
            <a:off x="0" y="18256"/>
            <a:ext cx="12192000" cy="662782"/>
          </a:xfrm>
        </p:spPr>
        <p:txBody>
          <a:bodyPr>
            <a:normAutofit fontScale="90000"/>
          </a:bodyPr>
          <a:lstStyle/>
          <a:p>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1.The Basel Convention:</a:t>
            </a:r>
          </a:p>
        </p:txBody>
      </p:sp>
      <p:sp>
        <p:nvSpPr>
          <p:cNvPr id="3" name="Content Placeholder 2">
            <a:extLst>
              <a:ext uri="{FF2B5EF4-FFF2-40B4-BE49-F238E27FC236}">
                <a16:creationId xmlns:a16="http://schemas.microsoft.com/office/drawing/2014/main" id="{B8CFFFCF-D54B-2FA5-55FC-746AABDD9F9F}"/>
              </a:ext>
            </a:extLst>
          </p:cNvPr>
          <p:cNvSpPr>
            <a:spLocks noGrp="1"/>
          </p:cNvSpPr>
          <p:nvPr>
            <p:ph idx="1"/>
          </p:nvPr>
        </p:nvSpPr>
        <p:spPr>
          <a:xfrm>
            <a:off x="0" y="681038"/>
            <a:ext cx="12192000" cy="6158706"/>
          </a:xfrm>
        </p:spPr>
        <p:txBody>
          <a:bodyPr>
            <a:normAutofit lnSpcReduction="10000"/>
          </a:bodyPr>
          <a:lstStyle/>
          <a:p>
            <a:pPr algn="just"/>
            <a:r>
              <a:rPr lang="en-US" sz="3200" dirty="0">
                <a:latin typeface="Times New Roman" panose="02020603050405020304" pitchFamily="18" charset="0"/>
                <a:cs typeface="Times New Roman" panose="02020603050405020304" pitchFamily="18" charset="0"/>
              </a:rPr>
              <a:t>The Basel Convention on the Control of Transboundary Movements of Hazardous Wastes and their Disposal is the most comprehensive global environmental agreement on hazardous and other wastes. </a:t>
            </a:r>
          </a:p>
          <a:p>
            <a:pPr algn="just"/>
            <a:r>
              <a:rPr lang="en-US" sz="3200" dirty="0">
                <a:latin typeface="Times New Roman" panose="02020603050405020304" pitchFamily="18" charset="0"/>
                <a:cs typeface="Times New Roman" panose="02020603050405020304" pitchFamily="18" charset="0"/>
              </a:rPr>
              <a:t>It was signed by 173 countries on 22 March 1989 and entered into force on 5 May 1992. </a:t>
            </a:r>
          </a:p>
          <a:p>
            <a:pPr algn="just"/>
            <a:r>
              <a:rPr lang="en-US" sz="3200" dirty="0">
                <a:latin typeface="Times New Roman" panose="02020603050405020304" pitchFamily="18" charset="0"/>
                <a:cs typeface="Times New Roman" panose="02020603050405020304" pitchFamily="18" charset="0"/>
              </a:rPr>
              <a:t>It was basically created to prevent the economically motivated dumping of hazardous wastes from richer to poorer countries, which had resulted from a tightening of environmental regulations and a steep rise in the cost of hazardous waste disposal in industrialized countries. </a:t>
            </a:r>
          </a:p>
          <a:p>
            <a:pPr algn="just"/>
            <a:r>
              <a:rPr lang="en-US" sz="3200" b="0" i="0" dirty="0">
                <a:effectLst/>
                <a:latin typeface="Times New Roman" panose="02020603050405020304" pitchFamily="18" charset="0"/>
                <a:cs typeface="Times New Roman" panose="02020603050405020304" pitchFamily="18" charset="0"/>
              </a:rPr>
              <a:t>As of June 2023, the Basel Convention has 191 countries.</a:t>
            </a:r>
          </a:p>
          <a:p>
            <a:pPr algn="just"/>
            <a:r>
              <a:rPr lang="en-US" sz="3200" b="0" i="0" dirty="0">
                <a:solidFill>
                  <a:srgbClr val="040C28"/>
                </a:solidFill>
                <a:effectLst/>
                <a:latin typeface="Google Sans"/>
              </a:rPr>
              <a:t>India is a member of the Basel Convention</a:t>
            </a:r>
            <a:r>
              <a:rPr lang="en-US" sz="3200" b="0" i="0" dirty="0">
                <a:solidFill>
                  <a:srgbClr val="474747"/>
                </a:solidFill>
                <a:effectLst/>
                <a:latin typeface="Google Sans"/>
              </a:rPr>
              <a:t>. </a:t>
            </a:r>
          </a:p>
          <a:p>
            <a:pPr algn="just"/>
            <a:r>
              <a:rPr lang="en-US" sz="3200" b="0" i="0" dirty="0">
                <a:effectLst/>
                <a:latin typeface="Times New Roman" panose="02020603050405020304" pitchFamily="18" charset="0"/>
                <a:cs typeface="Times New Roman" panose="02020603050405020304" pitchFamily="18" charset="0"/>
              </a:rPr>
              <a:t>It ratified the convention in June 1992 and brought it into force on 22nd September 1992.</a:t>
            </a:r>
            <a:endParaRPr 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0015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8F09B3-AD1B-84FE-C09C-932B3EABED0B}"/>
              </a:ext>
            </a:extLst>
          </p:cNvPr>
          <p:cNvSpPr>
            <a:spLocks noGrp="1"/>
          </p:cNvSpPr>
          <p:nvPr>
            <p:ph idx="1"/>
          </p:nvPr>
        </p:nvSpPr>
        <p:spPr>
          <a:xfrm>
            <a:off x="0" y="0"/>
            <a:ext cx="12192000" cy="6858000"/>
          </a:xfrm>
        </p:spPr>
        <p:txBody>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 the first decade (1989-1999), the Convention was primarily devoted to three agenda:</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514350" marR="0" lvl="0" indent="-514350" algn="just" defTabSz="914400" rtl="0" eaLnBrk="1" fontAlgn="auto" latinLnBrk="0" hangingPunct="1">
              <a:lnSpc>
                <a:spcPct val="90000"/>
              </a:lnSpc>
              <a:spcBef>
                <a:spcPts val="1000"/>
              </a:spcBef>
              <a:spcAft>
                <a:spcPts val="0"/>
              </a:spcAft>
              <a:buClrTx/>
              <a:buSzTx/>
              <a:buAutoNum type="arabicPeriod"/>
              <a:tabLst/>
              <a:defRPr/>
            </a:pPr>
            <a:r>
              <a:rPr lang="en-US" sz="3200" dirty="0">
                <a:latin typeface="Times New Roman" panose="02020603050405020304" pitchFamily="18" charset="0"/>
                <a:cs typeface="Times New Roman" panose="02020603050405020304" pitchFamily="18" charset="0"/>
              </a:rPr>
              <a:t>Setting up a framework for controlling the ‘transboundary’ movement of hazardous wastes, that is, the movement of hazardous wastes across international frontiers;  </a:t>
            </a:r>
          </a:p>
          <a:p>
            <a:pPr marL="514350" marR="0" lvl="0" indent="-514350" algn="just" defTabSz="914400" rtl="0" eaLnBrk="1" fontAlgn="auto" latinLnBrk="0" hangingPunct="1">
              <a:lnSpc>
                <a:spcPct val="90000"/>
              </a:lnSpc>
              <a:spcBef>
                <a:spcPts val="1000"/>
              </a:spcBef>
              <a:spcAft>
                <a:spcPts val="0"/>
              </a:spcAft>
              <a:buClrTx/>
              <a:buSzTx/>
              <a:buAutoNum type="arabicPeriod"/>
              <a:tabLst/>
              <a:defRPr/>
            </a:pPr>
            <a:endParaRPr lang="en-US" sz="32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90000"/>
              </a:lnSpc>
              <a:spcBef>
                <a:spcPts val="1000"/>
              </a:spcBef>
              <a:spcAft>
                <a:spcPts val="0"/>
              </a:spcAft>
              <a:buClrTx/>
              <a:buSzTx/>
              <a:buNone/>
              <a:tabLst/>
              <a:defRPr/>
            </a:pPr>
            <a:r>
              <a:rPr lang="en-US" sz="3200" dirty="0">
                <a:latin typeface="Times New Roman" panose="02020603050405020304" pitchFamily="18" charset="0"/>
                <a:cs typeface="Times New Roman" panose="02020603050405020304" pitchFamily="18" charset="0"/>
              </a:rPr>
              <a:t>2. developing the criteria for ‘environmentally sound management’ (ESM); and </a:t>
            </a:r>
          </a:p>
          <a:p>
            <a:pPr marL="0" marR="0" lvl="0" indent="0" algn="just" defTabSz="914400" rtl="0" eaLnBrk="1" fontAlgn="auto" latinLnBrk="0" hangingPunct="1">
              <a:lnSpc>
                <a:spcPct val="90000"/>
              </a:lnSpc>
              <a:spcBef>
                <a:spcPts val="1000"/>
              </a:spcBef>
              <a:spcAft>
                <a:spcPts val="0"/>
              </a:spcAft>
              <a:buClrTx/>
              <a:buSzTx/>
              <a:buNone/>
              <a:tabLst/>
              <a:defRPr/>
            </a:pPr>
            <a:endParaRPr lang="en-US" sz="32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90000"/>
              </a:lnSpc>
              <a:spcBef>
                <a:spcPts val="1000"/>
              </a:spcBef>
              <a:spcAft>
                <a:spcPts val="0"/>
              </a:spcAft>
              <a:buClrTx/>
              <a:buSzTx/>
              <a:buNone/>
              <a:tabLst/>
              <a:defRPr/>
            </a:pPr>
            <a:r>
              <a:rPr lang="en-US" sz="3200" dirty="0">
                <a:latin typeface="Times New Roman" panose="02020603050405020304" pitchFamily="18" charset="0"/>
                <a:cs typeface="Times New Roman" panose="02020603050405020304" pitchFamily="18" charset="0"/>
              </a:rPr>
              <a:t>3. putting into place a ‘control system’ based on prior written notification</a:t>
            </a:r>
            <a:endParaRPr kumimoji="0" lang="en-US" sz="4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78161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B6F26F-F410-8913-CC2A-50333D9D659B}"/>
              </a:ext>
            </a:extLst>
          </p:cNvPr>
          <p:cNvSpPr>
            <a:spLocks noGrp="1"/>
          </p:cNvSpPr>
          <p:nvPr>
            <p:ph idx="1"/>
          </p:nvPr>
        </p:nvSpPr>
        <p:spPr>
          <a:xfrm>
            <a:off x="0" y="0"/>
            <a:ext cx="12192000" cy="6858000"/>
          </a:xfrm>
        </p:spPr>
        <p:txBody>
          <a:bodyPr>
            <a:normAutofit lnSpcReduction="10000"/>
          </a:bodyPr>
          <a:lstStyle/>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a:t>
            </a:r>
            <a:r>
              <a:rPr lang="en-US" sz="3200" b="1" dirty="0">
                <a:latin typeface="Times New Roman" panose="02020603050405020304" pitchFamily="18" charset="0"/>
                <a:cs typeface="Times New Roman" panose="02020603050405020304" pitchFamily="18" charset="0"/>
              </a:rPr>
              <a:t>1999 Ministerial Declaration adopted </a:t>
            </a:r>
            <a:r>
              <a:rPr lang="en-US" sz="3200" dirty="0">
                <a:latin typeface="Times New Roman" panose="02020603050405020304" pitchFamily="18" charset="0"/>
                <a:cs typeface="Times New Roman" panose="02020603050405020304" pitchFamily="18" charset="0"/>
              </a:rPr>
              <a:t>at the </a:t>
            </a:r>
            <a:r>
              <a:rPr lang="en-US" sz="3200" b="1" dirty="0">
                <a:latin typeface="Times New Roman" panose="02020603050405020304" pitchFamily="18" charset="0"/>
                <a:cs typeface="Times New Roman" panose="02020603050405020304" pitchFamily="18" charset="0"/>
              </a:rPr>
              <a:t>Fifth Conference of the Parties (COP-5)</a:t>
            </a:r>
            <a:r>
              <a:rPr lang="en-US" sz="3200" dirty="0">
                <a:latin typeface="Times New Roman" panose="02020603050405020304" pitchFamily="18" charset="0"/>
                <a:cs typeface="Times New Roman" panose="02020603050405020304" pitchFamily="18" charset="0"/>
              </a:rPr>
              <a:t> set out the agenda for the </a:t>
            </a:r>
            <a:r>
              <a:rPr lang="en-US" sz="3200" b="1" dirty="0">
                <a:latin typeface="Times New Roman" panose="02020603050405020304" pitchFamily="18" charset="0"/>
                <a:cs typeface="Times New Roman" panose="02020603050405020304" pitchFamily="18" charset="0"/>
              </a:rPr>
              <a:t>current decade (2000-2010)</a:t>
            </a:r>
            <a:r>
              <a:rPr lang="en-US" sz="3200" dirty="0">
                <a:latin typeface="Times New Roman" panose="02020603050405020304" pitchFamily="18" charset="0"/>
                <a:cs typeface="Times New Roman" panose="02020603050405020304" pitchFamily="18" charset="0"/>
              </a:rPr>
              <a:t>, laying special emphasis on two areas: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Building on the transboundary framework by emphasizing full implementation and enforcement of treaty commitments;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 Minimization of hazardous waste generation.</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It was on the 10th Anniversary of the Basel Convention on Hazardous Wastes in December 1999 that the Government Ministers assembled in </a:t>
            </a:r>
            <a:r>
              <a:rPr lang="en-US" sz="3200" b="1" dirty="0">
                <a:latin typeface="Times New Roman" panose="02020603050405020304" pitchFamily="18" charset="0"/>
                <a:cs typeface="Times New Roman" panose="02020603050405020304" pitchFamily="18" charset="0"/>
              </a:rPr>
              <a:t>Basel, Switzerland adopted a declaration on the environmentally sound management of hazardous wastes</a:t>
            </a:r>
            <a:r>
              <a:rPr lang="en-US" sz="3200" dirty="0">
                <a:latin typeface="Times New Roman" panose="02020603050405020304" pitchFamily="18" charset="0"/>
                <a:cs typeface="Times New Roman" panose="02020603050405020304" pitchFamily="18" charset="0"/>
              </a:rPr>
              <a:t>.</a:t>
            </a:r>
            <a:endParaRPr lang="en-US" sz="44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5917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39DB6A-6A5E-C703-C136-F7C5FB4ECD7E}"/>
              </a:ext>
            </a:extLst>
          </p:cNvPr>
          <p:cNvSpPr>
            <a:spLocks noGrp="1"/>
          </p:cNvSpPr>
          <p:nvPr>
            <p:ph idx="1"/>
          </p:nvPr>
        </p:nvSpPr>
        <p:spPr>
          <a:xfrm>
            <a:off x="0" y="0"/>
            <a:ext cx="12192000" cy="6858000"/>
          </a:xfrm>
        </p:spPr>
        <p:txBody>
          <a:bodyPr>
            <a:normAutofit/>
          </a:bodyPr>
          <a:lstStyle/>
          <a:p>
            <a:pPr marL="0" indent="0">
              <a:buNone/>
            </a:pPr>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Features of BASEL Convention:</a:t>
            </a:r>
          </a:p>
          <a:p>
            <a:r>
              <a:rPr lang="en-US" sz="3200" dirty="0">
                <a:latin typeface="Times New Roman" panose="02020603050405020304" pitchFamily="18" charset="0"/>
                <a:cs typeface="Times New Roman" panose="02020603050405020304" pitchFamily="18" charset="0"/>
              </a:rPr>
              <a:t>Active promotion and use of cleaner technologies and production methods.</a:t>
            </a:r>
          </a:p>
          <a:p>
            <a:r>
              <a:rPr lang="en-US" sz="3200" dirty="0">
                <a:latin typeface="Times New Roman" panose="02020603050405020304" pitchFamily="18" charset="0"/>
                <a:cs typeface="Times New Roman" panose="02020603050405020304" pitchFamily="18" charset="0"/>
              </a:rPr>
              <a:t>Further reduction of the movement of hazardous and other wastes.</a:t>
            </a:r>
          </a:p>
          <a:p>
            <a:r>
              <a:rPr lang="en-US" sz="3200" dirty="0">
                <a:latin typeface="Times New Roman" panose="02020603050405020304" pitchFamily="18" charset="0"/>
                <a:cs typeface="Times New Roman" panose="02020603050405020304" pitchFamily="18" charset="0"/>
              </a:rPr>
              <a:t>The prevention and monitoring of illegal traffic.</a:t>
            </a:r>
          </a:p>
          <a:p>
            <a:r>
              <a:rPr lang="en-US" sz="3200" dirty="0">
                <a:latin typeface="Times New Roman" panose="02020603050405020304" pitchFamily="18" charset="0"/>
                <a:cs typeface="Times New Roman" panose="02020603050405020304" pitchFamily="18" charset="0"/>
              </a:rPr>
              <a:t> Improvement of institutional and technical capabilities— through technology when appropriate — especially for developing countries and countries with economies in transition.</a:t>
            </a:r>
          </a:p>
          <a:p>
            <a:r>
              <a:rPr lang="en-US" sz="3200" dirty="0">
                <a:latin typeface="Times New Roman" panose="02020603050405020304" pitchFamily="18" charset="0"/>
                <a:cs typeface="Times New Roman" panose="02020603050405020304" pitchFamily="18" charset="0"/>
              </a:rPr>
              <a:t>Further development of regional and subregional </a:t>
            </a:r>
            <a:r>
              <a:rPr lang="en-US" sz="3200" dirty="0" err="1">
                <a:latin typeface="Times New Roman" panose="02020603050405020304" pitchFamily="18" charset="0"/>
                <a:cs typeface="Times New Roman" panose="02020603050405020304" pitchFamily="18" charset="0"/>
              </a:rPr>
              <a:t>centres</a:t>
            </a:r>
            <a:r>
              <a:rPr lang="en-US" sz="3200" dirty="0">
                <a:latin typeface="Times New Roman" panose="02020603050405020304" pitchFamily="18" charset="0"/>
                <a:cs typeface="Times New Roman" panose="02020603050405020304" pitchFamily="18" charset="0"/>
              </a:rPr>
              <a:t> for training and technology transfer.</a:t>
            </a:r>
          </a:p>
          <a:p>
            <a:r>
              <a:rPr lang="en-US" sz="3200" dirty="0">
                <a:latin typeface="Times New Roman" panose="02020603050405020304" pitchFamily="18" charset="0"/>
                <a:cs typeface="Times New Roman" panose="02020603050405020304" pitchFamily="18" charset="0"/>
              </a:rPr>
              <a:t>Enhancement of information exchange, education and awareness-raising in all sectors of society.</a:t>
            </a:r>
          </a:p>
        </p:txBody>
      </p:sp>
    </p:spTree>
    <p:extLst>
      <p:ext uri="{BB962C8B-B14F-4D97-AF65-F5344CB8AC3E}">
        <p14:creationId xmlns:p14="http://schemas.microsoft.com/office/powerpoint/2010/main" val="3997465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3E7ABB-87B4-7D92-CBEA-7FB589ABB8C3}"/>
              </a:ext>
            </a:extLst>
          </p:cNvPr>
          <p:cNvSpPr>
            <a:spLocks noGrp="1"/>
          </p:cNvSpPr>
          <p:nvPr>
            <p:ph idx="1"/>
          </p:nvPr>
        </p:nvSpPr>
        <p:spPr>
          <a:xfrm>
            <a:off x="0" y="0"/>
            <a:ext cx="12192000" cy="6858000"/>
          </a:xfrm>
        </p:spPr>
        <p:txBody>
          <a:bodyPr>
            <a:normAutofit/>
          </a:bodyPr>
          <a:lstStyle/>
          <a:p>
            <a:pPr marL="0" indent="0">
              <a:buNone/>
            </a:pPr>
            <a:endParaRPr lang="en-US" sz="3200" b="1" dirty="0">
              <a:latin typeface="Times New Roman" panose="02020603050405020304" pitchFamily="18" charset="0"/>
              <a:cs typeface="Times New Roman" panose="02020603050405020304" pitchFamily="18" charset="0"/>
            </a:endParaRPr>
          </a:p>
          <a:p>
            <a:pPr marL="0" indent="0">
              <a:buNone/>
            </a:pPr>
            <a:r>
              <a:rPr lang="en-US" sz="3200" b="1" dirty="0">
                <a:latin typeface="Times New Roman" panose="02020603050405020304" pitchFamily="18" charset="0"/>
                <a:cs typeface="Times New Roman" panose="02020603050405020304" pitchFamily="18" charset="0"/>
              </a:rPr>
              <a:t>Compliance and Implementation of BASEL Convention:</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Basel Convention contains specific provisions for the monitoring of its implementation and compliance.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 number of articles in the Convention oblige the Parties to take appropriate measures to implement and enforce its provisions, including measures to prevent and punish conduct that breach the Convention.</a:t>
            </a:r>
            <a:endParaRPr 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954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E381228-75C9-5394-53E3-1FC4666A4BC3}"/>
              </a:ext>
            </a:extLst>
          </p:cNvPr>
          <p:cNvPicPr>
            <a:picLocks noGrp="1" noChangeAspect="1"/>
          </p:cNvPicPr>
          <p:nvPr>
            <p:ph idx="1"/>
          </p:nvPr>
        </p:nvPicPr>
        <p:blipFill>
          <a:blip r:embed="rId2"/>
          <a:stretch>
            <a:fillRect/>
          </a:stretch>
        </p:blipFill>
        <p:spPr>
          <a:xfrm>
            <a:off x="1" y="20998"/>
            <a:ext cx="12192000" cy="6837002"/>
          </a:xfrm>
          <a:prstGeom prst="rect">
            <a:avLst/>
          </a:prstGeom>
        </p:spPr>
      </p:pic>
    </p:spTree>
    <p:extLst>
      <p:ext uri="{BB962C8B-B14F-4D97-AF65-F5344CB8AC3E}">
        <p14:creationId xmlns:p14="http://schemas.microsoft.com/office/powerpoint/2010/main" val="1025033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E4A7-05F2-F747-B39F-7BDACE6A1F26}"/>
              </a:ext>
            </a:extLst>
          </p:cNvPr>
          <p:cNvSpPr>
            <a:spLocks noGrp="1"/>
          </p:cNvSpPr>
          <p:nvPr>
            <p:ph type="title"/>
          </p:nvPr>
        </p:nvSpPr>
        <p:spPr>
          <a:xfrm>
            <a:off x="0" y="18256"/>
            <a:ext cx="12192000" cy="662782"/>
          </a:xfrm>
        </p:spPr>
        <p:txBody>
          <a:bodyPr>
            <a:normAutofit fontScale="90000"/>
          </a:bodyPr>
          <a:lstStyle/>
          <a:p>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Bamako Convention:</a:t>
            </a:r>
          </a:p>
        </p:txBody>
      </p:sp>
      <p:sp>
        <p:nvSpPr>
          <p:cNvPr id="3" name="Content Placeholder 2">
            <a:extLst>
              <a:ext uri="{FF2B5EF4-FFF2-40B4-BE49-F238E27FC236}">
                <a16:creationId xmlns:a16="http://schemas.microsoft.com/office/drawing/2014/main" id="{2C05F172-1B16-A270-0083-6F4D5133956F}"/>
              </a:ext>
            </a:extLst>
          </p:cNvPr>
          <p:cNvSpPr>
            <a:spLocks noGrp="1"/>
          </p:cNvSpPr>
          <p:nvPr>
            <p:ph idx="1"/>
          </p:nvPr>
        </p:nvSpPr>
        <p:spPr>
          <a:xfrm>
            <a:off x="0" y="794478"/>
            <a:ext cx="12192000" cy="6045265"/>
          </a:xfrm>
        </p:spPr>
        <p:txBody>
          <a:bodyPr>
            <a:normAutofit/>
          </a:bodyPr>
          <a:lstStyle/>
          <a:p>
            <a:pPr algn="just"/>
            <a:r>
              <a:rPr lang="en-US" sz="3200" dirty="0">
                <a:latin typeface="Times New Roman" panose="02020603050405020304" pitchFamily="18" charset="0"/>
                <a:cs typeface="Times New Roman" panose="02020603050405020304" pitchFamily="18" charset="0"/>
              </a:rPr>
              <a:t>The Bamako Convention or the Bamako Convention on the </a:t>
            </a:r>
            <a:r>
              <a:rPr lang="en-US" sz="3200" b="1" dirty="0">
                <a:latin typeface="Times New Roman" panose="02020603050405020304" pitchFamily="18" charset="0"/>
                <a:cs typeface="Times New Roman" panose="02020603050405020304" pitchFamily="18" charset="0"/>
              </a:rPr>
              <a:t>Ban of the Import into Africa and the Control of Transboundary Movement of Hazardous Wastes</a:t>
            </a:r>
            <a:r>
              <a:rPr lang="en-US" sz="3200" dirty="0">
                <a:latin typeface="Times New Roman" panose="02020603050405020304" pitchFamily="18" charset="0"/>
                <a:cs typeface="Times New Roman" panose="02020603050405020304" pitchFamily="18" charset="0"/>
              </a:rPr>
              <a:t> was adopted by the </a:t>
            </a:r>
            <a:r>
              <a:rPr lang="en-US" sz="3200" b="1" dirty="0">
                <a:latin typeface="Times New Roman" panose="02020603050405020304" pitchFamily="18" charset="0"/>
                <a:cs typeface="Times New Roman" panose="02020603050405020304" pitchFamily="18" charset="0"/>
              </a:rPr>
              <a:t>twelve nations </a:t>
            </a:r>
            <a:r>
              <a:rPr lang="en-US" sz="3200" dirty="0">
                <a:latin typeface="Times New Roman" panose="02020603050405020304" pitchFamily="18" charset="0"/>
                <a:cs typeface="Times New Roman" panose="02020603050405020304" pitchFamily="18" charset="0"/>
              </a:rPr>
              <a:t>of the Organization of </a:t>
            </a:r>
            <a:r>
              <a:rPr lang="en-US" sz="3200" b="1" dirty="0">
                <a:latin typeface="Times New Roman" panose="02020603050405020304" pitchFamily="18" charset="0"/>
                <a:cs typeface="Times New Roman" panose="02020603050405020304" pitchFamily="18" charset="0"/>
              </a:rPr>
              <a:t>African Unity at Bamako, Mali in January, 1991</a:t>
            </a:r>
            <a:r>
              <a:rPr lang="en-US" sz="3200" dirty="0">
                <a:latin typeface="Times New Roman" panose="02020603050405020304" pitchFamily="18" charset="0"/>
                <a:cs typeface="Times New Roman" panose="02020603050405020304" pitchFamily="18" charset="0"/>
              </a:rPr>
              <a:t>, and </a:t>
            </a:r>
            <a:r>
              <a:rPr lang="en-US" sz="3200" b="1" dirty="0">
                <a:latin typeface="Times New Roman" panose="02020603050405020304" pitchFamily="18" charset="0"/>
                <a:cs typeface="Times New Roman" panose="02020603050405020304" pitchFamily="18" charset="0"/>
              </a:rPr>
              <a:t>came into force in March, 1999</a:t>
            </a:r>
            <a:r>
              <a:rPr lang="en-US" sz="3200" dirty="0">
                <a:latin typeface="Times New Roman" panose="02020603050405020304" pitchFamily="18" charset="0"/>
                <a:cs typeface="Times New Roman" panose="02020603050405020304" pitchFamily="18" charset="0"/>
              </a:rPr>
              <a:t>.</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Convention aims to protect human health and environment from dangers posed by hazardous wastes by reducing their generation to a minimum in terms of quantity and/or hazardous potential.</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All Parties are obliged to prohibit the import of all hazardous wastes, for any reason, into Africa from non-Contracting Parties.</a:t>
            </a:r>
          </a:p>
        </p:txBody>
      </p:sp>
    </p:spTree>
    <p:extLst>
      <p:ext uri="{BB962C8B-B14F-4D97-AF65-F5344CB8AC3E}">
        <p14:creationId xmlns:p14="http://schemas.microsoft.com/office/powerpoint/2010/main" val="369236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767B83-B0CD-CCC3-440C-0A5B34C41CD5}"/>
              </a:ext>
            </a:extLst>
          </p:cNvPr>
          <p:cNvSpPr>
            <a:spLocks noGrp="1"/>
          </p:cNvSpPr>
          <p:nvPr>
            <p:ph idx="1"/>
          </p:nvPr>
        </p:nvSpPr>
        <p:spPr>
          <a:xfrm>
            <a:off x="0" y="0"/>
            <a:ext cx="12192000" cy="6858000"/>
          </a:xfrm>
        </p:spPr>
        <p:txBody>
          <a:bodyPr>
            <a:normAutofit lnSpcReduction="10000"/>
          </a:bodyPr>
          <a:lstStyle/>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It is clear from the provisions of the Bamako Convention that the dumping of radioactive wastes, industrial wastes, sewage and sewage sludge is prohibited.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Bamako Convention places the duty on the Parties to monitor their respective waterways to ensure that no dumping occurs.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Each State Party has to report annually to the Secretariat.</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need to sign the Bamako Convention arose from the failure of the Basel Convention to prohibit trade of hazardous waste to the less developed countries, and from the realization that many developed nations were exporting toxic wastes to Africa. </a:t>
            </a:r>
          </a:p>
        </p:txBody>
      </p:sp>
    </p:spTree>
    <p:extLst>
      <p:ext uri="{BB962C8B-B14F-4D97-AF65-F5344CB8AC3E}">
        <p14:creationId xmlns:p14="http://schemas.microsoft.com/office/powerpoint/2010/main" val="591002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925116-1BA5-7941-DD29-A4FDB084B688}"/>
              </a:ext>
            </a:extLst>
          </p:cNvPr>
          <p:cNvSpPr>
            <a:spLocks noGrp="1"/>
          </p:cNvSpPr>
          <p:nvPr>
            <p:ph idx="1"/>
          </p:nvPr>
        </p:nvSpPr>
        <p:spPr>
          <a:xfrm>
            <a:off x="0" y="0"/>
            <a:ext cx="12192000" cy="6858000"/>
          </a:xfrm>
        </p:spPr>
        <p:txBody>
          <a:bodyPr>
            <a:normAutofit/>
          </a:bodyPr>
          <a:lstStyle/>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One important case, which occurred in </a:t>
            </a:r>
            <a:r>
              <a:rPr lang="en-US" sz="3200" b="1" dirty="0">
                <a:latin typeface="Times New Roman" panose="02020603050405020304" pitchFamily="18" charset="0"/>
                <a:cs typeface="Times New Roman" panose="02020603050405020304" pitchFamily="18" charset="0"/>
              </a:rPr>
              <a:t>1987</a:t>
            </a:r>
            <a:r>
              <a:rPr lang="en-US" sz="3200" dirty="0">
                <a:latin typeface="Times New Roman" panose="02020603050405020304" pitchFamily="18" charset="0"/>
                <a:cs typeface="Times New Roman" panose="02020603050405020304" pitchFamily="18" charset="0"/>
              </a:rPr>
              <a:t>, concerned </a:t>
            </a:r>
            <a:r>
              <a:rPr lang="en-US" sz="3200" b="1" dirty="0">
                <a:latin typeface="Times New Roman" panose="02020603050405020304" pitchFamily="18" charset="0"/>
                <a:cs typeface="Times New Roman" panose="02020603050405020304" pitchFamily="18" charset="0"/>
              </a:rPr>
              <a:t>the import of 18,000 barrels of hazardous waste into Nigeria </a:t>
            </a:r>
            <a:r>
              <a:rPr lang="en-US" sz="3200" dirty="0">
                <a:latin typeface="Times New Roman" panose="02020603050405020304" pitchFamily="18" charset="0"/>
                <a:cs typeface="Times New Roman" panose="02020603050405020304" pitchFamily="18" charset="0"/>
              </a:rPr>
              <a:t>from </a:t>
            </a:r>
            <a:r>
              <a:rPr lang="en-US" sz="3200" b="1" dirty="0">
                <a:latin typeface="Times New Roman" panose="02020603050405020304" pitchFamily="18" charset="0"/>
                <a:cs typeface="Times New Roman" panose="02020603050405020304" pitchFamily="18" charset="0"/>
              </a:rPr>
              <a:t>the Italian companies Ecomar and Jelly Wax</a:t>
            </a:r>
            <a:r>
              <a:rPr lang="en-US" sz="3200" dirty="0">
                <a:latin typeface="Times New Roman" panose="02020603050405020304" pitchFamily="18" charset="0"/>
                <a:cs typeface="Times New Roman" panose="02020603050405020304" pitchFamily="18" charset="0"/>
              </a:rPr>
              <a:t>, which agreed to pay local farmer Sunday Nana $100 per month for storage.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barrels, found in storage in the port of Lagos, contained toxic waste including </a:t>
            </a:r>
            <a:r>
              <a:rPr lang="en-US" sz="3200" b="1" dirty="0">
                <a:latin typeface="Times New Roman" panose="02020603050405020304" pitchFamily="18" charset="0"/>
                <a:cs typeface="Times New Roman" panose="02020603050405020304" pitchFamily="18" charset="0"/>
              </a:rPr>
              <a:t>polychlorinated biphenyls</a:t>
            </a:r>
            <a:r>
              <a:rPr lang="en-US" sz="3200" dirty="0">
                <a:latin typeface="Times New Roman" panose="02020603050405020304" pitchFamily="18" charset="0"/>
                <a:cs typeface="Times New Roman" panose="02020603050405020304" pitchFamily="18" charset="0"/>
              </a:rPr>
              <a:t>.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Their eventual shipment back to Italy led to protests closing three Italian ports.</a:t>
            </a:r>
          </a:p>
        </p:txBody>
      </p:sp>
    </p:spTree>
    <p:extLst>
      <p:ext uri="{BB962C8B-B14F-4D97-AF65-F5344CB8AC3E}">
        <p14:creationId xmlns:p14="http://schemas.microsoft.com/office/powerpoint/2010/main" val="1530159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C7313F-D288-92A3-0171-8872371F2843}"/>
              </a:ext>
            </a:extLst>
          </p:cNvPr>
          <p:cNvSpPr>
            <a:spLocks noGrp="1"/>
          </p:cNvSpPr>
          <p:nvPr>
            <p:ph idx="1"/>
          </p:nvPr>
        </p:nvSpPr>
        <p:spPr>
          <a:xfrm>
            <a:off x="0" y="0"/>
            <a:ext cx="12192000" cy="6858000"/>
          </a:xfrm>
        </p:spPr>
        <p:txBody>
          <a:bodyPr>
            <a:normAutofit/>
          </a:bodyPr>
          <a:lstStyle/>
          <a:p>
            <a:pPr algn="just"/>
            <a:endParaRPr lang="en-US" sz="36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What differentiates the Bamako Convention from the Basel Convention is that the former uses a format and language similar to that of the Basel Convention, but which is much stronger in prohibiting all imports of hazardous waste. </a:t>
            </a:r>
          </a:p>
          <a:p>
            <a:pPr algn="just"/>
            <a:endParaRPr lang="en-US" sz="36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Additionally, it does not make exceptions on certain hazardous wastes like those for radioactive materials made by the Basel Convention.</a:t>
            </a:r>
          </a:p>
        </p:txBody>
      </p:sp>
    </p:spTree>
    <p:extLst>
      <p:ext uri="{BB962C8B-B14F-4D97-AF65-F5344CB8AC3E}">
        <p14:creationId xmlns:p14="http://schemas.microsoft.com/office/powerpoint/2010/main" val="2886406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75BC3-FB6E-0307-3481-96F14AE6E4BE}"/>
              </a:ext>
            </a:extLst>
          </p:cNvPr>
          <p:cNvSpPr>
            <a:spLocks noGrp="1"/>
          </p:cNvSpPr>
          <p:nvPr>
            <p:ph type="title"/>
          </p:nvPr>
        </p:nvSpPr>
        <p:spPr>
          <a:xfrm>
            <a:off x="0" y="18256"/>
            <a:ext cx="12192000" cy="662782"/>
          </a:xfrm>
        </p:spPr>
        <p:txBody>
          <a:bodyPr>
            <a:normAutofit fontScale="90000"/>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Rotterdam Convention:</a:t>
            </a:r>
          </a:p>
        </p:txBody>
      </p:sp>
      <p:sp>
        <p:nvSpPr>
          <p:cNvPr id="3" name="Content Placeholder 2">
            <a:extLst>
              <a:ext uri="{FF2B5EF4-FFF2-40B4-BE49-F238E27FC236}">
                <a16:creationId xmlns:a16="http://schemas.microsoft.com/office/drawing/2014/main" id="{D7C3E10A-F8EA-9071-6797-2CC39B63E9F1}"/>
              </a:ext>
            </a:extLst>
          </p:cNvPr>
          <p:cNvSpPr>
            <a:spLocks noGrp="1"/>
          </p:cNvSpPr>
          <p:nvPr>
            <p:ph idx="1"/>
          </p:nvPr>
        </p:nvSpPr>
        <p:spPr>
          <a:xfrm>
            <a:off x="0" y="681038"/>
            <a:ext cx="12192000" cy="6158705"/>
          </a:xfrm>
        </p:spPr>
        <p:txBody>
          <a:bodyPr>
            <a:normAutofit fontScale="92500" lnSpcReduction="20000"/>
          </a:bodyPr>
          <a:lstStyle/>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Like the Bamako Convention, </a:t>
            </a:r>
            <a:r>
              <a:rPr lang="en-US" sz="3200" b="1" dirty="0">
                <a:latin typeface="Times New Roman" panose="02020603050405020304" pitchFamily="18" charset="0"/>
                <a:cs typeface="Times New Roman" panose="02020603050405020304" pitchFamily="18" charset="0"/>
              </a:rPr>
              <a:t>the Rotterdam Convention </a:t>
            </a:r>
            <a:r>
              <a:rPr lang="en-US" sz="3200" dirty="0">
                <a:latin typeface="Times New Roman" panose="02020603050405020304" pitchFamily="18" charset="0"/>
                <a:cs typeface="Times New Roman" panose="02020603050405020304" pitchFamily="18" charset="0"/>
              </a:rPr>
              <a:t>on </a:t>
            </a:r>
            <a:r>
              <a:rPr lang="en-US" sz="3200" b="1" dirty="0">
                <a:latin typeface="Times New Roman" panose="02020603050405020304" pitchFamily="18" charset="0"/>
                <a:cs typeface="Times New Roman" panose="02020603050405020304" pitchFamily="18" charset="0"/>
              </a:rPr>
              <a:t>the Prior Informed Consent (PIC) Procedure </a:t>
            </a:r>
            <a:r>
              <a:rPr lang="en-US" sz="3200" dirty="0">
                <a:latin typeface="Times New Roman" panose="02020603050405020304" pitchFamily="18" charset="0"/>
                <a:cs typeface="Times New Roman" panose="02020603050405020304" pitchFamily="18" charset="0"/>
              </a:rPr>
              <a:t>for </a:t>
            </a:r>
            <a:r>
              <a:rPr lang="en-US" sz="3200" b="1" dirty="0">
                <a:latin typeface="Times New Roman" panose="02020603050405020304" pitchFamily="18" charset="0"/>
                <a:cs typeface="Times New Roman" panose="02020603050405020304" pitchFamily="18" charset="0"/>
              </a:rPr>
              <a:t>Certain Chemicals and Pesticides in International Trade regulates trade in hazardous wastes </a:t>
            </a:r>
            <a:r>
              <a:rPr lang="en-US" sz="3200" dirty="0">
                <a:latin typeface="Times New Roman" panose="02020603050405020304" pitchFamily="18" charset="0"/>
                <a:cs typeface="Times New Roman" panose="02020603050405020304" pitchFamily="18" charset="0"/>
              </a:rPr>
              <a:t>but </a:t>
            </a:r>
            <a:r>
              <a:rPr lang="en-US" sz="3200" b="1" dirty="0">
                <a:latin typeface="Times New Roman" panose="02020603050405020304" pitchFamily="18" charset="0"/>
                <a:cs typeface="Times New Roman" panose="02020603050405020304" pitchFamily="18" charset="0"/>
              </a:rPr>
              <a:t>contains no commitment to reduce their use and release</a:t>
            </a:r>
            <a:r>
              <a:rPr lang="en-US" sz="3200" dirty="0">
                <a:latin typeface="Times New Roman" panose="02020603050405020304" pitchFamily="18" charset="0"/>
                <a:cs typeface="Times New Roman" panose="02020603050405020304" pitchFamily="18" charset="0"/>
              </a:rPr>
              <a:t>.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Adopted in </a:t>
            </a:r>
            <a:r>
              <a:rPr lang="en-US" sz="3200" b="1" dirty="0">
                <a:latin typeface="Times New Roman" panose="02020603050405020304" pitchFamily="18" charset="0"/>
                <a:cs typeface="Times New Roman" panose="02020603050405020304" pitchFamily="18" charset="0"/>
              </a:rPr>
              <a:t>September, 1998</a:t>
            </a:r>
            <a:r>
              <a:rPr lang="en-US" sz="3200" dirty="0">
                <a:latin typeface="Times New Roman" panose="02020603050405020304" pitchFamily="18" charset="0"/>
                <a:cs typeface="Times New Roman" panose="02020603050405020304" pitchFamily="18" charset="0"/>
              </a:rPr>
              <a:t>, </a:t>
            </a:r>
            <a:r>
              <a:rPr lang="en-US" sz="3200" b="1" u="sng" dirty="0">
                <a:latin typeface="Times New Roman" panose="02020603050405020304" pitchFamily="18" charset="0"/>
                <a:cs typeface="Times New Roman" panose="02020603050405020304" pitchFamily="18" charset="0"/>
              </a:rPr>
              <a:t>the Rotterdam Convention came into force in February, 2004</a:t>
            </a:r>
            <a:r>
              <a:rPr lang="en-US" sz="3200" dirty="0">
                <a:latin typeface="Times New Roman" panose="02020603050405020304" pitchFamily="18" charset="0"/>
                <a:cs typeface="Times New Roman" panose="02020603050405020304" pitchFamily="18" charset="0"/>
              </a:rPr>
              <a:t>.</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 As of </a:t>
            </a:r>
            <a:r>
              <a:rPr lang="en-US" sz="3200" b="1" dirty="0">
                <a:latin typeface="Times New Roman" panose="02020603050405020304" pitchFamily="18" charset="0"/>
                <a:cs typeface="Times New Roman" panose="02020603050405020304" pitchFamily="18" charset="0"/>
              </a:rPr>
              <a:t>July, 2007</a:t>
            </a:r>
            <a:r>
              <a:rPr lang="en-US" sz="3200" dirty="0">
                <a:latin typeface="Times New Roman" panose="02020603050405020304" pitchFamily="18" charset="0"/>
                <a:cs typeface="Times New Roman" panose="02020603050405020304" pitchFamily="18" charset="0"/>
              </a:rPr>
              <a:t>, it had </a:t>
            </a:r>
            <a:r>
              <a:rPr lang="en-US" sz="3200" b="1" u="sng" dirty="0">
                <a:latin typeface="Times New Roman" panose="02020603050405020304" pitchFamily="18" charset="0"/>
                <a:cs typeface="Times New Roman" panose="02020603050405020304" pitchFamily="18" charset="0"/>
              </a:rPr>
              <a:t>73 signatories and 117 Parties</a:t>
            </a:r>
            <a:r>
              <a:rPr lang="en-US" sz="3200" dirty="0">
                <a:latin typeface="Times New Roman" panose="02020603050405020304" pitchFamily="18" charset="0"/>
                <a:cs typeface="Times New Roman" panose="02020603050405020304" pitchFamily="18" charset="0"/>
              </a:rPr>
              <a:t>.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As on date there are </a:t>
            </a:r>
            <a:r>
              <a:rPr lang="en-US" sz="3200" b="1" dirty="0">
                <a:latin typeface="Times New Roman" panose="02020603050405020304" pitchFamily="18" charset="0"/>
                <a:cs typeface="Times New Roman" panose="02020603050405020304" pitchFamily="18" charset="0"/>
              </a:rPr>
              <a:t>140 parties</a:t>
            </a:r>
            <a:r>
              <a:rPr lang="en-US" sz="3200" dirty="0">
                <a:latin typeface="Times New Roman" panose="02020603050405020304" pitchFamily="18" charset="0"/>
                <a:cs typeface="Times New Roman" panose="02020603050405020304" pitchFamily="18" charset="0"/>
              </a:rPr>
              <a:t>.</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India</a:t>
            </a:r>
            <a:r>
              <a:rPr lang="en-US" sz="3200" dirty="0">
                <a:latin typeface="Times New Roman" panose="02020603050405020304" pitchFamily="18" charset="0"/>
                <a:cs typeface="Times New Roman" panose="02020603050405020304" pitchFamily="18" charset="0"/>
              </a:rPr>
              <a:t> had acceded to the convention on </a:t>
            </a:r>
            <a:r>
              <a:rPr lang="en-US" sz="3200" b="1" dirty="0">
                <a:latin typeface="Times New Roman" panose="02020603050405020304" pitchFamily="18" charset="0"/>
                <a:cs typeface="Times New Roman" panose="02020603050405020304" pitchFamily="18" charset="0"/>
              </a:rPr>
              <a:t>24 May 2005</a:t>
            </a:r>
            <a:r>
              <a:rPr lang="en-US" sz="3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58266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0099A1-CFC6-2B7A-EE36-2955D4D35852}"/>
              </a:ext>
            </a:extLst>
          </p:cNvPr>
          <p:cNvSpPr>
            <a:spLocks noGrp="1"/>
          </p:cNvSpPr>
          <p:nvPr>
            <p:ph idx="1"/>
          </p:nvPr>
        </p:nvSpPr>
        <p:spPr>
          <a:xfrm>
            <a:off x="0" y="0"/>
            <a:ext cx="12192000" cy="6858000"/>
          </a:xfrm>
        </p:spPr>
        <p:txBody>
          <a:bodyPr>
            <a:normAutofit/>
          </a:bodyPr>
          <a:lstStyle/>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It is a multilateral treaty to promote shared responsibilities between exporting and importing countries in protecting human health and environment from the harmful effects of hazardous chemicals.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Convention promotes exchange of information among Parties over a broad range of potentially hazardous chemicals that may be exported or imported.</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 A key goal is to provide technical assistance for developing countries and countries with economies in transition to develop the infrastructure and capacity necessary to implement the provisions of the Convention.</a:t>
            </a:r>
          </a:p>
        </p:txBody>
      </p:sp>
    </p:spTree>
    <p:extLst>
      <p:ext uri="{BB962C8B-B14F-4D97-AF65-F5344CB8AC3E}">
        <p14:creationId xmlns:p14="http://schemas.microsoft.com/office/powerpoint/2010/main" val="2262667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1BA12D-F3EC-7992-46D5-63F90B79086A}"/>
              </a:ext>
            </a:extLst>
          </p:cNvPr>
          <p:cNvSpPr>
            <a:spLocks noGrp="1"/>
          </p:cNvSpPr>
          <p:nvPr>
            <p:ph idx="1"/>
          </p:nvPr>
        </p:nvSpPr>
        <p:spPr>
          <a:xfrm>
            <a:off x="0" y="0"/>
            <a:ext cx="12192000" cy="6858000"/>
          </a:xfrm>
        </p:spPr>
        <p:txBody>
          <a:bodyPr>
            <a:normAutofit/>
          </a:bodyPr>
          <a:lstStyle/>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Rotterdam Convention calls on exporters of hazardous chemicals to use proper labeling, include directions on safe handling, and inform purchasers about known restrictions or bans. </a:t>
            </a:r>
          </a:p>
          <a:p>
            <a:pPr algn="just"/>
            <a:r>
              <a:rPr lang="en-US" sz="3200" dirty="0">
                <a:latin typeface="Times New Roman" panose="02020603050405020304" pitchFamily="18" charset="0"/>
                <a:cs typeface="Times New Roman" panose="02020603050405020304" pitchFamily="18" charset="0"/>
              </a:rPr>
              <a:t>Parties can decide whether to allow or ban the import of chemicals listed in the treaty, and countries exporting chemicals are obliged to make sure that producers within their jurisdiction comply with the directions and rules.</a:t>
            </a:r>
          </a:p>
          <a:p>
            <a:pPr algn="just"/>
            <a:r>
              <a:rPr lang="en-US" sz="3200" dirty="0">
                <a:latin typeface="Times New Roman" panose="02020603050405020304" pitchFamily="18" charset="0"/>
                <a:cs typeface="Times New Roman" panose="02020603050405020304" pitchFamily="18" charset="0"/>
              </a:rPr>
              <a:t> The Parties have nine months to prepare a response concerning the future import of the chemical.</a:t>
            </a:r>
          </a:p>
          <a:p>
            <a:pPr algn="just"/>
            <a:r>
              <a:rPr lang="en-US" sz="3200" dirty="0">
                <a:latin typeface="Times New Roman" panose="02020603050405020304" pitchFamily="18" charset="0"/>
                <a:cs typeface="Times New Roman" panose="02020603050405020304" pitchFamily="18" charset="0"/>
              </a:rPr>
              <a:t>The response can consist of either a final decision— to allow import of the chemical, not to allow import, or to allow import subject to specified conditions- or an interim response.</a:t>
            </a:r>
          </a:p>
        </p:txBody>
      </p:sp>
    </p:spTree>
    <p:extLst>
      <p:ext uri="{BB962C8B-B14F-4D97-AF65-F5344CB8AC3E}">
        <p14:creationId xmlns:p14="http://schemas.microsoft.com/office/powerpoint/2010/main" val="3417734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DCC916-2644-FD13-DA3C-E96565078C2D}"/>
              </a:ext>
            </a:extLst>
          </p:cNvPr>
          <p:cNvSpPr>
            <a:spLocks noGrp="1"/>
          </p:cNvSpPr>
          <p:nvPr>
            <p:ph idx="1"/>
          </p:nvPr>
        </p:nvSpPr>
        <p:spPr>
          <a:xfrm>
            <a:off x="0" y="0"/>
            <a:ext cx="12192000" cy="6858000"/>
          </a:xfrm>
        </p:spPr>
        <p:txBody>
          <a:bodyPr>
            <a:normAutofit/>
          </a:bodyPr>
          <a:lstStyle/>
          <a:p>
            <a:pPr algn="just"/>
            <a:endParaRPr lang="en-US" sz="32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Apart from the principle of Prior Informed Consent, the Rotterdam Convention highlights another principle of the Basel Convention which deals with transparency and Environmentally Sound Management (ESM) of hazardous substances. </a:t>
            </a:r>
          </a:p>
          <a:p>
            <a:pPr algn="just"/>
            <a:endParaRPr lang="en-US" sz="36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Among the 40 chemical substances covered under the Convention, mercury compounds, polybrominated biphenyls (PBB), polychlorinated biphenyls (PCB) are also substances that are found in e-waste.</a:t>
            </a:r>
          </a:p>
        </p:txBody>
      </p:sp>
    </p:spTree>
    <p:extLst>
      <p:ext uri="{BB962C8B-B14F-4D97-AF65-F5344CB8AC3E}">
        <p14:creationId xmlns:p14="http://schemas.microsoft.com/office/powerpoint/2010/main" val="3546111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89F36-DFBF-1AA6-9C90-CB2834DF4108}"/>
              </a:ext>
            </a:extLst>
          </p:cNvPr>
          <p:cNvSpPr>
            <a:spLocks noGrp="1"/>
          </p:cNvSpPr>
          <p:nvPr>
            <p:ph type="title"/>
          </p:nvPr>
        </p:nvSpPr>
        <p:spPr>
          <a:xfrm>
            <a:off x="0" y="18255"/>
            <a:ext cx="12192000" cy="941115"/>
          </a:xfrm>
        </p:spPr>
        <p:txBody>
          <a:bodyPr>
            <a:normAutofit fontScale="90000"/>
          </a:bodyPr>
          <a:lstStyle/>
          <a:p>
            <a:r>
              <a:rPr lang="en-US"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Waste Electrical and Electronic Equipment (WEEE) Directive in the European Union:</a:t>
            </a:r>
          </a:p>
        </p:txBody>
      </p:sp>
      <p:sp>
        <p:nvSpPr>
          <p:cNvPr id="3" name="Content Placeholder 2">
            <a:extLst>
              <a:ext uri="{FF2B5EF4-FFF2-40B4-BE49-F238E27FC236}">
                <a16:creationId xmlns:a16="http://schemas.microsoft.com/office/drawing/2014/main" id="{23653C0F-F33D-E7AE-29C9-FBEAD2E730FC}"/>
              </a:ext>
            </a:extLst>
          </p:cNvPr>
          <p:cNvSpPr>
            <a:spLocks noGrp="1"/>
          </p:cNvSpPr>
          <p:nvPr>
            <p:ph idx="1"/>
          </p:nvPr>
        </p:nvSpPr>
        <p:spPr>
          <a:xfrm>
            <a:off x="0" y="1154243"/>
            <a:ext cx="12192000" cy="5685502"/>
          </a:xfrm>
        </p:spPr>
        <p:txBody>
          <a:bodyPr>
            <a:normAutofit lnSpcReduction="10000"/>
          </a:bodyPr>
          <a:lstStyle/>
          <a:p>
            <a:pPr algn="just"/>
            <a:r>
              <a:rPr lang="en-US" sz="3200" dirty="0">
                <a:latin typeface="Times New Roman" panose="02020603050405020304" pitchFamily="18" charset="0"/>
                <a:cs typeface="Times New Roman" panose="02020603050405020304" pitchFamily="18" charset="0"/>
              </a:rPr>
              <a:t>Among all the existing laws on wastes, a way forward has been heralded (declare/announce) by the European Union.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European law which implements the Basel Convention in its Directives </a:t>
            </a:r>
            <a:r>
              <a:rPr lang="en-US" sz="3200" b="1" dirty="0">
                <a:latin typeface="Times New Roman" panose="02020603050405020304" pitchFamily="18" charset="0"/>
                <a:cs typeface="Times New Roman" panose="02020603050405020304" pitchFamily="18" charset="0"/>
              </a:rPr>
              <a:t>prohibits all exports of hazardous wastes from the EU members to the developing countries</a:t>
            </a:r>
            <a:r>
              <a:rPr lang="en-US" sz="3200" dirty="0">
                <a:latin typeface="Times New Roman" panose="02020603050405020304" pitchFamily="18" charset="0"/>
                <a:cs typeface="Times New Roman" panose="02020603050405020304" pitchFamily="18" charset="0"/>
              </a:rPr>
              <a:t>.</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a:t>
            </a:r>
            <a:r>
              <a:rPr lang="en-US" sz="3200" b="1" dirty="0">
                <a:latin typeface="Times New Roman" panose="02020603050405020304" pitchFamily="18" charset="0"/>
                <a:cs typeface="Times New Roman" panose="02020603050405020304" pitchFamily="18" charset="0"/>
              </a:rPr>
              <a:t>Waste Electrical and Electronic Equipment (WEEE) Directive is the European Community directive</a:t>
            </a:r>
            <a:r>
              <a:rPr lang="en-US" sz="3200" dirty="0">
                <a:latin typeface="Times New Roman" panose="02020603050405020304" pitchFamily="18" charset="0"/>
                <a:cs typeface="Times New Roman" panose="02020603050405020304" pitchFamily="18" charset="0"/>
              </a:rPr>
              <a:t> on waste electrical and electronic equipment which, together with the </a:t>
            </a:r>
            <a:r>
              <a:rPr lang="en-US" sz="3200" b="1" dirty="0">
                <a:latin typeface="Times New Roman" panose="02020603050405020304" pitchFamily="18" charset="0"/>
                <a:cs typeface="Times New Roman" panose="02020603050405020304" pitchFamily="18" charset="0"/>
              </a:rPr>
              <a:t>Restriction of Hazardous Substances (RoHS) Directive</a:t>
            </a:r>
            <a:r>
              <a:rPr lang="en-US" sz="3200" dirty="0">
                <a:latin typeface="Times New Roman" panose="02020603050405020304" pitchFamily="18" charset="0"/>
                <a:cs typeface="Times New Roman" panose="02020603050405020304" pitchFamily="18" charset="0"/>
              </a:rPr>
              <a:t>, became </a:t>
            </a:r>
            <a:r>
              <a:rPr lang="en-US" sz="3200" b="1" dirty="0">
                <a:latin typeface="Times New Roman" panose="02020603050405020304" pitchFamily="18" charset="0"/>
                <a:cs typeface="Times New Roman" panose="02020603050405020304" pitchFamily="18" charset="0"/>
              </a:rPr>
              <a:t>European Law </a:t>
            </a:r>
            <a:r>
              <a:rPr lang="en-US" sz="3200" dirty="0">
                <a:latin typeface="Times New Roman" panose="02020603050405020304" pitchFamily="18" charset="0"/>
                <a:cs typeface="Times New Roman" panose="02020603050405020304" pitchFamily="18" charset="0"/>
              </a:rPr>
              <a:t>in </a:t>
            </a:r>
            <a:r>
              <a:rPr lang="en-US" sz="3200" b="1" dirty="0">
                <a:latin typeface="Times New Roman" panose="02020603050405020304" pitchFamily="18" charset="0"/>
                <a:cs typeface="Times New Roman" panose="02020603050405020304" pitchFamily="18" charset="0"/>
              </a:rPr>
              <a:t>February, 2003 </a:t>
            </a:r>
            <a:r>
              <a:rPr lang="en-US" sz="3200" dirty="0">
                <a:latin typeface="Times New Roman" panose="02020603050405020304" pitchFamily="18" charset="0"/>
                <a:cs typeface="Times New Roman" panose="02020603050405020304" pitchFamily="18" charset="0"/>
              </a:rPr>
              <a:t>setting collection, recycling and recovery targets for all types of electrical and electronic goods.</a:t>
            </a:r>
            <a:endParaRPr 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407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3EB4C0-BE8E-312E-70AA-D88E67F24E1F}"/>
              </a:ext>
            </a:extLst>
          </p:cNvPr>
          <p:cNvSpPr>
            <a:spLocks noGrp="1"/>
          </p:cNvSpPr>
          <p:nvPr>
            <p:ph idx="1"/>
          </p:nvPr>
        </p:nvSpPr>
        <p:spPr>
          <a:xfrm>
            <a:off x="0" y="0"/>
            <a:ext cx="12192000" cy="6858000"/>
          </a:xfrm>
        </p:spPr>
        <p:txBody>
          <a:bodyPr>
            <a:normAutofit/>
          </a:bodyPr>
          <a:lstStyle/>
          <a:p>
            <a:r>
              <a:rPr lang="en-US" sz="3200" dirty="0">
                <a:latin typeface="Times New Roman" panose="02020603050405020304" pitchFamily="18" charset="0"/>
                <a:cs typeface="Times New Roman" panose="02020603050405020304" pitchFamily="18" charset="0"/>
              </a:rPr>
              <a:t>The </a:t>
            </a:r>
            <a:r>
              <a:rPr lang="en-US" sz="3200" b="1" dirty="0">
                <a:latin typeface="Times New Roman" panose="02020603050405020304" pitchFamily="18" charset="0"/>
                <a:cs typeface="Times New Roman" panose="02020603050405020304" pitchFamily="18" charset="0"/>
              </a:rPr>
              <a:t>WEEE Directive </a:t>
            </a:r>
            <a:r>
              <a:rPr lang="en-US" sz="3200" dirty="0">
                <a:latin typeface="Times New Roman" panose="02020603050405020304" pitchFamily="18" charset="0"/>
                <a:cs typeface="Times New Roman" panose="02020603050405020304" pitchFamily="18" charset="0"/>
              </a:rPr>
              <a:t>obliged </a:t>
            </a:r>
            <a:r>
              <a:rPr lang="en-US" sz="3200" b="1" dirty="0">
                <a:latin typeface="Times New Roman" panose="02020603050405020304" pitchFamily="18" charset="0"/>
                <a:cs typeface="Times New Roman" panose="02020603050405020304" pitchFamily="18" charset="0"/>
              </a:rPr>
              <a:t>the twenty-five EU member </a:t>
            </a:r>
            <a:r>
              <a:rPr lang="en-US" sz="3200" dirty="0">
                <a:latin typeface="Times New Roman" panose="02020603050405020304" pitchFamily="18" charset="0"/>
                <a:cs typeface="Times New Roman" panose="02020603050405020304" pitchFamily="18" charset="0"/>
              </a:rPr>
              <a:t>states to transpose its provisions into </a:t>
            </a:r>
            <a:r>
              <a:rPr lang="en-US" sz="3200" b="1" dirty="0">
                <a:latin typeface="Times New Roman" panose="02020603050405020304" pitchFamily="18" charset="0"/>
                <a:cs typeface="Times New Roman" panose="02020603050405020304" pitchFamily="18" charset="0"/>
              </a:rPr>
              <a:t>national law by 13 August, 2004</a:t>
            </a:r>
            <a:r>
              <a:rPr lang="en-US" sz="3200" dirty="0">
                <a:latin typeface="Times New Roman" panose="02020603050405020304" pitchFamily="18" charset="0"/>
                <a:cs typeface="Times New Roman" panose="02020603050405020304" pitchFamily="18" charset="0"/>
              </a:rPr>
              <a:t>. </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By </a:t>
            </a:r>
            <a:r>
              <a:rPr lang="en-US" sz="3200" b="1" dirty="0">
                <a:latin typeface="Times New Roman" panose="02020603050405020304" pitchFamily="18" charset="0"/>
                <a:cs typeface="Times New Roman" panose="02020603050405020304" pitchFamily="18" charset="0"/>
              </a:rPr>
              <a:t>August, 2005</a:t>
            </a:r>
            <a:r>
              <a:rPr lang="en-US" sz="3200" dirty="0">
                <a:latin typeface="Times New Roman" panose="02020603050405020304" pitchFamily="18" charset="0"/>
                <a:cs typeface="Times New Roman" panose="02020603050405020304" pitchFamily="18" charset="0"/>
              </a:rPr>
              <a:t>, all member states </a:t>
            </a:r>
            <a:r>
              <a:rPr lang="en-US" sz="3200" b="1" dirty="0">
                <a:latin typeface="Times New Roman" panose="02020603050405020304" pitchFamily="18" charset="0"/>
                <a:cs typeface="Times New Roman" panose="02020603050405020304" pitchFamily="18" charset="0"/>
              </a:rPr>
              <a:t>except Malta </a:t>
            </a:r>
            <a:r>
              <a:rPr lang="en-US" sz="3200" dirty="0">
                <a:latin typeface="Times New Roman" panose="02020603050405020304" pitchFamily="18" charset="0"/>
                <a:cs typeface="Times New Roman" panose="02020603050405020304" pitchFamily="18" charset="0"/>
              </a:rPr>
              <a:t>and </a:t>
            </a:r>
            <a:r>
              <a:rPr lang="en-US" sz="3200" b="1" dirty="0">
                <a:latin typeface="Times New Roman" panose="02020603050405020304" pitchFamily="18" charset="0"/>
                <a:cs typeface="Times New Roman" panose="02020603050405020304" pitchFamily="18" charset="0"/>
              </a:rPr>
              <a:t>the UK </a:t>
            </a:r>
            <a:r>
              <a:rPr lang="en-US" sz="3200" dirty="0">
                <a:latin typeface="Times New Roman" panose="02020603050405020304" pitchFamily="18" charset="0"/>
                <a:cs typeface="Times New Roman" panose="02020603050405020304" pitchFamily="18" charset="0"/>
              </a:rPr>
              <a:t>had transposed at least framework regulations. </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In </a:t>
            </a:r>
            <a:r>
              <a:rPr lang="en-US" sz="3200" b="1" dirty="0">
                <a:latin typeface="Times New Roman" panose="02020603050405020304" pitchFamily="18" charset="0"/>
                <a:cs typeface="Times New Roman" panose="02020603050405020304" pitchFamily="18" charset="0"/>
              </a:rPr>
              <a:t>May, 2001</a:t>
            </a:r>
            <a:r>
              <a:rPr lang="en-US" sz="3200" dirty="0">
                <a:latin typeface="Times New Roman" panose="02020603050405020304" pitchFamily="18" charset="0"/>
                <a:cs typeface="Times New Roman" panose="02020603050405020304" pitchFamily="18" charset="0"/>
              </a:rPr>
              <a:t>, the </a:t>
            </a:r>
            <a:r>
              <a:rPr lang="en-US" sz="3200" b="1" dirty="0">
                <a:latin typeface="Times New Roman" panose="02020603050405020304" pitchFamily="18" charset="0"/>
                <a:cs typeface="Times New Roman" panose="02020603050405020304" pitchFamily="18" charset="0"/>
              </a:rPr>
              <a:t>EU Parliament </a:t>
            </a:r>
            <a:r>
              <a:rPr lang="en-US" sz="3200" dirty="0">
                <a:latin typeface="Times New Roman" panose="02020603050405020304" pitchFamily="18" charset="0"/>
                <a:cs typeface="Times New Roman" panose="02020603050405020304" pitchFamily="18" charset="0"/>
              </a:rPr>
              <a:t>approved a directive that required </a:t>
            </a:r>
            <a:r>
              <a:rPr lang="en-US" sz="3200" b="1" dirty="0">
                <a:latin typeface="Times New Roman" panose="02020603050405020304" pitchFamily="18" charset="0"/>
                <a:cs typeface="Times New Roman" panose="02020603050405020304" pitchFamily="18" charset="0"/>
              </a:rPr>
              <a:t>producers of electronic gazettes to take responsibility—financial and otherwise—for the recovery and recycling of e-waste</a:t>
            </a:r>
            <a:r>
              <a:rPr lang="en-US" sz="3200" dirty="0">
                <a:latin typeface="Times New Roman" panose="02020603050405020304" pitchFamily="18" charset="0"/>
                <a:cs typeface="Times New Roman" panose="02020603050405020304" pitchFamily="18" charset="0"/>
              </a:rPr>
              <a:t>.</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Recognizing the scope and urgency of e-waste problem, the European Union has taken the lead in addressing it by proposing an ambitious system of the </a:t>
            </a:r>
            <a:r>
              <a:rPr lang="en-US" sz="3200" b="1" dirty="0">
                <a:latin typeface="Times New Roman" panose="02020603050405020304" pitchFamily="18" charset="0"/>
                <a:cs typeface="Times New Roman" panose="02020603050405020304" pitchFamily="18" charset="0"/>
              </a:rPr>
              <a:t>Extended Producer Responsibility (EPR).</a:t>
            </a:r>
          </a:p>
        </p:txBody>
      </p:sp>
    </p:spTree>
    <p:extLst>
      <p:ext uri="{BB962C8B-B14F-4D97-AF65-F5344CB8AC3E}">
        <p14:creationId xmlns:p14="http://schemas.microsoft.com/office/powerpoint/2010/main" val="3545544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69F076-A092-390B-AB29-8501B0BE2BA8}"/>
              </a:ext>
            </a:extLst>
          </p:cNvPr>
          <p:cNvSpPr>
            <a:spLocks noGrp="1"/>
          </p:cNvSpPr>
          <p:nvPr>
            <p:ph idx="1"/>
          </p:nvPr>
        </p:nvSpPr>
        <p:spPr>
          <a:xfrm>
            <a:off x="0" y="0"/>
            <a:ext cx="12192000" cy="6858000"/>
          </a:xfrm>
        </p:spPr>
        <p:txBody>
          <a:bodyPr>
            <a:normAutofit/>
          </a:bodyPr>
          <a:lstStyle/>
          <a:p>
            <a:pPr algn="just"/>
            <a:endParaRPr lang="en-US" sz="36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The EPR has been defined as, </a:t>
            </a:r>
          </a:p>
          <a:p>
            <a:pPr marL="0" indent="0" algn="just">
              <a:buNone/>
            </a:pPr>
            <a:r>
              <a:rPr lang="en-US" sz="3600"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“an environmental protection strategy to reach an environmental objective of a decreased total impact from a product</a:t>
            </a:r>
            <a:r>
              <a:rPr lang="en-US" sz="3600" dirty="0">
                <a:latin typeface="Times New Roman" panose="02020603050405020304" pitchFamily="18" charset="0"/>
                <a:cs typeface="Times New Roman" panose="02020603050405020304" pitchFamily="18" charset="0"/>
              </a:rPr>
              <a:t>, by </a:t>
            </a:r>
            <a:r>
              <a:rPr lang="en-US" sz="3600" b="1" dirty="0">
                <a:latin typeface="Times New Roman" panose="02020603050405020304" pitchFamily="18" charset="0"/>
                <a:cs typeface="Times New Roman" panose="02020603050405020304" pitchFamily="18" charset="0"/>
              </a:rPr>
              <a:t>making the manufacturer of the product responsible for the entire life cycle of the product and especially for the take back, recycling and final disposal of the product”.</a:t>
            </a:r>
          </a:p>
        </p:txBody>
      </p:sp>
    </p:spTree>
    <p:extLst>
      <p:ext uri="{BB962C8B-B14F-4D97-AF65-F5344CB8AC3E}">
        <p14:creationId xmlns:p14="http://schemas.microsoft.com/office/powerpoint/2010/main" val="2646591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04CB5-2931-8E28-F357-4384067732DF}"/>
              </a:ext>
            </a:extLst>
          </p:cNvPr>
          <p:cNvSpPr>
            <a:spLocks noGrp="1"/>
          </p:cNvSpPr>
          <p:nvPr>
            <p:ph type="title"/>
          </p:nvPr>
        </p:nvSpPr>
        <p:spPr>
          <a:xfrm>
            <a:off x="0" y="0"/>
            <a:ext cx="12192000" cy="681037"/>
          </a:xfrm>
        </p:spPr>
        <p:txBody>
          <a:bodyPr>
            <a:normAutofit fontScale="90000"/>
          </a:bodyPr>
          <a:lstStyle/>
          <a:p>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Restriction of Hazardous Substances (RoHS) Directive:</a:t>
            </a:r>
          </a:p>
        </p:txBody>
      </p:sp>
      <p:sp>
        <p:nvSpPr>
          <p:cNvPr id="3" name="Content Placeholder 2">
            <a:extLst>
              <a:ext uri="{FF2B5EF4-FFF2-40B4-BE49-F238E27FC236}">
                <a16:creationId xmlns:a16="http://schemas.microsoft.com/office/drawing/2014/main" id="{5BB8140F-8F42-5A68-9B68-FF08A34AF622}"/>
              </a:ext>
            </a:extLst>
          </p:cNvPr>
          <p:cNvSpPr>
            <a:spLocks noGrp="1"/>
          </p:cNvSpPr>
          <p:nvPr>
            <p:ph idx="1"/>
          </p:nvPr>
        </p:nvSpPr>
        <p:spPr>
          <a:xfrm>
            <a:off x="0" y="824458"/>
            <a:ext cx="12192000" cy="6033541"/>
          </a:xfrm>
        </p:spPr>
        <p:txBody>
          <a:bodyPr>
            <a:normAutofit/>
          </a:bodyPr>
          <a:lstStyle/>
          <a:p>
            <a:pPr algn="just"/>
            <a:r>
              <a:rPr lang="en-US" sz="3200" dirty="0">
                <a:latin typeface="Times New Roman" panose="02020603050405020304" pitchFamily="18" charset="0"/>
                <a:cs typeface="Times New Roman" panose="02020603050405020304" pitchFamily="18" charset="0"/>
              </a:rPr>
              <a:t>As a legislative initiative to solve the problem of huge amounts of toxic e-waste, a Directive on the restriction of the use of certain hazardous substances in electrical and electronic equipment, namely 2002/95/EC, commonly referred to as the </a:t>
            </a:r>
            <a:r>
              <a:rPr lang="en-US" sz="3200" b="1" dirty="0">
                <a:latin typeface="Times New Roman" panose="02020603050405020304" pitchFamily="18" charset="0"/>
                <a:cs typeface="Times New Roman" panose="02020603050405020304" pitchFamily="18" charset="0"/>
              </a:rPr>
              <a:t>Restriction of Hazardous Substances Directive or RoHS was adopted in </a:t>
            </a:r>
            <a:r>
              <a:rPr lang="en-US" sz="3200" b="1" u="sng" dirty="0">
                <a:latin typeface="Times New Roman" panose="02020603050405020304" pitchFamily="18" charset="0"/>
                <a:cs typeface="Times New Roman" panose="02020603050405020304" pitchFamily="18" charset="0"/>
              </a:rPr>
              <a:t>February 2003 </a:t>
            </a:r>
            <a:r>
              <a:rPr lang="en-US" sz="3200" dirty="0">
                <a:latin typeface="Times New Roman" panose="02020603050405020304" pitchFamily="18" charset="0"/>
                <a:cs typeface="Times New Roman" panose="02020603050405020304" pitchFamily="18" charset="0"/>
              </a:rPr>
              <a:t>by </a:t>
            </a:r>
            <a:r>
              <a:rPr lang="en-US" sz="3200" b="1" u="sng" dirty="0">
                <a:latin typeface="Times New Roman" panose="02020603050405020304" pitchFamily="18" charset="0"/>
                <a:cs typeface="Times New Roman" panose="02020603050405020304" pitchFamily="18" charset="0"/>
              </a:rPr>
              <a:t>the European Union. </a:t>
            </a:r>
          </a:p>
          <a:p>
            <a:pPr algn="just"/>
            <a:endParaRPr lang="en-US" sz="3200" b="1" u="sng"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a:t>
            </a:r>
            <a:r>
              <a:rPr lang="en-US" sz="3200" b="1" dirty="0">
                <a:latin typeface="Times New Roman" panose="02020603050405020304" pitchFamily="18" charset="0"/>
                <a:cs typeface="Times New Roman" panose="02020603050405020304" pitchFamily="18" charset="0"/>
              </a:rPr>
              <a:t>RoHS Directive </a:t>
            </a:r>
            <a:r>
              <a:rPr lang="en-US" sz="3200" dirty="0">
                <a:latin typeface="Times New Roman" panose="02020603050405020304" pitchFamily="18" charset="0"/>
                <a:cs typeface="Times New Roman" panose="02020603050405020304" pitchFamily="18" charset="0"/>
              </a:rPr>
              <a:t>came into force with effect from </a:t>
            </a:r>
            <a:r>
              <a:rPr lang="en-US" sz="3200" b="1" u="sng" dirty="0">
                <a:latin typeface="Times New Roman" panose="02020603050405020304" pitchFamily="18" charset="0"/>
                <a:cs typeface="Times New Roman" panose="02020603050405020304" pitchFamily="18" charset="0"/>
              </a:rPr>
              <a:t>1 July 2006</a:t>
            </a:r>
            <a:r>
              <a:rPr lang="en-US" sz="3200" dirty="0">
                <a:latin typeface="Times New Roman" panose="02020603050405020304" pitchFamily="18" charset="0"/>
                <a:cs typeface="Times New Roman" panose="02020603050405020304" pitchFamily="18" charset="0"/>
              </a:rPr>
              <a:t>, and </a:t>
            </a:r>
            <a:r>
              <a:rPr lang="en-US" sz="3200" b="1" u="sng" dirty="0">
                <a:latin typeface="Times New Roman" panose="02020603050405020304" pitchFamily="18" charset="0"/>
                <a:cs typeface="Times New Roman" panose="02020603050405020304" pitchFamily="18" charset="0"/>
              </a:rPr>
              <a:t>is required to be enforced and become law </a:t>
            </a:r>
            <a:r>
              <a:rPr lang="en-US" sz="3200" dirty="0">
                <a:latin typeface="Times New Roman" panose="02020603050405020304" pitchFamily="18" charset="0"/>
                <a:cs typeface="Times New Roman" panose="02020603050405020304" pitchFamily="18" charset="0"/>
              </a:rPr>
              <a:t>in each member state.</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 Directive restricts the use of </a:t>
            </a:r>
            <a:r>
              <a:rPr lang="en-US" sz="3200" b="1" dirty="0">
                <a:latin typeface="Times New Roman" panose="02020603050405020304" pitchFamily="18" charset="0"/>
                <a:cs typeface="Times New Roman" panose="02020603050405020304" pitchFamily="18" charset="0"/>
              </a:rPr>
              <a:t>six hazardous</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materials</a:t>
            </a:r>
            <a:r>
              <a:rPr lang="en-US" sz="3200" dirty="0">
                <a:latin typeface="Times New Roman" panose="02020603050405020304" pitchFamily="18" charset="0"/>
                <a:cs typeface="Times New Roman" panose="02020603050405020304" pitchFamily="18" charset="0"/>
              </a:rPr>
              <a:t> in the manufacture of various types of electronic and electrical equipment.</a:t>
            </a:r>
            <a:endParaRPr 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1712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9B416F-BF26-009C-45B0-4386A351E907}"/>
              </a:ext>
            </a:extLst>
          </p:cNvPr>
          <p:cNvSpPr>
            <a:spLocks noGrp="1"/>
          </p:cNvSpPr>
          <p:nvPr>
            <p:ph idx="1"/>
          </p:nvPr>
        </p:nvSpPr>
        <p:spPr>
          <a:xfrm>
            <a:off x="0" y="0"/>
            <a:ext cx="12192000" cy="6858000"/>
          </a:xfrm>
        </p:spPr>
        <p:txBody>
          <a:bodyPr>
            <a:normAutofit/>
          </a:bodyPr>
          <a:lstStyle/>
          <a:p>
            <a:r>
              <a:rPr lang="en-US" sz="3200" dirty="0">
                <a:latin typeface="Times New Roman" panose="02020603050405020304" pitchFamily="18" charset="0"/>
                <a:cs typeface="Times New Roman" panose="02020603050405020304" pitchFamily="18" charset="0"/>
              </a:rPr>
              <a:t>In order to prevent the generation of hazardous waste, the RoHS Directive requires the substitution of various heavy metals, namely </a:t>
            </a:r>
            <a:r>
              <a:rPr lang="en-US" sz="3200" b="1" dirty="0">
                <a:latin typeface="Times New Roman" panose="02020603050405020304" pitchFamily="18" charset="0"/>
                <a:cs typeface="Times New Roman" panose="02020603050405020304" pitchFamily="18" charset="0"/>
              </a:rPr>
              <a:t>lead, mercury, cadmium, hexavalent chromium and brominated flame retardants</a:t>
            </a:r>
            <a:r>
              <a:rPr lang="en-US" sz="3200" dirty="0">
                <a:latin typeface="Times New Roman" panose="02020603050405020304" pitchFamily="18" charset="0"/>
                <a:cs typeface="Times New Roman" panose="02020603050405020304" pitchFamily="18" charset="0"/>
              </a:rPr>
              <a:t> like </a:t>
            </a:r>
            <a:r>
              <a:rPr lang="en-US" sz="3200" b="1" dirty="0">
                <a:latin typeface="Times New Roman" panose="02020603050405020304" pitchFamily="18" charset="0"/>
                <a:cs typeface="Times New Roman" panose="02020603050405020304" pitchFamily="18" charset="0"/>
              </a:rPr>
              <a:t>polybrominated biphenyls (PBB) </a:t>
            </a:r>
            <a:r>
              <a:rPr lang="en-US" sz="3200" dirty="0">
                <a:latin typeface="Times New Roman" panose="02020603050405020304" pitchFamily="18" charset="0"/>
                <a:cs typeface="Times New Roman" panose="02020603050405020304" pitchFamily="18" charset="0"/>
              </a:rPr>
              <a:t>or </a:t>
            </a:r>
            <a:r>
              <a:rPr lang="en-US" sz="3200" b="1" dirty="0">
                <a:latin typeface="Times New Roman" panose="02020603050405020304" pitchFamily="18" charset="0"/>
                <a:cs typeface="Times New Roman" panose="02020603050405020304" pitchFamily="18" charset="0"/>
              </a:rPr>
              <a:t>poly-brominated diphenyl ethers (PBDE)</a:t>
            </a:r>
            <a:r>
              <a:rPr lang="en-US" sz="3200" dirty="0">
                <a:latin typeface="Times New Roman" panose="02020603050405020304" pitchFamily="18" charset="0"/>
                <a:cs typeface="Times New Roman" panose="02020603050405020304" pitchFamily="18" charset="0"/>
              </a:rPr>
              <a:t> in new electrical and electronic equipment's put on the market since </a:t>
            </a:r>
            <a:r>
              <a:rPr lang="en-US" sz="3200" b="1" u="sng" dirty="0">
                <a:latin typeface="Times New Roman" panose="02020603050405020304" pitchFamily="18" charset="0"/>
                <a:cs typeface="Times New Roman" panose="02020603050405020304" pitchFamily="18" charset="0"/>
              </a:rPr>
              <a:t>1 July, 2006</a:t>
            </a:r>
            <a:r>
              <a:rPr lang="en-US" sz="3200" dirty="0">
                <a:latin typeface="Times New Roman" panose="02020603050405020304" pitchFamily="18" charset="0"/>
                <a:cs typeface="Times New Roman" panose="02020603050405020304" pitchFamily="18" charset="0"/>
              </a:rPr>
              <a:t>.</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The WEEE Directive obliges a producer of electronic equipment to be responsible for the product at the end of its consumer life.</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The </a:t>
            </a:r>
            <a:r>
              <a:rPr lang="en-US" sz="3200" b="1" dirty="0">
                <a:latin typeface="Times New Roman" panose="02020603050405020304" pitchFamily="18" charset="0"/>
                <a:cs typeface="Times New Roman" panose="02020603050405020304" pitchFamily="18" charset="0"/>
              </a:rPr>
              <a:t>RoHS Directive </a:t>
            </a:r>
            <a:r>
              <a:rPr lang="en-US" sz="3200" dirty="0">
                <a:latin typeface="Times New Roman" panose="02020603050405020304" pitchFamily="18" charset="0"/>
                <a:cs typeface="Times New Roman" panose="02020603050405020304" pitchFamily="18" charset="0"/>
              </a:rPr>
              <a:t>takes a step further by requiring manufacturers to phase out the </a:t>
            </a:r>
            <a:r>
              <a:rPr lang="en-US" sz="3200" b="1" dirty="0">
                <a:latin typeface="Times New Roman" panose="02020603050405020304" pitchFamily="18" charset="0"/>
                <a:cs typeface="Times New Roman" panose="02020603050405020304" pitchFamily="18" charset="0"/>
              </a:rPr>
              <a:t>use of hazardous substances </a:t>
            </a:r>
            <a:r>
              <a:rPr lang="en-US" sz="3200" dirty="0">
                <a:latin typeface="Times New Roman" panose="02020603050405020304" pitchFamily="18" charset="0"/>
                <a:cs typeface="Times New Roman" panose="02020603050405020304" pitchFamily="18" charset="0"/>
              </a:rPr>
              <a:t>in </a:t>
            </a:r>
            <a:r>
              <a:rPr lang="en-US" sz="3200" b="1" dirty="0">
                <a:latin typeface="Times New Roman" panose="02020603050405020304" pitchFamily="18" charset="0"/>
                <a:cs typeface="Times New Roman" panose="02020603050405020304" pitchFamily="18" charset="0"/>
              </a:rPr>
              <a:t>the production of electrical and electronics equipment by </a:t>
            </a:r>
            <a:r>
              <a:rPr lang="en-US" sz="3200" b="1" u="sng" dirty="0">
                <a:latin typeface="Times New Roman" panose="02020603050405020304" pitchFamily="18" charset="0"/>
                <a:cs typeface="Times New Roman" panose="02020603050405020304" pitchFamily="18" charset="0"/>
              </a:rPr>
              <a:t>2008</a:t>
            </a:r>
            <a:r>
              <a:rPr lang="en-US" sz="3200" dirty="0">
                <a:latin typeface="Times New Roman" panose="02020603050405020304" pitchFamily="18" charset="0"/>
                <a:cs typeface="Times New Roman" panose="02020603050405020304" pitchFamily="18" charset="0"/>
              </a:rPr>
              <a:t>.</a:t>
            </a:r>
            <a:endParaRPr 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6843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4E11A52F-3F29-E96F-C911-33F9636CA2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3770"/>
            <a:ext cx="12192000" cy="6881770"/>
          </a:xfrm>
        </p:spPr>
      </p:pic>
    </p:spTree>
    <p:extLst>
      <p:ext uri="{BB962C8B-B14F-4D97-AF65-F5344CB8AC3E}">
        <p14:creationId xmlns:p14="http://schemas.microsoft.com/office/powerpoint/2010/main" val="2600664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0F4E7D1-9208-56C0-2412-16FD0918CB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9126"/>
            <a:ext cx="12191999" cy="6937126"/>
          </a:xfrm>
        </p:spPr>
      </p:pic>
    </p:spTree>
    <p:extLst>
      <p:ext uri="{BB962C8B-B14F-4D97-AF65-F5344CB8AC3E}">
        <p14:creationId xmlns:p14="http://schemas.microsoft.com/office/powerpoint/2010/main" val="1029536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8A5D8C6-8D16-DEA3-9090-8B7A170F12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3036"/>
            <a:ext cx="12192000" cy="6854964"/>
          </a:xfrm>
        </p:spPr>
      </p:pic>
    </p:spTree>
    <p:extLst>
      <p:ext uri="{BB962C8B-B14F-4D97-AF65-F5344CB8AC3E}">
        <p14:creationId xmlns:p14="http://schemas.microsoft.com/office/powerpoint/2010/main" val="3991641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9C6192F-D423-CC02-5535-C712F79119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1862"/>
            <a:ext cx="12192000" cy="6879861"/>
          </a:xfrm>
        </p:spPr>
      </p:pic>
    </p:spTree>
    <p:extLst>
      <p:ext uri="{BB962C8B-B14F-4D97-AF65-F5344CB8AC3E}">
        <p14:creationId xmlns:p14="http://schemas.microsoft.com/office/powerpoint/2010/main" val="335672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5BB0B10-9929-E2C5-6A6E-187C8D5F3C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779"/>
            <a:ext cx="12192000" cy="6860779"/>
          </a:xfrm>
        </p:spPr>
      </p:pic>
    </p:spTree>
    <p:extLst>
      <p:ext uri="{BB962C8B-B14F-4D97-AF65-F5344CB8AC3E}">
        <p14:creationId xmlns:p14="http://schemas.microsoft.com/office/powerpoint/2010/main" val="2983265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FA76A47-2C88-C9AD-2DC6-B2E2FDA8D2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12192000" cy="6857999"/>
          </a:xfrm>
        </p:spPr>
      </p:pic>
    </p:spTree>
    <p:extLst>
      <p:ext uri="{BB962C8B-B14F-4D97-AF65-F5344CB8AC3E}">
        <p14:creationId xmlns:p14="http://schemas.microsoft.com/office/powerpoint/2010/main" val="201996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39777-3A00-3E87-409D-51649DA653EC}"/>
              </a:ext>
            </a:extLst>
          </p:cNvPr>
          <p:cNvSpPr>
            <a:spLocks noGrp="1"/>
          </p:cNvSpPr>
          <p:nvPr>
            <p:ph type="title"/>
          </p:nvPr>
        </p:nvSpPr>
        <p:spPr>
          <a:xfrm>
            <a:off x="838199" y="1"/>
            <a:ext cx="10515600" cy="914400"/>
          </a:xfrm>
        </p:spPr>
        <p:txBody>
          <a:bodyPr>
            <a:normAutofit fontScale="90000"/>
          </a:bodyPr>
          <a:lstStyle/>
          <a:p>
            <a:pPr algn="ctr"/>
            <a:r>
              <a:rPr lang="en-US" sz="6600" b="1" dirty="0">
                <a:latin typeface="Times New Roman" panose="02020603050405020304" pitchFamily="18" charset="0"/>
                <a:cs typeface="Times New Roman" panose="02020603050405020304" pitchFamily="18" charset="0"/>
              </a:rPr>
              <a:t>Thank You…</a:t>
            </a:r>
          </a:p>
        </p:txBody>
      </p:sp>
      <p:pic>
        <p:nvPicPr>
          <p:cNvPr id="8" name="Content Placeholder 7">
            <a:extLst>
              <a:ext uri="{FF2B5EF4-FFF2-40B4-BE49-F238E27FC236}">
                <a16:creationId xmlns:a16="http://schemas.microsoft.com/office/drawing/2014/main" id="{CC967DAD-C097-DCB5-6CBC-677943A1F9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14401"/>
            <a:ext cx="12191999" cy="5943599"/>
          </a:xfrm>
        </p:spPr>
      </p:pic>
    </p:spTree>
    <p:extLst>
      <p:ext uri="{BB962C8B-B14F-4D97-AF65-F5344CB8AC3E}">
        <p14:creationId xmlns:p14="http://schemas.microsoft.com/office/powerpoint/2010/main" val="30157035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90</TotalTime>
  <Words>1687</Words>
  <Application>Microsoft Office PowerPoint</Application>
  <PresentationFormat>Widescreen</PresentationFormat>
  <Paragraphs>116</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Google Sans</vt:lpstr>
      <vt:lpstr>Times New Roman</vt:lpstr>
      <vt:lpstr>Office Theme</vt:lpstr>
      <vt:lpstr>UNIT-5 The International Legislation</vt:lpstr>
      <vt:lpstr>1.The Basel Convention:</vt:lpstr>
      <vt:lpstr>PowerPoint Presentation</vt:lpstr>
      <vt:lpstr>PowerPoint Presentation</vt:lpstr>
      <vt:lpstr>PowerPoint Presentation</vt:lpstr>
      <vt:lpstr>PowerPoint Presentation</vt:lpstr>
      <vt:lpstr>PowerPoint Presentation</vt:lpstr>
      <vt:lpstr>The Bamako Convention:</vt:lpstr>
      <vt:lpstr>PowerPoint Presentation</vt:lpstr>
      <vt:lpstr>PowerPoint Presentation</vt:lpstr>
      <vt:lpstr>PowerPoint Presentation</vt:lpstr>
      <vt:lpstr>The Rotterdam Convention:</vt:lpstr>
      <vt:lpstr>PowerPoint Presentation</vt:lpstr>
      <vt:lpstr>PowerPoint Presentation</vt:lpstr>
      <vt:lpstr>PowerPoint Presentation</vt:lpstr>
      <vt:lpstr>Waste Electrical and Electronic Equipment (WEEE) Directive in the European Union:</vt:lpstr>
      <vt:lpstr>PowerPoint Presentation</vt:lpstr>
      <vt:lpstr>PowerPoint Presentation</vt:lpstr>
      <vt:lpstr>Restriction of Hazardous Substances (RoHS) Directive: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2</cp:revision>
  <dcterms:created xsi:type="dcterms:W3CDTF">2024-09-11T11:06:51Z</dcterms:created>
  <dcterms:modified xsi:type="dcterms:W3CDTF">2024-09-11T12:37:39Z</dcterms:modified>
</cp:coreProperties>
</file>